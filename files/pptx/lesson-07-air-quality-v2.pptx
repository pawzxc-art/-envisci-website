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4" r:id="rId5"/>
    <p:sldId id="260" r:id="rId6"/>
    <p:sldId id="293" r:id="rId7"/>
    <p:sldId id="334" r:id="rId8"/>
    <p:sldId id="263" r:id="rId9"/>
    <p:sldId id="261" r:id="rId10"/>
    <p:sldId id="262" r:id="rId11"/>
    <p:sldId id="345" r:id="rId12"/>
    <p:sldId id="265" r:id="rId13"/>
    <p:sldId id="322" r:id="rId14"/>
    <p:sldId id="325" r:id="rId15"/>
    <p:sldId id="323" r:id="rId16"/>
    <p:sldId id="324" r:id="rId17"/>
    <p:sldId id="309" r:id="rId18"/>
    <p:sldId id="332" r:id="rId19"/>
    <p:sldId id="329" r:id="rId20"/>
    <p:sldId id="335" r:id="rId21"/>
    <p:sldId id="330" r:id="rId22"/>
    <p:sldId id="333" r:id="rId23"/>
    <p:sldId id="331" r:id="rId24"/>
    <p:sldId id="336" r:id="rId25"/>
    <p:sldId id="337" r:id="rId26"/>
    <p:sldId id="338" r:id="rId27"/>
    <p:sldId id="340" r:id="rId28"/>
    <p:sldId id="341" r:id="rId29"/>
    <p:sldId id="342" r:id="rId30"/>
    <p:sldId id="343" r:id="rId31"/>
    <p:sldId id="34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5044-433B-D034-E756-FF51F80B7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EFC27-3D44-151B-B9CB-5AAA9351A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A11F2-DAFD-4C3B-815E-7FDA89B74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C35FB-999B-FAE6-989F-6CDC95511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FAD39-7C6A-8950-FF64-6B88D611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65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B407-2EEF-8C73-003B-8E5395C9C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C6B7D-C492-ED21-2D9C-6C5188EC5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C1906-A016-F72E-C980-FF2A1B9FF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D6987-D2E2-F5F1-D43E-1FA4E40B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6CCC1-2252-F72C-1CB4-97EA086B9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1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EF9F-75EB-C49E-E249-53BAC7D2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FB355-E7AF-6A34-AD4F-D5C873945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19DBB-5D63-C78E-4A18-5DF3EFA4F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C2A5A-5C8F-06D0-45E9-D8D11AC2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74232-D09C-D20A-6103-0AA00229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3A1F-C446-487B-7593-76B12416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E901-879C-44A3-7919-A3287C5C5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F268B-1356-BC14-6470-BB77485E6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A3917-5393-D844-A070-D9A47587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68647-B1CD-1CAB-83FB-40A3E08F4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BCC26-70F7-C4E9-3C6C-A95AC857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4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A1560-1163-8DA2-E974-87E812695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40511-DA58-54B7-20F1-AFA99E1DC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4B101-8683-95CC-755F-F263F1F51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12C9FC-4C5A-CA73-6082-8190DD854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D0FBD-D3F3-BA9D-6FAE-4A207F85D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8D1570-B6E2-1D38-DCD9-B680D57C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F90FDA-4863-4DC8-1788-04955F00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6EF45C-3971-23D4-0329-823A6D38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92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1D6B-B3CF-B5C9-37BB-4D4008FB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DF8B6-412C-3581-01DA-28CE41BE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280EA-92F3-E1C2-6CE9-18D3382F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DAFF7-5E97-F307-EF0F-6BF8C52D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63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53B690-1067-EFED-882E-F674B551F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D009B9-1B75-B0D9-96D3-AFFAD1AD7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98241-0253-8001-CDFB-A9771D5D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44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F29E9-ED12-E7A8-B978-875165FC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3E6CE-8A13-C542-E315-3685FF8D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42AD7-F211-3441-0E69-2D1E43FA8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244F2-A07D-DC13-1370-C70F3B9B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DBAE4-EE65-8605-FCB4-C912A4D0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9DC80-B033-9A52-A177-87B9641A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56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99A5-08D8-3B3F-2E29-56F0C8552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C7376-5A40-6B63-7534-B77D1E7B12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7EEDB-15B1-770F-1FE7-5EB5113CE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97516-7C00-8033-4C0E-319288EE4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3B672-13FC-9D7A-4FEF-22415A9C1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28F65-7EBB-3E58-3E6C-2370599E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6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76C8-6646-68DE-A612-084BCA15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739F5-A461-555C-EFA3-08719CC1D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E0DAD-D33A-90DF-3E19-4C1996B1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21CF0-5CB6-2091-7F91-90F005BD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DBFA3-4C07-0820-9966-0D415AE1F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98C9C7-D5A2-CDB5-C9A4-562D9AD4F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899A3-3D4D-801A-81D1-53C3FCD98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054B2-1275-438F-86E8-C5D09CB1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66BCB-13A9-9796-36DE-3492C444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932AB-6C5E-732E-5733-EA855F3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06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313CA-C3EA-BF57-AB99-5063A6C9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605B-39FE-2470-E8D2-1E72441C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8FD02-4148-1551-6D77-75C1DF1000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B5D06-B553-4E0D-A235-E4969CF2365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0351-86EA-09C5-A9A1-65B27A75D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6F68C-7062-3E00-D9B5-A25675164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705EC-BC86-41FF-954E-30FDE0623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30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Open Field With Satellite Dish">
            <a:extLst>
              <a:ext uri="{FF2B5EF4-FFF2-40B4-BE49-F238E27FC236}">
                <a16:creationId xmlns:a16="http://schemas.microsoft.com/office/drawing/2014/main" id="{188C24DD-2D76-5450-9424-36AF608973D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3D098-9046-C305-F60D-403D75E72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b="1">
                <a:solidFill>
                  <a:srgbClr val="FFFFFF"/>
                </a:solidFill>
              </a:rPr>
              <a:t>Air Quality Supervision</a:t>
            </a:r>
            <a:br>
              <a:rPr lang="en-US" sz="5200">
                <a:solidFill>
                  <a:srgbClr val="FFFFFF"/>
                </a:solidFill>
              </a:rPr>
            </a:br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F23212-CFC6-773D-90B2-1F96A0EB7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Lesson 7</a:t>
            </a:r>
          </a:p>
        </p:txBody>
      </p:sp>
    </p:spTree>
    <p:extLst>
      <p:ext uri="{BB962C8B-B14F-4D97-AF65-F5344CB8AC3E}">
        <p14:creationId xmlns:p14="http://schemas.microsoft.com/office/powerpoint/2010/main" val="80918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180EC-2DAA-C131-9C66-B7A40C26A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A385E-5831-09F0-9E4E-A06CF53FB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At the end of the lesson, students should be able to: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Define air and describe its composition.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Identify the major layers of the atmosphere.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Explain the importance of air to living organisms and the environment.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Describe common sources and effects of air pollution.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Explain major air-related environmental problems and their effects on humans and ecosystems.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3398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E596F-EB9C-7BFA-F042-3D5B99324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Air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A021F-715C-C5B5-2EAF-861FBBA9B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Air</a:t>
            </a:r>
            <a:r>
              <a:rPr lang="en-US" sz="3600" dirty="0"/>
              <a:t> is a </a:t>
            </a:r>
            <a:r>
              <a:rPr lang="en-US" sz="3600" b="1" dirty="0"/>
              <a:t>mixture of gases </a:t>
            </a:r>
            <a:r>
              <a:rPr lang="en-US" sz="3600" dirty="0"/>
              <a:t>that makes up the </a:t>
            </a:r>
            <a:r>
              <a:rPr lang="en-US" sz="3600" b="1" dirty="0"/>
              <a:t>Earth’s atmosphere</a:t>
            </a:r>
            <a:r>
              <a:rPr lang="en-US" sz="3600" dirty="0"/>
              <a:t>. </a:t>
            </a:r>
          </a:p>
          <a:p>
            <a:endParaRPr lang="en-US" sz="3600" dirty="0"/>
          </a:p>
          <a:p>
            <a:endParaRPr lang="en-US" sz="3600" dirty="0"/>
          </a:p>
        </p:txBody>
      </p:sp>
      <p:pic>
        <p:nvPicPr>
          <p:cNvPr id="5" name="Picture 4" descr="A rainbow in the sky&#10;&#10;AI-generated content may be incorrect.">
            <a:extLst>
              <a:ext uri="{FF2B5EF4-FFF2-40B4-BE49-F238E27FC236}">
                <a16:creationId xmlns:a16="http://schemas.microsoft.com/office/drawing/2014/main" id="{B0099FE7-14AC-2193-064C-4C3E55782B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01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5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2" descr="How has the composition of the earth's atmosphere changed over time? |  Socratic">
            <a:extLst>
              <a:ext uri="{FF2B5EF4-FFF2-40B4-BE49-F238E27FC236}">
                <a16:creationId xmlns:a16="http://schemas.microsoft.com/office/drawing/2014/main" id="{E601A5D1-4312-1253-4F00-2D22165CB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6" b="3"/>
          <a:stretch/>
        </p:blipFill>
        <p:spPr bwMode="auto">
          <a:xfrm>
            <a:off x="2171288" y="643466"/>
            <a:ext cx="3992281" cy="556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068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BD503-B845-E1EF-52D4-8C7F9C9E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Composition of Air (Dry Air)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D9F5364-F9F1-6952-61A7-F759BF6FB2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5456084"/>
              </p:ext>
            </p:extLst>
          </p:nvPr>
        </p:nvGraphicFramePr>
        <p:xfrm>
          <a:off x="373626" y="1742918"/>
          <a:ext cx="11513574" cy="4581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645">
                  <a:extLst>
                    <a:ext uri="{9D8B030D-6E8A-4147-A177-3AD203B41FA5}">
                      <a16:colId xmlns:a16="http://schemas.microsoft.com/office/drawing/2014/main" val="4011478433"/>
                    </a:ext>
                  </a:extLst>
                </a:gridCol>
                <a:gridCol w="2202426">
                  <a:extLst>
                    <a:ext uri="{9D8B030D-6E8A-4147-A177-3AD203B41FA5}">
                      <a16:colId xmlns:a16="http://schemas.microsoft.com/office/drawing/2014/main" val="3550483639"/>
                    </a:ext>
                  </a:extLst>
                </a:gridCol>
                <a:gridCol w="6066503">
                  <a:extLst>
                    <a:ext uri="{9D8B030D-6E8A-4147-A177-3AD203B41FA5}">
                      <a16:colId xmlns:a16="http://schemas.microsoft.com/office/drawing/2014/main" val="3797213144"/>
                    </a:ext>
                  </a:extLst>
                </a:gridCol>
              </a:tblGrid>
              <a:tr h="4074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Gas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Percentage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extLst>
                  <a:ext uri="{0D108BD9-81ED-4DB2-BD59-A6C34878D82A}">
                    <a16:rowId xmlns:a16="http://schemas.microsoft.com/office/drawing/2014/main" val="2026202377"/>
                  </a:ext>
                </a:extLst>
              </a:tr>
              <a:tr h="7664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Nitrogen (N₂)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~78%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Needed for plant growth (nitrogen cycle).  Dilute oxygen.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extLst>
                  <a:ext uri="{0D108BD9-81ED-4DB2-BD59-A6C34878D82A}">
                    <a16:rowId xmlns:a16="http://schemas.microsoft.com/office/drawing/2014/main" val="3713071176"/>
                  </a:ext>
                </a:extLst>
              </a:tr>
              <a:tr h="4074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u="none" strike="noStrike">
                          <a:effectLst/>
                        </a:rPr>
                        <a:t>Oxygen (O₂)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~21%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Essential for respiration and combustion.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extLst>
                  <a:ext uri="{0D108BD9-81ED-4DB2-BD59-A6C34878D82A}">
                    <a16:rowId xmlns:a16="http://schemas.microsoft.com/office/drawing/2014/main" val="119137948"/>
                  </a:ext>
                </a:extLst>
              </a:tr>
              <a:tr h="4074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u="none" strike="noStrike">
                          <a:effectLst/>
                        </a:rPr>
                        <a:t>Argon (Ar)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~0.93%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Inert harmless gas.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extLst>
                  <a:ext uri="{0D108BD9-81ED-4DB2-BD59-A6C34878D82A}">
                    <a16:rowId xmlns:a16="http://schemas.microsoft.com/office/drawing/2014/main" val="3457135074"/>
                  </a:ext>
                </a:extLst>
              </a:tr>
              <a:tr h="4074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Carbon Dioxide (CO₂)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~0.04%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Used in photosynthesis.</a:t>
                      </a:r>
                      <a:r>
                        <a:rPr lang="en-US" sz="2400" dirty="0"/>
                        <a:t>                                       Helps regulate Earth’s temperature (greenhouse effect)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extLst>
                  <a:ext uri="{0D108BD9-81ED-4DB2-BD59-A6C34878D82A}">
                    <a16:rowId xmlns:a16="http://schemas.microsoft.com/office/drawing/2014/main" val="848092065"/>
                  </a:ext>
                </a:extLst>
              </a:tr>
              <a:tr h="4074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u="none" strike="noStrike" dirty="0">
                          <a:effectLst/>
                        </a:rPr>
                        <a:t>Other gases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Trace</a:t>
                      </a:r>
                    </a:p>
                  </a:txBody>
                  <a:tcPr marL="16425" marR="16425" marT="164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Neon, helium, methane, krypton, hydrogen, xenon, </a:t>
                      </a:r>
                      <a:r>
                        <a:rPr lang="en-US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ozone, 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etc. Plus, </a:t>
                      </a:r>
                      <a:r>
                        <a:rPr lang="en-US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water vapor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( varying by humidity) and tiny solid particles like dust, pollen, and smoke.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425" marR="16425" marT="16425" marB="0" anchor="ctr"/>
                </a:tc>
                <a:extLst>
                  <a:ext uri="{0D108BD9-81ED-4DB2-BD59-A6C34878D82A}">
                    <a16:rowId xmlns:a16="http://schemas.microsoft.com/office/drawing/2014/main" val="915981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826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77416-A042-78EC-3791-2EBC9650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Greenhouse Effect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DB735-ADA3-5418-73A2-2A08B08FE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200" dirty="0"/>
              <a:t>The </a:t>
            </a:r>
            <a:r>
              <a:rPr lang="en-US" altLang="en-US" sz="2200" b="1" dirty="0"/>
              <a:t>greenhouse effect </a:t>
            </a:r>
            <a:r>
              <a:rPr lang="en-US" altLang="en-US" sz="2200" dirty="0"/>
              <a:t>is a </a:t>
            </a:r>
            <a:r>
              <a:rPr lang="en-US" altLang="en-US" sz="2200" b="1" dirty="0"/>
              <a:t>natural process </a:t>
            </a:r>
            <a:r>
              <a:rPr lang="en-US" altLang="en-US" sz="2200" dirty="0"/>
              <a:t>that </a:t>
            </a:r>
            <a:r>
              <a:rPr lang="en-US" altLang="en-US" sz="2200" b="1" dirty="0"/>
              <a:t>warms the Earth's surface</a:t>
            </a:r>
            <a:r>
              <a:rPr lang="en-US" altLang="en-US" sz="2200" dirty="0"/>
              <a:t>.  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200" dirty="0"/>
              <a:t>When the Sun's energy reaches the Earth's atmosphere, some of it is </a:t>
            </a:r>
            <a:r>
              <a:rPr lang="en-US" altLang="en-US" sz="2200" dirty="0">
                <a:solidFill>
                  <a:srgbClr val="C00000"/>
                </a:solidFill>
              </a:rPr>
              <a:t>reflected</a:t>
            </a:r>
            <a:r>
              <a:rPr lang="en-US" altLang="en-US" sz="2200" dirty="0"/>
              <a:t> to space, and the rest is </a:t>
            </a:r>
            <a:r>
              <a:rPr lang="en-US" altLang="en-US" sz="2200" dirty="0">
                <a:solidFill>
                  <a:srgbClr val="C00000"/>
                </a:solidFill>
              </a:rPr>
              <a:t>absorbed</a:t>
            </a:r>
            <a:r>
              <a:rPr lang="en-US" altLang="en-US" sz="2200" dirty="0"/>
              <a:t> and </a:t>
            </a:r>
            <a:r>
              <a:rPr lang="en-US" altLang="en-US" sz="2200" dirty="0">
                <a:solidFill>
                  <a:srgbClr val="C00000"/>
                </a:solidFill>
              </a:rPr>
              <a:t>re-radiate</a:t>
            </a:r>
            <a:r>
              <a:rPr lang="en-US" altLang="en-US" sz="2200" dirty="0"/>
              <a:t>d by greenhouse gases.  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200" dirty="0"/>
              <a:t>These absorbed gases then radiate the heat back towards the Earth's surface, warming it.  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200" dirty="0"/>
              <a:t>This process is essential for life on Earth, as </a:t>
            </a:r>
            <a:r>
              <a:rPr lang="en-US" altLang="en-US" sz="2200" b="1" dirty="0"/>
              <a:t>it keeps the planet warm enough </a:t>
            </a:r>
            <a:r>
              <a:rPr lang="en-US" altLang="en-US" sz="2200" dirty="0"/>
              <a:t>to support living organisms. </a:t>
            </a:r>
            <a:r>
              <a:rPr lang="en-US" altLang="en-US" sz="2200" b="1" dirty="0"/>
              <a:t>Without the greenhouse effect, the Earth would be much colder.  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b="1" dirty="0"/>
              <a:t>Human activities </a:t>
            </a:r>
            <a:r>
              <a:rPr lang="en-US" sz="2200" dirty="0"/>
              <a:t>are significantly </a:t>
            </a:r>
            <a:r>
              <a:rPr lang="en-US" sz="2200" b="1" dirty="0"/>
              <a:t>increasing the concentration of greenhouse gases</a:t>
            </a:r>
            <a:r>
              <a:rPr lang="en-US" sz="2200" dirty="0"/>
              <a:t>, leading to an </a:t>
            </a:r>
            <a:r>
              <a:rPr lang="en-US" sz="2200" b="1" dirty="0"/>
              <a:t>enhanced greenhouse effect </a:t>
            </a:r>
            <a:r>
              <a:rPr lang="en-US" altLang="en-US" sz="2200" dirty="0"/>
              <a:t>causing the planet to </a:t>
            </a:r>
            <a:r>
              <a:rPr lang="en-US" altLang="en-US" sz="2200" b="1" dirty="0"/>
              <a:t>warm too much.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93239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he Greenhouse Effect and How Humans Enhance It">
            <a:extLst>
              <a:ext uri="{FF2B5EF4-FFF2-40B4-BE49-F238E27FC236}">
                <a16:creationId xmlns:a16="http://schemas.microsoft.com/office/drawing/2014/main" id="{C7808F2C-A11C-BBFD-98C1-1C78FFB9B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60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diagram of the atmosphere&#10;&#10;AI-generated content may be incorrect.">
            <a:extLst>
              <a:ext uri="{FF2B5EF4-FFF2-40B4-BE49-F238E27FC236}">
                <a16:creationId xmlns:a16="http://schemas.microsoft.com/office/drawing/2014/main" id="{143F7423-FFA6-E005-6C72-6EC802CA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0" r="335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74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1CD0B-AAAD-3D81-F529-04C12BDE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Layers of the Atmosphere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BF542D-81AF-CE4F-C993-4AD0A75B5A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066954"/>
              </p:ext>
            </p:extLst>
          </p:nvPr>
        </p:nvGraphicFramePr>
        <p:xfrm>
          <a:off x="1194982" y="1864559"/>
          <a:ext cx="9472015" cy="4671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143">
                  <a:extLst>
                    <a:ext uri="{9D8B030D-6E8A-4147-A177-3AD203B41FA5}">
                      <a16:colId xmlns:a16="http://schemas.microsoft.com/office/drawing/2014/main" val="2660727459"/>
                    </a:ext>
                  </a:extLst>
                </a:gridCol>
                <a:gridCol w="5347872">
                  <a:extLst>
                    <a:ext uri="{9D8B030D-6E8A-4147-A177-3AD203B41FA5}">
                      <a16:colId xmlns:a16="http://schemas.microsoft.com/office/drawing/2014/main" val="2253624680"/>
                    </a:ext>
                  </a:extLst>
                </a:gridCol>
              </a:tblGrid>
              <a:tr h="552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 dirty="0">
                          <a:effectLst/>
                        </a:rPr>
                        <a:t>Layer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890" marR="19890" marT="1989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Key Characteristics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890" marR="19890" marT="19890" marB="0" anchor="ctr"/>
                </a:tc>
                <a:extLst>
                  <a:ext uri="{0D108BD9-81ED-4DB2-BD59-A6C34878D82A}">
                    <a16:rowId xmlns:a16="http://schemas.microsoft.com/office/drawing/2014/main" val="1686981896"/>
                  </a:ext>
                </a:extLst>
              </a:tr>
              <a:tr h="9905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u="none" strike="noStrike" dirty="0">
                          <a:effectLst/>
                        </a:rPr>
                        <a:t>Troposphere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890" marR="19890" marT="19890" marB="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Contains most of the air and water vapor.</a:t>
                      </a:r>
                    </a:p>
                    <a:p>
                      <a:r>
                        <a:rPr lang="en-US" sz="2000" b="1" dirty="0"/>
                        <a:t>Weather occurs here.</a:t>
                      </a:r>
                      <a:endParaRPr lang="en-US" sz="2000" dirty="0"/>
                    </a:p>
                  </a:txBody>
                  <a:tcPr marL="19890" marR="19890" marT="19890" marB="0" anchor="ctr"/>
                </a:tc>
                <a:extLst>
                  <a:ext uri="{0D108BD9-81ED-4DB2-BD59-A6C34878D82A}">
                    <a16:rowId xmlns:a16="http://schemas.microsoft.com/office/drawing/2014/main" val="2866995264"/>
                  </a:ext>
                </a:extLst>
              </a:tr>
              <a:tr h="5529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u="none" strike="noStrike" dirty="0">
                          <a:effectLst/>
                        </a:rPr>
                        <a:t>Stratosphere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890" marR="19890" marT="19890" marB="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Contains the </a:t>
                      </a:r>
                      <a:r>
                        <a:rPr lang="en-US" sz="2000" b="1" dirty="0"/>
                        <a:t>ozone layer.</a:t>
                      </a:r>
                      <a:endParaRPr lang="en-US" sz="2000" dirty="0"/>
                    </a:p>
                    <a:p>
                      <a:r>
                        <a:rPr lang="en-US" sz="2000" dirty="0"/>
                        <a:t>Protects life from harmful UV radiation.</a:t>
                      </a:r>
                    </a:p>
                  </a:txBody>
                  <a:tcPr marL="19890" marR="19890" marT="19890" marB="0" anchor="ctr"/>
                </a:tc>
                <a:extLst>
                  <a:ext uri="{0D108BD9-81ED-4DB2-BD59-A6C34878D82A}">
                    <a16:rowId xmlns:a16="http://schemas.microsoft.com/office/drawing/2014/main" val="697184902"/>
                  </a:ext>
                </a:extLst>
              </a:tr>
              <a:tr h="5529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u="none" strike="noStrike" dirty="0">
                          <a:effectLst/>
                        </a:rPr>
                        <a:t>Mesosphere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890" marR="19890" marT="19890" marB="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Coldest atmospheric layer</a:t>
                      </a:r>
                    </a:p>
                    <a:p>
                      <a:r>
                        <a:rPr lang="en-US" sz="2000" b="1" dirty="0"/>
                        <a:t>Meteors burn up here.</a:t>
                      </a:r>
                    </a:p>
                  </a:txBody>
                  <a:tcPr marL="19890" marR="19890" marT="19890" marB="0" anchor="ctr"/>
                </a:tc>
                <a:extLst>
                  <a:ext uri="{0D108BD9-81ED-4DB2-BD59-A6C34878D82A}">
                    <a16:rowId xmlns:a16="http://schemas.microsoft.com/office/drawing/2014/main" val="1959274644"/>
                  </a:ext>
                </a:extLst>
              </a:tr>
              <a:tr h="9905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u="none" strike="noStrike" dirty="0">
                          <a:effectLst/>
                        </a:rPr>
                        <a:t>Thermosphere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890" marR="19890" marT="19890" marB="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Very high temperatures</a:t>
                      </a:r>
                    </a:p>
                    <a:p>
                      <a:r>
                        <a:rPr lang="en-US" sz="2000" b="1" dirty="0"/>
                        <a:t>Auroras occur here.</a:t>
                      </a:r>
                    </a:p>
                    <a:p>
                      <a:r>
                        <a:rPr lang="en-US" sz="2000" dirty="0"/>
                        <a:t>Contains the ionosphere (important for radio communication)</a:t>
                      </a:r>
                    </a:p>
                  </a:txBody>
                  <a:tcPr marL="19890" marR="19890" marT="19890" marB="0" anchor="ctr"/>
                </a:tc>
                <a:extLst>
                  <a:ext uri="{0D108BD9-81ED-4DB2-BD59-A6C34878D82A}">
                    <a16:rowId xmlns:a16="http://schemas.microsoft.com/office/drawing/2014/main" val="3558587229"/>
                  </a:ext>
                </a:extLst>
              </a:tr>
              <a:tr h="5529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u="none" strike="noStrike" dirty="0">
                          <a:effectLst/>
                        </a:rPr>
                        <a:t>Exosphere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890" marR="19890" marT="19890" marB="0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Extremely thin air.</a:t>
                      </a:r>
                    </a:p>
                    <a:p>
                      <a:r>
                        <a:rPr lang="en-US" sz="2000" b="1" dirty="0"/>
                        <a:t>Where satellites orbit.</a:t>
                      </a:r>
                    </a:p>
                  </a:txBody>
                  <a:tcPr marL="19890" marR="19890" marT="19890" marB="0" anchor="ctr"/>
                </a:tc>
                <a:extLst>
                  <a:ext uri="{0D108BD9-81ED-4DB2-BD59-A6C34878D82A}">
                    <a16:rowId xmlns:a16="http://schemas.microsoft.com/office/drawing/2014/main" val="85470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81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8C4C0-9447-69E5-3036-9EABCD837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Summary (Importance of Air)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87069-F0B3-2F6E-4F9D-09DAC63E2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10230207" cy="3959619"/>
          </a:xfrm>
        </p:spPr>
        <p:txBody>
          <a:bodyPr>
            <a:normAutofit fontScale="92500" lnSpcReduction="20000"/>
          </a:bodyPr>
          <a:lstStyle/>
          <a:p>
            <a:r>
              <a:rPr lang="en-US" sz="3100" dirty="0"/>
              <a:t>Supplies </a:t>
            </a:r>
            <a:r>
              <a:rPr lang="en-US" sz="3100" b="1" dirty="0"/>
              <a:t>oxygen for breathing (respiration).</a:t>
            </a:r>
            <a:endParaRPr lang="en-US" sz="3100" dirty="0"/>
          </a:p>
          <a:p>
            <a:r>
              <a:rPr lang="en-US" sz="3100" dirty="0"/>
              <a:t>Provides </a:t>
            </a:r>
            <a:r>
              <a:rPr lang="en-US" sz="3100" b="1" dirty="0"/>
              <a:t>carbon dioxide for photosynthesis.</a:t>
            </a:r>
            <a:endParaRPr lang="en-US" sz="3100" dirty="0"/>
          </a:p>
          <a:p>
            <a:r>
              <a:rPr lang="en-US" sz="3100" dirty="0"/>
              <a:t>Regulates </a:t>
            </a:r>
            <a:r>
              <a:rPr lang="en-US" sz="3100" b="1" dirty="0"/>
              <a:t>Earth’s temperature.</a:t>
            </a:r>
          </a:p>
          <a:p>
            <a:pPr lvl="1"/>
            <a:r>
              <a:rPr lang="en-US" dirty="0"/>
              <a:t>The atmosphere acts like a blanket, keeping Earth warm (</a:t>
            </a:r>
            <a:r>
              <a:rPr lang="en-US" b="1" dirty="0"/>
              <a:t>greenhouse effect</a:t>
            </a:r>
            <a:r>
              <a:rPr lang="en-US" dirty="0"/>
              <a:t>)</a:t>
            </a:r>
          </a:p>
          <a:p>
            <a:r>
              <a:rPr lang="en-US" sz="3100" dirty="0"/>
              <a:t>Enables </a:t>
            </a:r>
            <a:r>
              <a:rPr lang="en-US" sz="3100" b="1" dirty="0"/>
              <a:t>weather and climate.</a:t>
            </a:r>
          </a:p>
          <a:p>
            <a:pPr lvl="1"/>
            <a:r>
              <a:rPr lang="en-US" dirty="0"/>
              <a:t>Air movements create wind, storms, and weather patterns.</a:t>
            </a:r>
          </a:p>
          <a:p>
            <a:r>
              <a:rPr lang="en-US" sz="3100" dirty="0"/>
              <a:t>Protects Earth from </a:t>
            </a:r>
            <a:r>
              <a:rPr lang="en-US" sz="3100" b="1" dirty="0"/>
              <a:t>harmful solar radiation </a:t>
            </a:r>
            <a:r>
              <a:rPr lang="en-US" sz="3100" dirty="0"/>
              <a:t>(ozone layer).</a:t>
            </a:r>
          </a:p>
          <a:p>
            <a:pPr lvl="1"/>
            <a:r>
              <a:rPr lang="en-US" dirty="0"/>
              <a:t>Ozone layer filters harmful UV radiation</a:t>
            </a:r>
          </a:p>
          <a:p>
            <a:r>
              <a:rPr lang="en-US" sz="3100" dirty="0"/>
              <a:t>Helps in </a:t>
            </a:r>
            <a:r>
              <a:rPr lang="en-US" sz="3100" b="1" dirty="0"/>
              <a:t>pollination and seed dispersal.</a:t>
            </a:r>
          </a:p>
          <a:p>
            <a:r>
              <a:rPr lang="en-US" b="1" dirty="0"/>
              <a:t>Burns up most meteoroids </a:t>
            </a:r>
            <a:r>
              <a:rPr lang="en-US" dirty="0"/>
              <a:t>before they hit Earth's surface.</a:t>
            </a:r>
          </a:p>
          <a:p>
            <a:endParaRPr lang="en-US" sz="31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63518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moke from factory">
            <a:extLst>
              <a:ext uri="{FF2B5EF4-FFF2-40B4-BE49-F238E27FC236}">
                <a16:creationId xmlns:a16="http://schemas.microsoft.com/office/drawing/2014/main" id="{081D95BE-6BE5-81DA-13BA-F195DEE412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4" b="1302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E03B5-435F-6FA6-C9F7-F29555362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299176"/>
            <a:ext cx="4131368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Air pollution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80E86-DDC4-EFDB-D28E-525754979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0529" y="4199213"/>
            <a:ext cx="4191938" cy="5985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Topic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092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05FC5-C8A2-F65B-E526-ECDD2D925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Air pollution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DDAFD-A53C-9953-F2FD-7FF820D9F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b="1"/>
              <a:t>Air pollution </a:t>
            </a:r>
            <a:r>
              <a:rPr lang="en-US" sz="2400"/>
              <a:t>refers to the presence of </a:t>
            </a:r>
            <a:r>
              <a:rPr lang="en-US" sz="2400" b="1"/>
              <a:t>harmful or excessive quantities of substances in the air</a:t>
            </a:r>
            <a:r>
              <a:rPr lang="en-US" sz="2400"/>
              <a:t> that can have adverse effects on human health, the environment, and the climate. </a:t>
            </a:r>
          </a:p>
          <a:p>
            <a:r>
              <a:rPr lang="en-US" sz="2400" b="1"/>
              <a:t>Pollutants</a:t>
            </a:r>
            <a:r>
              <a:rPr lang="en-US" sz="2400"/>
              <a:t> are substances that contaminate the air and cause pollution. </a:t>
            </a:r>
          </a:p>
        </p:txBody>
      </p:sp>
    </p:spTree>
    <p:extLst>
      <p:ext uri="{BB962C8B-B14F-4D97-AF65-F5344CB8AC3E}">
        <p14:creationId xmlns:p14="http://schemas.microsoft.com/office/powerpoint/2010/main" val="3277788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756538-7DDE-7128-4A6E-AB5FAFCE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Primary Pollutants</a:t>
            </a:r>
            <a:br>
              <a:rPr lang="en-US" sz="1900" b="1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0997C-313F-9FE2-CE1C-56F5E36D2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Primary Pollutants</a:t>
            </a:r>
            <a:r>
              <a:rPr lang="en-US" sz="2400" dirty="0"/>
              <a:t> – Directly emitted into the atmosphere from sources.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/>
              <a:t>Carbon Monoxide (CO) </a:t>
            </a:r>
            <a:r>
              <a:rPr lang="en-US" altLang="en-US" dirty="0"/>
              <a:t>– Produced by the incomplete combustion of </a:t>
            </a:r>
            <a:r>
              <a:rPr lang="en-US" altLang="en-US" b="1" dirty="0"/>
              <a:t>fuels.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/>
              <a:t>Sulfur Dioxide (SO₂) </a:t>
            </a:r>
            <a:r>
              <a:rPr lang="en-US" altLang="en-US" dirty="0"/>
              <a:t>– Emitted by burning coal and industrial processes.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/>
              <a:t>Nitrogen Oxides (NOₓ</a:t>
            </a:r>
            <a:r>
              <a:rPr lang="en-US" altLang="en-US" dirty="0"/>
              <a:t>) – Released from </a:t>
            </a:r>
            <a:r>
              <a:rPr lang="en-US" altLang="en-US" b="1" dirty="0"/>
              <a:t>vehicles</a:t>
            </a:r>
            <a:r>
              <a:rPr lang="en-US" altLang="en-US" dirty="0"/>
              <a:t> and power plants.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/>
              <a:t>Particulate Matter (PM) – From dust, smoke, and industrial emissions.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/>
              <a:t>Volatile Organic Compounds (VOCs) </a:t>
            </a:r>
            <a:r>
              <a:rPr lang="en-US" altLang="en-US" dirty="0"/>
              <a:t>– Found in </a:t>
            </a:r>
            <a:r>
              <a:rPr lang="en-US" altLang="en-US" b="1" dirty="0"/>
              <a:t>vehicle emissions</a:t>
            </a:r>
            <a:r>
              <a:rPr lang="en-US" altLang="en-US" dirty="0"/>
              <a:t> and solvents.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0497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65377-9FD3-668E-B672-F6CF0E3F4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E0B4E-DEE0-5B7A-AD22-8A0D0B30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br>
              <a:rPr lang="en-US" sz="1900" b="1">
                <a:solidFill>
                  <a:schemeClr val="bg1"/>
                </a:solidFill>
              </a:rPr>
            </a:br>
            <a:r>
              <a:rPr lang="en-US" sz="1900" b="1">
                <a:solidFill>
                  <a:schemeClr val="bg1"/>
                </a:solidFill>
              </a:rPr>
              <a:t>Secondary Pollutants</a:t>
            </a:r>
            <a:br>
              <a:rPr lang="en-US" sz="1900" b="1">
                <a:solidFill>
                  <a:schemeClr val="bg1"/>
                </a:solidFill>
              </a:rPr>
            </a:br>
            <a:endParaRPr lang="en-US" sz="19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90AA3-6E38-F6F4-BA2A-418178FEE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Secondary Pollutants</a:t>
            </a:r>
            <a:r>
              <a:rPr lang="en-US" dirty="0"/>
              <a:t> – Formed when primary pollutants </a:t>
            </a:r>
            <a:r>
              <a:rPr lang="en-US" b="1" dirty="0"/>
              <a:t>react</a:t>
            </a:r>
            <a:r>
              <a:rPr lang="en-US" dirty="0"/>
              <a:t> in the atmosphere.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b="1" dirty="0"/>
              <a:t>Tropospheric Ozone (O₃) </a:t>
            </a:r>
            <a:r>
              <a:rPr lang="en-US" sz="2800" dirty="0"/>
              <a:t>- formed when NOₓ and VOCs react with sunlight.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b="1" dirty="0"/>
              <a:t>Smog</a:t>
            </a:r>
            <a:r>
              <a:rPr lang="en-US" sz="2800" dirty="0"/>
              <a:t> - a mixture of pollutants, including ground-level ozone and particulates.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b="1" dirty="0"/>
              <a:t>Acid rain </a:t>
            </a:r>
            <a:r>
              <a:rPr lang="en-US" sz="2800" dirty="0"/>
              <a:t>- formed from SO₂ and NOₓ mixing with water vapor in the atmosphere.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53134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2E666-FCF7-C037-FE4F-AA79EE5F0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Sources of Air Pollution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8D3E7-ABE8-56B9-F4D1-2BC4E5335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Natural Sources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sz="2800" b="1" dirty="0"/>
              <a:t>Volcanic eruptions </a:t>
            </a:r>
          </a:p>
          <a:p>
            <a:pPr lvl="2"/>
            <a:r>
              <a:rPr lang="en-US" sz="2800" dirty="0"/>
              <a:t>emit SO₂, ash, and particulate matter.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b="1" dirty="0"/>
              <a:t>Wildfires </a:t>
            </a:r>
          </a:p>
          <a:p>
            <a:pPr lvl="2"/>
            <a:r>
              <a:rPr lang="en-US" sz="2800" dirty="0"/>
              <a:t>produce CO, NOx, and particulate matter.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b="1" dirty="0"/>
              <a:t>Dust storms </a:t>
            </a:r>
          </a:p>
          <a:p>
            <a:pPr lvl="2"/>
            <a:r>
              <a:rPr lang="en-US" sz="2800" dirty="0"/>
              <a:t>release fine particulate matter into the air.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b="1" dirty="0"/>
              <a:t>Biological decay </a:t>
            </a:r>
          </a:p>
          <a:p>
            <a:pPr lvl="2"/>
            <a:r>
              <a:rPr lang="en-US" sz="2800" dirty="0"/>
              <a:t>releases methane and other gases.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58011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2220A-3127-A104-2343-F89D0A682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5C730-356E-7AE3-E3C3-C6AE0FAB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Sources of Air Pollution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B641D-6B37-82DA-1EC3-30513552F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Human-Made Sources</a:t>
            </a:r>
            <a:endParaRPr lang="en-US" sz="2400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Industrial emissions</a:t>
            </a:r>
            <a:r>
              <a:rPr lang="en-US" dirty="0"/>
              <a:t> </a:t>
            </a:r>
          </a:p>
          <a:p>
            <a:pPr lvl="2"/>
            <a:r>
              <a:rPr lang="en-US" sz="2400" dirty="0"/>
              <a:t>factories release SO₂, NOₓ, and heavy metals.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Vehicle emissions</a:t>
            </a:r>
            <a:r>
              <a:rPr lang="en-US" dirty="0"/>
              <a:t> </a:t>
            </a:r>
          </a:p>
          <a:p>
            <a:pPr lvl="2"/>
            <a:r>
              <a:rPr lang="en-US" sz="2400" dirty="0"/>
              <a:t>cars and trucks emit carbon monoxide, nitrogen oxides, and hydrocarbons.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Burning of fossil fuels</a:t>
            </a:r>
            <a:r>
              <a:rPr lang="en-US" dirty="0"/>
              <a:t> </a:t>
            </a:r>
          </a:p>
          <a:p>
            <a:pPr lvl="2"/>
            <a:r>
              <a:rPr lang="en-US" sz="2400" dirty="0"/>
              <a:t>coal, oil, and natural gas combustion releases CO₂, SO₂, and NOₓ.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Agricultural activities</a:t>
            </a:r>
            <a:r>
              <a:rPr lang="en-US" dirty="0"/>
              <a:t> </a:t>
            </a:r>
          </a:p>
          <a:p>
            <a:pPr lvl="2"/>
            <a:r>
              <a:rPr lang="en-US" sz="2400" dirty="0"/>
              <a:t>fertilizers and pesticides release ammonia and CH4.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Deforestation</a:t>
            </a:r>
            <a:r>
              <a:rPr lang="en-US" dirty="0"/>
              <a:t> </a:t>
            </a:r>
          </a:p>
          <a:p>
            <a:pPr lvl="2"/>
            <a:r>
              <a:rPr lang="en-US" sz="2400" dirty="0"/>
              <a:t>reduces oxygen production and increases CO₂ levels.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737070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Picture 6" descr="Ozone, a Pollutant with Two Faces - Blog - ISGLOBAL">
            <a:extLst>
              <a:ext uri="{FF2B5EF4-FFF2-40B4-BE49-F238E27FC236}">
                <a16:creationId xmlns:a16="http://schemas.microsoft.com/office/drawing/2014/main" id="{664EE284-C5C2-D9A2-E8B9-756AD1D46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8211" y="321734"/>
            <a:ext cx="5164746" cy="290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Ozone Formation - Definition, Properties &amp; Generation - Biology Reader">
            <a:extLst>
              <a:ext uri="{FF2B5EF4-FFF2-40B4-BE49-F238E27FC236}">
                <a16:creationId xmlns:a16="http://schemas.microsoft.com/office/drawing/2014/main" id="{3B9BE98E-E5B6-2DAB-05EC-AED49CFDFD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35"/>
          <a:stretch/>
        </p:blipFill>
        <p:spPr bwMode="auto">
          <a:xfrm>
            <a:off x="457201" y="3957317"/>
            <a:ext cx="5426764" cy="210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7" name="Rectangle 9226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Ozone Formation - Definition, Properties &amp; Generation - Biology Reader">
            <a:extLst>
              <a:ext uri="{FF2B5EF4-FFF2-40B4-BE49-F238E27FC236}">
                <a16:creationId xmlns:a16="http://schemas.microsoft.com/office/drawing/2014/main" id="{32495116-BE4C-26BD-FA6C-D9CF04216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06"/>
          <a:stretch/>
        </p:blipFill>
        <p:spPr bwMode="auto">
          <a:xfrm>
            <a:off x="6308034" y="1631656"/>
            <a:ext cx="5426764" cy="3450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380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045DD-2695-3013-27E8-792DF85C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Air-Related Environmental Problems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Topic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6FCA7-E166-E9A5-359C-EB86E15E7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 Warming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Ozone Layer Depletion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Acid Rain</a:t>
            </a:r>
          </a:p>
        </p:txBody>
      </p:sp>
    </p:spTree>
    <p:extLst>
      <p:ext uri="{BB962C8B-B14F-4D97-AF65-F5344CB8AC3E}">
        <p14:creationId xmlns:p14="http://schemas.microsoft.com/office/powerpoint/2010/main" val="3234415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E186E-03FE-D8F1-6992-D006D860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br>
              <a:rPr lang="en-US" sz="4000" b="1">
                <a:solidFill>
                  <a:srgbClr val="FFFFFF"/>
                </a:solidFill>
              </a:rPr>
            </a:br>
            <a:r>
              <a:rPr lang="en-US" sz="4000" b="1">
                <a:solidFill>
                  <a:srgbClr val="FFFFFF"/>
                </a:solidFill>
              </a:rPr>
              <a:t>Global Warming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2D888-DEAB-C682-AD01-BFF2F8B5D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206478"/>
            <a:ext cx="6915019" cy="5989050"/>
          </a:xfrm>
        </p:spPr>
        <p:txBody>
          <a:bodyPr anchor="ctr">
            <a:normAutofit fontScale="77500" lnSpcReduction="20000"/>
          </a:bodyPr>
          <a:lstStyle/>
          <a:p>
            <a:endParaRPr lang="en-US" sz="3400" dirty="0"/>
          </a:p>
          <a:p>
            <a:pPr marL="0" indent="0">
              <a:buNone/>
            </a:pPr>
            <a:r>
              <a:rPr lang="en-US" sz="3300" b="1" dirty="0"/>
              <a:t>Global warming </a:t>
            </a:r>
            <a:r>
              <a:rPr lang="en-US" sz="3300" dirty="0"/>
              <a:t>is the </a:t>
            </a:r>
            <a:r>
              <a:rPr lang="en-US" sz="3300" dirty="0">
                <a:solidFill>
                  <a:srgbClr val="C00000"/>
                </a:solidFill>
              </a:rPr>
              <a:t>gradual increase </a:t>
            </a:r>
            <a:r>
              <a:rPr lang="en-US" sz="3300" dirty="0"/>
              <a:t>in Earth’s </a:t>
            </a:r>
            <a:r>
              <a:rPr lang="en-US" sz="3300" dirty="0">
                <a:solidFill>
                  <a:srgbClr val="C00000"/>
                </a:solidFill>
              </a:rPr>
              <a:t>average temperature </a:t>
            </a:r>
            <a:r>
              <a:rPr lang="en-US" sz="3300" dirty="0"/>
              <a:t>due to the buildup of </a:t>
            </a:r>
            <a:r>
              <a:rPr lang="en-US" sz="3300" b="1" dirty="0"/>
              <a:t>greenhouse gases</a:t>
            </a:r>
            <a:r>
              <a:rPr lang="en-US" sz="3300" dirty="0"/>
              <a:t> in the atmosphere.</a:t>
            </a:r>
          </a:p>
          <a:p>
            <a:pPr marL="0" indent="0">
              <a:buNone/>
            </a:pPr>
            <a:r>
              <a:rPr lang="en-US" sz="3600" b="1" dirty="0"/>
              <a:t>Key Greenhouse Gases:</a:t>
            </a:r>
            <a:endParaRPr lang="en-US" sz="3300" b="1" dirty="0"/>
          </a:p>
          <a:p>
            <a:pPr lvl="1"/>
            <a:r>
              <a:rPr lang="en-US" sz="3300" dirty="0"/>
              <a:t>Carbon dioxide (CO₂)</a:t>
            </a:r>
          </a:p>
          <a:p>
            <a:pPr lvl="1"/>
            <a:r>
              <a:rPr lang="en-US" sz="3300" dirty="0"/>
              <a:t>Methane (CH₄)</a:t>
            </a:r>
          </a:p>
          <a:p>
            <a:pPr lvl="1"/>
            <a:r>
              <a:rPr lang="en-US" sz="3300" dirty="0"/>
              <a:t>Nitrous oxide (N₂O)</a:t>
            </a:r>
          </a:p>
          <a:p>
            <a:pPr marL="0" indent="0">
              <a:buNone/>
            </a:pPr>
            <a:r>
              <a:rPr lang="en-US" sz="3300" b="1" dirty="0"/>
              <a:t>Causes:</a:t>
            </a:r>
            <a:endParaRPr lang="en-US" sz="3300" dirty="0"/>
          </a:p>
          <a:p>
            <a:pPr lvl="1"/>
            <a:r>
              <a:rPr lang="en-US" sz="2900" dirty="0"/>
              <a:t>Burning of fossil fuels</a:t>
            </a:r>
          </a:p>
          <a:p>
            <a:pPr lvl="1"/>
            <a:r>
              <a:rPr lang="en-US" sz="2900" dirty="0"/>
              <a:t>Deforestation</a:t>
            </a:r>
          </a:p>
          <a:p>
            <a:pPr lvl="1"/>
            <a:r>
              <a:rPr lang="en-US" sz="2900" dirty="0"/>
              <a:t>Industrial activities</a:t>
            </a:r>
          </a:p>
          <a:p>
            <a:pPr marL="0" indent="0">
              <a:buNone/>
            </a:pPr>
            <a:r>
              <a:rPr lang="en-US" sz="3300" b="1" dirty="0"/>
              <a:t>Effects:</a:t>
            </a:r>
            <a:endParaRPr lang="en-US" sz="3300" dirty="0"/>
          </a:p>
          <a:p>
            <a:pPr lvl="1"/>
            <a:r>
              <a:rPr lang="en-US" sz="2900" dirty="0"/>
              <a:t>Rising sea levels</a:t>
            </a:r>
          </a:p>
          <a:p>
            <a:pPr lvl="1"/>
            <a:r>
              <a:rPr lang="en-US" sz="2900" dirty="0"/>
              <a:t>Stronger typhoons and heat waves</a:t>
            </a:r>
          </a:p>
          <a:p>
            <a:pPr lvl="1"/>
            <a:r>
              <a:rPr lang="en-US" sz="2900" dirty="0"/>
              <a:t>Climate change affecting agriculture and ecosystems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15868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3087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8" name="Picture 6" descr="Global Warming - Greenhouse Gas Models for Kids">
            <a:extLst>
              <a:ext uri="{FF2B5EF4-FFF2-40B4-BE49-F238E27FC236}">
                <a16:creationId xmlns:a16="http://schemas.microsoft.com/office/drawing/2014/main" id="{B3FF0AEE-2C23-B869-4A0A-5B52027EF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180" y="1160450"/>
            <a:ext cx="6410084" cy="455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7" name="Rectangle 3086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TIME for Kids | What is Global Warming?">
            <a:extLst>
              <a:ext uri="{FF2B5EF4-FFF2-40B4-BE49-F238E27FC236}">
                <a16:creationId xmlns:a16="http://schemas.microsoft.com/office/drawing/2014/main" id="{4414CE49-4809-6F48-58F4-ECE2BBF18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68924" y="643467"/>
            <a:ext cx="3708843" cy="2475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9" name="Rectangle 3088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Effects - NASA Science">
            <a:extLst>
              <a:ext uri="{FF2B5EF4-FFF2-40B4-BE49-F238E27FC236}">
                <a16:creationId xmlns:a16="http://schemas.microsoft.com/office/drawing/2014/main" id="{9321A8BB-5FEC-4AF6-F873-67BDCC139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95873" y="4034729"/>
            <a:ext cx="3854945" cy="189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775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97032-1F5D-5B1F-357A-376AFB49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br>
              <a:rPr lang="en-US" sz="4000" b="1">
                <a:solidFill>
                  <a:srgbClr val="FFFFFF"/>
                </a:solidFill>
              </a:rPr>
            </a:br>
            <a:r>
              <a:rPr lang="en-US" sz="4000" b="1">
                <a:solidFill>
                  <a:srgbClr val="FFFFFF"/>
                </a:solidFill>
              </a:rPr>
              <a:t>Ozone Layer Depletion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1F22D-BB9F-BF78-AE4F-18399C1C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The </a:t>
            </a:r>
            <a:r>
              <a:rPr lang="en-US" sz="3200" b="1" dirty="0"/>
              <a:t>ozone layer</a:t>
            </a:r>
            <a:r>
              <a:rPr lang="en-US" sz="3200" dirty="0"/>
              <a:t> is a part of the stratosphere that protects Earth from harmful </a:t>
            </a:r>
            <a:r>
              <a:rPr lang="en-US" sz="3200" b="1" dirty="0"/>
              <a:t>ultraviolet (UV) radiation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b="1" dirty="0"/>
              <a:t>Causes:</a:t>
            </a:r>
            <a:endParaRPr lang="en-US" sz="3200" dirty="0"/>
          </a:p>
          <a:p>
            <a:pPr lvl="1"/>
            <a:r>
              <a:rPr lang="en-US" sz="3200" dirty="0"/>
              <a:t>Chlorofluorocarbons (CFCs)</a:t>
            </a:r>
          </a:p>
          <a:p>
            <a:pPr lvl="1"/>
            <a:r>
              <a:rPr lang="en-US" sz="3200" dirty="0"/>
              <a:t>Industrial chemicals and aerosols</a:t>
            </a:r>
          </a:p>
          <a:p>
            <a:pPr marL="0" indent="0">
              <a:buNone/>
            </a:pPr>
            <a:r>
              <a:rPr lang="en-US" sz="3200" b="1" dirty="0"/>
              <a:t>Effects:</a:t>
            </a:r>
            <a:endParaRPr lang="en-US" sz="3200" dirty="0"/>
          </a:p>
          <a:p>
            <a:pPr lvl="1"/>
            <a:r>
              <a:rPr lang="en-US" sz="3200" dirty="0"/>
              <a:t>Increased skin cancer risk</a:t>
            </a:r>
          </a:p>
          <a:p>
            <a:pPr lvl="1"/>
            <a:r>
              <a:rPr lang="en-US" sz="3200" dirty="0"/>
              <a:t>Damage to crops and marine life</a:t>
            </a:r>
          </a:p>
          <a:p>
            <a:pPr lvl="1"/>
            <a:r>
              <a:rPr lang="en-US" sz="3200" dirty="0"/>
              <a:t>Eye problems in humans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972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3" descr="Does Tropical Ozone Hole exist? - Civilsdaily">
            <a:extLst>
              <a:ext uri="{FF2B5EF4-FFF2-40B4-BE49-F238E27FC236}">
                <a16:creationId xmlns:a16="http://schemas.microsoft.com/office/drawing/2014/main" id="{E15A3FA5-95F0-552D-E054-FF32B0E04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65783" y="457200"/>
            <a:ext cx="6460434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38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39C59-7E51-62BA-9464-788D8BCB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br>
              <a:rPr lang="en-US" sz="4000" b="1">
                <a:solidFill>
                  <a:srgbClr val="FFFFFF"/>
                </a:solidFill>
              </a:rPr>
            </a:br>
            <a:r>
              <a:rPr lang="en-US" sz="4000" b="1">
                <a:solidFill>
                  <a:srgbClr val="FFFFFF"/>
                </a:solidFill>
              </a:rPr>
              <a:t>Acid Rain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CDBD-17F9-C5B7-FC93-B51DF5E59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Acid rain</a:t>
            </a:r>
            <a:r>
              <a:rPr lang="en-US" sz="2400" dirty="0"/>
              <a:t> refers to rain, snow, or fog that contains strong acids formed from air pollutants.</a:t>
            </a:r>
          </a:p>
          <a:p>
            <a:pPr marL="0" indent="0">
              <a:buNone/>
            </a:pPr>
            <a:r>
              <a:rPr lang="en-US" sz="2400" b="1" dirty="0"/>
              <a:t>Main Pollutants:</a:t>
            </a:r>
            <a:endParaRPr lang="en-US" sz="2400" dirty="0"/>
          </a:p>
          <a:p>
            <a:pPr lvl="1"/>
            <a:r>
              <a:rPr lang="en-US" dirty="0"/>
              <a:t>Sulfur dioxide (SO₂)</a:t>
            </a:r>
          </a:p>
          <a:p>
            <a:pPr lvl="1"/>
            <a:r>
              <a:rPr lang="en-US" dirty="0"/>
              <a:t>Nitrogen oxides (NOₓ)</a:t>
            </a:r>
          </a:p>
          <a:p>
            <a:pPr marL="0" indent="0">
              <a:buNone/>
            </a:pPr>
            <a:r>
              <a:rPr lang="en-US" sz="2400" b="1" dirty="0"/>
              <a:t>Sources:</a:t>
            </a:r>
            <a:endParaRPr lang="en-US" sz="2400" dirty="0"/>
          </a:p>
          <a:p>
            <a:pPr lvl="1"/>
            <a:r>
              <a:rPr lang="en-US" dirty="0"/>
              <a:t>Power plants</a:t>
            </a:r>
          </a:p>
          <a:p>
            <a:pPr lvl="1"/>
            <a:r>
              <a:rPr lang="en-US" dirty="0"/>
              <a:t>Vehicle emissions</a:t>
            </a:r>
          </a:p>
          <a:p>
            <a:pPr lvl="1"/>
            <a:r>
              <a:rPr lang="en-US" dirty="0"/>
              <a:t>Factory smoke</a:t>
            </a:r>
          </a:p>
          <a:p>
            <a:pPr marL="0" indent="0">
              <a:buNone/>
            </a:pPr>
            <a:r>
              <a:rPr lang="en-US" sz="2400" b="1" dirty="0"/>
              <a:t>Effects:</a:t>
            </a:r>
            <a:endParaRPr lang="en-US" sz="2400" dirty="0"/>
          </a:p>
          <a:p>
            <a:pPr lvl="1"/>
            <a:r>
              <a:rPr lang="en-US" dirty="0"/>
              <a:t>Damage to forests</a:t>
            </a:r>
          </a:p>
          <a:p>
            <a:pPr lvl="1"/>
            <a:r>
              <a:rPr lang="en-US" dirty="0"/>
              <a:t>Fish death in lakes and rivers</a:t>
            </a:r>
          </a:p>
          <a:p>
            <a:pPr lvl="1"/>
            <a:r>
              <a:rPr lang="en-US" dirty="0"/>
              <a:t>Corrosion of buildings and monuments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62399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A diagram of acid rain&#10;&#10;AI-generated content may be incorrect.">
            <a:extLst>
              <a:ext uri="{FF2B5EF4-FFF2-40B4-BE49-F238E27FC236}">
                <a16:creationId xmlns:a16="http://schemas.microsoft.com/office/drawing/2014/main" id="{ECCBAF84-A9FF-7724-E97C-86AC081C3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9" b="1517"/>
          <a:stretch>
            <a:fillRect/>
          </a:stretch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84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AFF4F-45E9-7D4D-C34B-64961F36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Air Pollution Control Methods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Topic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BF15E-63ED-2BE9-E5E8-318C8AC57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Air Pollution Control Methods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techniques and strategies used to </a:t>
            </a: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reduce, prevent, or remove pollutants from the air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5501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91BC2-CB88-FF0C-FE03-77A54D9F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A. Source Control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3795-5933-F53B-7376-09C9947A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9" y="3100283"/>
            <a:ext cx="9889788" cy="3076679"/>
          </a:xfrm>
        </p:spPr>
        <p:txBody>
          <a:bodyPr>
            <a:normAutofit/>
          </a:bodyPr>
          <a:lstStyle/>
          <a:p>
            <a:r>
              <a:rPr lang="en-US" sz="2400"/>
              <a:t>Prevent pollution </a:t>
            </a:r>
            <a:r>
              <a:rPr lang="en-US" sz="2400" b="1"/>
              <a:t>before it enters the air</a:t>
            </a:r>
            <a:r>
              <a:rPr lang="en-US" sz="2400"/>
              <a:t>.</a:t>
            </a:r>
          </a:p>
          <a:p>
            <a:pPr marL="0" indent="0">
              <a:buNone/>
            </a:pPr>
            <a:r>
              <a:rPr lang="en-US" sz="2400"/>
              <a:t>Examples:</a:t>
            </a:r>
          </a:p>
          <a:p>
            <a:r>
              <a:rPr lang="en-US" sz="2400"/>
              <a:t>Using </a:t>
            </a:r>
            <a:r>
              <a:rPr lang="en-US" sz="2400" b="1"/>
              <a:t>clean and renewable energy</a:t>
            </a:r>
            <a:r>
              <a:rPr lang="en-US" sz="2400"/>
              <a:t> (solar, wind).</a:t>
            </a:r>
          </a:p>
          <a:p>
            <a:r>
              <a:rPr lang="en-US" sz="2400"/>
              <a:t>Fuel-efficient and electric vehicles.</a:t>
            </a:r>
          </a:p>
          <a:p>
            <a:r>
              <a:rPr lang="en-US" sz="2400"/>
              <a:t>Proper maintenance of machines and vehicles.</a:t>
            </a:r>
          </a:p>
          <a:p>
            <a:r>
              <a:rPr lang="en-US" sz="2400"/>
              <a:t>Reducing fossil fuel use.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23935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8DAA6B-6CC7-2E5A-8A1D-D2CB47262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br>
              <a:rPr lang="en-US" sz="3400" b="1">
                <a:solidFill>
                  <a:srgbClr val="FFFFFF"/>
                </a:solidFill>
              </a:rPr>
            </a:br>
            <a:r>
              <a:rPr lang="en-US" sz="3400" b="1">
                <a:solidFill>
                  <a:srgbClr val="FFFFFF"/>
                </a:solidFill>
              </a:rPr>
              <a:t>B. Engineering and Technological Controls</a:t>
            </a:r>
            <a:br>
              <a:rPr lang="en-US" sz="3400" b="1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F24DEF-05D9-A5F1-DCCD-A2892E9030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635697"/>
              </p:ext>
            </p:extLst>
          </p:nvPr>
        </p:nvGraphicFramePr>
        <p:xfrm>
          <a:off x="663191" y="2857938"/>
          <a:ext cx="10771832" cy="3806776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3737986">
                  <a:extLst>
                    <a:ext uri="{9D8B030D-6E8A-4147-A177-3AD203B41FA5}">
                      <a16:colId xmlns:a16="http://schemas.microsoft.com/office/drawing/2014/main" val="1339797632"/>
                    </a:ext>
                  </a:extLst>
                </a:gridCol>
                <a:gridCol w="7033846">
                  <a:extLst>
                    <a:ext uri="{9D8B030D-6E8A-4147-A177-3AD203B41FA5}">
                      <a16:colId xmlns:a16="http://schemas.microsoft.com/office/drawing/2014/main" val="4213101339"/>
                    </a:ext>
                  </a:extLst>
                </a:gridCol>
              </a:tblGrid>
              <a:tr h="550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Device</a:t>
                      </a:r>
                      <a:endParaRPr lang="en-US" sz="24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816" marR="8578" marT="102936" marB="10293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Function</a:t>
                      </a:r>
                      <a:endParaRPr lang="en-US" sz="24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816" marR="8578" marT="102936" marB="10293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356770"/>
                  </a:ext>
                </a:extLst>
              </a:tr>
              <a:tr h="8630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Electrostatic Precipitator</a:t>
                      </a:r>
                      <a:endParaRPr lang="en-US" sz="2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816" marR="8578" marT="102936" marB="10293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Removes dust and smoke particles from factory exhaust</a:t>
                      </a:r>
                      <a:endParaRPr lang="en-US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816" marR="8578" marT="102936" marB="1029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092884"/>
                  </a:ext>
                </a:extLst>
              </a:tr>
              <a:tr h="8630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Scrubber</a:t>
                      </a:r>
                      <a:endParaRPr lang="en-US" sz="2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816" marR="8578" marT="102936" marB="1029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Uses liquid to remove SO₂ and other gases</a:t>
                      </a:r>
                      <a:endParaRPr lang="en-US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816" marR="8578" marT="102936" marB="1029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932536"/>
                  </a:ext>
                </a:extLst>
              </a:tr>
              <a:tr h="8630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Catalytic Converter</a:t>
                      </a:r>
                      <a:endParaRPr lang="en-US" sz="2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816" marR="8578" marT="102936" marB="10293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Reduces harmful gases from vehicle exhaust</a:t>
                      </a:r>
                      <a:endParaRPr lang="en-US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816" marR="8578" marT="102936" marB="1029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62812"/>
                  </a:ext>
                </a:extLst>
              </a:tr>
              <a:tr h="550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Filters</a:t>
                      </a:r>
                      <a:endParaRPr lang="en-US" sz="2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816" marR="8578" marT="102936" marB="1029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Trap particulate matter</a:t>
                      </a:r>
                      <a:endParaRPr lang="en-US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3816" marR="8578" marT="102936" marB="1029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4174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AEDC3C-B40A-A782-9A05-A7E210FCDB27}"/>
              </a:ext>
            </a:extLst>
          </p:cNvPr>
          <p:cNvSpPr txBox="1"/>
          <p:nvPr/>
        </p:nvSpPr>
        <p:spPr>
          <a:xfrm>
            <a:off x="663191" y="2202987"/>
            <a:ext cx="10358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Devices that </a:t>
            </a:r>
            <a:r>
              <a:rPr lang="en-US" sz="2400" b="1" dirty="0"/>
              <a:t>remove pollutants</a:t>
            </a:r>
            <a:r>
              <a:rPr lang="en-US" sz="2400" dirty="0"/>
              <a:t> from emissions.</a:t>
            </a:r>
          </a:p>
        </p:txBody>
      </p:sp>
    </p:spTree>
    <p:extLst>
      <p:ext uri="{BB962C8B-B14F-4D97-AF65-F5344CB8AC3E}">
        <p14:creationId xmlns:p14="http://schemas.microsoft.com/office/powerpoint/2010/main" val="3460289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Rectangle 6154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0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How Engine Emission Controlled By a Catalytic Converter?">
            <a:extLst>
              <a:ext uri="{FF2B5EF4-FFF2-40B4-BE49-F238E27FC236}">
                <a16:creationId xmlns:a16="http://schemas.microsoft.com/office/drawing/2014/main" id="{51DC0D07-EE5B-3F1E-F45F-CF0E020E2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549" y="1003191"/>
            <a:ext cx="3122143" cy="175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9" name="Rectangle 6158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6" descr="Design of an electrostatic precipitator for a novel bituminous coal-fired  circulating fluidised bed combustion power plant in Namibia">
            <a:extLst>
              <a:ext uri="{FF2B5EF4-FFF2-40B4-BE49-F238E27FC236}">
                <a16:creationId xmlns:a16="http://schemas.microsoft.com/office/drawing/2014/main" id="{601AA09B-C4A7-FCE8-FB56-84342700C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549" y="4021477"/>
            <a:ext cx="3104943" cy="192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1" name="Rectangle 6160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CR CleanAir Wet Scrubbers">
            <a:extLst>
              <a:ext uri="{FF2B5EF4-FFF2-40B4-BE49-F238E27FC236}">
                <a16:creationId xmlns:a16="http://schemas.microsoft.com/office/drawing/2014/main" id="{D256F11A-DBC3-5C8D-85EC-505C807B5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1676" y="1337383"/>
            <a:ext cx="3252903" cy="419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3" name="Rectangle 6162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524" y="487090"/>
            <a:ext cx="3588174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0" name="Picture 6" descr="AIR INTAKE FILTRATION SYSTEM – MOST IMPORTANT FOR RELAIBILITY OF GAS  TURBINE POWER PLANT - BR Initiative Energy">
            <a:extLst>
              <a:ext uri="{FF2B5EF4-FFF2-40B4-BE49-F238E27FC236}">
                <a16:creationId xmlns:a16="http://schemas.microsoft.com/office/drawing/2014/main" id="{B1BE97AD-9EC4-0801-6392-AE41ADD3E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3518" y="1862438"/>
            <a:ext cx="3252903" cy="314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116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136FA-14C9-A9A3-3D65-232DFDF3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C. Legal and Policy Measure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171FD-2A33-8D4E-D586-9623837CF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9" y="3100283"/>
            <a:ext cx="9889788" cy="3076679"/>
          </a:xfrm>
        </p:spPr>
        <p:txBody>
          <a:bodyPr>
            <a:normAutofit/>
          </a:bodyPr>
          <a:lstStyle/>
          <a:p>
            <a:r>
              <a:rPr lang="en-US" sz="2400" dirty="0"/>
              <a:t>Government actions to control pollution.</a:t>
            </a:r>
          </a:p>
          <a:p>
            <a:pPr marL="0" indent="0">
              <a:buNone/>
            </a:pPr>
            <a:r>
              <a:rPr lang="en-US" sz="2400" dirty="0"/>
              <a:t>Examples:</a:t>
            </a:r>
          </a:p>
          <a:p>
            <a:r>
              <a:rPr lang="en-US" sz="2400" dirty="0"/>
              <a:t>Emission standards</a:t>
            </a:r>
          </a:p>
          <a:p>
            <a:r>
              <a:rPr lang="en-US" sz="2400" dirty="0"/>
              <a:t>Anti-smoke belching programs</a:t>
            </a:r>
          </a:p>
          <a:p>
            <a:r>
              <a:rPr lang="en-US" sz="2400" dirty="0"/>
              <a:t>Ban on open burning</a:t>
            </a:r>
          </a:p>
          <a:p>
            <a:r>
              <a:rPr lang="en-US" sz="2400" dirty="0"/>
              <a:t>Environmental laws (e.g., </a:t>
            </a:r>
            <a:r>
              <a:rPr lang="en-US" sz="2400" b="1" dirty="0"/>
              <a:t>Philippine Clean Air Act – RA 8749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8974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8FF9B-C2BC-FE60-500D-205C30BD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Philippine Clean Air Act – RA 8749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6D8F3-83C7-8B89-B15D-4E08D3A8E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algn="justLow"/>
            <a:r>
              <a:rPr lang="en-US" sz="2400" dirty="0"/>
              <a:t>The </a:t>
            </a:r>
            <a:r>
              <a:rPr lang="en-US" sz="2400" b="1" dirty="0"/>
              <a:t>Philippine Clean Air Act of 1999 (RA 8749)</a:t>
            </a:r>
            <a:r>
              <a:rPr lang="en-US" sz="2400" dirty="0"/>
              <a:t> is a law that aims to </a:t>
            </a:r>
            <a:r>
              <a:rPr lang="en-US" sz="2400" b="1" dirty="0"/>
              <a:t>protect and preserve the country’s air quality</a:t>
            </a:r>
            <a:r>
              <a:rPr lang="en-US" sz="2400" dirty="0"/>
              <a:t> by controlling air pollution from various sources. Its main goal is to ensure </a:t>
            </a:r>
            <a:r>
              <a:rPr lang="en-US" sz="2400" b="1" dirty="0"/>
              <a:t>clean and safe air for the health and well-being of Filipinos</a:t>
            </a:r>
            <a:r>
              <a:rPr lang="en-US" sz="2400" dirty="0"/>
              <a:t>.</a:t>
            </a:r>
          </a:p>
          <a:p>
            <a:pPr marL="0" indent="0" algn="justLow">
              <a:buNone/>
            </a:pPr>
            <a:r>
              <a:rPr lang="en-US" sz="2400" b="1" dirty="0"/>
              <a:t>Regulations:</a:t>
            </a:r>
            <a:endParaRPr lang="en-US" sz="2400" dirty="0"/>
          </a:p>
          <a:p>
            <a:pPr algn="justLow"/>
            <a:r>
              <a:rPr lang="en-US" sz="2400" dirty="0"/>
              <a:t>Sets </a:t>
            </a:r>
            <a:r>
              <a:rPr lang="en-US" sz="2400" b="1" dirty="0"/>
              <a:t>ambient air quality standards</a:t>
            </a:r>
            <a:r>
              <a:rPr lang="en-US" sz="2400" dirty="0"/>
              <a:t> for key pollutants.</a:t>
            </a:r>
          </a:p>
          <a:p>
            <a:pPr algn="justLow"/>
            <a:r>
              <a:rPr lang="en-US" sz="2400" dirty="0"/>
              <a:t>Requires emission standards for vehicles and industries.</a:t>
            </a:r>
          </a:p>
          <a:p>
            <a:pPr algn="justLow"/>
            <a:r>
              <a:rPr lang="en-US" sz="2400" dirty="0"/>
              <a:t>Mandates the use of cleaner fuels and environmentally friendly technologies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9139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EB070A-AD9B-82D5-3161-3FBD9B855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D. Individual and Community Actions</a:t>
            </a:r>
            <a:br>
              <a:rPr lang="en-US" sz="3600" b="1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1B70F-CB96-85BC-7176-30D1DC3AB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Everyone </a:t>
            </a:r>
            <a:r>
              <a:rPr lang="en-US" sz="3200" dirty="0"/>
              <a:t>plays a role in keeping the air clean.</a:t>
            </a:r>
          </a:p>
          <a:p>
            <a:pPr lvl="1"/>
            <a:r>
              <a:rPr lang="en-US" sz="3200" dirty="0"/>
              <a:t>Planting trees.</a:t>
            </a:r>
          </a:p>
          <a:p>
            <a:pPr lvl="1"/>
            <a:r>
              <a:rPr lang="en-US" sz="3200" dirty="0"/>
              <a:t>Proper waste disposal.</a:t>
            </a:r>
          </a:p>
          <a:p>
            <a:pPr lvl="1"/>
            <a:r>
              <a:rPr lang="en-US" sz="3200" dirty="0"/>
              <a:t>Using public transportation.</a:t>
            </a:r>
          </a:p>
          <a:p>
            <a:pPr lvl="1"/>
            <a:r>
              <a:rPr lang="en-US" sz="3200" dirty="0"/>
              <a:t>Conserving electricity.</a:t>
            </a:r>
          </a:p>
          <a:p>
            <a:pPr lvl="1"/>
            <a:r>
              <a:rPr lang="en-US" sz="3200" dirty="0"/>
              <a:t>Avoiding the burning </a:t>
            </a:r>
            <a:r>
              <a:rPr lang="en-US" sz="2800" dirty="0"/>
              <a:t>of trash.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8235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1269</Words>
  <Application>Microsoft Office PowerPoint</Application>
  <PresentationFormat>Widescreen</PresentationFormat>
  <Paragraphs>186</Paragraphs>
  <Slides>31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Aptos Narrow</vt:lpstr>
      <vt:lpstr>Arial</vt:lpstr>
      <vt:lpstr>Wingdings</vt:lpstr>
      <vt:lpstr>Office Theme</vt:lpstr>
      <vt:lpstr>Air Quality Supervision </vt:lpstr>
      <vt:lpstr>Objectives</vt:lpstr>
      <vt:lpstr>Air</vt:lpstr>
      <vt:lpstr>PowerPoint Presentation</vt:lpstr>
      <vt:lpstr>Composition of Air (Dry Air)</vt:lpstr>
      <vt:lpstr>Greenhouse Effect</vt:lpstr>
      <vt:lpstr>PowerPoint Presentation</vt:lpstr>
      <vt:lpstr>PowerPoint Presentation</vt:lpstr>
      <vt:lpstr>Layers of the Atmosphere</vt:lpstr>
      <vt:lpstr>Summary (Importance of Air)</vt:lpstr>
      <vt:lpstr>Air pollution</vt:lpstr>
      <vt:lpstr>Air pollution</vt:lpstr>
      <vt:lpstr> Primary Pollutants </vt:lpstr>
      <vt:lpstr> Secondary Pollutants </vt:lpstr>
      <vt:lpstr>Sources of Air Pollution</vt:lpstr>
      <vt:lpstr>Sources of Air Pollution</vt:lpstr>
      <vt:lpstr>PowerPoint Presentation</vt:lpstr>
      <vt:lpstr>Air-Related Environmental Problems  Topic 3</vt:lpstr>
      <vt:lpstr> Global Warming </vt:lpstr>
      <vt:lpstr>PowerPoint Presentation</vt:lpstr>
      <vt:lpstr> Ozone Layer Depletion </vt:lpstr>
      <vt:lpstr>PowerPoint Presentation</vt:lpstr>
      <vt:lpstr> Acid Rain </vt:lpstr>
      <vt:lpstr>PowerPoint Presentation</vt:lpstr>
      <vt:lpstr>Air Pollution Control Methods  Topic 4</vt:lpstr>
      <vt:lpstr>A. Source Control</vt:lpstr>
      <vt:lpstr> B. Engineering and Technological Controls </vt:lpstr>
      <vt:lpstr>PowerPoint Presentation</vt:lpstr>
      <vt:lpstr>C. Legal and Policy Measure</vt:lpstr>
      <vt:lpstr>Philippine Clean Air Act – RA 8749</vt:lpstr>
      <vt:lpstr> D. Individual and Community Actions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Office365</dc:creator>
  <cp:lastModifiedBy>Brigida Reyes</cp:lastModifiedBy>
  <cp:revision>14</cp:revision>
  <dcterms:created xsi:type="dcterms:W3CDTF">2025-12-24T01:14:03Z</dcterms:created>
  <dcterms:modified xsi:type="dcterms:W3CDTF">2026-09-29T06:29:05Z</dcterms:modified>
</cp:coreProperties>
</file>