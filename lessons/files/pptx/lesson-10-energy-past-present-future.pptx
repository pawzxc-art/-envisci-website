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62" r:id="rId3"/>
    <p:sldId id="260" r:id="rId4"/>
    <p:sldId id="333" r:id="rId5"/>
    <p:sldId id="326" r:id="rId6"/>
    <p:sldId id="327" r:id="rId7"/>
    <p:sldId id="328" r:id="rId8"/>
    <p:sldId id="329" r:id="rId9"/>
    <p:sldId id="330" r:id="rId10"/>
    <p:sldId id="331" r:id="rId11"/>
    <p:sldId id="334" r:id="rId12"/>
    <p:sldId id="265" r:id="rId13"/>
    <p:sldId id="340" r:id="rId14"/>
    <p:sldId id="310" r:id="rId15"/>
    <p:sldId id="335" r:id="rId16"/>
    <p:sldId id="308" r:id="rId17"/>
    <p:sldId id="267" r:id="rId18"/>
    <p:sldId id="341" r:id="rId19"/>
    <p:sldId id="268" r:id="rId20"/>
    <p:sldId id="317" r:id="rId21"/>
    <p:sldId id="311" r:id="rId22"/>
    <p:sldId id="269" r:id="rId23"/>
    <p:sldId id="320" r:id="rId24"/>
    <p:sldId id="318" r:id="rId25"/>
    <p:sldId id="270" r:id="rId26"/>
    <p:sldId id="319" r:id="rId27"/>
    <p:sldId id="342" r:id="rId28"/>
    <p:sldId id="321" r:id="rId29"/>
    <p:sldId id="343" r:id="rId30"/>
    <p:sldId id="322" r:id="rId31"/>
    <p:sldId id="344" r:id="rId32"/>
    <p:sldId id="336" r:id="rId33"/>
    <p:sldId id="345" r:id="rId34"/>
    <p:sldId id="346" r:id="rId35"/>
    <p:sldId id="347" r:id="rId36"/>
    <p:sldId id="348" r:id="rId37"/>
    <p:sldId id="349" r:id="rId38"/>
    <p:sldId id="350" r:id="rId39"/>
    <p:sldId id="351" r:id="rId40"/>
    <p:sldId id="35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94660"/>
  </p:normalViewPr>
  <p:slideViewPr>
    <p:cSldViewPr snapToGrid="0">
      <p:cViewPr varScale="1">
        <p:scale>
          <a:sx n="59" d="100"/>
          <a:sy n="59" d="100"/>
        </p:scale>
        <p:origin x="98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33617C-B125-43AD-B733-CBB6FAF0941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E50C162-0C89-460E-B916-106F75775FFB}">
      <dgm:prSet/>
      <dgm:spPr/>
      <dgm:t>
        <a:bodyPr/>
        <a:lstStyle/>
        <a:p>
          <a:pPr>
            <a:defRPr b="1"/>
          </a:pPr>
          <a:r>
            <a:rPr lang="en-US" b="1" dirty="0"/>
            <a:t>Non-renewable energy sources</a:t>
          </a:r>
          <a:r>
            <a:rPr lang="en-US" dirty="0"/>
            <a:t> </a:t>
          </a:r>
        </a:p>
      </dgm:t>
    </dgm:pt>
    <dgm:pt modelId="{57D77067-4463-4495-AF3C-0D3B5CF601E3}" type="parTrans" cxnId="{6C8AA8A3-D47C-478C-919E-B46520F595F6}">
      <dgm:prSet/>
      <dgm:spPr/>
      <dgm:t>
        <a:bodyPr/>
        <a:lstStyle/>
        <a:p>
          <a:endParaRPr lang="en-US"/>
        </a:p>
      </dgm:t>
    </dgm:pt>
    <dgm:pt modelId="{D6F49BB4-43A2-4609-88E6-09135570E69A}" type="sibTrans" cxnId="{6C8AA8A3-D47C-478C-919E-B46520F595F6}">
      <dgm:prSet/>
      <dgm:spPr/>
      <dgm:t>
        <a:bodyPr/>
        <a:lstStyle/>
        <a:p>
          <a:endParaRPr lang="en-US"/>
        </a:p>
      </dgm:t>
    </dgm:pt>
    <dgm:pt modelId="{271DCC19-9D13-40FC-8CFC-C7D3CDEE93B4}">
      <dgm:prSet/>
      <dgm:spPr/>
      <dgm:t>
        <a:bodyPr/>
        <a:lstStyle/>
        <a:p>
          <a:r>
            <a:rPr lang="en-US" dirty="0"/>
            <a:t>Fossil fuels (coal, oil, natural gas)</a:t>
          </a:r>
        </a:p>
      </dgm:t>
    </dgm:pt>
    <dgm:pt modelId="{E8A0AC00-2AA5-46BD-8C26-4F729F2C8CD3}" type="parTrans" cxnId="{F008B319-56E0-46B6-8604-6CB71F98B76E}">
      <dgm:prSet/>
      <dgm:spPr/>
      <dgm:t>
        <a:bodyPr/>
        <a:lstStyle/>
        <a:p>
          <a:endParaRPr lang="en-US"/>
        </a:p>
      </dgm:t>
    </dgm:pt>
    <dgm:pt modelId="{A5A4C9A1-A1C9-480E-BCEB-1D6F70918683}" type="sibTrans" cxnId="{F008B319-56E0-46B6-8604-6CB71F98B76E}">
      <dgm:prSet/>
      <dgm:spPr/>
      <dgm:t>
        <a:bodyPr/>
        <a:lstStyle/>
        <a:p>
          <a:endParaRPr lang="en-US"/>
        </a:p>
      </dgm:t>
    </dgm:pt>
    <dgm:pt modelId="{7F2FBE23-EC1E-49CF-A7B8-BECA252B3CF2}">
      <dgm:prSet/>
      <dgm:spPr/>
      <dgm:t>
        <a:bodyPr/>
        <a:lstStyle/>
        <a:p>
          <a:r>
            <a:rPr lang="en-US" dirty="0"/>
            <a:t>Nuclear energy</a:t>
          </a:r>
        </a:p>
      </dgm:t>
    </dgm:pt>
    <dgm:pt modelId="{701B9E16-6F1F-41CB-89DE-92236F3F19AF}" type="parTrans" cxnId="{590023F7-FA13-4B6B-B641-D00310D932B8}">
      <dgm:prSet/>
      <dgm:spPr/>
      <dgm:t>
        <a:bodyPr/>
        <a:lstStyle/>
        <a:p>
          <a:endParaRPr lang="en-US"/>
        </a:p>
      </dgm:t>
    </dgm:pt>
    <dgm:pt modelId="{A1BF79E3-95F5-4D3F-A975-18B09A617872}" type="sibTrans" cxnId="{590023F7-FA13-4B6B-B641-D00310D932B8}">
      <dgm:prSet/>
      <dgm:spPr/>
      <dgm:t>
        <a:bodyPr/>
        <a:lstStyle/>
        <a:p>
          <a:endParaRPr lang="en-US"/>
        </a:p>
      </dgm:t>
    </dgm:pt>
    <dgm:pt modelId="{1E823282-B9E2-408A-AFEE-9DB2B593D465}">
      <dgm:prSet/>
      <dgm:spPr/>
      <dgm:t>
        <a:bodyPr/>
        <a:lstStyle/>
        <a:p>
          <a:pPr>
            <a:defRPr b="1"/>
          </a:pPr>
          <a:r>
            <a:rPr lang="en-US" b="1" dirty="0"/>
            <a:t>Renewable energy sources</a:t>
          </a:r>
          <a:r>
            <a:rPr lang="en-US" dirty="0"/>
            <a:t> </a:t>
          </a:r>
        </a:p>
      </dgm:t>
    </dgm:pt>
    <dgm:pt modelId="{2F5A0A79-7046-40E5-A505-9C68339970D0}" type="parTrans" cxnId="{0B06D703-D838-4A8E-AE6D-737357809ABC}">
      <dgm:prSet/>
      <dgm:spPr/>
      <dgm:t>
        <a:bodyPr/>
        <a:lstStyle/>
        <a:p>
          <a:endParaRPr lang="en-US"/>
        </a:p>
      </dgm:t>
    </dgm:pt>
    <dgm:pt modelId="{D73EA003-BD40-41C6-A767-E15E94FBD702}" type="sibTrans" cxnId="{0B06D703-D838-4A8E-AE6D-737357809ABC}">
      <dgm:prSet/>
      <dgm:spPr/>
      <dgm:t>
        <a:bodyPr/>
        <a:lstStyle/>
        <a:p>
          <a:endParaRPr lang="en-US"/>
        </a:p>
      </dgm:t>
    </dgm:pt>
    <dgm:pt modelId="{0F5CB6EE-09DE-426A-965B-666FE56C8738}">
      <dgm:prSet/>
      <dgm:spPr/>
      <dgm:t>
        <a:bodyPr/>
        <a:lstStyle/>
        <a:p>
          <a:r>
            <a:rPr lang="en-US" dirty="0"/>
            <a:t>Solar energy</a:t>
          </a:r>
        </a:p>
      </dgm:t>
    </dgm:pt>
    <dgm:pt modelId="{15F6D643-78DC-4472-829F-BEAB65CD3296}" type="parTrans" cxnId="{026F3373-6480-4D68-9266-FF84C3998D5E}">
      <dgm:prSet/>
      <dgm:spPr/>
      <dgm:t>
        <a:bodyPr/>
        <a:lstStyle/>
        <a:p>
          <a:endParaRPr lang="en-US"/>
        </a:p>
      </dgm:t>
    </dgm:pt>
    <dgm:pt modelId="{CF0BB79A-E9B4-4A71-B9CB-0329C511F167}" type="sibTrans" cxnId="{026F3373-6480-4D68-9266-FF84C3998D5E}">
      <dgm:prSet/>
      <dgm:spPr/>
      <dgm:t>
        <a:bodyPr/>
        <a:lstStyle/>
        <a:p>
          <a:endParaRPr lang="en-US"/>
        </a:p>
      </dgm:t>
    </dgm:pt>
    <dgm:pt modelId="{A361C065-778E-4C75-88EC-13A93286E20C}">
      <dgm:prSet/>
      <dgm:spPr/>
      <dgm:t>
        <a:bodyPr/>
        <a:lstStyle/>
        <a:p>
          <a:r>
            <a:rPr lang="en-US" dirty="0"/>
            <a:t>Wind energy</a:t>
          </a:r>
        </a:p>
      </dgm:t>
    </dgm:pt>
    <dgm:pt modelId="{A3337C07-86E0-4470-A3D4-9853DD1E271B}" type="parTrans" cxnId="{5CF58C91-BCC1-47F5-AB9E-FFA450C84097}">
      <dgm:prSet/>
      <dgm:spPr/>
      <dgm:t>
        <a:bodyPr/>
        <a:lstStyle/>
        <a:p>
          <a:endParaRPr lang="en-US"/>
        </a:p>
      </dgm:t>
    </dgm:pt>
    <dgm:pt modelId="{921AF574-835F-49D3-A657-4063E14581A9}" type="sibTrans" cxnId="{5CF58C91-BCC1-47F5-AB9E-FFA450C84097}">
      <dgm:prSet/>
      <dgm:spPr/>
      <dgm:t>
        <a:bodyPr/>
        <a:lstStyle/>
        <a:p>
          <a:endParaRPr lang="en-US"/>
        </a:p>
      </dgm:t>
    </dgm:pt>
    <dgm:pt modelId="{133A9FFA-B952-42DA-9D3D-B2766E9509C3}">
      <dgm:prSet/>
      <dgm:spPr/>
      <dgm:t>
        <a:bodyPr/>
        <a:lstStyle/>
        <a:p>
          <a:r>
            <a:rPr lang="en-US" dirty="0"/>
            <a:t>Hydropower</a:t>
          </a:r>
        </a:p>
      </dgm:t>
    </dgm:pt>
    <dgm:pt modelId="{CB3EF8B5-FC8A-4005-9167-CF8DAC17CA66}" type="parTrans" cxnId="{40E19974-9805-45BF-A6D6-F2740073EDAE}">
      <dgm:prSet/>
      <dgm:spPr/>
      <dgm:t>
        <a:bodyPr/>
        <a:lstStyle/>
        <a:p>
          <a:endParaRPr lang="en-US"/>
        </a:p>
      </dgm:t>
    </dgm:pt>
    <dgm:pt modelId="{723A01EC-0115-4E5D-AAFC-3966B1A6DCB9}" type="sibTrans" cxnId="{40E19974-9805-45BF-A6D6-F2740073EDAE}">
      <dgm:prSet/>
      <dgm:spPr/>
      <dgm:t>
        <a:bodyPr/>
        <a:lstStyle/>
        <a:p>
          <a:endParaRPr lang="en-US"/>
        </a:p>
      </dgm:t>
    </dgm:pt>
    <dgm:pt modelId="{D72EA7EF-B68C-432B-8DDD-40AFE4CEE192}">
      <dgm:prSet/>
      <dgm:spPr/>
      <dgm:t>
        <a:bodyPr/>
        <a:lstStyle/>
        <a:p>
          <a:r>
            <a:rPr lang="en-US" dirty="0"/>
            <a:t>Geothermal energy</a:t>
          </a:r>
        </a:p>
      </dgm:t>
    </dgm:pt>
    <dgm:pt modelId="{AB03AA33-05CA-4850-BAB1-483606159DBC}" type="parTrans" cxnId="{0CD81814-41F0-4486-B2C5-1AD022146BFA}">
      <dgm:prSet/>
      <dgm:spPr/>
      <dgm:t>
        <a:bodyPr/>
        <a:lstStyle/>
        <a:p>
          <a:endParaRPr lang="en-US"/>
        </a:p>
      </dgm:t>
    </dgm:pt>
    <dgm:pt modelId="{5218E1D0-8AC0-4359-AF43-DF558720CCFB}" type="sibTrans" cxnId="{0CD81814-41F0-4486-B2C5-1AD022146BFA}">
      <dgm:prSet/>
      <dgm:spPr/>
      <dgm:t>
        <a:bodyPr/>
        <a:lstStyle/>
        <a:p>
          <a:endParaRPr lang="en-US"/>
        </a:p>
      </dgm:t>
    </dgm:pt>
    <dgm:pt modelId="{746A6052-9450-4022-ACD1-FF41FEDAF4BB}">
      <dgm:prSet/>
      <dgm:spPr/>
      <dgm:t>
        <a:bodyPr/>
        <a:lstStyle/>
        <a:p>
          <a:r>
            <a:rPr lang="en-US" dirty="0"/>
            <a:t>Biomass energy</a:t>
          </a:r>
        </a:p>
      </dgm:t>
    </dgm:pt>
    <dgm:pt modelId="{D4159C82-EF1E-4477-B3B6-DE26452140B4}" type="parTrans" cxnId="{C95C9E89-B561-476F-A609-D59E274891E9}">
      <dgm:prSet/>
      <dgm:spPr/>
      <dgm:t>
        <a:bodyPr/>
        <a:lstStyle/>
        <a:p>
          <a:endParaRPr lang="en-US"/>
        </a:p>
      </dgm:t>
    </dgm:pt>
    <dgm:pt modelId="{98ACD072-0DE5-4D92-B7F2-BAC09E00F706}" type="sibTrans" cxnId="{C95C9E89-B561-476F-A609-D59E274891E9}">
      <dgm:prSet/>
      <dgm:spPr/>
      <dgm:t>
        <a:bodyPr/>
        <a:lstStyle/>
        <a:p>
          <a:endParaRPr lang="en-US"/>
        </a:p>
      </dgm:t>
    </dgm:pt>
    <dgm:pt modelId="{06D1B56E-1BA6-40FC-BED9-FA8858A8C5A5}" type="pres">
      <dgm:prSet presAssocID="{6B33617C-B125-43AD-B733-CBB6FAF09418}" presName="linear" presStyleCnt="0">
        <dgm:presLayoutVars>
          <dgm:animLvl val="lvl"/>
          <dgm:resizeHandles val="exact"/>
        </dgm:presLayoutVars>
      </dgm:prSet>
      <dgm:spPr/>
    </dgm:pt>
    <dgm:pt modelId="{8300E5F5-CFCB-4F38-A1BA-E581553ADEA0}" type="pres">
      <dgm:prSet presAssocID="{6E50C162-0C89-460E-B916-106F75775FFB}" presName="parentText" presStyleLbl="node1" presStyleIdx="0" presStyleCnt="2">
        <dgm:presLayoutVars>
          <dgm:chMax val="0"/>
          <dgm:bulletEnabled val="1"/>
        </dgm:presLayoutVars>
      </dgm:prSet>
      <dgm:spPr/>
    </dgm:pt>
    <dgm:pt modelId="{910E72F4-77F8-417A-AEB6-084A2471411F}" type="pres">
      <dgm:prSet presAssocID="{6E50C162-0C89-460E-B916-106F75775FFB}" presName="childText" presStyleLbl="revTx" presStyleIdx="0" presStyleCnt="2">
        <dgm:presLayoutVars>
          <dgm:bulletEnabled val="1"/>
        </dgm:presLayoutVars>
      </dgm:prSet>
      <dgm:spPr/>
    </dgm:pt>
    <dgm:pt modelId="{44B0E0F7-17BD-4EF3-83B2-33B9358DC237}" type="pres">
      <dgm:prSet presAssocID="{1E823282-B9E2-408A-AFEE-9DB2B593D465}" presName="parentText" presStyleLbl="node1" presStyleIdx="1" presStyleCnt="2">
        <dgm:presLayoutVars>
          <dgm:chMax val="0"/>
          <dgm:bulletEnabled val="1"/>
        </dgm:presLayoutVars>
      </dgm:prSet>
      <dgm:spPr/>
    </dgm:pt>
    <dgm:pt modelId="{0DF7B9F3-E388-4DA7-9B7F-46F3980C17A8}" type="pres">
      <dgm:prSet presAssocID="{1E823282-B9E2-408A-AFEE-9DB2B593D465}" presName="childText" presStyleLbl="revTx" presStyleIdx="1" presStyleCnt="2">
        <dgm:presLayoutVars>
          <dgm:bulletEnabled val="1"/>
        </dgm:presLayoutVars>
      </dgm:prSet>
      <dgm:spPr/>
    </dgm:pt>
  </dgm:ptLst>
  <dgm:cxnLst>
    <dgm:cxn modelId="{420C0000-274C-4356-AC04-1FAEC37BC128}" type="presOf" srcId="{271DCC19-9D13-40FC-8CFC-C7D3CDEE93B4}" destId="{910E72F4-77F8-417A-AEB6-084A2471411F}" srcOrd="0" destOrd="0" presId="urn:microsoft.com/office/officeart/2005/8/layout/vList2"/>
    <dgm:cxn modelId="{0B06D703-D838-4A8E-AE6D-737357809ABC}" srcId="{6B33617C-B125-43AD-B733-CBB6FAF09418}" destId="{1E823282-B9E2-408A-AFEE-9DB2B593D465}" srcOrd="1" destOrd="0" parTransId="{2F5A0A79-7046-40E5-A505-9C68339970D0}" sibTransId="{D73EA003-BD40-41C6-A767-E15E94FBD702}"/>
    <dgm:cxn modelId="{0CD81814-41F0-4486-B2C5-1AD022146BFA}" srcId="{1E823282-B9E2-408A-AFEE-9DB2B593D465}" destId="{D72EA7EF-B68C-432B-8DDD-40AFE4CEE192}" srcOrd="3" destOrd="0" parTransId="{AB03AA33-05CA-4850-BAB1-483606159DBC}" sibTransId="{5218E1D0-8AC0-4359-AF43-DF558720CCFB}"/>
    <dgm:cxn modelId="{F008B319-56E0-46B6-8604-6CB71F98B76E}" srcId="{6E50C162-0C89-460E-B916-106F75775FFB}" destId="{271DCC19-9D13-40FC-8CFC-C7D3CDEE93B4}" srcOrd="0" destOrd="0" parTransId="{E8A0AC00-2AA5-46BD-8C26-4F729F2C8CD3}" sibTransId="{A5A4C9A1-A1C9-480E-BCEB-1D6F70918683}"/>
    <dgm:cxn modelId="{8045BA25-87F7-4CD9-98FE-4C1A82CCA69E}" type="presOf" srcId="{6E50C162-0C89-460E-B916-106F75775FFB}" destId="{8300E5F5-CFCB-4F38-A1BA-E581553ADEA0}" srcOrd="0" destOrd="0" presId="urn:microsoft.com/office/officeart/2005/8/layout/vList2"/>
    <dgm:cxn modelId="{9A1D2A65-C618-4733-88CA-0CC758AC7CC1}" type="presOf" srcId="{746A6052-9450-4022-ACD1-FF41FEDAF4BB}" destId="{0DF7B9F3-E388-4DA7-9B7F-46F3980C17A8}" srcOrd="0" destOrd="4" presId="urn:microsoft.com/office/officeart/2005/8/layout/vList2"/>
    <dgm:cxn modelId="{47DC3672-8A2D-470E-8519-72C86E88CC60}" type="presOf" srcId="{6B33617C-B125-43AD-B733-CBB6FAF09418}" destId="{06D1B56E-1BA6-40FC-BED9-FA8858A8C5A5}" srcOrd="0" destOrd="0" presId="urn:microsoft.com/office/officeart/2005/8/layout/vList2"/>
    <dgm:cxn modelId="{026F3373-6480-4D68-9266-FF84C3998D5E}" srcId="{1E823282-B9E2-408A-AFEE-9DB2B593D465}" destId="{0F5CB6EE-09DE-426A-965B-666FE56C8738}" srcOrd="0" destOrd="0" parTransId="{15F6D643-78DC-4472-829F-BEAB65CD3296}" sibTransId="{CF0BB79A-E9B4-4A71-B9CB-0329C511F167}"/>
    <dgm:cxn modelId="{40E19974-9805-45BF-A6D6-F2740073EDAE}" srcId="{1E823282-B9E2-408A-AFEE-9DB2B593D465}" destId="{133A9FFA-B952-42DA-9D3D-B2766E9509C3}" srcOrd="2" destOrd="0" parTransId="{CB3EF8B5-FC8A-4005-9167-CF8DAC17CA66}" sibTransId="{723A01EC-0115-4E5D-AAFC-3966B1A6DCB9}"/>
    <dgm:cxn modelId="{EE8AC483-97D4-43D3-8D0B-9FB2789BBFCD}" type="presOf" srcId="{133A9FFA-B952-42DA-9D3D-B2766E9509C3}" destId="{0DF7B9F3-E388-4DA7-9B7F-46F3980C17A8}" srcOrd="0" destOrd="2" presId="urn:microsoft.com/office/officeart/2005/8/layout/vList2"/>
    <dgm:cxn modelId="{C95C9E89-B561-476F-A609-D59E274891E9}" srcId="{1E823282-B9E2-408A-AFEE-9DB2B593D465}" destId="{746A6052-9450-4022-ACD1-FF41FEDAF4BB}" srcOrd="4" destOrd="0" parTransId="{D4159C82-EF1E-4477-B3B6-DE26452140B4}" sibTransId="{98ACD072-0DE5-4D92-B7F2-BAC09E00F706}"/>
    <dgm:cxn modelId="{5CF58C91-BCC1-47F5-AB9E-FFA450C84097}" srcId="{1E823282-B9E2-408A-AFEE-9DB2B593D465}" destId="{A361C065-778E-4C75-88EC-13A93286E20C}" srcOrd="1" destOrd="0" parTransId="{A3337C07-86E0-4470-A3D4-9853DD1E271B}" sibTransId="{921AF574-835F-49D3-A657-4063E14581A9}"/>
    <dgm:cxn modelId="{6C8AA8A3-D47C-478C-919E-B46520F595F6}" srcId="{6B33617C-B125-43AD-B733-CBB6FAF09418}" destId="{6E50C162-0C89-460E-B916-106F75775FFB}" srcOrd="0" destOrd="0" parTransId="{57D77067-4463-4495-AF3C-0D3B5CF601E3}" sibTransId="{D6F49BB4-43A2-4609-88E6-09135570E69A}"/>
    <dgm:cxn modelId="{CC3751A5-A2DE-44A8-AC89-009BE4D0D77C}" type="presOf" srcId="{0F5CB6EE-09DE-426A-965B-666FE56C8738}" destId="{0DF7B9F3-E388-4DA7-9B7F-46F3980C17A8}" srcOrd="0" destOrd="0" presId="urn:microsoft.com/office/officeart/2005/8/layout/vList2"/>
    <dgm:cxn modelId="{AFD9CFAB-3797-4340-97CC-88066F997ECC}" type="presOf" srcId="{A361C065-778E-4C75-88EC-13A93286E20C}" destId="{0DF7B9F3-E388-4DA7-9B7F-46F3980C17A8}" srcOrd="0" destOrd="1" presId="urn:microsoft.com/office/officeart/2005/8/layout/vList2"/>
    <dgm:cxn modelId="{A99CADCB-4ED3-46FF-B279-5A1748C39E33}" type="presOf" srcId="{7F2FBE23-EC1E-49CF-A7B8-BECA252B3CF2}" destId="{910E72F4-77F8-417A-AEB6-084A2471411F}" srcOrd="0" destOrd="1" presId="urn:microsoft.com/office/officeart/2005/8/layout/vList2"/>
    <dgm:cxn modelId="{FB2666E5-2C14-49BC-9300-F33EBDE13B52}" type="presOf" srcId="{1E823282-B9E2-408A-AFEE-9DB2B593D465}" destId="{44B0E0F7-17BD-4EF3-83B2-33B9358DC237}" srcOrd="0" destOrd="0" presId="urn:microsoft.com/office/officeart/2005/8/layout/vList2"/>
    <dgm:cxn modelId="{0330EDE7-6EB2-40AD-9B7A-20397F55C874}" type="presOf" srcId="{D72EA7EF-B68C-432B-8DDD-40AFE4CEE192}" destId="{0DF7B9F3-E388-4DA7-9B7F-46F3980C17A8}" srcOrd="0" destOrd="3" presId="urn:microsoft.com/office/officeart/2005/8/layout/vList2"/>
    <dgm:cxn modelId="{590023F7-FA13-4B6B-B641-D00310D932B8}" srcId="{6E50C162-0C89-460E-B916-106F75775FFB}" destId="{7F2FBE23-EC1E-49CF-A7B8-BECA252B3CF2}" srcOrd="1" destOrd="0" parTransId="{701B9E16-6F1F-41CB-89DE-92236F3F19AF}" sibTransId="{A1BF79E3-95F5-4D3F-A975-18B09A617872}"/>
    <dgm:cxn modelId="{41889813-1F86-4625-BB26-198EE118A056}" type="presParOf" srcId="{06D1B56E-1BA6-40FC-BED9-FA8858A8C5A5}" destId="{8300E5F5-CFCB-4F38-A1BA-E581553ADEA0}" srcOrd="0" destOrd="0" presId="urn:microsoft.com/office/officeart/2005/8/layout/vList2"/>
    <dgm:cxn modelId="{682832A3-9436-42AC-AEB1-64E560B04644}" type="presParOf" srcId="{06D1B56E-1BA6-40FC-BED9-FA8858A8C5A5}" destId="{910E72F4-77F8-417A-AEB6-084A2471411F}" srcOrd="1" destOrd="0" presId="urn:microsoft.com/office/officeart/2005/8/layout/vList2"/>
    <dgm:cxn modelId="{F5361A4E-8F7A-43C8-95E2-EA8D5BB124F7}" type="presParOf" srcId="{06D1B56E-1BA6-40FC-BED9-FA8858A8C5A5}" destId="{44B0E0F7-17BD-4EF3-83B2-33B9358DC237}" srcOrd="2" destOrd="0" presId="urn:microsoft.com/office/officeart/2005/8/layout/vList2"/>
    <dgm:cxn modelId="{EC35A177-6F39-491D-BCAC-2C140EB40B67}" type="presParOf" srcId="{06D1B56E-1BA6-40FC-BED9-FA8858A8C5A5}" destId="{0DF7B9F3-E388-4DA7-9B7F-46F3980C17A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0E5F5-CFCB-4F38-A1BA-E581553ADEA0}">
      <dsp:nvSpPr>
        <dsp:cNvPr id="0" name=""/>
        <dsp:cNvSpPr/>
      </dsp:nvSpPr>
      <dsp:spPr>
        <a:xfrm>
          <a:off x="0" y="403898"/>
          <a:ext cx="6391275" cy="743535"/>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defRPr b="1"/>
          </a:pPr>
          <a:r>
            <a:rPr lang="en-US" sz="3100" b="1" kern="1200" dirty="0"/>
            <a:t>Non-renewable energy sources</a:t>
          </a:r>
          <a:r>
            <a:rPr lang="en-US" sz="3100" kern="1200" dirty="0"/>
            <a:t> </a:t>
          </a:r>
        </a:p>
      </dsp:txBody>
      <dsp:txXfrm>
        <a:off x="36296" y="440194"/>
        <a:ext cx="6318683" cy="670943"/>
      </dsp:txXfrm>
    </dsp:sp>
    <dsp:sp modelId="{910E72F4-77F8-417A-AEB6-084A2471411F}">
      <dsp:nvSpPr>
        <dsp:cNvPr id="0" name=""/>
        <dsp:cNvSpPr/>
      </dsp:nvSpPr>
      <dsp:spPr>
        <a:xfrm>
          <a:off x="0" y="1147433"/>
          <a:ext cx="6391275" cy="83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Fossil fuels (coal, oil, natural gas)</a:t>
          </a:r>
        </a:p>
        <a:p>
          <a:pPr marL="228600" lvl="1" indent="-228600" algn="l" defTabSz="1066800">
            <a:lnSpc>
              <a:spcPct val="90000"/>
            </a:lnSpc>
            <a:spcBef>
              <a:spcPct val="0"/>
            </a:spcBef>
            <a:spcAft>
              <a:spcPct val="20000"/>
            </a:spcAft>
            <a:buChar char="•"/>
          </a:pPr>
          <a:r>
            <a:rPr lang="en-US" sz="2400" kern="1200" dirty="0"/>
            <a:t>Nuclear energy</a:t>
          </a:r>
        </a:p>
      </dsp:txBody>
      <dsp:txXfrm>
        <a:off x="0" y="1147433"/>
        <a:ext cx="6391275" cy="834210"/>
      </dsp:txXfrm>
    </dsp:sp>
    <dsp:sp modelId="{44B0E0F7-17BD-4EF3-83B2-33B9358DC237}">
      <dsp:nvSpPr>
        <dsp:cNvPr id="0" name=""/>
        <dsp:cNvSpPr/>
      </dsp:nvSpPr>
      <dsp:spPr>
        <a:xfrm>
          <a:off x="0" y="1981643"/>
          <a:ext cx="6391275" cy="743535"/>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defRPr b="1"/>
          </a:pPr>
          <a:r>
            <a:rPr lang="en-US" sz="3100" b="1" kern="1200" dirty="0"/>
            <a:t>Renewable energy sources</a:t>
          </a:r>
          <a:r>
            <a:rPr lang="en-US" sz="3100" kern="1200" dirty="0"/>
            <a:t> </a:t>
          </a:r>
        </a:p>
      </dsp:txBody>
      <dsp:txXfrm>
        <a:off x="36296" y="2017939"/>
        <a:ext cx="6318683" cy="670943"/>
      </dsp:txXfrm>
    </dsp:sp>
    <dsp:sp modelId="{0DF7B9F3-E388-4DA7-9B7F-46F3980C17A8}">
      <dsp:nvSpPr>
        <dsp:cNvPr id="0" name=""/>
        <dsp:cNvSpPr/>
      </dsp:nvSpPr>
      <dsp:spPr>
        <a:xfrm>
          <a:off x="0" y="2725178"/>
          <a:ext cx="6391275" cy="2117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Solar energy</a:t>
          </a:r>
        </a:p>
        <a:p>
          <a:pPr marL="228600" lvl="1" indent="-228600" algn="l" defTabSz="1066800">
            <a:lnSpc>
              <a:spcPct val="90000"/>
            </a:lnSpc>
            <a:spcBef>
              <a:spcPct val="0"/>
            </a:spcBef>
            <a:spcAft>
              <a:spcPct val="20000"/>
            </a:spcAft>
            <a:buChar char="•"/>
          </a:pPr>
          <a:r>
            <a:rPr lang="en-US" sz="2400" kern="1200" dirty="0"/>
            <a:t>Wind energy</a:t>
          </a:r>
        </a:p>
        <a:p>
          <a:pPr marL="228600" lvl="1" indent="-228600" algn="l" defTabSz="1066800">
            <a:lnSpc>
              <a:spcPct val="90000"/>
            </a:lnSpc>
            <a:spcBef>
              <a:spcPct val="0"/>
            </a:spcBef>
            <a:spcAft>
              <a:spcPct val="20000"/>
            </a:spcAft>
            <a:buChar char="•"/>
          </a:pPr>
          <a:r>
            <a:rPr lang="en-US" sz="2400" kern="1200" dirty="0"/>
            <a:t>Hydropower</a:t>
          </a:r>
        </a:p>
        <a:p>
          <a:pPr marL="228600" lvl="1" indent="-228600" algn="l" defTabSz="1066800">
            <a:lnSpc>
              <a:spcPct val="90000"/>
            </a:lnSpc>
            <a:spcBef>
              <a:spcPct val="0"/>
            </a:spcBef>
            <a:spcAft>
              <a:spcPct val="20000"/>
            </a:spcAft>
            <a:buChar char="•"/>
          </a:pPr>
          <a:r>
            <a:rPr lang="en-US" sz="2400" kern="1200" dirty="0"/>
            <a:t>Geothermal energy</a:t>
          </a:r>
        </a:p>
        <a:p>
          <a:pPr marL="228600" lvl="1" indent="-228600" algn="l" defTabSz="1066800">
            <a:lnSpc>
              <a:spcPct val="90000"/>
            </a:lnSpc>
            <a:spcBef>
              <a:spcPct val="0"/>
            </a:spcBef>
            <a:spcAft>
              <a:spcPct val="20000"/>
            </a:spcAft>
            <a:buChar char="•"/>
          </a:pPr>
          <a:r>
            <a:rPr lang="en-US" sz="2400" kern="1200" dirty="0"/>
            <a:t>Biomass energy</a:t>
          </a:r>
        </a:p>
      </dsp:txBody>
      <dsp:txXfrm>
        <a:off x="0" y="2725178"/>
        <a:ext cx="6391275" cy="21176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3FD02-D142-4C31-9CBF-5A0B744560AA}"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00C52C-B398-42C5-A62F-02D99016B69F}" type="slidenum">
              <a:rPr lang="en-US" smtClean="0"/>
              <a:t>‹#›</a:t>
            </a:fld>
            <a:endParaRPr lang="en-US"/>
          </a:p>
        </p:txBody>
      </p:sp>
    </p:spTree>
    <p:extLst>
      <p:ext uri="{BB962C8B-B14F-4D97-AF65-F5344CB8AC3E}">
        <p14:creationId xmlns:p14="http://schemas.microsoft.com/office/powerpoint/2010/main" val="3005811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500C52C-B398-42C5-A62F-02D99016B69F}" type="slidenum">
              <a:rPr lang="en-US" smtClean="0"/>
              <a:t>29</a:t>
            </a:fld>
            <a:endParaRPr lang="en-US"/>
          </a:p>
        </p:txBody>
      </p:sp>
    </p:spTree>
    <p:extLst>
      <p:ext uri="{BB962C8B-B14F-4D97-AF65-F5344CB8AC3E}">
        <p14:creationId xmlns:p14="http://schemas.microsoft.com/office/powerpoint/2010/main" val="273239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3149523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207938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1774615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3FCB98-6D2F-450E-A252-EFC4E669F46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2718275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3FCB98-6D2F-450E-A252-EFC4E669F46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1311246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3FCB98-6D2F-450E-A252-EFC4E669F46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2486334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FCB98-6D2F-450E-A252-EFC4E669F46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3747508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FCB98-6D2F-450E-A252-EFC4E669F46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77748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FCB98-6D2F-450E-A252-EFC4E669F46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1135849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FCB98-6D2F-450E-A252-EFC4E669F46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3352804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3819108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904026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4063624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03FCB98-6D2F-450E-A252-EFC4E669F46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2490531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03FCB98-6D2F-450E-A252-EFC4E669F464}" type="datetimeFigureOut">
              <a:rPr lang="en-US" smtClean="0"/>
              <a:t>10/4/2026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2020791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169638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03FCB98-6D2F-450E-A252-EFC4E669F46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2E1FF3E-912C-4664-9454-2B33DEE3A303}" type="slidenum">
              <a:rPr lang="en-US" smtClean="0"/>
              <a:t>‹#›</a:t>
            </a:fld>
            <a:endParaRPr lang="en-US"/>
          </a:p>
        </p:txBody>
      </p:sp>
    </p:spTree>
    <p:extLst>
      <p:ext uri="{BB962C8B-B14F-4D97-AF65-F5344CB8AC3E}">
        <p14:creationId xmlns:p14="http://schemas.microsoft.com/office/powerpoint/2010/main" val="428646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03FCB98-6D2F-450E-A252-EFC4E669F464}" type="datetimeFigureOut">
              <a:rPr lang="en-US" smtClean="0"/>
              <a:t>10/4/2026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2E1FF3E-912C-4664-9454-2B33DEE3A303}" type="slidenum">
              <a:rPr lang="en-US" smtClean="0"/>
              <a:t>‹#›</a:t>
            </a:fld>
            <a:endParaRPr lang="en-US"/>
          </a:p>
        </p:txBody>
      </p:sp>
    </p:spTree>
    <p:extLst>
      <p:ext uri="{BB962C8B-B14F-4D97-AF65-F5344CB8AC3E}">
        <p14:creationId xmlns:p14="http://schemas.microsoft.com/office/powerpoint/2010/main" val="4132581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jpDRfaWYk3I"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isclosures.ifc.org/project-detail/ESRS/26041/magat-hydro" TargetMode="Externa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hyperlink" Target="https://www.napocor.gov.ph/index.php/services/mindanao-generation/mindanao-generation-plants/34-mingen/211-agus-vi-hydroelectric-plant" TargetMode="External"/><Relationship Id="rId4" Type="http://schemas.openxmlformats.org/officeDocument/2006/relationships/hyperlink" Target="https://www.power-technology.com/news/ge-angat-hydropower-plant-philippine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2859-40BD-3BA8-4EFC-5C2E1BD5B775}"/>
              </a:ext>
            </a:extLst>
          </p:cNvPr>
          <p:cNvSpPr>
            <a:spLocks noGrp="1"/>
          </p:cNvSpPr>
          <p:nvPr>
            <p:ph type="ctrTitle"/>
          </p:nvPr>
        </p:nvSpPr>
        <p:spPr/>
        <p:txBody>
          <a:bodyPr/>
          <a:lstStyle/>
          <a:p>
            <a:r>
              <a:rPr lang="en-US" dirty="0" err="1"/>
              <a:t>Energy:Past</a:t>
            </a:r>
            <a:r>
              <a:rPr lang="en-US" dirty="0"/>
              <a:t>, Present, and Future </a:t>
            </a:r>
            <a:br>
              <a:rPr lang="en-US" sz="1800" dirty="0">
                <a:effectLst/>
                <a:latin typeface="Calibri" panose="020F0502020204030204" pitchFamily="34" charset="0"/>
                <a:ea typeface="Calibri" panose="020F0502020204030204" pitchFamily="34" charset="0"/>
              </a:rPr>
            </a:br>
            <a:endParaRPr lang="en-US" dirty="0"/>
          </a:p>
        </p:txBody>
      </p:sp>
      <p:sp>
        <p:nvSpPr>
          <p:cNvPr id="3" name="Subtitle 2">
            <a:extLst>
              <a:ext uri="{FF2B5EF4-FFF2-40B4-BE49-F238E27FC236}">
                <a16:creationId xmlns:a16="http://schemas.microsoft.com/office/drawing/2014/main" id="{BD194A45-0196-66EF-8428-EE553699CACC}"/>
              </a:ext>
            </a:extLst>
          </p:cNvPr>
          <p:cNvSpPr>
            <a:spLocks noGrp="1"/>
          </p:cNvSpPr>
          <p:nvPr>
            <p:ph type="subTitle" idx="1"/>
          </p:nvPr>
        </p:nvSpPr>
        <p:spPr/>
        <p:txBody>
          <a:bodyPr/>
          <a:lstStyle/>
          <a:p>
            <a:r>
              <a:rPr lang="en-US" dirty="0"/>
              <a:t>Lesson 10</a:t>
            </a:r>
          </a:p>
          <a:p>
            <a:endParaRPr lang="en-US" dirty="0"/>
          </a:p>
        </p:txBody>
      </p:sp>
    </p:spTree>
    <p:extLst>
      <p:ext uri="{BB962C8B-B14F-4D97-AF65-F5344CB8AC3E}">
        <p14:creationId xmlns:p14="http://schemas.microsoft.com/office/powerpoint/2010/main" val="3219808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6263B-9B7C-8C33-A96D-463A1367710A}"/>
              </a:ext>
            </a:extLst>
          </p:cNvPr>
          <p:cNvSpPr>
            <a:spLocks noGrp="1"/>
          </p:cNvSpPr>
          <p:nvPr>
            <p:ph type="title"/>
          </p:nvPr>
        </p:nvSpPr>
        <p:spPr>
          <a:xfrm>
            <a:off x="1115568" y="548640"/>
            <a:ext cx="10168128" cy="1179576"/>
          </a:xfrm>
        </p:spPr>
        <p:txBody>
          <a:bodyPr>
            <a:normAutofit/>
          </a:bodyPr>
          <a:lstStyle/>
          <a:p>
            <a:r>
              <a:rPr lang="en-US" sz="4000"/>
              <a:t>Objectives</a:t>
            </a:r>
          </a:p>
        </p:txBody>
      </p:sp>
      <p:sp>
        <p:nvSpPr>
          <p:cNvPr id="3" name="Content Placeholder 2">
            <a:extLst>
              <a:ext uri="{FF2B5EF4-FFF2-40B4-BE49-F238E27FC236}">
                <a16:creationId xmlns:a16="http://schemas.microsoft.com/office/drawing/2014/main" id="{2D37B287-97E4-B5BC-6A0D-4421713BA91F}"/>
              </a:ext>
            </a:extLst>
          </p:cNvPr>
          <p:cNvSpPr>
            <a:spLocks noGrp="1"/>
          </p:cNvSpPr>
          <p:nvPr>
            <p:ph idx="1"/>
          </p:nvPr>
        </p:nvSpPr>
        <p:spPr>
          <a:xfrm>
            <a:off x="1115568" y="2481943"/>
            <a:ext cx="10168128" cy="3695020"/>
          </a:xfrm>
        </p:spPr>
        <p:txBody>
          <a:bodyPr>
            <a:normAutofit/>
          </a:bodyPr>
          <a:lstStyle/>
          <a:p>
            <a:pPr marL="0" indent="0">
              <a:buNone/>
            </a:pPr>
            <a:r>
              <a:rPr lang="en-US" sz="2200" dirty="0"/>
              <a:t>By the end of the lesson, the students should be able to:</a:t>
            </a:r>
          </a:p>
          <a:p>
            <a:pPr marL="514350" indent="-514350">
              <a:buFont typeface="+mj-lt"/>
              <a:buAutoNum type="arabicPeriod"/>
            </a:pPr>
            <a:r>
              <a:rPr lang="en-US" sz="2200" dirty="0"/>
              <a:t>Describe the major sources and uses of energy in the past, present, and future.</a:t>
            </a:r>
          </a:p>
          <a:p>
            <a:pPr marL="514350" indent="-514350">
              <a:buFont typeface="+mj-lt"/>
              <a:buAutoNum type="arabicPeriod"/>
            </a:pPr>
            <a:r>
              <a:rPr lang="en-US" sz="2200" dirty="0"/>
              <a:t>Identify the advantages and disadvantages of different energy sources.</a:t>
            </a:r>
          </a:p>
          <a:p>
            <a:pPr marL="514350" indent="-514350">
              <a:buFont typeface="+mj-lt"/>
              <a:buAutoNum type="arabicPeriod"/>
            </a:pPr>
            <a:r>
              <a:rPr lang="en-US" sz="2400" dirty="0"/>
              <a:t>Identify the </a:t>
            </a:r>
            <a:r>
              <a:rPr lang="en-US" sz="2400" dirty="0">
                <a:solidFill>
                  <a:schemeClr val="tx1"/>
                </a:solidFill>
              </a:rPr>
              <a:t>environmental impact of energy use.</a:t>
            </a:r>
            <a:endParaRPr lang="en-US" sz="2200" dirty="0"/>
          </a:p>
        </p:txBody>
      </p:sp>
    </p:spTree>
    <p:extLst>
      <p:ext uri="{BB962C8B-B14F-4D97-AF65-F5344CB8AC3E}">
        <p14:creationId xmlns:p14="http://schemas.microsoft.com/office/powerpoint/2010/main" val="2058009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0"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grpSp>
      <p:sp>
        <p:nvSpPr>
          <p:cNvPr id="12" name="Rectangle 11">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useBgFill="1">
        <p:nvSpPr>
          <p:cNvPr id="14" name="Rectangle 13">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n unlit lightbulb with colorful background lights">
            <a:extLst>
              <a:ext uri="{FF2B5EF4-FFF2-40B4-BE49-F238E27FC236}">
                <a16:creationId xmlns:a16="http://schemas.microsoft.com/office/drawing/2014/main" id="{8E771DD6-9D72-0F76-97B5-64239C7FED2F}"/>
              </a:ext>
            </a:extLst>
          </p:cNvPr>
          <p:cNvPicPr>
            <a:picLocks noChangeAspect="1"/>
          </p:cNvPicPr>
          <p:nvPr/>
        </p:nvPicPr>
        <p:blipFill>
          <a:blip r:embed="rId3">
            <a:alphaModFix amt="40000"/>
          </a:blip>
          <a:srcRect t="15038" b="692"/>
          <a:stretch/>
        </p:blipFill>
        <p:spPr>
          <a:xfrm>
            <a:off x="20" y="10"/>
            <a:ext cx="12191980" cy="6857990"/>
          </a:xfrm>
          <a:prstGeom prst="rect">
            <a:avLst/>
          </a:prstGeom>
        </p:spPr>
      </p:pic>
      <p:sp>
        <p:nvSpPr>
          <p:cNvPr id="2" name="Title 1">
            <a:extLst>
              <a:ext uri="{FF2B5EF4-FFF2-40B4-BE49-F238E27FC236}">
                <a16:creationId xmlns:a16="http://schemas.microsoft.com/office/drawing/2014/main" id="{1DE945E8-07A6-1C4B-1211-EA211CC878AE}"/>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dirty="0">
                <a:solidFill>
                  <a:schemeClr val="tx1"/>
                </a:solidFill>
              </a:rPr>
              <a:t>What are the different energy sources you know?</a:t>
            </a:r>
          </a:p>
        </p:txBody>
      </p:sp>
    </p:spTree>
    <p:extLst>
      <p:ext uri="{BB962C8B-B14F-4D97-AF65-F5344CB8AC3E}">
        <p14:creationId xmlns:p14="http://schemas.microsoft.com/office/powerpoint/2010/main" val="41458583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32" name="Group 9231">
            <a:extLst>
              <a:ext uri="{FF2B5EF4-FFF2-40B4-BE49-F238E27FC236}">
                <a16:creationId xmlns:a16="http://schemas.microsoft.com/office/drawing/2014/main" id="{AB8E3704-0CB2-48C2-A46B-EDB6271857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234" name="Rectangle 9233">
              <a:extLst>
                <a:ext uri="{FF2B5EF4-FFF2-40B4-BE49-F238E27FC236}">
                  <a16:creationId xmlns:a16="http://schemas.microsoft.com/office/drawing/2014/main" id="{36872906-1D7A-472A-B90B-D4B00113A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235" name="Freeform 5">
              <a:extLst>
                <a:ext uri="{FF2B5EF4-FFF2-40B4-BE49-F238E27FC236}">
                  <a16:creationId xmlns:a16="http://schemas.microsoft.com/office/drawing/2014/main" id="{C09D3A24-9F80-4EC9-9D80-28C5CBA8F8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grpSp>
      <p:sp>
        <p:nvSpPr>
          <p:cNvPr id="9236" name="Rectangle 9235">
            <a:extLst>
              <a:ext uri="{FF2B5EF4-FFF2-40B4-BE49-F238E27FC236}">
                <a16:creationId xmlns:a16="http://schemas.microsoft.com/office/drawing/2014/main" id="{F4C2B571-8160-4749-AB99-260E8052A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4" name="Picture 3" descr="The Past, Present and Future of Energy | Sutori">
            <a:extLst>
              <a:ext uri="{FF2B5EF4-FFF2-40B4-BE49-F238E27FC236}">
                <a16:creationId xmlns:a16="http://schemas.microsoft.com/office/drawing/2014/main" id="{D56B5024-33F7-95CC-364B-EB352083F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9478" r="-1" b="21364"/>
          <a:stretch/>
        </p:blipFill>
        <p:spPr bwMode="auto">
          <a:xfrm>
            <a:off x="1" y="-5"/>
            <a:ext cx="12191695" cy="4583103"/>
          </a:xfrm>
          <a:custGeom>
            <a:avLst/>
            <a:gdLst/>
            <a:ahLst/>
            <a:cxnLst/>
            <a:rect l="l" t="t" r="r" b="b"/>
            <a:pathLst>
              <a:path w="12191695" h="4583103">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6095999" y="4581001"/>
                </a:lnTo>
                <a:lnTo>
                  <a:pt x="6095999" y="5"/>
                </a:lnTo>
                <a:lnTo>
                  <a:pt x="0" y="5"/>
                </a:lnTo>
                <a:close/>
              </a:path>
            </a:pathLst>
          </a:custGeom>
          <a:noFill/>
          <a:extLst>
            <a:ext uri="{909E8E84-426E-40DD-AFC4-6F175D3DCCD1}">
              <a14:hiddenFill xmlns:a14="http://schemas.microsoft.com/office/drawing/2010/main">
                <a:solidFill>
                  <a:srgbClr val="FFFFFF"/>
                </a:solidFill>
              </a14:hiddenFill>
            </a:ext>
          </a:extLst>
        </p:spPr>
      </p:pic>
      <p:pic>
        <p:nvPicPr>
          <p:cNvPr id="9218" name="Picture 2" descr="Broch, Crannog and Hillfort: ANCIENT MESOPOTAMIA - CONTINUING CONTROVERSIES  II">
            <a:extLst>
              <a:ext uri="{FF2B5EF4-FFF2-40B4-BE49-F238E27FC236}">
                <a16:creationId xmlns:a16="http://schemas.microsoft.com/office/drawing/2014/main" id="{1C68C772-7D3F-F26E-6187-85B70ED6C2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6707" r="-1" b="13179"/>
          <a:stretch/>
        </p:blipFill>
        <p:spPr bwMode="auto">
          <a:xfrm>
            <a:off x="305" y="-5"/>
            <a:ext cx="12191695" cy="5020241"/>
          </a:xfrm>
          <a:custGeom>
            <a:avLst/>
            <a:gdLst/>
            <a:ahLst/>
            <a:cxnLst/>
            <a:rect l="l" t="t" r="r" b="b"/>
            <a:pathLst>
              <a:path w="12191695" h="5020241">
                <a:moveTo>
                  <a:pt x="0" y="0"/>
                </a:moveTo>
                <a:lnTo>
                  <a:pt x="12191695" y="0"/>
                </a:lnTo>
                <a:lnTo>
                  <a:pt x="12191695" y="5"/>
                </a:lnTo>
                <a:lnTo>
                  <a:pt x="6095695" y="5"/>
                </a:lnTo>
                <a:lnTo>
                  <a:pt x="6095695"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a:noFill/>
          <a:extLst>
            <a:ext uri="{909E8E84-426E-40DD-AFC4-6F175D3DCCD1}">
              <a14:hiddenFill xmlns:a14="http://schemas.microsoft.com/office/drawing/2010/main">
                <a:solidFill>
                  <a:srgbClr val="FFFFFF"/>
                </a:solidFill>
              </a14:hiddenFill>
            </a:ext>
          </a:extLst>
        </p:spPr>
      </p:pic>
      <p:sp>
        <p:nvSpPr>
          <p:cNvPr id="9237"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42856" y="3785499"/>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9231" name="Freeform: Shape 9230">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233" name="Freeform 5">
            <a:extLst>
              <a:ext uri="{FF2B5EF4-FFF2-40B4-BE49-F238E27FC236}">
                <a16:creationId xmlns:a16="http://schemas.microsoft.com/office/drawing/2014/main" id="{C91E93A7-6C7F-4F77-9CB0-280D958E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sp>
        <p:nvSpPr>
          <p:cNvPr id="2" name="Title 1">
            <a:extLst>
              <a:ext uri="{FF2B5EF4-FFF2-40B4-BE49-F238E27FC236}">
                <a16:creationId xmlns:a16="http://schemas.microsoft.com/office/drawing/2014/main" id="{EE42D174-6F16-8477-C257-E7790EFBF8F6}"/>
              </a:ext>
            </a:extLst>
          </p:cNvPr>
          <p:cNvSpPr>
            <a:spLocks noGrp="1"/>
          </p:cNvSpPr>
          <p:nvPr>
            <p:ph type="title"/>
          </p:nvPr>
        </p:nvSpPr>
        <p:spPr>
          <a:xfrm>
            <a:off x="892199" y="4854346"/>
            <a:ext cx="10407602" cy="868026"/>
          </a:xfrm>
        </p:spPr>
        <p:txBody>
          <a:bodyPr vert="horz" lIns="91440" tIns="45720" rIns="91440" bIns="45720" rtlCol="0" anchor="b">
            <a:normAutofit/>
          </a:bodyPr>
          <a:lstStyle/>
          <a:p>
            <a:pPr algn="ctr"/>
            <a:r>
              <a:rPr lang="en-US" sz="4400" dirty="0">
                <a:solidFill>
                  <a:srgbClr val="EBEBEB"/>
                </a:solidFill>
              </a:rPr>
              <a:t>Energy-Past</a:t>
            </a:r>
          </a:p>
        </p:txBody>
      </p:sp>
    </p:spTree>
    <p:extLst>
      <p:ext uri="{BB962C8B-B14F-4D97-AF65-F5344CB8AC3E}">
        <p14:creationId xmlns:p14="http://schemas.microsoft.com/office/powerpoint/2010/main" val="3037829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5" name="Rectangle 4114">
            <a:extLst>
              <a:ext uri="{FF2B5EF4-FFF2-40B4-BE49-F238E27FC236}">
                <a16:creationId xmlns:a16="http://schemas.microsoft.com/office/drawing/2014/main" id="{4D742E62-D0CA-4DEC-815B-5ED27845B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4117" name="Oval 4116">
            <a:extLst>
              <a:ext uri="{FF2B5EF4-FFF2-40B4-BE49-F238E27FC236}">
                <a16:creationId xmlns:a16="http://schemas.microsoft.com/office/drawing/2014/main" id="{6ADD3D29-FB68-4A1C-B0DE-CAF42F284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118" name="Oval 4117">
            <a:extLst>
              <a:ext uri="{FF2B5EF4-FFF2-40B4-BE49-F238E27FC236}">
                <a16:creationId xmlns:a16="http://schemas.microsoft.com/office/drawing/2014/main" id="{24822E8D-300D-45E7-9F98-BDEC74361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119" name="Freeform: Shape 4118">
            <a:extLst>
              <a:ext uri="{FF2B5EF4-FFF2-40B4-BE49-F238E27FC236}">
                <a16:creationId xmlns:a16="http://schemas.microsoft.com/office/drawing/2014/main" id="{07C953DC-E764-4B76-B359-52546F4CA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dirty="0"/>
          </a:p>
        </p:txBody>
      </p:sp>
      <p:sp>
        <p:nvSpPr>
          <p:cNvPr id="4120" name="Freeform 5">
            <a:extLst>
              <a:ext uri="{FF2B5EF4-FFF2-40B4-BE49-F238E27FC236}">
                <a16:creationId xmlns:a16="http://schemas.microsoft.com/office/drawing/2014/main" id="{C187CEFC-9032-481B-B8CA-A323593DD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dirty="0"/>
          </a:p>
        </p:txBody>
      </p:sp>
      <p:sp>
        <p:nvSpPr>
          <p:cNvPr id="4114" name="Freeform 5">
            <a:extLst>
              <a:ext uri="{FF2B5EF4-FFF2-40B4-BE49-F238E27FC236}">
                <a16:creationId xmlns:a16="http://schemas.microsoft.com/office/drawing/2014/main" id="{4CB87468-9225-4E6A-A5B7-B47F08B34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dirty="0"/>
          </a:p>
        </p:txBody>
      </p:sp>
      <p:sp>
        <p:nvSpPr>
          <p:cNvPr id="2" name="Title 1">
            <a:extLst>
              <a:ext uri="{FF2B5EF4-FFF2-40B4-BE49-F238E27FC236}">
                <a16:creationId xmlns:a16="http://schemas.microsoft.com/office/drawing/2014/main" id="{9D37D150-679C-2C1F-74D1-BB0B56840032}"/>
              </a:ext>
            </a:extLst>
          </p:cNvPr>
          <p:cNvSpPr>
            <a:spLocks noGrp="1"/>
          </p:cNvSpPr>
          <p:nvPr>
            <p:ph type="title"/>
          </p:nvPr>
        </p:nvSpPr>
        <p:spPr>
          <a:xfrm>
            <a:off x="639098" y="629265"/>
            <a:ext cx="6072776" cy="1622322"/>
          </a:xfrm>
        </p:spPr>
        <p:txBody>
          <a:bodyPr>
            <a:normAutofit/>
          </a:bodyPr>
          <a:lstStyle/>
          <a:p>
            <a:r>
              <a:rPr lang="en-US" dirty="0">
                <a:solidFill>
                  <a:schemeClr val="tx1"/>
                </a:solidFill>
              </a:rPr>
              <a:t>Human and Animal Power</a:t>
            </a:r>
          </a:p>
        </p:txBody>
      </p:sp>
      <p:pic>
        <p:nvPicPr>
          <p:cNvPr id="4099" name="Picture 3" descr="The Past, Present and Future of Energy | Sutori">
            <a:extLst>
              <a:ext uri="{FF2B5EF4-FFF2-40B4-BE49-F238E27FC236}">
                <a16:creationId xmlns:a16="http://schemas.microsoft.com/office/drawing/2014/main" id="{45304B38-6FB4-9003-86C6-D28EDD38E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4836" r="-3" b="6723"/>
          <a:stretch/>
        </p:blipFill>
        <p:spPr bwMode="auto">
          <a:xfrm>
            <a:off x="7418225" y="645107"/>
            <a:ext cx="4125318" cy="2710388"/>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15">
            <a:extLst>
              <a:ext uri="{FF2B5EF4-FFF2-40B4-BE49-F238E27FC236}">
                <a16:creationId xmlns:a16="http://schemas.microsoft.com/office/drawing/2014/main" id="{7296B8E7-1A3F-4C7F-A120-29E90E593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93F869AE-347A-D47F-A705-594F142BB75D}"/>
              </a:ext>
            </a:extLst>
          </p:cNvPr>
          <p:cNvSpPr>
            <a:spLocks noGrp="1"/>
          </p:cNvSpPr>
          <p:nvPr>
            <p:ph idx="1"/>
          </p:nvPr>
        </p:nvSpPr>
        <p:spPr>
          <a:xfrm>
            <a:off x="648457" y="1980172"/>
            <a:ext cx="6072776" cy="3811740"/>
          </a:xfrm>
        </p:spPr>
        <p:txBody>
          <a:bodyPr anchor="ctr">
            <a:normAutofit/>
          </a:bodyPr>
          <a:lstStyle/>
          <a:p>
            <a:pPr>
              <a:buFont typeface="Arial" panose="020B0604020202020204" pitchFamily="34" charset="0"/>
              <a:buChar char="•"/>
            </a:pPr>
            <a:r>
              <a:rPr lang="en-US" sz="2400" b="1" dirty="0">
                <a:solidFill>
                  <a:schemeClr val="tx1"/>
                </a:solidFill>
              </a:rPr>
              <a:t>Human Energy</a:t>
            </a:r>
          </a:p>
          <a:p>
            <a:pPr lvl="1">
              <a:buFont typeface="Arial" panose="020B0604020202020204" pitchFamily="34" charset="0"/>
              <a:buChar char="•"/>
            </a:pPr>
            <a:r>
              <a:rPr lang="en-US" sz="2000" dirty="0">
                <a:solidFill>
                  <a:schemeClr val="tx1"/>
                </a:solidFill>
              </a:rPr>
              <a:t>Labor-intensive tasks such as farming, building, and transportation relied on human muscle power.</a:t>
            </a:r>
          </a:p>
          <a:p>
            <a:pPr>
              <a:buFont typeface="Arial" panose="020B0604020202020204" pitchFamily="34" charset="0"/>
              <a:buChar char="•"/>
            </a:pPr>
            <a:r>
              <a:rPr lang="en-US" sz="2400" b="1" dirty="0">
                <a:solidFill>
                  <a:schemeClr val="tx1"/>
                </a:solidFill>
              </a:rPr>
              <a:t>Animal Energy</a:t>
            </a:r>
          </a:p>
          <a:p>
            <a:pPr lvl="1">
              <a:buFont typeface="Arial" panose="020B0604020202020204" pitchFamily="34" charset="0"/>
              <a:buChar char="•"/>
            </a:pPr>
            <a:r>
              <a:rPr lang="en-US" sz="2000" dirty="0">
                <a:solidFill>
                  <a:schemeClr val="tx1"/>
                </a:solidFill>
              </a:rPr>
              <a:t>Animals like oxen, horses, and donkeys were used for plowing fields, transporting goods, and even turning simple machinery like mills.</a:t>
            </a:r>
          </a:p>
          <a:p>
            <a:endParaRPr lang="en-US" dirty="0">
              <a:solidFill>
                <a:schemeClr val="tx1"/>
              </a:solidFill>
            </a:endParaRPr>
          </a:p>
        </p:txBody>
      </p:sp>
      <p:pic>
        <p:nvPicPr>
          <p:cNvPr id="6" name="Picture 5" descr="A group of animals pulling a cart&#10;&#10;Description automatically generated">
            <a:extLst>
              <a:ext uri="{FF2B5EF4-FFF2-40B4-BE49-F238E27FC236}">
                <a16:creationId xmlns:a16="http://schemas.microsoft.com/office/drawing/2014/main" id="{0495907F-86FC-B1F8-D7FF-BE3796DA0833}"/>
              </a:ext>
            </a:extLst>
          </p:cNvPr>
          <p:cNvPicPr>
            <a:picLocks noChangeAspect="1"/>
          </p:cNvPicPr>
          <p:nvPr/>
        </p:nvPicPr>
        <p:blipFill>
          <a:blip r:embed="rId3"/>
          <a:srcRect t="12349" r="-3" b="5522"/>
          <a:stretch/>
        </p:blipFill>
        <p:spPr>
          <a:xfrm>
            <a:off x="7418226" y="3520086"/>
            <a:ext cx="4125316" cy="2710389"/>
          </a:xfrm>
          <a:prstGeom prst="rect">
            <a:avLst/>
          </a:prstGeom>
        </p:spPr>
      </p:pic>
    </p:spTree>
    <p:extLst>
      <p:ext uri="{BB962C8B-B14F-4D97-AF65-F5344CB8AC3E}">
        <p14:creationId xmlns:p14="http://schemas.microsoft.com/office/powerpoint/2010/main" val="332016013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3" name="Rectangle 5132">
            <a:extLst>
              <a:ext uri="{FF2B5EF4-FFF2-40B4-BE49-F238E27FC236}">
                <a16:creationId xmlns:a16="http://schemas.microsoft.com/office/drawing/2014/main" id="{AF10A03D-B8D7-4106-B452-8F3C71462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5135" name="Freeform 5">
            <a:extLst>
              <a:ext uri="{FF2B5EF4-FFF2-40B4-BE49-F238E27FC236}">
                <a16:creationId xmlns:a16="http://schemas.microsoft.com/office/drawing/2014/main" id="{65159176-5854-41AA-8779-1E39496D3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dirty="0"/>
          </a:p>
        </p:txBody>
      </p:sp>
      <p:sp>
        <p:nvSpPr>
          <p:cNvPr id="5137" name="Freeform: Shape 5136">
            <a:extLst>
              <a:ext uri="{FF2B5EF4-FFF2-40B4-BE49-F238E27FC236}">
                <a16:creationId xmlns:a16="http://schemas.microsoft.com/office/drawing/2014/main" id="{D2FA54D7-F682-4168-A15B-6262BF16A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dirty="0"/>
          </a:p>
        </p:txBody>
      </p:sp>
      <p:sp>
        <p:nvSpPr>
          <p:cNvPr id="5139" name="Freeform 5">
            <a:extLst>
              <a:ext uri="{FF2B5EF4-FFF2-40B4-BE49-F238E27FC236}">
                <a16:creationId xmlns:a16="http://schemas.microsoft.com/office/drawing/2014/main" id="{439C4658-FDF2-4373-8344-47DA03B04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dirty="0"/>
          </a:p>
        </p:txBody>
      </p:sp>
      <p:sp>
        <p:nvSpPr>
          <p:cNvPr id="2" name="Title 1">
            <a:extLst>
              <a:ext uri="{FF2B5EF4-FFF2-40B4-BE49-F238E27FC236}">
                <a16:creationId xmlns:a16="http://schemas.microsoft.com/office/drawing/2014/main" id="{22A29C16-005F-B37E-E15B-D48003FCAEE9}"/>
              </a:ext>
            </a:extLst>
          </p:cNvPr>
          <p:cNvSpPr>
            <a:spLocks noGrp="1"/>
          </p:cNvSpPr>
          <p:nvPr>
            <p:ph type="title"/>
          </p:nvPr>
        </p:nvSpPr>
        <p:spPr>
          <a:xfrm>
            <a:off x="1154955" y="973668"/>
            <a:ext cx="2942210" cy="1020232"/>
          </a:xfrm>
        </p:spPr>
        <p:txBody>
          <a:bodyPr>
            <a:normAutofit/>
          </a:bodyPr>
          <a:lstStyle/>
          <a:p>
            <a:pPr>
              <a:lnSpc>
                <a:spcPct val="90000"/>
              </a:lnSpc>
            </a:pPr>
            <a:br>
              <a:rPr lang="en-US" sz="2000" b="1" dirty="0">
                <a:solidFill>
                  <a:schemeClr val="tx1"/>
                </a:solidFill>
              </a:rPr>
            </a:br>
            <a:r>
              <a:rPr lang="en-US" sz="2000" b="1" dirty="0">
                <a:solidFill>
                  <a:schemeClr val="tx1"/>
                </a:solidFill>
              </a:rPr>
              <a:t>Biomass</a:t>
            </a:r>
            <a:br>
              <a:rPr lang="en-US" sz="2000" b="1" dirty="0">
                <a:solidFill>
                  <a:schemeClr val="tx1"/>
                </a:solidFill>
              </a:rPr>
            </a:br>
            <a:endParaRPr lang="en-US" sz="2000" dirty="0">
              <a:solidFill>
                <a:schemeClr val="tx1"/>
              </a:solidFill>
            </a:endParaRPr>
          </a:p>
        </p:txBody>
      </p:sp>
      <p:pic>
        <p:nvPicPr>
          <p:cNvPr id="8" name="Picture 7">
            <a:extLst>
              <a:ext uri="{FF2B5EF4-FFF2-40B4-BE49-F238E27FC236}">
                <a16:creationId xmlns:a16="http://schemas.microsoft.com/office/drawing/2014/main" id="{034DAE5A-32EF-0216-8B75-0F460C91D6F5}"/>
              </a:ext>
            </a:extLst>
          </p:cNvPr>
          <p:cNvPicPr>
            <a:picLocks noChangeAspect="1"/>
          </p:cNvPicPr>
          <p:nvPr/>
        </p:nvPicPr>
        <p:blipFill>
          <a:blip r:embed="rId2"/>
          <a:srcRect l="10161" r="5862" b="3"/>
          <a:stretch/>
        </p:blipFill>
        <p:spPr>
          <a:xfrm>
            <a:off x="5194608" y="803750"/>
            <a:ext cx="3113903" cy="2542290"/>
          </a:xfrm>
          <a:prstGeom prst="rect">
            <a:avLst/>
          </a:prstGeom>
        </p:spPr>
      </p:pic>
      <p:pic>
        <p:nvPicPr>
          <p:cNvPr id="5128" name="Picture 8" descr="Neolithic remains help sniff out the earliest human use of dung | Horizon  Magazine">
            <a:extLst>
              <a:ext uri="{FF2B5EF4-FFF2-40B4-BE49-F238E27FC236}">
                <a16:creationId xmlns:a16="http://schemas.microsoft.com/office/drawing/2014/main" id="{24401298-DC82-7CDF-9704-9ED5C8E53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455" r="4679" b="-4"/>
          <a:stretch/>
        </p:blipFill>
        <p:spPr bwMode="auto">
          <a:xfrm>
            <a:off x="8472235" y="803753"/>
            <a:ext cx="3113904" cy="2542289"/>
          </a:xfrm>
          <a:prstGeom prst="rect">
            <a:avLst/>
          </a:prstGeom>
          <a:noFill/>
          <a:extLst>
            <a:ext uri="{909E8E84-426E-40DD-AFC4-6F175D3DCCD1}">
              <a14:hiddenFill xmlns:a14="http://schemas.microsoft.com/office/drawing/2010/main">
                <a:solidFill>
                  <a:srgbClr val="FFFFFF"/>
                </a:solidFill>
              </a14:hiddenFill>
            </a:ext>
          </a:extLst>
        </p:spPr>
      </p:pic>
      <p:sp>
        <p:nvSpPr>
          <p:cNvPr id="5141" name="Rectangle 5140">
            <a:extLst>
              <a:ext uri="{FF2B5EF4-FFF2-40B4-BE49-F238E27FC236}">
                <a16:creationId xmlns:a16="http://schemas.microsoft.com/office/drawing/2014/main" id="{C0246788-5559-4236-B1FF-BE8D22104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AC52A6DD-3CA1-4239-E0FC-292AB30DC60D}"/>
              </a:ext>
            </a:extLst>
          </p:cNvPr>
          <p:cNvSpPr>
            <a:spLocks noGrp="1"/>
          </p:cNvSpPr>
          <p:nvPr>
            <p:ph idx="1"/>
          </p:nvPr>
        </p:nvSpPr>
        <p:spPr>
          <a:xfrm>
            <a:off x="1154955" y="2120900"/>
            <a:ext cx="3133726" cy="3898900"/>
          </a:xfrm>
        </p:spPr>
        <p:txBody>
          <a:bodyPr>
            <a:normAutofit/>
          </a:bodyPr>
          <a:lstStyle/>
          <a:p>
            <a:pPr>
              <a:buFont typeface="Arial" panose="020B0604020202020204" pitchFamily="34" charset="0"/>
              <a:buChar char="•"/>
            </a:pPr>
            <a:r>
              <a:rPr lang="en-US" b="1" dirty="0">
                <a:solidFill>
                  <a:schemeClr val="tx1"/>
                </a:solidFill>
              </a:rPr>
              <a:t>Wood</a:t>
            </a:r>
          </a:p>
          <a:p>
            <a:pPr lvl="1">
              <a:buFont typeface="Arial" panose="020B0604020202020204" pitchFamily="34" charset="0"/>
              <a:buChar char="•"/>
            </a:pPr>
            <a:r>
              <a:rPr lang="en-US" dirty="0">
                <a:solidFill>
                  <a:schemeClr val="tx1"/>
                </a:solidFill>
              </a:rPr>
              <a:t>The primary fuel for cooking, heating, and sometimes small-scale industrial processes.</a:t>
            </a:r>
          </a:p>
          <a:p>
            <a:pPr>
              <a:buFont typeface="Arial" panose="020B0604020202020204" pitchFamily="34" charset="0"/>
              <a:buChar char="•"/>
            </a:pPr>
            <a:r>
              <a:rPr lang="en-US" b="1" dirty="0">
                <a:solidFill>
                  <a:schemeClr val="tx1"/>
                </a:solidFill>
              </a:rPr>
              <a:t>Crop Residues and Dung</a:t>
            </a:r>
          </a:p>
          <a:p>
            <a:pPr lvl="1">
              <a:buFont typeface="Arial" panose="020B0604020202020204" pitchFamily="34" charset="0"/>
              <a:buChar char="•"/>
            </a:pPr>
            <a:r>
              <a:rPr lang="en-US" dirty="0">
                <a:solidFill>
                  <a:schemeClr val="tx1"/>
                </a:solidFill>
              </a:rPr>
              <a:t>In areas with limited access to wood, agricultural residues or dried animal dung were used as fuel.</a:t>
            </a:r>
          </a:p>
          <a:p>
            <a:endParaRPr lang="en-US" dirty="0">
              <a:solidFill>
                <a:schemeClr val="tx1"/>
              </a:solidFill>
            </a:endParaRPr>
          </a:p>
        </p:txBody>
      </p:sp>
      <p:pic>
        <p:nvPicPr>
          <p:cNvPr id="5126" name="Picture 6" descr="370+ Dry Animal Dung Fuel Stock Photos, Pictures &amp; Royalty-Free Images -  iStock">
            <a:extLst>
              <a:ext uri="{FF2B5EF4-FFF2-40B4-BE49-F238E27FC236}">
                <a16:creationId xmlns:a16="http://schemas.microsoft.com/office/drawing/2014/main" id="{5A01F66F-8026-B663-A019-255F3C67C4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647" r="13598" b="3"/>
          <a:stretch/>
        </p:blipFill>
        <p:spPr bwMode="auto">
          <a:xfrm>
            <a:off x="8449267" y="3511957"/>
            <a:ext cx="3113903" cy="254229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ome main agricultural residues: a corn stover, b rice straw, c wheat... |  Download Scientific Diagram">
            <a:extLst>
              <a:ext uri="{FF2B5EF4-FFF2-40B4-BE49-F238E27FC236}">
                <a16:creationId xmlns:a16="http://schemas.microsoft.com/office/drawing/2014/main" id="{ABDB8DDA-351A-F0FE-3C99-B1DA364A6F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7" r="-11" b="-11"/>
          <a:stretch/>
        </p:blipFill>
        <p:spPr bwMode="auto">
          <a:xfrm>
            <a:off x="5129868" y="3489378"/>
            <a:ext cx="3113904" cy="2542289"/>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2" descr="4 Solutions For Biomass Wood Fuel Storage">
            <a:extLst>
              <a:ext uri="{FF2B5EF4-FFF2-40B4-BE49-F238E27FC236}">
                <a16:creationId xmlns:a16="http://schemas.microsoft.com/office/drawing/2014/main" id="{C6B799CD-600F-CE3B-2AB8-87CCEC24415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1214505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5" name="Rectangle 6154">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6157" name="Freeform: Shape 6156">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dirty="0"/>
          </a:p>
        </p:txBody>
      </p:sp>
      <p:sp>
        <p:nvSpPr>
          <p:cNvPr id="6159"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dirty="0"/>
          </a:p>
        </p:txBody>
      </p:sp>
      <p:sp>
        <p:nvSpPr>
          <p:cNvPr id="6161"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dirty="0"/>
          </a:p>
        </p:txBody>
      </p:sp>
      <p:sp>
        <p:nvSpPr>
          <p:cNvPr id="2" name="Title 1">
            <a:extLst>
              <a:ext uri="{FF2B5EF4-FFF2-40B4-BE49-F238E27FC236}">
                <a16:creationId xmlns:a16="http://schemas.microsoft.com/office/drawing/2014/main" id="{4E4A4A08-84EF-498B-5C6C-213D107989D4}"/>
              </a:ext>
            </a:extLst>
          </p:cNvPr>
          <p:cNvSpPr>
            <a:spLocks noGrp="1"/>
          </p:cNvSpPr>
          <p:nvPr>
            <p:ph type="title"/>
          </p:nvPr>
        </p:nvSpPr>
        <p:spPr>
          <a:xfrm>
            <a:off x="639098" y="629265"/>
            <a:ext cx="5132438" cy="1622322"/>
          </a:xfrm>
        </p:spPr>
        <p:txBody>
          <a:bodyPr>
            <a:normAutofit/>
          </a:bodyPr>
          <a:lstStyle/>
          <a:p>
            <a:pPr>
              <a:lnSpc>
                <a:spcPct val="90000"/>
              </a:lnSpc>
            </a:pPr>
            <a:br>
              <a:rPr lang="en-US" b="1" dirty="0">
                <a:solidFill>
                  <a:schemeClr val="tx1"/>
                </a:solidFill>
              </a:rPr>
            </a:br>
            <a:r>
              <a:rPr lang="en-US" b="1" dirty="0">
                <a:solidFill>
                  <a:schemeClr val="tx1"/>
                </a:solidFill>
              </a:rPr>
              <a:t>Wind Power</a:t>
            </a:r>
            <a:br>
              <a:rPr lang="en-US" b="1" dirty="0">
                <a:solidFill>
                  <a:schemeClr val="tx1"/>
                </a:solidFill>
              </a:rPr>
            </a:br>
            <a:endParaRPr lang="en-US" dirty="0">
              <a:solidFill>
                <a:schemeClr val="tx1"/>
              </a:solidFill>
            </a:endParaRPr>
          </a:p>
        </p:txBody>
      </p:sp>
      <p:sp>
        <p:nvSpPr>
          <p:cNvPr id="6163" name="Rectangle 6162">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5532B30C-53FA-4B00-542D-C453A038C479}"/>
              </a:ext>
            </a:extLst>
          </p:cNvPr>
          <p:cNvSpPr>
            <a:spLocks noGrp="1"/>
          </p:cNvSpPr>
          <p:nvPr>
            <p:ph idx="1"/>
          </p:nvPr>
        </p:nvSpPr>
        <p:spPr>
          <a:xfrm>
            <a:off x="639098" y="2418735"/>
            <a:ext cx="5132439" cy="3811742"/>
          </a:xfrm>
        </p:spPr>
        <p:txBody>
          <a:bodyPr anchor="ctr">
            <a:normAutofit/>
          </a:bodyPr>
          <a:lstStyle/>
          <a:p>
            <a:pPr>
              <a:buFont typeface="Arial" panose="020B0604020202020204" pitchFamily="34" charset="0"/>
              <a:buChar char="•"/>
            </a:pPr>
            <a:r>
              <a:rPr lang="en-US" sz="2800" dirty="0">
                <a:solidFill>
                  <a:schemeClr val="tx1"/>
                </a:solidFill>
              </a:rPr>
              <a:t>Windmills</a:t>
            </a:r>
          </a:p>
          <a:p>
            <a:pPr lvl="1">
              <a:buFont typeface="Arial" panose="020B0604020202020204" pitchFamily="34" charset="0"/>
              <a:buChar char="•"/>
            </a:pPr>
            <a:r>
              <a:rPr lang="en-US" sz="2400" dirty="0">
                <a:solidFill>
                  <a:schemeClr val="tx1"/>
                </a:solidFill>
              </a:rPr>
              <a:t>Used for grinding grains into flour or pumping water.</a:t>
            </a:r>
          </a:p>
          <a:p>
            <a:pPr>
              <a:buFont typeface="Arial" panose="020B0604020202020204" pitchFamily="34" charset="0"/>
              <a:buChar char="•"/>
            </a:pPr>
            <a:r>
              <a:rPr lang="en-US" sz="2800" dirty="0">
                <a:solidFill>
                  <a:schemeClr val="tx1"/>
                </a:solidFill>
              </a:rPr>
              <a:t>Sailing</a:t>
            </a:r>
          </a:p>
          <a:p>
            <a:pPr lvl="1">
              <a:buFont typeface="Arial" panose="020B0604020202020204" pitchFamily="34" charset="0"/>
              <a:buChar char="•"/>
            </a:pPr>
            <a:r>
              <a:rPr lang="en-US" sz="2400" dirty="0">
                <a:solidFill>
                  <a:schemeClr val="tx1"/>
                </a:solidFill>
              </a:rPr>
              <a:t>Wind-powered ships were essential for transportation and trade.</a:t>
            </a:r>
          </a:p>
          <a:p>
            <a:endParaRPr lang="en-US" dirty="0">
              <a:solidFill>
                <a:schemeClr val="tx1"/>
              </a:solidFill>
            </a:endParaRPr>
          </a:p>
        </p:txBody>
      </p:sp>
      <p:pic>
        <p:nvPicPr>
          <p:cNvPr id="6150" name="Picture 6" descr="The Windmill: Harnessing the Wind for Milling and More">
            <a:extLst>
              <a:ext uri="{FF2B5EF4-FFF2-40B4-BE49-F238E27FC236}">
                <a16:creationId xmlns:a16="http://schemas.microsoft.com/office/drawing/2014/main" id="{1C232F08-6042-1DD3-7FB3-6E138D9010B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4836" y="793124"/>
            <a:ext cx="4828707" cy="241435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 Brief History Of Energy – Wind Power">
            <a:extLst>
              <a:ext uri="{FF2B5EF4-FFF2-40B4-BE49-F238E27FC236}">
                <a16:creationId xmlns:a16="http://schemas.microsoft.com/office/drawing/2014/main" id="{F8D59048-158E-9E41-8E52-9E4CA7A2A82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2909" y="3577241"/>
            <a:ext cx="4828707" cy="2596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5903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90" name="Rectangle 7189">
            <a:extLst>
              <a:ext uri="{FF2B5EF4-FFF2-40B4-BE49-F238E27FC236}">
                <a16:creationId xmlns:a16="http://schemas.microsoft.com/office/drawing/2014/main" id="{510C9632-BB6F-48EE-AB65-501878BA5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7"/>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7192" name="Freeform: Shape 7191">
            <a:extLst>
              <a:ext uri="{FF2B5EF4-FFF2-40B4-BE49-F238E27FC236}">
                <a16:creationId xmlns:a16="http://schemas.microsoft.com/office/drawing/2014/main" id="{4EC8AAB6-953B-4D29-9967-3C44D06BB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7194" name="Freeform 5">
            <a:extLst>
              <a:ext uri="{FF2B5EF4-FFF2-40B4-BE49-F238E27FC236}">
                <a16:creationId xmlns:a16="http://schemas.microsoft.com/office/drawing/2014/main" id="{C89ED458-2326-40DC-9C7B-1A717B655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D5034D6A-EFD0-D043-DB02-F87D9C72F0A0}"/>
              </a:ext>
            </a:extLst>
          </p:cNvPr>
          <p:cNvSpPr>
            <a:spLocks noGrp="1"/>
          </p:cNvSpPr>
          <p:nvPr>
            <p:ph type="title"/>
          </p:nvPr>
        </p:nvSpPr>
        <p:spPr>
          <a:xfrm>
            <a:off x="1154955" y="973668"/>
            <a:ext cx="2942210" cy="1020232"/>
          </a:xfrm>
        </p:spPr>
        <p:txBody>
          <a:bodyPr>
            <a:normAutofit/>
          </a:bodyPr>
          <a:lstStyle/>
          <a:p>
            <a:pPr>
              <a:lnSpc>
                <a:spcPct val="90000"/>
              </a:lnSpc>
            </a:pPr>
            <a:br>
              <a:rPr lang="en-US" sz="2000" b="1">
                <a:solidFill>
                  <a:schemeClr val="tx1"/>
                </a:solidFill>
              </a:rPr>
            </a:br>
            <a:r>
              <a:rPr lang="en-US" sz="2000" b="1">
                <a:solidFill>
                  <a:schemeClr val="tx1"/>
                </a:solidFill>
              </a:rPr>
              <a:t>Water Power</a:t>
            </a:r>
            <a:br>
              <a:rPr lang="en-US" sz="2000" b="1">
                <a:solidFill>
                  <a:schemeClr val="tx1"/>
                </a:solidFill>
              </a:rPr>
            </a:br>
            <a:endParaRPr lang="en-US" sz="2000">
              <a:solidFill>
                <a:schemeClr val="tx1"/>
              </a:solidFill>
            </a:endParaRPr>
          </a:p>
        </p:txBody>
      </p:sp>
      <p:pic>
        <p:nvPicPr>
          <p:cNvPr id="7172" name="Picture 4" descr="water wheel">
            <a:extLst>
              <a:ext uri="{FF2B5EF4-FFF2-40B4-BE49-F238E27FC236}">
                <a16:creationId xmlns:a16="http://schemas.microsoft.com/office/drawing/2014/main" id="{C5A843E7-F097-1F92-BBA2-FC4972D9E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152" r="2" b="12372"/>
          <a:stretch/>
        </p:blipFill>
        <p:spPr bwMode="auto">
          <a:xfrm>
            <a:off x="5194607" y="803751"/>
            <a:ext cx="6391533" cy="5250498"/>
          </a:xfrm>
          <a:prstGeom prst="rect">
            <a:avLst/>
          </a:prstGeom>
          <a:noFill/>
          <a:extLst>
            <a:ext uri="{909E8E84-426E-40DD-AFC4-6F175D3DCCD1}">
              <a14:hiddenFill xmlns:a14="http://schemas.microsoft.com/office/drawing/2010/main">
                <a:solidFill>
                  <a:srgbClr val="FFFFFF"/>
                </a:solidFill>
              </a14:hiddenFill>
            </a:ext>
          </a:extLst>
        </p:spPr>
      </p:pic>
      <p:sp>
        <p:nvSpPr>
          <p:cNvPr id="7196" name="Rectangle 7195">
            <a:extLst>
              <a:ext uri="{FF2B5EF4-FFF2-40B4-BE49-F238E27FC236}">
                <a16:creationId xmlns:a16="http://schemas.microsoft.com/office/drawing/2014/main" id="{6F9D1DE6-E368-4F07-85F9-D5B767477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98" name="Oval 7197">
            <a:extLst>
              <a:ext uri="{FF2B5EF4-FFF2-40B4-BE49-F238E27FC236}">
                <a16:creationId xmlns:a16="http://schemas.microsoft.com/office/drawing/2014/main" id="{F63B1F66-4ACE-4A01-8ADF-F175A9C35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00" name="Oval 7199">
            <a:extLst>
              <a:ext uri="{FF2B5EF4-FFF2-40B4-BE49-F238E27FC236}">
                <a16:creationId xmlns:a16="http://schemas.microsoft.com/office/drawing/2014/main" id="{CF8448ED-9332-4A9B-8CAB-B1985E596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9CA2213-4F6C-20E4-CAD9-79D7A428FF22}"/>
              </a:ext>
            </a:extLst>
          </p:cNvPr>
          <p:cNvSpPr>
            <a:spLocks noGrp="1"/>
          </p:cNvSpPr>
          <p:nvPr>
            <p:ph idx="1"/>
          </p:nvPr>
        </p:nvSpPr>
        <p:spPr>
          <a:xfrm>
            <a:off x="1154955" y="2120900"/>
            <a:ext cx="3133726" cy="3898900"/>
          </a:xfrm>
        </p:spPr>
        <p:txBody>
          <a:bodyPr>
            <a:normAutofit/>
          </a:bodyPr>
          <a:lstStyle/>
          <a:p>
            <a:pPr>
              <a:buFont typeface="Arial" panose="020B0604020202020204" pitchFamily="34" charset="0"/>
              <a:buChar char="•"/>
            </a:pPr>
            <a:r>
              <a:rPr lang="en-US" sz="2400" dirty="0">
                <a:solidFill>
                  <a:schemeClr val="tx1"/>
                </a:solidFill>
              </a:rPr>
              <a:t>Water Wheels</a:t>
            </a:r>
          </a:p>
          <a:p>
            <a:pPr lvl="1">
              <a:buFont typeface="Arial" panose="020B0604020202020204" pitchFamily="34" charset="0"/>
              <a:buChar char="•"/>
            </a:pPr>
            <a:r>
              <a:rPr lang="en-US" sz="2000" dirty="0">
                <a:solidFill>
                  <a:schemeClr val="tx1"/>
                </a:solidFill>
              </a:rPr>
              <a:t>Utilized for grinding grains, sawing wood, or powering simple industrial machines.</a:t>
            </a:r>
          </a:p>
          <a:p>
            <a:endParaRPr lang="en-US" dirty="0">
              <a:solidFill>
                <a:schemeClr val="tx1"/>
              </a:solidFill>
            </a:endParaRPr>
          </a:p>
        </p:txBody>
      </p:sp>
      <p:sp>
        <p:nvSpPr>
          <p:cNvPr id="7202" name="Freeform 5">
            <a:extLst>
              <a:ext uri="{FF2B5EF4-FFF2-40B4-BE49-F238E27FC236}">
                <a16:creationId xmlns:a16="http://schemas.microsoft.com/office/drawing/2014/main" id="{ED3A2261-1C75-40FF-8CD6-18C5900C1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9403331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18" name="Rectangle 8217">
            <a:extLst>
              <a:ext uri="{FF2B5EF4-FFF2-40B4-BE49-F238E27FC236}">
                <a16:creationId xmlns:a16="http://schemas.microsoft.com/office/drawing/2014/main" id="{674DE62C-1444-4E9B-BC48-CA6880EFE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8220" name="Freeform 5">
            <a:extLst>
              <a:ext uri="{FF2B5EF4-FFF2-40B4-BE49-F238E27FC236}">
                <a16:creationId xmlns:a16="http://schemas.microsoft.com/office/drawing/2014/main" id="{532B7868-881B-4B4F-96E9-6E714768B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dirty="0"/>
          </a:p>
        </p:txBody>
      </p:sp>
      <p:sp>
        <p:nvSpPr>
          <p:cNvPr id="8222" name="Freeform: Shape 8221">
            <a:extLst>
              <a:ext uri="{FF2B5EF4-FFF2-40B4-BE49-F238E27FC236}">
                <a16:creationId xmlns:a16="http://schemas.microsoft.com/office/drawing/2014/main" id="{756AC0C9-AEF1-443B-A64F-B05A01B68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628932" y="402165"/>
            <a:ext cx="7139732" cy="6053670"/>
          </a:xfrm>
          <a:custGeom>
            <a:avLst/>
            <a:gdLst>
              <a:gd name="connsiteX0" fmla="*/ 1097 w 7139732"/>
              <a:gd name="connsiteY0" fmla="*/ 0 h 6053670"/>
              <a:gd name="connsiteX1" fmla="*/ 1084479 w 7139732"/>
              <a:gd name="connsiteY1" fmla="*/ 0 h 6053670"/>
              <a:gd name="connsiteX2" fmla="*/ 1254558 w 7139732"/>
              <a:gd name="connsiteY2" fmla="*/ 0 h 6053670"/>
              <a:gd name="connsiteX3" fmla="*/ 7139732 w 7139732"/>
              <a:gd name="connsiteY3" fmla="*/ 0 h 6053670"/>
              <a:gd name="connsiteX4" fmla="*/ 7139732 w 7139732"/>
              <a:gd name="connsiteY4" fmla="*/ 6053670 h 6053670"/>
              <a:gd name="connsiteX5" fmla="*/ 1249854 w 7139732"/>
              <a:gd name="connsiteY5" fmla="*/ 6053670 h 6053670"/>
              <a:gd name="connsiteX6" fmla="*/ 1084479 w 7139732"/>
              <a:gd name="connsiteY6" fmla="*/ 6053670 h 6053670"/>
              <a:gd name="connsiteX7" fmla="*/ 0 w 7139732"/>
              <a:gd name="connsiteY7" fmla="*/ 6053670 h 6053670"/>
              <a:gd name="connsiteX8" fmla="*/ 5488 w 7139732"/>
              <a:gd name="connsiteY8" fmla="*/ 6017954 h 6053670"/>
              <a:gd name="connsiteX9" fmla="*/ 21641 w 7139732"/>
              <a:gd name="connsiteY9" fmla="*/ 5913225 h 6053670"/>
              <a:gd name="connsiteX10" fmla="*/ 32932 w 7139732"/>
              <a:gd name="connsiteY10" fmla="*/ 5836949 h 6053670"/>
              <a:gd name="connsiteX11" fmla="*/ 44850 w 7139732"/>
              <a:gd name="connsiteY11" fmla="*/ 5746144 h 6053670"/>
              <a:gd name="connsiteX12" fmla="*/ 59121 w 7139732"/>
              <a:gd name="connsiteY12" fmla="*/ 5638388 h 6053670"/>
              <a:gd name="connsiteX13" fmla="*/ 74175 w 7139732"/>
              <a:gd name="connsiteY13" fmla="*/ 5519131 h 6053670"/>
              <a:gd name="connsiteX14" fmla="*/ 90014 w 7139732"/>
              <a:gd name="connsiteY14" fmla="*/ 5384740 h 6053670"/>
              <a:gd name="connsiteX15" fmla="*/ 106794 w 7139732"/>
              <a:gd name="connsiteY15" fmla="*/ 5238241 h 6053670"/>
              <a:gd name="connsiteX16" fmla="*/ 123574 w 7139732"/>
              <a:gd name="connsiteY16" fmla="*/ 5079029 h 6053670"/>
              <a:gd name="connsiteX17" fmla="*/ 140667 w 7139732"/>
              <a:gd name="connsiteY17" fmla="*/ 4909527 h 6053670"/>
              <a:gd name="connsiteX18" fmla="*/ 156506 w 7139732"/>
              <a:gd name="connsiteY18" fmla="*/ 4726706 h 6053670"/>
              <a:gd name="connsiteX19" fmla="*/ 171717 w 7139732"/>
              <a:gd name="connsiteY19" fmla="*/ 4535410 h 6053670"/>
              <a:gd name="connsiteX20" fmla="*/ 185518 w 7139732"/>
              <a:gd name="connsiteY20" fmla="*/ 4333217 h 6053670"/>
              <a:gd name="connsiteX21" fmla="*/ 198690 w 7139732"/>
              <a:gd name="connsiteY21" fmla="*/ 4122549 h 6053670"/>
              <a:gd name="connsiteX22" fmla="*/ 211079 w 7139732"/>
              <a:gd name="connsiteY22" fmla="*/ 3902801 h 6053670"/>
              <a:gd name="connsiteX23" fmla="*/ 215470 w 7139732"/>
              <a:gd name="connsiteY23" fmla="*/ 3790203 h 6053670"/>
              <a:gd name="connsiteX24" fmla="*/ 220332 w 7139732"/>
              <a:gd name="connsiteY24" fmla="*/ 3675183 h 6053670"/>
              <a:gd name="connsiteX25" fmla="*/ 224879 w 7139732"/>
              <a:gd name="connsiteY25" fmla="*/ 3558347 h 6053670"/>
              <a:gd name="connsiteX26" fmla="*/ 227859 w 7139732"/>
              <a:gd name="connsiteY26" fmla="*/ 3440906 h 6053670"/>
              <a:gd name="connsiteX27" fmla="*/ 230525 w 7139732"/>
              <a:gd name="connsiteY27" fmla="*/ 3321043 h 6053670"/>
              <a:gd name="connsiteX28" fmla="*/ 233348 w 7139732"/>
              <a:gd name="connsiteY28" fmla="*/ 3199970 h 6053670"/>
              <a:gd name="connsiteX29" fmla="*/ 235229 w 7139732"/>
              <a:gd name="connsiteY29" fmla="*/ 3076475 h 6053670"/>
              <a:gd name="connsiteX30" fmla="*/ 235229 w 7139732"/>
              <a:gd name="connsiteY30" fmla="*/ 2951770 h 6053670"/>
              <a:gd name="connsiteX31" fmla="*/ 236170 w 7139732"/>
              <a:gd name="connsiteY31" fmla="*/ 2825853 h 6053670"/>
              <a:gd name="connsiteX32" fmla="*/ 235229 w 7139732"/>
              <a:gd name="connsiteY32" fmla="*/ 2698726 h 6053670"/>
              <a:gd name="connsiteX33" fmla="*/ 233348 w 7139732"/>
              <a:gd name="connsiteY33" fmla="*/ 2569783 h 6053670"/>
              <a:gd name="connsiteX34" fmla="*/ 231623 w 7139732"/>
              <a:gd name="connsiteY34" fmla="*/ 2440840 h 6053670"/>
              <a:gd name="connsiteX35" fmla="*/ 227859 w 7139732"/>
              <a:gd name="connsiteY35" fmla="*/ 2310081 h 6053670"/>
              <a:gd name="connsiteX36" fmla="*/ 223938 w 7139732"/>
              <a:gd name="connsiteY36" fmla="*/ 2178111 h 6053670"/>
              <a:gd name="connsiteX37" fmla="*/ 219391 w 7139732"/>
              <a:gd name="connsiteY37" fmla="*/ 2046141 h 6053670"/>
              <a:gd name="connsiteX38" fmla="*/ 212961 w 7139732"/>
              <a:gd name="connsiteY38" fmla="*/ 1912960 h 6053670"/>
              <a:gd name="connsiteX39" fmla="*/ 205277 w 7139732"/>
              <a:gd name="connsiteY39" fmla="*/ 1778568 h 6053670"/>
              <a:gd name="connsiteX40" fmla="*/ 197906 w 7139732"/>
              <a:gd name="connsiteY40" fmla="*/ 1643572 h 6053670"/>
              <a:gd name="connsiteX41" fmla="*/ 188497 w 7139732"/>
              <a:gd name="connsiteY41" fmla="*/ 1508575 h 6053670"/>
              <a:gd name="connsiteX42" fmla="*/ 177206 w 7139732"/>
              <a:gd name="connsiteY42" fmla="*/ 1371762 h 6053670"/>
              <a:gd name="connsiteX43" fmla="*/ 165915 w 7139732"/>
              <a:gd name="connsiteY43" fmla="*/ 1236765 h 6053670"/>
              <a:gd name="connsiteX44" fmla="*/ 152899 w 7139732"/>
              <a:gd name="connsiteY44" fmla="*/ 1099347 h 6053670"/>
              <a:gd name="connsiteX45" fmla="*/ 138628 w 7139732"/>
              <a:gd name="connsiteY45" fmla="*/ 961323 h 6053670"/>
              <a:gd name="connsiteX46" fmla="*/ 123574 w 7139732"/>
              <a:gd name="connsiteY46" fmla="*/ 825115 h 6053670"/>
              <a:gd name="connsiteX47" fmla="*/ 106010 w 7139732"/>
              <a:gd name="connsiteY47" fmla="*/ 687092 h 6053670"/>
              <a:gd name="connsiteX48" fmla="*/ 87192 w 7139732"/>
              <a:gd name="connsiteY48" fmla="*/ 549673 h 6053670"/>
              <a:gd name="connsiteX49" fmla="*/ 68530 w 7139732"/>
              <a:gd name="connsiteY49" fmla="*/ 411650 h 6053670"/>
              <a:gd name="connsiteX50" fmla="*/ 46732 w 7139732"/>
              <a:gd name="connsiteY50" fmla="*/ 274232 h 6053670"/>
              <a:gd name="connsiteX51" fmla="*/ 24464 w 7139732"/>
              <a:gd name="connsiteY51" fmla="*/ 137419 h 605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139732" h="6053670">
                <a:moveTo>
                  <a:pt x="1097" y="0"/>
                </a:moveTo>
                <a:lnTo>
                  <a:pt x="1084479" y="0"/>
                </a:lnTo>
                <a:lnTo>
                  <a:pt x="1254558" y="0"/>
                </a:lnTo>
                <a:lnTo>
                  <a:pt x="7139732" y="0"/>
                </a:lnTo>
                <a:lnTo>
                  <a:pt x="7139732" y="6053670"/>
                </a:lnTo>
                <a:lnTo>
                  <a:pt x="1249854" y="6053670"/>
                </a:lnTo>
                <a:lnTo>
                  <a:pt x="1084479" y="6053670"/>
                </a:lnTo>
                <a:lnTo>
                  <a:pt x="0" y="6053670"/>
                </a:lnTo>
                <a:lnTo>
                  <a:pt x="5488" y="6017954"/>
                </a:lnTo>
                <a:lnTo>
                  <a:pt x="21641" y="5913225"/>
                </a:lnTo>
                <a:lnTo>
                  <a:pt x="32932" y="5836949"/>
                </a:lnTo>
                <a:lnTo>
                  <a:pt x="44850" y="5746144"/>
                </a:lnTo>
                <a:lnTo>
                  <a:pt x="59121" y="5638388"/>
                </a:lnTo>
                <a:lnTo>
                  <a:pt x="74175" y="5519131"/>
                </a:lnTo>
                <a:lnTo>
                  <a:pt x="90014" y="5384740"/>
                </a:lnTo>
                <a:lnTo>
                  <a:pt x="106794" y="5238241"/>
                </a:lnTo>
                <a:lnTo>
                  <a:pt x="123574" y="5079029"/>
                </a:lnTo>
                <a:lnTo>
                  <a:pt x="140667" y="4909527"/>
                </a:lnTo>
                <a:lnTo>
                  <a:pt x="156506" y="4726706"/>
                </a:lnTo>
                <a:lnTo>
                  <a:pt x="171717" y="4535410"/>
                </a:lnTo>
                <a:lnTo>
                  <a:pt x="185518" y="4333217"/>
                </a:lnTo>
                <a:lnTo>
                  <a:pt x="198690" y="4122549"/>
                </a:lnTo>
                <a:lnTo>
                  <a:pt x="211079" y="3902801"/>
                </a:lnTo>
                <a:lnTo>
                  <a:pt x="215470" y="3790203"/>
                </a:lnTo>
                <a:lnTo>
                  <a:pt x="220332" y="3675183"/>
                </a:lnTo>
                <a:lnTo>
                  <a:pt x="224879" y="3558347"/>
                </a:lnTo>
                <a:lnTo>
                  <a:pt x="227859" y="3440906"/>
                </a:lnTo>
                <a:lnTo>
                  <a:pt x="230525" y="3321043"/>
                </a:lnTo>
                <a:lnTo>
                  <a:pt x="233348" y="3199970"/>
                </a:lnTo>
                <a:lnTo>
                  <a:pt x="235229" y="3076475"/>
                </a:lnTo>
                <a:lnTo>
                  <a:pt x="235229" y="2951770"/>
                </a:lnTo>
                <a:lnTo>
                  <a:pt x="236170" y="2825853"/>
                </a:lnTo>
                <a:lnTo>
                  <a:pt x="235229" y="2698726"/>
                </a:lnTo>
                <a:lnTo>
                  <a:pt x="233348" y="2569783"/>
                </a:lnTo>
                <a:lnTo>
                  <a:pt x="231623" y="2440840"/>
                </a:lnTo>
                <a:lnTo>
                  <a:pt x="227859" y="2310081"/>
                </a:lnTo>
                <a:lnTo>
                  <a:pt x="223938" y="2178111"/>
                </a:lnTo>
                <a:lnTo>
                  <a:pt x="219391" y="2046141"/>
                </a:lnTo>
                <a:lnTo>
                  <a:pt x="212961" y="1912960"/>
                </a:lnTo>
                <a:lnTo>
                  <a:pt x="205277" y="1778568"/>
                </a:lnTo>
                <a:lnTo>
                  <a:pt x="197906" y="1643572"/>
                </a:lnTo>
                <a:lnTo>
                  <a:pt x="188497" y="1508575"/>
                </a:lnTo>
                <a:lnTo>
                  <a:pt x="177206" y="1371762"/>
                </a:lnTo>
                <a:lnTo>
                  <a:pt x="165915" y="1236765"/>
                </a:lnTo>
                <a:lnTo>
                  <a:pt x="152899" y="1099347"/>
                </a:lnTo>
                <a:lnTo>
                  <a:pt x="138628" y="961323"/>
                </a:lnTo>
                <a:lnTo>
                  <a:pt x="123574" y="825115"/>
                </a:lnTo>
                <a:lnTo>
                  <a:pt x="106010" y="687092"/>
                </a:lnTo>
                <a:lnTo>
                  <a:pt x="87192" y="549673"/>
                </a:lnTo>
                <a:lnTo>
                  <a:pt x="68530" y="411650"/>
                </a:lnTo>
                <a:lnTo>
                  <a:pt x="46732" y="274232"/>
                </a:lnTo>
                <a:lnTo>
                  <a:pt x="24464" y="137419"/>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8224" name="Freeform 5">
            <a:extLst>
              <a:ext uri="{FF2B5EF4-FFF2-40B4-BE49-F238E27FC236}">
                <a16:creationId xmlns:a16="http://schemas.microsoft.com/office/drawing/2014/main" id="{C625AAF6-BC58-4225-A7B9-294C3062D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dirty="0"/>
          </a:p>
        </p:txBody>
      </p:sp>
      <p:sp>
        <p:nvSpPr>
          <p:cNvPr id="2" name="Title 1">
            <a:extLst>
              <a:ext uri="{FF2B5EF4-FFF2-40B4-BE49-F238E27FC236}">
                <a16:creationId xmlns:a16="http://schemas.microsoft.com/office/drawing/2014/main" id="{A8A5167A-A2EA-51FF-C0DB-F1F5B9DABB3E}"/>
              </a:ext>
            </a:extLst>
          </p:cNvPr>
          <p:cNvSpPr>
            <a:spLocks noGrp="1"/>
          </p:cNvSpPr>
          <p:nvPr>
            <p:ph type="title"/>
          </p:nvPr>
        </p:nvSpPr>
        <p:spPr>
          <a:xfrm>
            <a:off x="1154954" y="973668"/>
            <a:ext cx="3133725" cy="1020232"/>
          </a:xfrm>
        </p:spPr>
        <p:txBody>
          <a:bodyPr>
            <a:normAutofit fontScale="90000"/>
          </a:bodyPr>
          <a:lstStyle/>
          <a:p>
            <a:pPr>
              <a:lnSpc>
                <a:spcPct val="90000"/>
              </a:lnSpc>
            </a:pPr>
            <a:br>
              <a:rPr lang="en-US" sz="1700" b="1" dirty="0">
                <a:solidFill>
                  <a:srgbClr val="FFFFFF"/>
                </a:solidFill>
              </a:rPr>
            </a:br>
            <a:r>
              <a:rPr lang="en-US" sz="2200" b="1" dirty="0">
                <a:solidFill>
                  <a:srgbClr val="FFFFFF"/>
                </a:solidFill>
              </a:rPr>
              <a:t>Early Use of Fossil Fuels</a:t>
            </a:r>
            <a:br>
              <a:rPr lang="en-US" sz="2200" b="1" dirty="0">
                <a:solidFill>
                  <a:srgbClr val="FFFFFF"/>
                </a:solidFill>
              </a:rPr>
            </a:br>
            <a:endParaRPr lang="en-US" sz="2200" dirty="0">
              <a:solidFill>
                <a:srgbClr val="FFFFFF"/>
              </a:solidFill>
            </a:endParaRPr>
          </a:p>
        </p:txBody>
      </p:sp>
      <p:pic>
        <p:nvPicPr>
          <p:cNvPr id="8196" name="Picture 4" descr="Half Day Courses: Introduction to Blacksmithing - Big Pit National Coal  Museum">
            <a:extLst>
              <a:ext uri="{FF2B5EF4-FFF2-40B4-BE49-F238E27FC236}">
                <a16:creationId xmlns:a16="http://schemas.microsoft.com/office/drawing/2014/main" id="{DD6CBD5B-4B01-7F96-9E4D-DAA5E4DBA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977" r="36436" b="1"/>
          <a:stretch/>
        </p:blipFill>
        <p:spPr bwMode="auto">
          <a:xfrm>
            <a:off x="5194608" y="803750"/>
            <a:ext cx="3113903" cy="5250498"/>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A Brief History of Energy – Coal">
            <a:extLst>
              <a:ext uri="{FF2B5EF4-FFF2-40B4-BE49-F238E27FC236}">
                <a16:creationId xmlns:a16="http://schemas.microsoft.com/office/drawing/2014/main" id="{54729179-5613-401E-51DD-7DD3EE8A1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48" r="25508" b="2"/>
          <a:stretch/>
        </p:blipFill>
        <p:spPr bwMode="auto">
          <a:xfrm>
            <a:off x="8472236" y="803752"/>
            <a:ext cx="3113904" cy="2542289"/>
          </a:xfrm>
          <a:prstGeom prst="rect">
            <a:avLst/>
          </a:prstGeom>
          <a:noFill/>
          <a:extLst>
            <a:ext uri="{909E8E84-426E-40DD-AFC4-6F175D3DCCD1}">
              <a14:hiddenFill xmlns:a14="http://schemas.microsoft.com/office/drawing/2010/main">
                <a:solidFill>
                  <a:srgbClr val="FFFFFF"/>
                </a:solidFill>
              </a14:hiddenFill>
            </a:ext>
          </a:extLst>
        </p:spPr>
      </p:pic>
      <p:sp>
        <p:nvSpPr>
          <p:cNvPr id="8226" name="Rectangle 8225">
            <a:extLst>
              <a:ext uri="{FF2B5EF4-FFF2-40B4-BE49-F238E27FC236}">
                <a16:creationId xmlns:a16="http://schemas.microsoft.com/office/drawing/2014/main" id="{6704688B-CB80-4241-9F1D-D462116CB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95DC9BFB-173A-ED6E-D215-2BD7367FCAED}"/>
              </a:ext>
            </a:extLst>
          </p:cNvPr>
          <p:cNvSpPr>
            <a:spLocks noGrp="1"/>
          </p:cNvSpPr>
          <p:nvPr>
            <p:ph idx="1"/>
          </p:nvPr>
        </p:nvSpPr>
        <p:spPr>
          <a:xfrm>
            <a:off x="1154955" y="2120900"/>
            <a:ext cx="3133726" cy="3898900"/>
          </a:xfrm>
        </p:spPr>
        <p:txBody>
          <a:bodyPr>
            <a:normAutofit/>
          </a:bodyPr>
          <a:lstStyle/>
          <a:p>
            <a:pPr>
              <a:buFont typeface="Arial" panose="020B0604020202020204" pitchFamily="34" charset="0"/>
              <a:buChar char="•"/>
            </a:pPr>
            <a:r>
              <a:rPr lang="en-US" sz="2000" b="1" dirty="0">
                <a:solidFill>
                  <a:srgbClr val="FFFFFF"/>
                </a:solidFill>
              </a:rPr>
              <a:t>Coal</a:t>
            </a:r>
          </a:p>
          <a:p>
            <a:pPr lvl="1">
              <a:buFont typeface="Arial" panose="020B0604020202020204" pitchFamily="34" charset="0"/>
              <a:buChar char="•"/>
            </a:pPr>
            <a:r>
              <a:rPr lang="en-US" sz="1800" dirty="0">
                <a:solidFill>
                  <a:srgbClr val="FFFFFF"/>
                </a:solidFill>
              </a:rPr>
              <a:t>In some regions, coal was used as early as the Roman period for </a:t>
            </a:r>
            <a:r>
              <a:rPr lang="en-US" sz="1800" b="1" dirty="0">
                <a:solidFill>
                  <a:srgbClr val="FFFFFF"/>
                </a:solidFill>
              </a:rPr>
              <a:t>heating</a:t>
            </a:r>
            <a:r>
              <a:rPr lang="en-US" sz="1800" dirty="0">
                <a:solidFill>
                  <a:srgbClr val="FFFFFF"/>
                </a:solidFill>
              </a:rPr>
              <a:t> and later for </a:t>
            </a:r>
            <a:r>
              <a:rPr lang="en-US" sz="1800" b="1" dirty="0">
                <a:solidFill>
                  <a:srgbClr val="FFFFFF"/>
                </a:solidFill>
              </a:rPr>
              <a:t>blacksmithing</a:t>
            </a:r>
            <a:r>
              <a:rPr lang="en-US" sz="1800" dirty="0">
                <a:solidFill>
                  <a:srgbClr val="FFFFFF"/>
                </a:solidFill>
              </a:rPr>
              <a:t>. </a:t>
            </a:r>
          </a:p>
          <a:p>
            <a:pPr lvl="1">
              <a:buFont typeface="Arial" panose="020B0604020202020204" pitchFamily="34" charset="0"/>
              <a:buChar char="•"/>
            </a:pPr>
            <a:r>
              <a:rPr lang="en-US" sz="1800" dirty="0">
                <a:solidFill>
                  <a:srgbClr val="FFFFFF"/>
                </a:solidFill>
              </a:rPr>
              <a:t>It became more prominent during the Industrial Revolution.</a:t>
            </a:r>
          </a:p>
          <a:p>
            <a:endParaRPr lang="en-US" dirty="0">
              <a:solidFill>
                <a:srgbClr val="FFFFFF"/>
              </a:solidFill>
            </a:endParaRPr>
          </a:p>
        </p:txBody>
      </p:sp>
      <p:pic>
        <p:nvPicPr>
          <p:cNvPr id="8194" name="Picture 2" descr="Ancient Romans had central heating">
            <a:extLst>
              <a:ext uri="{FF2B5EF4-FFF2-40B4-BE49-F238E27FC236}">
                <a16:creationId xmlns:a16="http://schemas.microsoft.com/office/drawing/2014/main" id="{1C3DD74A-1580-9927-6054-78FDD1D7E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8544" b="-5"/>
          <a:stretch/>
        </p:blipFill>
        <p:spPr bwMode="auto">
          <a:xfrm>
            <a:off x="8472235" y="3511960"/>
            <a:ext cx="3113904" cy="2542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762593"/>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53" name="Rectangle 10252">
            <a:extLst>
              <a:ext uri="{FF2B5EF4-FFF2-40B4-BE49-F238E27FC236}">
                <a16:creationId xmlns:a16="http://schemas.microsoft.com/office/drawing/2014/main" id="{4D40B773-7B09-4CA5-ACEF-6D8094970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255" name="Freeform: Shape 10254">
            <a:extLst>
              <a:ext uri="{FF2B5EF4-FFF2-40B4-BE49-F238E27FC236}">
                <a16:creationId xmlns:a16="http://schemas.microsoft.com/office/drawing/2014/main" id="{9680A730-D307-4619-A089-699C8994C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00913" y="588083"/>
            <a:ext cx="6053670" cy="5681834"/>
          </a:xfrm>
          <a:custGeom>
            <a:avLst/>
            <a:gdLst>
              <a:gd name="connsiteX0" fmla="*/ 6053670 w 6053670"/>
              <a:gd name="connsiteY0" fmla="*/ 1098 h 5681834"/>
              <a:gd name="connsiteX1" fmla="*/ 6053670 w 6053670"/>
              <a:gd name="connsiteY1" fmla="*/ 1012899 h 5681834"/>
              <a:gd name="connsiteX2" fmla="*/ 6053670 w 6053670"/>
              <a:gd name="connsiteY2" fmla="*/ 1254558 h 5681834"/>
              <a:gd name="connsiteX3" fmla="*/ 6053670 w 6053670"/>
              <a:gd name="connsiteY3" fmla="*/ 5681834 h 5681834"/>
              <a:gd name="connsiteX4" fmla="*/ 0 w 6053670"/>
              <a:gd name="connsiteY4" fmla="*/ 5681834 h 5681834"/>
              <a:gd name="connsiteX5" fmla="*/ 0 w 6053670"/>
              <a:gd name="connsiteY5" fmla="*/ 1249853 h 5681834"/>
              <a:gd name="connsiteX6" fmla="*/ 0 w 6053670"/>
              <a:gd name="connsiteY6" fmla="*/ 1012899 h 5681834"/>
              <a:gd name="connsiteX7" fmla="*/ 0 w 6053670"/>
              <a:gd name="connsiteY7" fmla="*/ 0 h 5681834"/>
              <a:gd name="connsiteX8" fmla="*/ 35717 w 6053670"/>
              <a:gd name="connsiteY8" fmla="*/ 5488 h 5681834"/>
              <a:gd name="connsiteX9" fmla="*/ 140445 w 6053670"/>
              <a:gd name="connsiteY9" fmla="*/ 21641 h 5681834"/>
              <a:gd name="connsiteX10" fmla="*/ 216722 w 6053670"/>
              <a:gd name="connsiteY10" fmla="*/ 32932 h 5681834"/>
              <a:gd name="connsiteX11" fmla="*/ 307527 w 6053670"/>
              <a:gd name="connsiteY11" fmla="*/ 44850 h 5681834"/>
              <a:gd name="connsiteX12" fmla="*/ 415282 w 6053670"/>
              <a:gd name="connsiteY12" fmla="*/ 59121 h 5681834"/>
              <a:gd name="connsiteX13" fmla="*/ 534539 w 6053670"/>
              <a:gd name="connsiteY13" fmla="*/ 74175 h 5681834"/>
              <a:gd name="connsiteX14" fmla="*/ 668931 w 6053670"/>
              <a:gd name="connsiteY14" fmla="*/ 90014 h 5681834"/>
              <a:gd name="connsiteX15" fmla="*/ 815430 w 6053670"/>
              <a:gd name="connsiteY15" fmla="*/ 106794 h 5681834"/>
              <a:gd name="connsiteX16" fmla="*/ 974641 w 6053670"/>
              <a:gd name="connsiteY16" fmla="*/ 123574 h 5681834"/>
              <a:gd name="connsiteX17" fmla="*/ 1144144 w 6053670"/>
              <a:gd name="connsiteY17" fmla="*/ 140667 h 5681834"/>
              <a:gd name="connsiteX18" fmla="*/ 1326965 w 6053670"/>
              <a:gd name="connsiteY18" fmla="*/ 156506 h 5681834"/>
              <a:gd name="connsiteX19" fmla="*/ 1518261 w 6053670"/>
              <a:gd name="connsiteY19" fmla="*/ 171717 h 5681834"/>
              <a:gd name="connsiteX20" fmla="*/ 1720453 w 6053670"/>
              <a:gd name="connsiteY20" fmla="*/ 185518 h 5681834"/>
              <a:gd name="connsiteX21" fmla="*/ 1931121 w 6053670"/>
              <a:gd name="connsiteY21" fmla="*/ 198690 h 5681834"/>
              <a:gd name="connsiteX22" fmla="*/ 2150869 w 6053670"/>
              <a:gd name="connsiteY22" fmla="*/ 211079 h 5681834"/>
              <a:gd name="connsiteX23" fmla="*/ 2263467 w 6053670"/>
              <a:gd name="connsiteY23" fmla="*/ 215470 h 5681834"/>
              <a:gd name="connsiteX24" fmla="*/ 2378487 w 6053670"/>
              <a:gd name="connsiteY24" fmla="*/ 220332 h 5681834"/>
              <a:gd name="connsiteX25" fmla="*/ 2495323 w 6053670"/>
              <a:gd name="connsiteY25" fmla="*/ 224879 h 5681834"/>
              <a:gd name="connsiteX26" fmla="*/ 2612764 w 6053670"/>
              <a:gd name="connsiteY26" fmla="*/ 227859 h 5681834"/>
              <a:gd name="connsiteX27" fmla="*/ 2732627 w 6053670"/>
              <a:gd name="connsiteY27" fmla="*/ 230525 h 5681834"/>
              <a:gd name="connsiteX28" fmla="*/ 2853700 w 6053670"/>
              <a:gd name="connsiteY28" fmla="*/ 233348 h 5681834"/>
              <a:gd name="connsiteX29" fmla="*/ 2977195 w 6053670"/>
              <a:gd name="connsiteY29" fmla="*/ 235229 h 5681834"/>
              <a:gd name="connsiteX30" fmla="*/ 3101901 w 6053670"/>
              <a:gd name="connsiteY30" fmla="*/ 235229 h 5681834"/>
              <a:gd name="connsiteX31" fmla="*/ 3227817 w 6053670"/>
              <a:gd name="connsiteY31" fmla="*/ 236170 h 5681834"/>
              <a:gd name="connsiteX32" fmla="*/ 3354944 w 6053670"/>
              <a:gd name="connsiteY32" fmla="*/ 235229 h 5681834"/>
              <a:gd name="connsiteX33" fmla="*/ 3483887 w 6053670"/>
              <a:gd name="connsiteY33" fmla="*/ 233348 h 5681834"/>
              <a:gd name="connsiteX34" fmla="*/ 3612830 w 6053670"/>
              <a:gd name="connsiteY34" fmla="*/ 231623 h 5681834"/>
              <a:gd name="connsiteX35" fmla="*/ 3743590 w 6053670"/>
              <a:gd name="connsiteY35" fmla="*/ 227859 h 5681834"/>
              <a:gd name="connsiteX36" fmla="*/ 3875560 w 6053670"/>
              <a:gd name="connsiteY36" fmla="*/ 223938 h 5681834"/>
              <a:gd name="connsiteX37" fmla="*/ 4007530 w 6053670"/>
              <a:gd name="connsiteY37" fmla="*/ 219391 h 5681834"/>
              <a:gd name="connsiteX38" fmla="*/ 4140710 w 6053670"/>
              <a:gd name="connsiteY38" fmla="*/ 212961 h 5681834"/>
              <a:gd name="connsiteX39" fmla="*/ 4275102 w 6053670"/>
              <a:gd name="connsiteY39" fmla="*/ 205277 h 5681834"/>
              <a:gd name="connsiteX40" fmla="*/ 4410098 w 6053670"/>
              <a:gd name="connsiteY40" fmla="*/ 197907 h 5681834"/>
              <a:gd name="connsiteX41" fmla="*/ 4545096 w 6053670"/>
              <a:gd name="connsiteY41" fmla="*/ 188498 h 5681834"/>
              <a:gd name="connsiteX42" fmla="*/ 4681909 w 6053670"/>
              <a:gd name="connsiteY42" fmla="*/ 177207 h 5681834"/>
              <a:gd name="connsiteX43" fmla="*/ 4816905 w 6053670"/>
              <a:gd name="connsiteY43" fmla="*/ 165916 h 5681834"/>
              <a:gd name="connsiteX44" fmla="*/ 4954323 w 6053670"/>
              <a:gd name="connsiteY44" fmla="*/ 152899 h 5681834"/>
              <a:gd name="connsiteX45" fmla="*/ 5092347 w 6053670"/>
              <a:gd name="connsiteY45" fmla="*/ 138629 h 5681834"/>
              <a:gd name="connsiteX46" fmla="*/ 5228555 w 6053670"/>
              <a:gd name="connsiteY46" fmla="*/ 123574 h 5681834"/>
              <a:gd name="connsiteX47" fmla="*/ 5366578 w 6053670"/>
              <a:gd name="connsiteY47" fmla="*/ 106010 h 5681834"/>
              <a:gd name="connsiteX48" fmla="*/ 5503997 w 6053670"/>
              <a:gd name="connsiteY48" fmla="*/ 87192 h 5681834"/>
              <a:gd name="connsiteX49" fmla="*/ 5642020 w 6053670"/>
              <a:gd name="connsiteY49" fmla="*/ 68530 h 5681834"/>
              <a:gd name="connsiteX50" fmla="*/ 5779438 w 6053670"/>
              <a:gd name="connsiteY50" fmla="*/ 46733 h 5681834"/>
              <a:gd name="connsiteX51" fmla="*/ 5916251 w 6053670"/>
              <a:gd name="connsiteY51" fmla="*/ 24464 h 568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681834">
                <a:moveTo>
                  <a:pt x="6053670" y="1098"/>
                </a:moveTo>
                <a:lnTo>
                  <a:pt x="6053670" y="1012899"/>
                </a:lnTo>
                <a:lnTo>
                  <a:pt x="6053670" y="1254558"/>
                </a:lnTo>
                <a:lnTo>
                  <a:pt x="6053670" y="5681834"/>
                </a:lnTo>
                <a:lnTo>
                  <a:pt x="0" y="5681834"/>
                </a:lnTo>
                <a:lnTo>
                  <a:pt x="0" y="1249853"/>
                </a:lnTo>
                <a:lnTo>
                  <a:pt x="0" y="101289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dirty="0"/>
          </a:p>
        </p:txBody>
      </p:sp>
      <p:sp>
        <p:nvSpPr>
          <p:cNvPr id="10257" name="Freeform 5">
            <a:extLst>
              <a:ext uri="{FF2B5EF4-FFF2-40B4-BE49-F238E27FC236}">
                <a16:creationId xmlns:a16="http://schemas.microsoft.com/office/drawing/2014/main" id="{9768AB41-1F45-4D7D-8E9F-F32F00C12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dirty="0"/>
          </a:p>
        </p:txBody>
      </p:sp>
      <p:sp>
        <p:nvSpPr>
          <p:cNvPr id="10259" name="Freeform 5">
            <a:extLst>
              <a:ext uri="{FF2B5EF4-FFF2-40B4-BE49-F238E27FC236}">
                <a16:creationId xmlns:a16="http://schemas.microsoft.com/office/drawing/2014/main" id="{22CC7380-78F8-4871-A3DB-C4F04F396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598383"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dirty="0"/>
          </a:p>
        </p:txBody>
      </p:sp>
      <p:sp>
        <p:nvSpPr>
          <p:cNvPr id="2" name="Title 1">
            <a:extLst>
              <a:ext uri="{FF2B5EF4-FFF2-40B4-BE49-F238E27FC236}">
                <a16:creationId xmlns:a16="http://schemas.microsoft.com/office/drawing/2014/main" id="{726B4C0B-51B1-BCAF-482F-DF84D7338969}"/>
              </a:ext>
            </a:extLst>
          </p:cNvPr>
          <p:cNvSpPr>
            <a:spLocks noGrp="1"/>
          </p:cNvSpPr>
          <p:nvPr>
            <p:ph type="title"/>
          </p:nvPr>
        </p:nvSpPr>
        <p:spPr>
          <a:xfrm>
            <a:off x="639098" y="629265"/>
            <a:ext cx="5373877" cy="1622322"/>
          </a:xfrm>
        </p:spPr>
        <p:txBody>
          <a:bodyPr>
            <a:normAutofit/>
          </a:bodyPr>
          <a:lstStyle/>
          <a:p>
            <a:pPr>
              <a:lnSpc>
                <a:spcPct val="90000"/>
              </a:lnSpc>
            </a:pPr>
            <a:br>
              <a:rPr lang="en-US" b="1" dirty="0">
                <a:solidFill>
                  <a:schemeClr val="tx1"/>
                </a:solidFill>
              </a:rPr>
            </a:br>
            <a:r>
              <a:rPr lang="en-US" b="1" dirty="0">
                <a:solidFill>
                  <a:schemeClr val="tx1"/>
                </a:solidFill>
              </a:rPr>
              <a:t>Sunlight</a:t>
            </a:r>
            <a:br>
              <a:rPr lang="en-US" b="1" dirty="0">
                <a:solidFill>
                  <a:schemeClr val="tx1"/>
                </a:solidFill>
              </a:rPr>
            </a:br>
            <a:endParaRPr lang="en-US" dirty="0">
              <a:solidFill>
                <a:schemeClr val="tx1"/>
              </a:solidFill>
            </a:endParaRPr>
          </a:p>
        </p:txBody>
      </p:sp>
      <p:pic>
        <p:nvPicPr>
          <p:cNvPr id="10248" name="Picture 8" descr="How hot weather can affect your property - Aviva">
            <a:extLst>
              <a:ext uri="{FF2B5EF4-FFF2-40B4-BE49-F238E27FC236}">
                <a16:creationId xmlns:a16="http://schemas.microsoft.com/office/drawing/2014/main" id="{9143EC28-ECBB-7D0E-DD92-A616F2D16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78" r="11032" b="-1"/>
          <a:stretch/>
        </p:blipFill>
        <p:spPr bwMode="auto">
          <a:xfrm>
            <a:off x="6633676" y="645107"/>
            <a:ext cx="4909867" cy="3284348"/>
          </a:xfrm>
          <a:prstGeom prst="rect">
            <a:avLst/>
          </a:prstGeom>
          <a:noFill/>
          <a:extLst>
            <a:ext uri="{909E8E84-426E-40DD-AFC4-6F175D3DCCD1}">
              <a14:hiddenFill xmlns:a14="http://schemas.microsoft.com/office/drawing/2010/main">
                <a:solidFill>
                  <a:srgbClr val="FFFFFF"/>
                </a:solidFill>
              </a14:hiddenFill>
            </a:ext>
          </a:extLst>
        </p:spPr>
      </p:pic>
      <p:sp>
        <p:nvSpPr>
          <p:cNvPr id="10261" name="Rectangle 10260">
            <a:extLst>
              <a:ext uri="{FF2B5EF4-FFF2-40B4-BE49-F238E27FC236}">
                <a16:creationId xmlns:a16="http://schemas.microsoft.com/office/drawing/2014/main" id="{B4FA2E53-B132-494A-BD39-D0FF6158E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3C47292A-3640-2F03-E8C5-DB541297574E}"/>
              </a:ext>
            </a:extLst>
          </p:cNvPr>
          <p:cNvSpPr>
            <a:spLocks noGrp="1"/>
          </p:cNvSpPr>
          <p:nvPr>
            <p:ph idx="1"/>
          </p:nvPr>
        </p:nvSpPr>
        <p:spPr>
          <a:xfrm>
            <a:off x="639098" y="2418735"/>
            <a:ext cx="5373877" cy="3811740"/>
          </a:xfrm>
        </p:spPr>
        <p:txBody>
          <a:bodyPr anchor="ctr">
            <a:normAutofit/>
          </a:bodyPr>
          <a:lstStyle/>
          <a:p>
            <a:pPr>
              <a:buFont typeface="Arial" panose="020B0604020202020204" pitchFamily="34" charset="0"/>
              <a:buChar char="•"/>
            </a:pPr>
            <a:r>
              <a:rPr lang="en-US" sz="2800" dirty="0">
                <a:solidFill>
                  <a:schemeClr val="tx1"/>
                </a:solidFill>
              </a:rPr>
              <a:t>Direct solar energy was used for drying crops, preserving food, and warming dwellings.</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p:txBody>
      </p:sp>
      <p:pic>
        <p:nvPicPr>
          <p:cNvPr id="10242" name="Picture 2" descr="Food drying - Wikipedia">
            <a:extLst>
              <a:ext uri="{FF2B5EF4-FFF2-40B4-BE49-F238E27FC236}">
                <a16:creationId xmlns:a16="http://schemas.microsoft.com/office/drawing/2014/main" id="{5697E7C8-20CB-7124-6078-0C80B8F06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266" r="12808" b="3"/>
          <a:stretch/>
        </p:blipFill>
        <p:spPr bwMode="auto">
          <a:xfrm>
            <a:off x="6633676" y="4095905"/>
            <a:ext cx="2358033" cy="213707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Drying - IRRI Rice Knowledge Bank">
            <a:extLst>
              <a:ext uri="{FF2B5EF4-FFF2-40B4-BE49-F238E27FC236}">
                <a16:creationId xmlns:a16="http://schemas.microsoft.com/office/drawing/2014/main" id="{208E3F9D-530D-821C-E1EB-FDD6F2378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79" r="23335" b="4"/>
          <a:stretch/>
        </p:blipFill>
        <p:spPr bwMode="auto">
          <a:xfrm>
            <a:off x="9155160" y="4095374"/>
            <a:ext cx="2388383" cy="2135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18693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277" name="Group 11276">
            <a:extLst>
              <a:ext uri="{FF2B5EF4-FFF2-40B4-BE49-F238E27FC236}">
                <a16:creationId xmlns:a16="http://schemas.microsoft.com/office/drawing/2014/main" id="{AB8E3704-0CB2-48C2-A46B-EDB6271857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278" name="Rectangle 11277">
              <a:extLst>
                <a:ext uri="{FF2B5EF4-FFF2-40B4-BE49-F238E27FC236}">
                  <a16:creationId xmlns:a16="http://schemas.microsoft.com/office/drawing/2014/main" id="{36872906-1D7A-472A-B90B-D4B00113A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1279" name="Freeform 5">
              <a:extLst>
                <a:ext uri="{FF2B5EF4-FFF2-40B4-BE49-F238E27FC236}">
                  <a16:creationId xmlns:a16="http://schemas.microsoft.com/office/drawing/2014/main" id="{C09D3A24-9F80-4EC9-9D80-28C5CBA8F8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grpSp>
      <p:sp>
        <p:nvSpPr>
          <p:cNvPr id="11281" name="Rectangle 11280">
            <a:extLst>
              <a:ext uri="{FF2B5EF4-FFF2-40B4-BE49-F238E27FC236}">
                <a16:creationId xmlns:a16="http://schemas.microsoft.com/office/drawing/2014/main" id="{F4C2B571-8160-4749-AB99-260E8052A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useBgFill="1">
        <p:nvSpPr>
          <p:cNvPr id="11283" name="Rectangle 11282">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AA66A89D-0793-C138-78CF-44129C16DB7C}"/>
              </a:ext>
            </a:extLst>
          </p:cNvPr>
          <p:cNvSpPr>
            <a:spLocks noGrp="1"/>
          </p:cNvSpPr>
          <p:nvPr>
            <p:ph type="title"/>
          </p:nvPr>
        </p:nvSpPr>
        <p:spPr>
          <a:xfrm>
            <a:off x="561110" y="1241266"/>
            <a:ext cx="4089633" cy="3153753"/>
          </a:xfrm>
        </p:spPr>
        <p:txBody>
          <a:bodyPr vert="horz" lIns="91440" tIns="45720" rIns="91440" bIns="45720" rtlCol="0" anchor="b">
            <a:normAutofit/>
          </a:bodyPr>
          <a:lstStyle/>
          <a:p>
            <a:r>
              <a:rPr lang="en-US" sz="5400" dirty="0">
                <a:solidFill>
                  <a:schemeClr val="tx2"/>
                </a:solidFill>
              </a:rPr>
              <a:t>Energy: </a:t>
            </a:r>
            <a:r>
              <a:rPr lang="en-US" sz="5400" b="1" dirty="0">
                <a:solidFill>
                  <a:schemeClr val="tx2"/>
                </a:solidFill>
              </a:rPr>
              <a:t>Present</a:t>
            </a:r>
            <a:r>
              <a:rPr lang="en-US" sz="5400" dirty="0">
                <a:solidFill>
                  <a:schemeClr val="tx2"/>
                </a:solidFill>
              </a:rPr>
              <a:t> and </a:t>
            </a:r>
            <a:r>
              <a:rPr lang="en-US" sz="5400" b="1" dirty="0">
                <a:solidFill>
                  <a:schemeClr val="tx2"/>
                </a:solidFill>
              </a:rPr>
              <a:t>Future</a:t>
            </a:r>
          </a:p>
        </p:txBody>
      </p:sp>
      <p:pic>
        <p:nvPicPr>
          <p:cNvPr id="11272" name="Picture 8" descr="Green vs. Renewable Energy: Key Differences">
            <a:extLst>
              <a:ext uri="{FF2B5EF4-FFF2-40B4-BE49-F238E27FC236}">
                <a16:creationId xmlns:a16="http://schemas.microsoft.com/office/drawing/2014/main" id="{97731928-1F75-F379-2B5B-3FA1E3586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600" r="1" b="7323"/>
          <a:stretch/>
        </p:blipFill>
        <p:spPr bwMode="auto">
          <a:xfrm>
            <a:off x="5183116" y="461682"/>
            <a:ext cx="6585549" cy="2967319"/>
          </a:xfrm>
          <a:custGeom>
            <a:avLst/>
            <a:gdLst/>
            <a:ahLst/>
            <a:cxnLst/>
            <a:rect l="l" t="t" r="r" b="b"/>
            <a:pathLst>
              <a:path w="6585549" h="2967319">
                <a:moveTo>
                  <a:pt x="225406" y="0"/>
                </a:moveTo>
                <a:lnTo>
                  <a:pt x="6585549" y="0"/>
                </a:lnTo>
                <a:lnTo>
                  <a:pt x="6585549" y="2967319"/>
                </a:lnTo>
                <a:lnTo>
                  <a:pt x="941" y="2967319"/>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a:noFill/>
          <a:extLst>
            <a:ext uri="{909E8E84-426E-40DD-AFC4-6F175D3DCCD1}">
              <a14:hiddenFill xmlns:a14="http://schemas.microsoft.com/office/drawing/2010/main">
                <a:solidFill>
                  <a:srgbClr val="FFFFFF"/>
                </a:solidFill>
              </a14:hiddenFill>
            </a:ext>
          </a:extLst>
        </p:spPr>
      </p:pic>
      <p:sp>
        <p:nvSpPr>
          <p:cNvPr id="11285"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85889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pic>
        <p:nvPicPr>
          <p:cNvPr id="11270" name="Picture 6" descr="Examples of Nonrenewable Resources and ...">
            <a:extLst>
              <a:ext uri="{FF2B5EF4-FFF2-40B4-BE49-F238E27FC236}">
                <a16:creationId xmlns:a16="http://schemas.microsoft.com/office/drawing/2014/main" id="{0E479FE4-26CD-500F-DF96-A503B7A19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2210" r="1" b="6114"/>
          <a:stretch/>
        </p:blipFill>
        <p:spPr bwMode="auto">
          <a:xfrm>
            <a:off x="5184056" y="3429000"/>
            <a:ext cx="6584608" cy="3011751"/>
          </a:xfrm>
          <a:custGeom>
            <a:avLst/>
            <a:gdLst/>
            <a:ahLst/>
            <a:cxnLst/>
            <a:rect l="l" t="t" r="r" b="b"/>
            <a:pathLst>
              <a:path w="6584608" h="3011751">
                <a:moveTo>
                  <a:pt x="0" y="0"/>
                </a:moveTo>
                <a:lnTo>
                  <a:pt x="6584608" y="0"/>
                </a:lnTo>
                <a:lnTo>
                  <a:pt x="6584608" y="3011751"/>
                </a:lnTo>
                <a:lnTo>
                  <a:pt x="225659" y="3011751"/>
                </a:lnTo>
                <a:lnTo>
                  <a:pt x="213588" y="2933486"/>
                </a:lnTo>
                <a:lnTo>
                  <a:pt x="202297" y="2857210"/>
                </a:lnTo>
                <a:lnTo>
                  <a:pt x="190379" y="2766405"/>
                </a:lnTo>
                <a:lnTo>
                  <a:pt x="176108" y="2658649"/>
                </a:lnTo>
                <a:lnTo>
                  <a:pt x="161054" y="2539392"/>
                </a:lnTo>
                <a:lnTo>
                  <a:pt x="145215" y="2405001"/>
                </a:lnTo>
                <a:lnTo>
                  <a:pt x="128435" y="2258502"/>
                </a:lnTo>
                <a:lnTo>
                  <a:pt x="111655" y="2099290"/>
                </a:lnTo>
                <a:lnTo>
                  <a:pt x="94562" y="1929788"/>
                </a:lnTo>
                <a:lnTo>
                  <a:pt x="78723" y="1746967"/>
                </a:lnTo>
                <a:lnTo>
                  <a:pt x="63512" y="1555671"/>
                </a:lnTo>
                <a:lnTo>
                  <a:pt x="49711" y="1353478"/>
                </a:lnTo>
                <a:lnTo>
                  <a:pt x="36539" y="1142810"/>
                </a:lnTo>
                <a:lnTo>
                  <a:pt x="24150" y="923062"/>
                </a:lnTo>
                <a:lnTo>
                  <a:pt x="19759" y="810464"/>
                </a:lnTo>
                <a:lnTo>
                  <a:pt x="14897" y="695444"/>
                </a:lnTo>
                <a:lnTo>
                  <a:pt x="10350" y="578608"/>
                </a:lnTo>
                <a:lnTo>
                  <a:pt x="7370" y="461167"/>
                </a:lnTo>
                <a:lnTo>
                  <a:pt x="4704" y="341304"/>
                </a:lnTo>
                <a:lnTo>
                  <a:pt x="1881" y="220231"/>
                </a:lnTo>
                <a:lnTo>
                  <a:pt x="0" y="9673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383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 name="Oval 11">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3" name="Oval 12">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4" name="Rectangle 13">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5"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16"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dirty="0"/>
            </a:p>
          </p:txBody>
        </p:sp>
        <p:sp>
          <p:nvSpPr>
            <p:cNvPr id="17"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grpSp>
      <p:sp>
        <p:nvSpPr>
          <p:cNvPr id="2" name="Title 1">
            <a:extLst>
              <a:ext uri="{FF2B5EF4-FFF2-40B4-BE49-F238E27FC236}">
                <a16:creationId xmlns:a16="http://schemas.microsoft.com/office/drawing/2014/main" id="{2E397D87-6083-FA8F-D6DA-5BC2AC3BC143}"/>
              </a:ext>
            </a:extLst>
          </p:cNvPr>
          <p:cNvSpPr>
            <a:spLocks noGrp="1"/>
          </p:cNvSpPr>
          <p:nvPr>
            <p:ph type="title"/>
          </p:nvPr>
        </p:nvSpPr>
        <p:spPr>
          <a:xfrm>
            <a:off x="1154955" y="973667"/>
            <a:ext cx="2942210" cy="4833745"/>
          </a:xfrm>
        </p:spPr>
        <p:txBody>
          <a:bodyPr>
            <a:normAutofit/>
          </a:bodyPr>
          <a:lstStyle/>
          <a:p>
            <a:r>
              <a:rPr lang="en-US" dirty="0">
                <a:solidFill>
                  <a:srgbClr val="EBEBEB"/>
                </a:solidFill>
              </a:rPr>
              <a:t>Energy sources</a:t>
            </a:r>
          </a:p>
        </p:txBody>
      </p:sp>
      <p:sp>
        <p:nvSpPr>
          <p:cNvPr id="19" name="Rectangle 18">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graphicFrame>
        <p:nvGraphicFramePr>
          <p:cNvPr id="5" name="Content Placeholder 2">
            <a:extLst>
              <a:ext uri="{FF2B5EF4-FFF2-40B4-BE49-F238E27FC236}">
                <a16:creationId xmlns:a16="http://schemas.microsoft.com/office/drawing/2014/main" id="{924EFF2D-F4A5-33E1-68BD-403DAD0CB291}"/>
              </a:ext>
            </a:extLst>
          </p:cNvPr>
          <p:cNvGraphicFramePr>
            <a:graphicFrameLocks noGrp="1"/>
          </p:cNvGraphicFramePr>
          <p:nvPr>
            <p:ph idx="1"/>
            <p:extLst>
              <p:ext uri="{D42A27DB-BD31-4B8C-83A1-F6EECF244321}">
                <p14:modId xmlns:p14="http://schemas.microsoft.com/office/powerpoint/2010/main" val="171531757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849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4D911-57F1-DD31-087D-841F9E7AE338}"/>
              </a:ext>
            </a:extLst>
          </p:cNvPr>
          <p:cNvSpPr>
            <a:spLocks noGrp="1"/>
          </p:cNvSpPr>
          <p:nvPr>
            <p:ph type="title"/>
          </p:nvPr>
        </p:nvSpPr>
        <p:spPr>
          <a:xfrm>
            <a:off x="1154954" y="973668"/>
            <a:ext cx="8761413" cy="706964"/>
          </a:xfrm>
        </p:spPr>
        <p:txBody>
          <a:bodyPr>
            <a:normAutofit/>
          </a:bodyPr>
          <a:lstStyle/>
          <a:p>
            <a:r>
              <a:rPr lang="en-US" b="1" dirty="0">
                <a:solidFill>
                  <a:srgbClr val="EBEBEB"/>
                </a:solidFill>
              </a:rPr>
              <a:t>Fossil Fuels</a:t>
            </a:r>
            <a:endParaRPr lang="en-US">
              <a:solidFill>
                <a:srgbClr val="EBEBEB"/>
              </a:solidFill>
            </a:endParaRPr>
          </a:p>
        </p:txBody>
      </p:sp>
      <p:sp>
        <p:nvSpPr>
          <p:cNvPr id="3" name="Content Placeholder 2">
            <a:extLst>
              <a:ext uri="{FF2B5EF4-FFF2-40B4-BE49-F238E27FC236}">
                <a16:creationId xmlns:a16="http://schemas.microsoft.com/office/drawing/2014/main" id="{B6DD046B-8FA8-F40B-0445-B7383CC536DA}"/>
              </a:ext>
            </a:extLst>
          </p:cNvPr>
          <p:cNvSpPr>
            <a:spLocks noGrp="1"/>
          </p:cNvSpPr>
          <p:nvPr>
            <p:ph idx="1"/>
          </p:nvPr>
        </p:nvSpPr>
        <p:spPr>
          <a:xfrm>
            <a:off x="1154954" y="2394857"/>
            <a:ext cx="6769846" cy="4114800"/>
          </a:xfrm>
        </p:spPr>
        <p:txBody>
          <a:bodyPr anchor="ctr">
            <a:normAutofit fontScale="92500" lnSpcReduction="10000"/>
          </a:bodyPr>
          <a:lstStyle/>
          <a:p>
            <a:pPr marL="0" indent="0">
              <a:lnSpc>
                <a:spcPct val="90000"/>
              </a:lnSpc>
              <a:buNone/>
            </a:pPr>
            <a:endParaRPr lang="en-US" sz="2400" b="1" dirty="0"/>
          </a:p>
          <a:p>
            <a:pPr marL="0" indent="0">
              <a:lnSpc>
                <a:spcPct val="90000"/>
              </a:lnSpc>
              <a:buNone/>
            </a:pPr>
            <a:r>
              <a:rPr lang="en-US" sz="2400" b="1" dirty="0"/>
              <a:t>Fossil fuels </a:t>
            </a:r>
            <a:r>
              <a:rPr lang="en-US" sz="2400" dirty="0"/>
              <a:t>are energy sources formed from the </a:t>
            </a:r>
            <a:r>
              <a:rPr lang="en-US" sz="2400" b="1" dirty="0"/>
              <a:t>remains of plants and animals that lived millions of years ago.</a:t>
            </a:r>
            <a:r>
              <a:rPr lang="en-US" sz="2400" dirty="0"/>
              <a:t> Over time, </a:t>
            </a:r>
            <a:r>
              <a:rPr lang="en-US" sz="2400" b="1" dirty="0"/>
              <a:t>heat and pressure </a:t>
            </a:r>
            <a:r>
              <a:rPr lang="en-US" sz="2400" dirty="0"/>
              <a:t>transformed these remains into fuels such as coal, oil (petroleum), and natural gas.</a:t>
            </a:r>
          </a:p>
          <a:p>
            <a:pPr>
              <a:lnSpc>
                <a:spcPct val="90000"/>
              </a:lnSpc>
              <a:buFont typeface="Arial" panose="020B0604020202020204" pitchFamily="34" charset="0"/>
              <a:buChar char="•"/>
            </a:pPr>
            <a:r>
              <a:rPr lang="en-US" sz="2400" b="1" dirty="0"/>
              <a:t>Coa</a:t>
            </a:r>
            <a:r>
              <a:rPr lang="en-US" sz="2400" dirty="0"/>
              <a:t>l: Formed from </a:t>
            </a:r>
            <a:r>
              <a:rPr lang="en-US" sz="2400" b="1" dirty="0"/>
              <a:t>plant matter </a:t>
            </a:r>
            <a:r>
              <a:rPr lang="en-US" sz="2400" dirty="0"/>
              <a:t>compressed over millions of years. </a:t>
            </a:r>
          </a:p>
          <a:p>
            <a:pPr>
              <a:lnSpc>
                <a:spcPct val="90000"/>
              </a:lnSpc>
              <a:buFont typeface="Arial" panose="020B0604020202020204" pitchFamily="34" charset="0"/>
              <a:buChar char="•"/>
            </a:pPr>
            <a:r>
              <a:rPr lang="en-US" sz="2400" b="1" dirty="0"/>
              <a:t>Oil (Petroleum)</a:t>
            </a:r>
            <a:r>
              <a:rPr lang="en-US" sz="2400" dirty="0"/>
              <a:t>: Formed from the </a:t>
            </a:r>
            <a:r>
              <a:rPr lang="en-US" sz="2400" b="1" dirty="0"/>
              <a:t>remains of marine organisms. </a:t>
            </a:r>
          </a:p>
          <a:p>
            <a:pPr>
              <a:lnSpc>
                <a:spcPct val="90000"/>
              </a:lnSpc>
              <a:buFont typeface="Arial" panose="020B0604020202020204" pitchFamily="34" charset="0"/>
              <a:buChar char="•"/>
            </a:pPr>
            <a:r>
              <a:rPr lang="en-US" sz="2400" b="1" dirty="0"/>
              <a:t>Natural Gas: </a:t>
            </a:r>
            <a:r>
              <a:rPr lang="en-US" sz="2400" dirty="0"/>
              <a:t>Primarily composed of methane, formed from the </a:t>
            </a:r>
            <a:r>
              <a:rPr lang="en-US" sz="2400" b="1" dirty="0"/>
              <a:t>decomposition of organic matter. </a:t>
            </a:r>
          </a:p>
          <a:p>
            <a:pPr>
              <a:lnSpc>
                <a:spcPct val="90000"/>
              </a:lnSpc>
            </a:pPr>
            <a:endParaRPr lang="en-US" sz="1700" dirty="0"/>
          </a:p>
        </p:txBody>
      </p:sp>
      <p:pic>
        <p:nvPicPr>
          <p:cNvPr id="4" name="Picture 2" descr="Examples of Nonrenewable Resources and ...">
            <a:extLst>
              <a:ext uri="{FF2B5EF4-FFF2-40B4-BE49-F238E27FC236}">
                <a16:creationId xmlns:a16="http://schemas.microsoft.com/office/drawing/2014/main" id="{C98888F3-26E6-5A55-AAF0-2EA323B2D4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164" r="26562" b="6066"/>
          <a:stretch/>
        </p:blipFill>
        <p:spPr bwMode="auto">
          <a:xfrm>
            <a:off x="8277561" y="2988564"/>
            <a:ext cx="3318480" cy="1942665"/>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76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124000"/>
                <a:satMod val="148000"/>
                <a:lumMod val="124000"/>
              </a:schemeClr>
            </a:gs>
            <a:gs pos="100000">
              <a:schemeClr val="bg1">
                <a:shade val="76000"/>
                <a:hueMod val="89000"/>
                <a:satMod val="164000"/>
                <a:lumMod val="56000"/>
              </a:schemeClr>
            </a:gs>
          </a:gsLst>
          <a:path path="circle">
            <a:fillToRect l="45000" t="65000" r="125000" b="100000"/>
          </a:path>
        </a:gra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86DE8A2-E45F-4163-B246-A5162E17B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C60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5" name="Rectangle 4104">
            <a:extLst>
              <a:ext uri="{FF2B5EF4-FFF2-40B4-BE49-F238E27FC236}">
                <a16:creationId xmlns:a16="http://schemas.microsoft.com/office/drawing/2014/main" id="{CC88A9C7-37B3-4341-BF1A-E8F3049EC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Fossil fuels">
            <a:extLst>
              <a:ext uri="{FF2B5EF4-FFF2-40B4-BE49-F238E27FC236}">
                <a16:creationId xmlns:a16="http://schemas.microsoft.com/office/drawing/2014/main" id="{3F9DF86F-86DF-B27C-377D-8CFF9D3DDC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6" y="689101"/>
            <a:ext cx="11086697" cy="5571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669333"/>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33" name="Rectangle 13332">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3334" name="Rectangle 13333">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32" name="Rectangle 1333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3314" name="Picture 2" descr="Three images that illustrate how petroleum (crude oil) and natural gas formed on the earth.&#10;&#10;         The first image is about the ocean 300 to 400 million years ago. Tiny sea plants and animals died and were buried on the ocean floor. Over time, they were covered by layers of sand and silt.&#10;&#10;         The second image is about the ocean 50 to 100 million years ago. Over millions of years, the remains were buried deeper and deeper. The enormous heat and pressure turned them into oil and gas.&#10;&#10;         The third image is about oil and natural gas deposits. Today, we drill down through layers of sand, silt, and rock to reach the rock formations that contain oil and natural gas deposits.">
            <a:extLst>
              <a:ext uri="{FF2B5EF4-FFF2-40B4-BE49-F238E27FC236}">
                <a16:creationId xmlns:a16="http://schemas.microsoft.com/office/drawing/2014/main" id="{C1D16C34-4575-6B8E-134B-6E2280EAAF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53729" y="1143000"/>
            <a:ext cx="9930581" cy="474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278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1AB3-6FD2-CDEF-3A7E-3D14A66CD73D}"/>
              </a:ext>
            </a:extLst>
          </p:cNvPr>
          <p:cNvSpPr>
            <a:spLocks noGrp="1"/>
          </p:cNvSpPr>
          <p:nvPr>
            <p:ph type="title"/>
          </p:nvPr>
        </p:nvSpPr>
        <p:spPr>
          <a:xfrm>
            <a:off x="1154954" y="973668"/>
            <a:ext cx="8761413" cy="706964"/>
          </a:xfrm>
        </p:spPr>
        <p:txBody>
          <a:bodyPr>
            <a:normAutofit/>
          </a:bodyPr>
          <a:lstStyle/>
          <a:p>
            <a:r>
              <a:rPr lang="en-US" b="1" dirty="0"/>
              <a:t>Fossil Fuels</a:t>
            </a:r>
            <a:endParaRPr lang="en-US" dirty="0"/>
          </a:p>
        </p:txBody>
      </p:sp>
      <p:sp>
        <p:nvSpPr>
          <p:cNvPr id="3" name="Content Placeholder 2">
            <a:extLst>
              <a:ext uri="{FF2B5EF4-FFF2-40B4-BE49-F238E27FC236}">
                <a16:creationId xmlns:a16="http://schemas.microsoft.com/office/drawing/2014/main" id="{FE14D738-3EC3-1E9E-957B-D7E56ED0C727}"/>
              </a:ext>
            </a:extLst>
          </p:cNvPr>
          <p:cNvSpPr>
            <a:spLocks noGrp="1"/>
          </p:cNvSpPr>
          <p:nvPr>
            <p:ph idx="1"/>
          </p:nvPr>
        </p:nvSpPr>
        <p:spPr>
          <a:xfrm>
            <a:off x="835742" y="2349910"/>
            <a:ext cx="5473924" cy="4286864"/>
          </a:xfrm>
        </p:spPr>
        <p:txBody>
          <a:bodyPr anchor="ctr">
            <a:normAutofit/>
          </a:bodyPr>
          <a:lstStyle/>
          <a:p>
            <a:pPr>
              <a:lnSpc>
                <a:spcPct val="90000"/>
              </a:lnSpc>
              <a:buFont typeface="+mj-lt"/>
              <a:buAutoNum type="arabicPeriod"/>
            </a:pPr>
            <a:r>
              <a:rPr lang="en-US" sz="1700" b="1" dirty="0"/>
              <a:t>Coal</a:t>
            </a:r>
            <a:r>
              <a:rPr lang="en-US" sz="1700" dirty="0"/>
              <a:t> </a:t>
            </a:r>
          </a:p>
          <a:p>
            <a:pPr lvl="1">
              <a:lnSpc>
                <a:spcPct val="90000"/>
              </a:lnSpc>
              <a:buFont typeface="Wingdings" panose="05000000000000000000" pitchFamily="2" charset="2"/>
              <a:buChar char="§"/>
            </a:pPr>
            <a:r>
              <a:rPr lang="en-US" sz="1700" dirty="0"/>
              <a:t>Used in power plants to generate </a:t>
            </a:r>
            <a:r>
              <a:rPr lang="en-US" sz="1700" dirty="0">
                <a:solidFill>
                  <a:srgbClr val="FF0000"/>
                </a:solidFill>
              </a:rPr>
              <a:t>electricity </a:t>
            </a:r>
            <a:r>
              <a:rPr lang="en-US" sz="1700" dirty="0"/>
              <a:t>and in some industries for heating.</a:t>
            </a:r>
          </a:p>
          <a:p>
            <a:pPr>
              <a:lnSpc>
                <a:spcPct val="90000"/>
              </a:lnSpc>
              <a:buFont typeface="+mj-lt"/>
              <a:buAutoNum type="arabicPeriod"/>
            </a:pPr>
            <a:r>
              <a:rPr lang="en-US" sz="1700" b="1" dirty="0"/>
              <a:t>Oil (Petroleum)</a:t>
            </a:r>
            <a:endParaRPr lang="en-US" sz="1700" dirty="0"/>
          </a:p>
          <a:p>
            <a:pPr lvl="1">
              <a:lnSpc>
                <a:spcPct val="90000"/>
              </a:lnSpc>
              <a:buFont typeface="Wingdings" panose="05000000000000000000" pitchFamily="2" charset="2"/>
              <a:buChar char="§"/>
            </a:pPr>
            <a:r>
              <a:rPr lang="en-US" sz="1700" dirty="0"/>
              <a:t>Refined into </a:t>
            </a:r>
            <a:r>
              <a:rPr lang="en-US" sz="1700" dirty="0">
                <a:solidFill>
                  <a:srgbClr val="FF0000"/>
                </a:solidFill>
              </a:rPr>
              <a:t>gasoline or diesel </a:t>
            </a:r>
            <a:r>
              <a:rPr lang="en-US" sz="1700" dirty="0"/>
              <a:t>to fuel cars, airplanes, and ships.</a:t>
            </a:r>
          </a:p>
          <a:p>
            <a:pPr lvl="1">
              <a:lnSpc>
                <a:spcPct val="90000"/>
              </a:lnSpc>
              <a:buFont typeface="Wingdings" panose="05000000000000000000" pitchFamily="2" charset="2"/>
              <a:buChar char="§"/>
            </a:pPr>
            <a:r>
              <a:rPr lang="en-US" sz="1700" dirty="0"/>
              <a:t>Used to make products like plastics and asphalt.</a:t>
            </a:r>
          </a:p>
          <a:p>
            <a:pPr>
              <a:lnSpc>
                <a:spcPct val="90000"/>
              </a:lnSpc>
              <a:buFont typeface="+mj-lt"/>
              <a:buAutoNum type="arabicPeriod"/>
            </a:pPr>
            <a:r>
              <a:rPr lang="en-US" sz="1700" b="1" dirty="0"/>
              <a:t>Natural Gas</a:t>
            </a:r>
          </a:p>
          <a:p>
            <a:pPr lvl="1">
              <a:lnSpc>
                <a:spcPct val="90000"/>
              </a:lnSpc>
              <a:buFont typeface="Wingdings" panose="05000000000000000000" pitchFamily="2" charset="2"/>
              <a:buChar char="§"/>
            </a:pPr>
            <a:r>
              <a:rPr lang="en-US" sz="1700" dirty="0"/>
              <a:t>Used in homes for </a:t>
            </a:r>
            <a:r>
              <a:rPr lang="en-US" sz="1700" dirty="0">
                <a:solidFill>
                  <a:srgbClr val="FF0000"/>
                </a:solidFill>
              </a:rPr>
              <a:t>cooking and heating</a:t>
            </a:r>
            <a:r>
              <a:rPr lang="en-US" sz="1700" dirty="0"/>
              <a:t>.</a:t>
            </a:r>
          </a:p>
          <a:p>
            <a:pPr lvl="1">
              <a:lnSpc>
                <a:spcPct val="90000"/>
              </a:lnSpc>
              <a:buFont typeface="Wingdings" panose="05000000000000000000" pitchFamily="2" charset="2"/>
              <a:buChar char="§"/>
            </a:pPr>
            <a:r>
              <a:rPr lang="en-US" sz="1700" dirty="0"/>
              <a:t>Powers electric generators in some power plants.</a:t>
            </a:r>
          </a:p>
          <a:p>
            <a:pPr>
              <a:lnSpc>
                <a:spcPct val="90000"/>
              </a:lnSpc>
            </a:pPr>
            <a:endParaRPr lang="en-US" sz="1100" dirty="0"/>
          </a:p>
        </p:txBody>
      </p:sp>
      <p:pic>
        <p:nvPicPr>
          <p:cNvPr id="12298" name="Picture 10" descr="4 Most Common Types of Fuel in Cars">
            <a:extLst>
              <a:ext uri="{FF2B5EF4-FFF2-40B4-BE49-F238E27FC236}">
                <a16:creationId xmlns:a16="http://schemas.microsoft.com/office/drawing/2014/main" id="{8270DCA9-715F-7143-1A06-ED14B268B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317" r="23261" b="4"/>
          <a:stretch/>
        </p:blipFill>
        <p:spPr bwMode="auto">
          <a:xfrm>
            <a:off x="6678908" y="2678966"/>
            <a:ext cx="2436902" cy="3067163"/>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pic>
        <p:nvPicPr>
          <p:cNvPr id="12292" name="Picture 4" descr="Coal for Electricity Generation, Kentucky Geological Survey, University of  Kentucky">
            <a:extLst>
              <a:ext uri="{FF2B5EF4-FFF2-40B4-BE49-F238E27FC236}">
                <a16:creationId xmlns:a16="http://schemas.microsoft.com/office/drawing/2014/main" id="{49A9878E-2FDC-3A16-B5E7-BB2A4A0633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9" r="1389" b="4"/>
          <a:stretch/>
        </p:blipFill>
        <p:spPr bwMode="auto">
          <a:xfrm>
            <a:off x="9485052" y="2703011"/>
            <a:ext cx="2116363" cy="1451977"/>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pic>
        <p:nvPicPr>
          <p:cNvPr id="12296" name="Picture 8" descr="What Is Natural Gas? Overview of a Rapidly Growing Resource">
            <a:extLst>
              <a:ext uri="{FF2B5EF4-FFF2-40B4-BE49-F238E27FC236}">
                <a16:creationId xmlns:a16="http://schemas.microsoft.com/office/drawing/2014/main" id="{5BA86C17-7E73-43F9-761E-35E9880055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0724"/>
          <a:stretch/>
        </p:blipFill>
        <p:spPr bwMode="auto">
          <a:xfrm>
            <a:off x="9283948" y="4389800"/>
            <a:ext cx="2317467" cy="1356329"/>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314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dirty="0"/>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dirty="0"/>
          </a:p>
        </p:txBody>
      </p:sp>
      <p:sp>
        <p:nvSpPr>
          <p:cNvPr id="2" name="Title 1">
            <a:extLst>
              <a:ext uri="{FF2B5EF4-FFF2-40B4-BE49-F238E27FC236}">
                <a16:creationId xmlns:a16="http://schemas.microsoft.com/office/drawing/2014/main" id="{6657EC78-00AC-778C-A769-C2A8B4D1F0FA}"/>
              </a:ext>
            </a:extLst>
          </p:cNvPr>
          <p:cNvSpPr>
            <a:spLocks noGrp="1"/>
          </p:cNvSpPr>
          <p:nvPr>
            <p:ph type="title"/>
          </p:nvPr>
        </p:nvSpPr>
        <p:spPr>
          <a:xfrm>
            <a:off x="994087" y="1130603"/>
            <a:ext cx="3342442" cy="4596794"/>
          </a:xfrm>
        </p:spPr>
        <p:txBody>
          <a:bodyPr anchor="ctr">
            <a:normAutofit/>
          </a:bodyPr>
          <a:lstStyle/>
          <a:p>
            <a:r>
              <a:rPr lang="en-US" dirty="0"/>
              <a:t>Fossil Fuels</a:t>
            </a:r>
          </a:p>
        </p:txBody>
      </p:sp>
      <p:sp>
        <p:nvSpPr>
          <p:cNvPr id="3" name="Content Placeholder 2">
            <a:extLst>
              <a:ext uri="{FF2B5EF4-FFF2-40B4-BE49-F238E27FC236}">
                <a16:creationId xmlns:a16="http://schemas.microsoft.com/office/drawing/2014/main" id="{2ED02F69-1A2D-E6A7-01D9-002B507D4D61}"/>
              </a:ext>
            </a:extLst>
          </p:cNvPr>
          <p:cNvSpPr>
            <a:spLocks noGrp="1"/>
          </p:cNvSpPr>
          <p:nvPr>
            <p:ph idx="1"/>
          </p:nvPr>
        </p:nvSpPr>
        <p:spPr>
          <a:xfrm>
            <a:off x="5290077" y="437513"/>
            <a:ext cx="5502614" cy="5954325"/>
          </a:xfrm>
        </p:spPr>
        <p:txBody>
          <a:bodyPr anchor="ctr">
            <a:normAutofit/>
          </a:bodyPr>
          <a:lstStyle/>
          <a:p>
            <a:pPr marL="0" indent="0">
              <a:buNone/>
            </a:pPr>
            <a:r>
              <a:rPr lang="en-US" sz="2400" b="1" dirty="0"/>
              <a:t>Advantages</a:t>
            </a:r>
            <a:endParaRPr lang="en-US" sz="2400" dirty="0"/>
          </a:p>
          <a:p>
            <a:pPr>
              <a:buFont typeface="Arial" panose="020B0604020202020204" pitchFamily="34" charset="0"/>
              <a:buChar char="•"/>
            </a:pPr>
            <a:r>
              <a:rPr lang="en-US" sz="2400" dirty="0"/>
              <a:t>Abundant and relatively inexpensive.</a:t>
            </a:r>
          </a:p>
          <a:p>
            <a:pPr>
              <a:buFont typeface="Arial" panose="020B0604020202020204" pitchFamily="34" charset="0"/>
              <a:buChar char="•"/>
            </a:pPr>
            <a:r>
              <a:rPr lang="en-US" sz="2400" dirty="0"/>
              <a:t>Produces a large amount of energy from a small amount of fuel. </a:t>
            </a:r>
          </a:p>
          <a:p>
            <a:pPr>
              <a:buFont typeface="Arial" panose="020B0604020202020204" pitchFamily="34" charset="0"/>
              <a:buChar char="•"/>
            </a:pPr>
            <a:r>
              <a:rPr lang="en-US" sz="2400" dirty="0"/>
              <a:t>Established infrastructure</a:t>
            </a:r>
          </a:p>
          <a:p>
            <a:pPr marL="0" indent="0">
              <a:buNone/>
            </a:pPr>
            <a:r>
              <a:rPr lang="en-US" sz="2400" b="1" dirty="0"/>
              <a:t>Disadvantages</a:t>
            </a:r>
            <a:endParaRPr lang="en-US" sz="2400" dirty="0"/>
          </a:p>
          <a:p>
            <a:pPr>
              <a:buFont typeface="Arial" panose="020B0604020202020204" pitchFamily="34" charset="0"/>
              <a:buChar char="•"/>
            </a:pPr>
            <a:r>
              <a:rPr lang="en-US" sz="2400" dirty="0"/>
              <a:t>Contribute to air pollution and greenhouse gas emissions.</a:t>
            </a:r>
          </a:p>
          <a:p>
            <a:pPr>
              <a:buFont typeface="Arial" panose="020B0604020202020204" pitchFamily="34" charset="0"/>
              <a:buChar char="•"/>
            </a:pPr>
            <a:r>
              <a:rPr lang="en-US" sz="2400" b="1" dirty="0"/>
              <a:t>Finite</a:t>
            </a:r>
            <a:r>
              <a:rPr lang="en-US" sz="2400" dirty="0"/>
              <a:t> resource.</a:t>
            </a:r>
          </a:p>
          <a:p>
            <a:pPr>
              <a:buFont typeface="Arial" panose="020B0604020202020204" pitchFamily="34" charset="0"/>
              <a:buChar char="•"/>
            </a:pPr>
            <a:r>
              <a:rPr lang="en-US" sz="2400" dirty="0"/>
              <a:t>Potential for accidents and spills.</a:t>
            </a:r>
          </a:p>
          <a:p>
            <a:endParaRPr lang="en-US" sz="2000" dirty="0"/>
          </a:p>
        </p:txBody>
      </p:sp>
    </p:spTree>
    <p:extLst>
      <p:ext uri="{BB962C8B-B14F-4D97-AF65-F5344CB8AC3E}">
        <p14:creationId xmlns:p14="http://schemas.microsoft.com/office/powerpoint/2010/main" val="915019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76C9-48F5-AFA8-FB7C-FDC5DF5F2BC7}"/>
              </a:ext>
            </a:extLst>
          </p:cNvPr>
          <p:cNvSpPr>
            <a:spLocks noGrp="1"/>
          </p:cNvSpPr>
          <p:nvPr>
            <p:ph type="title"/>
          </p:nvPr>
        </p:nvSpPr>
        <p:spPr/>
        <p:txBody>
          <a:bodyPr/>
          <a:lstStyle/>
          <a:p>
            <a:r>
              <a:rPr lang="en-US" dirty="0"/>
              <a:t>Nuclear Energy</a:t>
            </a:r>
          </a:p>
        </p:txBody>
      </p:sp>
      <p:sp>
        <p:nvSpPr>
          <p:cNvPr id="3" name="Content Placeholder 2">
            <a:extLst>
              <a:ext uri="{FF2B5EF4-FFF2-40B4-BE49-F238E27FC236}">
                <a16:creationId xmlns:a16="http://schemas.microsoft.com/office/drawing/2014/main" id="{DC426AD3-C23E-C0C5-3766-3FBA0BF52610}"/>
              </a:ext>
            </a:extLst>
          </p:cNvPr>
          <p:cNvSpPr>
            <a:spLocks noGrp="1"/>
          </p:cNvSpPr>
          <p:nvPr>
            <p:ph idx="1"/>
          </p:nvPr>
        </p:nvSpPr>
        <p:spPr>
          <a:xfrm>
            <a:off x="948477" y="2495344"/>
            <a:ext cx="5747291" cy="3905455"/>
          </a:xfrm>
        </p:spPr>
        <p:txBody>
          <a:bodyPr>
            <a:normAutofit/>
          </a:bodyPr>
          <a:lstStyle/>
          <a:p>
            <a:pPr algn="just">
              <a:lnSpc>
                <a:spcPct val="90000"/>
              </a:lnSpc>
            </a:pPr>
            <a:r>
              <a:rPr lang="en-US" sz="2300" b="1" dirty="0">
                <a:solidFill>
                  <a:schemeClr val="tx1"/>
                </a:solidFill>
              </a:rPr>
              <a:t>Nuclear Energy</a:t>
            </a:r>
            <a:r>
              <a:rPr lang="en-US" sz="2300" dirty="0">
                <a:solidFill>
                  <a:schemeClr val="tx1"/>
                </a:solidFill>
              </a:rPr>
              <a:t> is the </a:t>
            </a:r>
            <a:r>
              <a:rPr lang="en-US" sz="2300" b="1" dirty="0">
                <a:solidFill>
                  <a:schemeClr val="tx1"/>
                </a:solidFill>
              </a:rPr>
              <a:t>energy released during nuclear reactions</a:t>
            </a:r>
            <a:r>
              <a:rPr lang="en-US" sz="2300" dirty="0">
                <a:solidFill>
                  <a:schemeClr val="tx1"/>
                </a:solidFill>
              </a:rPr>
              <a:t>, either by </a:t>
            </a:r>
            <a:r>
              <a:rPr lang="en-US" sz="2300" dirty="0">
                <a:solidFill>
                  <a:srgbClr val="FF0000"/>
                </a:solidFill>
              </a:rPr>
              <a:t>combining </a:t>
            </a:r>
            <a:r>
              <a:rPr lang="en-US" sz="2300" b="1" dirty="0">
                <a:solidFill>
                  <a:schemeClr val="tx1"/>
                </a:solidFill>
              </a:rPr>
              <a:t>(fusion)</a:t>
            </a:r>
            <a:r>
              <a:rPr lang="en-US" sz="2300" dirty="0">
                <a:solidFill>
                  <a:schemeClr val="tx1"/>
                </a:solidFill>
              </a:rPr>
              <a:t> or through </a:t>
            </a:r>
            <a:r>
              <a:rPr lang="en-US" sz="2300" dirty="0">
                <a:solidFill>
                  <a:srgbClr val="FF0000"/>
                </a:solidFill>
              </a:rPr>
              <a:t>splitting</a:t>
            </a:r>
            <a:r>
              <a:rPr lang="en-US" sz="2300" dirty="0">
                <a:solidFill>
                  <a:schemeClr val="tx1"/>
                </a:solidFill>
              </a:rPr>
              <a:t> </a:t>
            </a:r>
            <a:r>
              <a:rPr lang="en-US" sz="2300" b="1" dirty="0">
                <a:solidFill>
                  <a:schemeClr val="tx1"/>
                </a:solidFill>
              </a:rPr>
              <a:t>(fission) </a:t>
            </a:r>
            <a:r>
              <a:rPr lang="en-US" sz="2300" dirty="0">
                <a:solidFill>
                  <a:schemeClr val="tx1"/>
                </a:solidFill>
              </a:rPr>
              <a:t>of atomic nuclei. </a:t>
            </a:r>
          </a:p>
          <a:p>
            <a:pPr algn="just">
              <a:lnSpc>
                <a:spcPct val="90000"/>
              </a:lnSpc>
            </a:pPr>
            <a:r>
              <a:rPr lang="en-US" sz="2300" dirty="0">
                <a:solidFill>
                  <a:schemeClr val="tx1"/>
                </a:solidFill>
              </a:rPr>
              <a:t>It is a powerful energy source commonly used to </a:t>
            </a:r>
            <a:r>
              <a:rPr lang="en-US" sz="2300" b="1" dirty="0">
                <a:solidFill>
                  <a:schemeClr val="tx1"/>
                </a:solidFill>
              </a:rPr>
              <a:t>generate electricity in nuclear power plants.</a:t>
            </a:r>
          </a:p>
          <a:p>
            <a:endParaRPr lang="en-US" dirty="0"/>
          </a:p>
        </p:txBody>
      </p:sp>
      <p:pic>
        <p:nvPicPr>
          <p:cNvPr id="4" name="Picture 3" descr="Diagram of a diagram of a solar energy&#10;&#10;Description automatically generated">
            <a:extLst>
              <a:ext uri="{FF2B5EF4-FFF2-40B4-BE49-F238E27FC236}">
                <a16:creationId xmlns:a16="http://schemas.microsoft.com/office/drawing/2014/main" id="{6709EB96-07CF-4275-780C-550AF64BE66A}"/>
              </a:ext>
            </a:extLst>
          </p:cNvPr>
          <p:cNvPicPr>
            <a:picLocks noChangeAspect="1"/>
          </p:cNvPicPr>
          <p:nvPr/>
        </p:nvPicPr>
        <p:blipFill>
          <a:blip r:embed="rId2"/>
          <a:srcRect t="8661" r="2" b="6252"/>
          <a:stretch/>
        </p:blipFill>
        <p:spPr>
          <a:xfrm>
            <a:off x="7983793" y="2443302"/>
            <a:ext cx="3051335" cy="2004769"/>
          </a:xfrm>
          <a:prstGeom prst="rect">
            <a:avLst/>
          </a:prstGeom>
        </p:spPr>
      </p:pic>
      <p:pic>
        <p:nvPicPr>
          <p:cNvPr id="5" name="Picture 2" descr="The Fission Process | MIT Nuclear Reactor Laboratory">
            <a:extLst>
              <a:ext uri="{FF2B5EF4-FFF2-40B4-BE49-F238E27FC236}">
                <a16:creationId xmlns:a16="http://schemas.microsoft.com/office/drawing/2014/main" id="{382E0837-9EC5-24CB-0A07-4FADCA941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97"/>
          <a:stretch/>
        </p:blipFill>
        <p:spPr bwMode="auto">
          <a:xfrm>
            <a:off x="7584932" y="4657963"/>
            <a:ext cx="3849056" cy="1916879"/>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086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0D2B-0CF2-A945-91E5-C76C628E5B7F}"/>
              </a:ext>
            </a:extLst>
          </p:cNvPr>
          <p:cNvSpPr>
            <a:spLocks noGrp="1"/>
          </p:cNvSpPr>
          <p:nvPr>
            <p:ph type="title"/>
          </p:nvPr>
        </p:nvSpPr>
        <p:spPr>
          <a:xfrm>
            <a:off x="1154954" y="973668"/>
            <a:ext cx="8761413" cy="706964"/>
          </a:xfrm>
        </p:spPr>
        <p:txBody>
          <a:bodyPr>
            <a:normAutofit fontScale="90000"/>
          </a:bodyPr>
          <a:lstStyle/>
          <a:p>
            <a:pPr>
              <a:lnSpc>
                <a:spcPct val="90000"/>
              </a:lnSpc>
            </a:pPr>
            <a:br>
              <a:rPr lang="en-US" sz="1400" b="1" dirty="0">
                <a:solidFill>
                  <a:srgbClr val="EBEBEB"/>
                </a:solidFill>
              </a:rPr>
            </a:br>
            <a:r>
              <a:rPr lang="en-US" sz="3100" b="1" dirty="0">
                <a:solidFill>
                  <a:srgbClr val="EBEBEB"/>
                </a:solidFill>
              </a:rPr>
              <a:t>Nuclear Energy</a:t>
            </a:r>
            <a:br>
              <a:rPr lang="en-US" sz="1400" b="1" dirty="0">
                <a:solidFill>
                  <a:srgbClr val="EBEBEB"/>
                </a:solidFill>
              </a:rPr>
            </a:br>
            <a:endParaRPr lang="en-US" sz="1400" dirty="0">
              <a:solidFill>
                <a:srgbClr val="EBEBEB"/>
              </a:solidFill>
            </a:endParaRPr>
          </a:p>
        </p:txBody>
      </p:sp>
      <p:sp>
        <p:nvSpPr>
          <p:cNvPr id="3" name="Content Placeholder 2">
            <a:extLst>
              <a:ext uri="{FF2B5EF4-FFF2-40B4-BE49-F238E27FC236}">
                <a16:creationId xmlns:a16="http://schemas.microsoft.com/office/drawing/2014/main" id="{B9206E16-CA5C-034A-D156-93A30CE03484}"/>
              </a:ext>
            </a:extLst>
          </p:cNvPr>
          <p:cNvSpPr>
            <a:spLocks noGrp="1"/>
          </p:cNvSpPr>
          <p:nvPr>
            <p:ph idx="1"/>
          </p:nvPr>
        </p:nvSpPr>
        <p:spPr>
          <a:xfrm>
            <a:off x="707922" y="2338029"/>
            <a:ext cx="4159045" cy="4254500"/>
          </a:xfrm>
        </p:spPr>
        <p:txBody>
          <a:bodyPr anchor="ctr">
            <a:normAutofit fontScale="92500" lnSpcReduction="20000"/>
          </a:bodyPr>
          <a:lstStyle/>
          <a:p>
            <a:pPr marL="0" indent="0">
              <a:buNone/>
            </a:pPr>
            <a:endParaRPr lang="en-US" sz="2400" b="1" dirty="0">
              <a:solidFill>
                <a:srgbClr val="FF0000"/>
              </a:solidFill>
            </a:endParaRPr>
          </a:p>
          <a:p>
            <a:pPr marL="0" indent="0">
              <a:buNone/>
            </a:pPr>
            <a:r>
              <a:rPr lang="en-US" sz="3300" b="1" dirty="0">
                <a:solidFill>
                  <a:srgbClr val="FF0000"/>
                </a:solidFill>
              </a:rPr>
              <a:t>Nuclear Fission</a:t>
            </a:r>
            <a:endParaRPr lang="en-US" sz="3300" dirty="0">
              <a:solidFill>
                <a:srgbClr val="FF0000"/>
              </a:solidFill>
            </a:endParaRPr>
          </a:p>
          <a:p>
            <a:pPr lvl="1">
              <a:buFont typeface="Wingdings" panose="05000000000000000000" pitchFamily="2" charset="2"/>
              <a:buChar char="§"/>
            </a:pPr>
            <a:r>
              <a:rPr lang="en-US" sz="2100" dirty="0"/>
              <a:t>The most common method in </a:t>
            </a:r>
            <a:r>
              <a:rPr lang="en-US" sz="2100" b="1" dirty="0"/>
              <a:t>power plants.</a:t>
            </a:r>
          </a:p>
          <a:p>
            <a:pPr lvl="1">
              <a:buFont typeface="Wingdings" panose="05000000000000000000" pitchFamily="2" charset="2"/>
              <a:buChar char="§"/>
            </a:pPr>
            <a:endParaRPr lang="en-US" sz="2100" b="1" dirty="0"/>
          </a:p>
          <a:p>
            <a:pPr marL="0" indent="0">
              <a:buNone/>
            </a:pPr>
            <a:r>
              <a:rPr lang="en-US" sz="2100" b="1" dirty="0"/>
              <a:t>Converting Heat to Electricity</a:t>
            </a:r>
            <a:endParaRPr lang="en-US" sz="2100" dirty="0"/>
          </a:p>
          <a:p>
            <a:r>
              <a:rPr lang="en-US" sz="2100" dirty="0"/>
              <a:t>Nuclear fission </a:t>
            </a:r>
          </a:p>
          <a:p>
            <a:pPr lvl="1"/>
            <a:r>
              <a:rPr lang="en-US" sz="1900" dirty="0"/>
              <a:t>Atoms of uranium or plutonium are split, releasing a large amount of energy. </a:t>
            </a:r>
          </a:p>
          <a:p>
            <a:pPr lvl="1"/>
            <a:r>
              <a:rPr lang="en-US" sz="1900" dirty="0"/>
              <a:t>This energy heats water, which turns turbines to generate electricity</a:t>
            </a:r>
            <a:r>
              <a:rPr lang="en-US" sz="1400" dirty="0"/>
              <a:t>.</a:t>
            </a:r>
          </a:p>
          <a:p>
            <a:endParaRPr lang="en-US" sz="1600" dirty="0"/>
          </a:p>
          <a:p>
            <a:pPr>
              <a:buFont typeface="Arial" panose="020B0604020202020204" pitchFamily="34" charset="0"/>
              <a:buChar char="•"/>
            </a:pPr>
            <a:endParaRPr lang="en-US" sz="1600" dirty="0"/>
          </a:p>
          <a:p>
            <a:endParaRPr lang="en-US" sz="1600" dirty="0"/>
          </a:p>
        </p:txBody>
      </p:sp>
      <p:pic>
        <p:nvPicPr>
          <p:cNvPr id="5" name="Picture 4" descr="Diagram of a steam generator&#10;&#10;Description automatically generated">
            <a:extLst>
              <a:ext uri="{FF2B5EF4-FFF2-40B4-BE49-F238E27FC236}">
                <a16:creationId xmlns:a16="http://schemas.microsoft.com/office/drawing/2014/main" id="{370EC133-A5B5-7375-0DD5-92E1FBF50E52}"/>
              </a:ext>
            </a:extLst>
          </p:cNvPr>
          <p:cNvPicPr>
            <a:picLocks noChangeAspect="1"/>
          </p:cNvPicPr>
          <p:nvPr/>
        </p:nvPicPr>
        <p:blipFill>
          <a:blip r:embed="rId2"/>
          <a:stretch>
            <a:fillRect/>
          </a:stretch>
        </p:blipFill>
        <p:spPr>
          <a:xfrm>
            <a:off x="4984956" y="2939199"/>
            <a:ext cx="6158802" cy="2740667"/>
          </a:xfrm>
          <a:prstGeom prst="roundRect">
            <a:avLst>
              <a:gd name="adj" fmla="val 1858"/>
            </a:avLst>
          </a:prstGeom>
          <a:effectLst>
            <a:outerShdw blurRad="50800" dist="50800" dir="5400000" algn="tl" rotWithShape="0">
              <a:srgbClr val="000000">
                <a:alpha val="43000"/>
              </a:srgbClr>
            </a:outerShdw>
          </a:effectLst>
        </p:spPr>
      </p:pic>
      <p:sp>
        <p:nvSpPr>
          <p:cNvPr id="7" name="TextBox 6">
            <a:extLst>
              <a:ext uri="{FF2B5EF4-FFF2-40B4-BE49-F238E27FC236}">
                <a16:creationId xmlns:a16="http://schemas.microsoft.com/office/drawing/2014/main" id="{D611569C-C05A-CBB0-17B7-287D2EC476EC}"/>
              </a:ext>
            </a:extLst>
          </p:cNvPr>
          <p:cNvSpPr txBox="1"/>
          <p:nvPr/>
        </p:nvSpPr>
        <p:spPr>
          <a:xfrm>
            <a:off x="5928851" y="5835134"/>
            <a:ext cx="6096000" cy="369332"/>
          </a:xfrm>
          <a:prstGeom prst="rect">
            <a:avLst/>
          </a:prstGeom>
          <a:noFill/>
        </p:spPr>
        <p:txBody>
          <a:bodyPr wrap="square">
            <a:spAutoFit/>
          </a:bodyPr>
          <a:lstStyle/>
          <a:p>
            <a:r>
              <a:rPr lang="en-US" dirty="0">
                <a:hlinkClick r:id="rId3"/>
              </a:rPr>
              <a:t>How does a nuclear power plant work?</a:t>
            </a:r>
            <a:endParaRPr lang="en-US" dirty="0"/>
          </a:p>
        </p:txBody>
      </p:sp>
    </p:spTree>
    <p:extLst>
      <p:ext uri="{BB962C8B-B14F-4D97-AF65-F5344CB8AC3E}">
        <p14:creationId xmlns:p14="http://schemas.microsoft.com/office/powerpoint/2010/main" val="4242628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20220714N Genkai">
            <a:extLst>
              <a:ext uri="{FF2B5EF4-FFF2-40B4-BE49-F238E27FC236}">
                <a16:creationId xmlns:a16="http://schemas.microsoft.com/office/drawing/2014/main" id="{2D7A109A-53BC-2CB5-0B4E-02CB2FCBD5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47EE68-326E-A9B9-D1C0-DCF96C748E5D}"/>
              </a:ext>
            </a:extLst>
          </p:cNvPr>
          <p:cNvSpPr txBox="1"/>
          <p:nvPr/>
        </p:nvSpPr>
        <p:spPr>
          <a:xfrm>
            <a:off x="2458064" y="5105089"/>
            <a:ext cx="6096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a:solidFill>
                  <a:srgbClr val="333333"/>
                </a:solidFill>
                <a:effectLst/>
                <a:latin typeface="Arial" panose="020B0604020202020204" pitchFamily="34" charset="0"/>
              </a:rPr>
              <a:t>The </a:t>
            </a:r>
            <a:r>
              <a:rPr lang="en-US" b="0" i="0" dirty="0" err="1">
                <a:solidFill>
                  <a:srgbClr val="333333"/>
                </a:solidFill>
                <a:effectLst/>
                <a:latin typeface="Arial" panose="020B0604020202020204" pitchFamily="34" charset="0"/>
              </a:rPr>
              <a:t>Genkai</a:t>
            </a:r>
            <a:r>
              <a:rPr lang="en-US" b="0" i="0" dirty="0">
                <a:solidFill>
                  <a:srgbClr val="333333"/>
                </a:solidFill>
                <a:effectLst/>
                <a:latin typeface="Arial" panose="020B0604020202020204" pitchFamily="34" charset="0"/>
              </a:rPr>
              <a:t> nuclear power plant in southwestern Japan</a:t>
            </a:r>
            <a:endParaRPr lang="en-US" dirty="0"/>
          </a:p>
        </p:txBody>
      </p:sp>
    </p:spTree>
    <p:extLst>
      <p:ext uri="{BB962C8B-B14F-4D97-AF65-F5344CB8AC3E}">
        <p14:creationId xmlns:p14="http://schemas.microsoft.com/office/powerpoint/2010/main" val="1995023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B42F9AFA-8087-840A-F088-A3D765CE875C}"/>
              </a:ext>
            </a:extLst>
          </p:cNvPr>
          <p:cNvSpPr>
            <a:spLocks noGrp="1"/>
          </p:cNvSpPr>
          <p:nvPr>
            <p:ph type="title"/>
          </p:nvPr>
        </p:nvSpPr>
        <p:spPr>
          <a:xfrm>
            <a:off x="994087" y="1130603"/>
            <a:ext cx="3342442" cy="4596794"/>
          </a:xfrm>
        </p:spPr>
        <p:txBody>
          <a:bodyPr anchor="ctr">
            <a:normAutofit/>
          </a:bodyPr>
          <a:lstStyle/>
          <a:p>
            <a:r>
              <a:rPr lang="en-US" sz="3200" b="1">
                <a:solidFill>
                  <a:srgbClr val="EBEBEB"/>
                </a:solidFill>
              </a:rPr>
              <a:t>Nuclear Energy</a:t>
            </a:r>
            <a:endParaRPr lang="en-US" sz="3200">
              <a:solidFill>
                <a:srgbClr val="EBEBEB"/>
              </a:solidFill>
            </a:endParaRPr>
          </a:p>
        </p:txBody>
      </p:sp>
      <p:sp>
        <p:nvSpPr>
          <p:cNvPr id="3" name="Content Placeholder 2">
            <a:extLst>
              <a:ext uri="{FF2B5EF4-FFF2-40B4-BE49-F238E27FC236}">
                <a16:creationId xmlns:a16="http://schemas.microsoft.com/office/drawing/2014/main" id="{71A60BA6-78B5-101F-DDAC-6D1B862327FC}"/>
              </a:ext>
            </a:extLst>
          </p:cNvPr>
          <p:cNvSpPr>
            <a:spLocks noGrp="1"/>
          </p:cNvSpPr>
          <p:nvPr>
            <p:ph idx="1"/>
          </p:nvPr>
        </p:nvSpPr>
        <p:spPr>
          <a:xfrm>
            <a:off x="5290077" y="437513"/>
            <a:ext cx="5502614" cy="5954325"/>
          </a:xfrm>
        </p:spPr>
        <p:txBody>
          <a:bodyPr anchor="ctr">
            <a:normAutofit/>
          </a:bodyPr>
          <a:lstStyle/>
          <a:p>
            <a:r>
              <a:rPr lang="en-US" sz="2400" b="1" dirty="0"/>
              <a:t>Advantages</a:t>
            </a:r>
            <a:endParaRPr lang="en-US" sz="2400" dirty="0"/>
          </a:p>
          <a:p>
            <a:pPr>
              <a:buFont typeface="Arial" panose="020B0604020202020204" pitchFamily="34" charset="0"/>
              <a:buChar char="•"/>
            </a:pPr>
            <a:r>
              <a:rPr lang="en-US" sz="2400" dirty="0"/>
              <a:t>Low greenhouse gas emissions.</a:t>
            </a:r>
          </a:p>
          <a:p>
            <a:pPr>
              <a:buFont typeface="Arial" panose="020B0604020202020204" pitchFamily="34" charset="0"/>
              <a:buChar char="•"/>
            </a:pPr>
            <a:r>
              <a:rPr lang="en-US" sz="2400" dirty="0"/>
              <a:t>Produces a large amount of energy from a small amount of fuel. </a:t>
            </a:r>
          </a:p>
          <a:p>
            <a:pPr>
              <a:buFont typeface="Arial" panose="020B0604020202020204" pitchFamily="34" charset="0"/>
              <a:buChar char="•"/>
            </a:pPr>
            <a:r>
              <a:rPr lang="en-US" sz="2400" dirty="0"/>
              <a:t>Reliable power source.</a:t>
            </a:r>
          </a:p>
          <a:p>
            <a:r>
              <a:rPr lang="en-US" sz="2400" b="1" dirty="0"/>
              <a:t>Disadvantages</a:t>
            </a:r>
            <a:endParaRPr lang="en-US" sz="2400" dirty="0"/>
          </a:p>
          <a:p>
            <a:pPr>
              <a:buFont typeface="Arial" panose="020B0604020202020204" pitchFamily="34" charset="0"/>
              <a:buChar char="•"/>
            </a:pPr>
            <a:r>
              <a:rPr lang="en-US" sz="2400" dirty="0"/>
              <a:t>Nuclear waste disposal</a:t>
            </a:r>
          </a:p>
          <a:p>
            <a:pPr>
              <a:buFont typeface="Arial" panose="020B0604020202020204" pitchFamily="34" charset="0"/>
              <a:buChar char="•"/>
            </a:pPr>
            <a:r>
              <a:rPr lang="en-US" sz="2400" dirty="0"/>
              <a:t>Risk of accidents(like Chernobyl (1986) and Fukushima (2011)).</a:t>
            </a:r>
          </a:p>
          <a:p>
            <a:pPr>
              <a:buFont typeface="Arial" panose="020B0604020202020204" pitchFamily="34" charset="0"/>
              <a:buChar char="•"/>
            </a:pPr>
            <a:r>
              <a:rPr lang="en-US" sz="2400" dirty="0"/>
              <a:t>High initial cost for building power plants</a:t>
            </a:r>
          </a:p>
        </p:txBody>
      </p:sp>
    </p:spTree>
    <p:extLst>
      <p:ext uri="{BB962C8B-B14F-4D97-AF65-F5344CB8AC3E}">
        <p14:creationId xmlns:p14="http://schemas.microsoft.com/office/powerpoint/2010/main" val="864912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08B6-DE26-D241-6F01-344E7DC75331}"/>
              </a:ext>
            </a:extLst>
          </p:cNvPr>
          <p:cNvSpPr>
            <a:spLocks noGrp="1"/>
          </p:cNvSpPr>
          <p:nvPr>
            <p:ph type="title"/>
          </p:nvPr>
        </p:nvSpPr>
        <p:spPr>
          <a:xfrm>
            <a:off x="1154954" y="973668"/>
            <a:ext cx="8761413" cy="706964"/>
          </a:xfrm>
        </p:spPr>
        <p:txBody>
          <a:bodyPr>
            <a:normAutofit fontScale="90000"/>
          </a:bodyPr>
          <a:lstStyle/>
          <a:p>
            <a:pPr>
              <a:lnSpc>
                <a:spcPct val="90000"/>
              </a:lnSpc>
            </a:pPr>
            <a:br>
              <a:rPr lang="en-US" sz="1400" b="1" dirty="0"/>
            </a:br>
            <a:r>
              <a:rPr lang="en-US" sz="4000" b="1" dirty="0"/>
              <a:t>Solar Energy</a:t>
            </a:r>
            <a:br>
              <a:rPr lang="en-US" sz="1400" b="1" dirty="0"/>
            </a:br>
            <a:endParaRPr lang="en-US" sz="1400" dirty="0"/>
          </a:p>
        </p:txBody>
      </p:sp>
      <p:sp>
        <p:nvSpPr>
          <p:cNvPr id="3" name="Content Placeholder 2">
            <a:extLst>
              <a:ext uri="{FF2B5EF4-FFF2-40B4-BE49-F238E27FC236}">
                <a16:creationId xmlns:a16="http://schemas.microsoft.com/office/drawing/2014/main" id="{A8ADFCD9-284C-D5E4-24ED-2C1DD777A6C3}"/>
              </a:ext>
            </a:extLst>
          </p:cNvPr>
          <p:cNvSpPr>
            <a:spLocks noGrp="1"/>
          </p:cNvSpPr>
          <p:nvPr>
            <p:ph idx="1"/>
          </p:nvPr>
        </p:nvSpPr>
        <p:spPr>
          <a:xfrm>
            <a:off x="1154954" y="2603500"/>
            <a:ext cx="5211979" cy="3416300"/>
          </a:xfrm>
        </p:spPr>
        <p:txBody>
          <a:bodyPr anchor="ctr">
            <a:normAutofit lnSpcReduction="10000"/>
          </a:bodyPr>
          <a:lstStyle/>
          <a:p>
            <a:pPr>
              <a:buFont typeface="Arial" panose="020B0604020202020204" pitchFamily="34" charset="0"/>
              <a:buChar char="•"/>
            </a:pPr>
            <a:r>
              <a:rPr lang="en-US" sz="2400" dirty="0"/>
              <a:t>Solar panels convert </a:t>
            </a:r>
            <a:r>
              <a:rPr lang="en-US" sz="2400" b="1" dirty="0"/>
              <a:t>sunlight </a:t>
            </a:r>
            <a:r>
              <a:rPr lang="en-US" sz="2400" dirty="0"/>
              <a:t>into electricity through photovoltaic cells.</a:t>
            </a:r>
          </a:p>
          <a:p>
            <a:pPr lvl="1">
              <a:buFont typeface="Arial" panose="020B0604020202020204" pitchFamily="34" charset="0"/>
              <a:buChar char="•"/>
            </a:pPr>
            <a:r>
              <a:rPr lang="en-US" dirty="0"/>
              <a:t>A photovoltaic cell (solar cell) is an electronic device that converts the energy in the solar radiation that reaches the earth in the form of light (photons) into electrical energy (electrons).</a:t>
            </a:r>
          </a:p>
          <a:p>
            <a:pPr lvl="2">
              <a:buFont typeface="Arial" panose="020B0604020202020204" pitchFamily="34" charset="0"/>
              <a:buChar char="•"/>
            </a:pPr>
            <a:r>
              <a:rPr lang="en-US" b="1" dirty="0"/>
              <a:t>photoelectric effect</a:t>
            </a:r>
            <a:r>
              <a:rPr lang="en-US" dirty="0"/>
              <a:t>: When sunlight hits the solar cell, the energy from the photons excites the electrons in the silicon, freeing them to flow as electric current, which is then harnessed as electrical energy.</a:t>
            </a:r>
          </a:p>
        </p:txBody>
      </p:sp>
      <p:pic>
        <p:nvPicPr>
          <p:cNvPr id="4098" name="Picture 2" descr="How do solar panels work">
            <a:extLst>
              <a:ext uri="{FF2B5EF4-FFF2-40B4-BE49-F238E27FC236}">
                <a16:creationId xmlns:a16="http://schemas.microsoft.com/office/drawing/2014/main" id="{CFDF7010-03AE-CA5E-A49D-88341F5EE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4" b="-4"/>
          <a:stretch/>
        </p:blipFill>
        <p:spPr bwMode="auto">
          <a:xfrm>
            <a:off x="6798733" y="2775951"/>
            <a:ext cx="4345024"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586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6" name="Rectangle 5135">
            <a:extLst>
              <a:ext uri="{FF2B5EF4-FFF2-40B4-BE49-F238E27FC236}">
                <a16:creationId xmlns:a16="http://schemas.microsoft.com/office/drawing/2014/main" id="{0F8869C9-EDD7-4330-BB50-CBD232CA23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Células fotovoltaicas">
            <a:extLst>
              <a:ext uri="{FF2B5EF4-FFF2-40B4-BE49-F238E27FC236}">
                <a16:creationId xmlns:a16="http://schemas.microsoft.com/office/drawing/2014/main" id="{5BB24DE3-8820-C57E-346D-16DBFBADB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379" r="29124" b="-1"/>
          <a:stretch/>
        </p:blipFill>
        <p:spPr bwMode="auto">
          <a:xfrm>
            <a:off x="643468" y="643467"/>
            <a:ext cx="4010828" cy="5571066"/>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nfografía células fotovoltaicas">
            <a:extLst>
              <a:ext uri="{FF2B5EF4-FFF2-40B4-BE49-F238E27FC236}">
                <a16:creationId xmlns:a16="http://schemas.microsoft.com/office/drawing/2014/main" id="{2BC87D9F-C9AD-0967-A21F-0DC2C319F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018" r="1" b="22066"/>
          <a:stretch/>
        </p:blipFill>
        <p:spPr bwMode="auto">
          <a:xfrm>
            <a:off x="4815161" y="643467"/>
            <a:ext cx="6733371" cy="55710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7E85BB-3641-29B5-D14E-49453E4324C1}"/>
              </a:ext>
            </a:extLst>
          </p:cNvPr>
          <p:cNvSpPr txBox="1"/>
          <p:nvPr/>
        </p:nvSpPr>
        <p:spPr>
          <a:xfrm>
            <a:off x="973890" y="5508211"/>
            <a:ext cx="3349984"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photovoltaic cell (solar cell)</a:t>
            </a:r>
          </a:p>
        </p:txBody>
      </p:sp>
    </p:spTree>
    <p:extLst>
      <p:ext uri="{BB962C8B-B14F-4D97-AF65-F5344CB8AC3E}">
        <p14:creationId xmlns:p14="http://schemas.microsoft.com/office/powerpoint/2010/main" val="1892956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2D3377-F53C-C2AF-8E39-DFFFCE844B5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C515A1DA-99D8-BCBF-26E0-0A3CA8A7F88B}"/>
              </a:ext>
            </a:extLst>
          </p:cNvPr>
          <p:cNvSpPr>
            <a:spLocks noGrp="1"/>
          </p:cNvSpPr>
          <p:nvPr>
            <p:ph type="title"/>
          </p:nvPr>
        </p:nvSpPr>
        <p:spPr>
          <a:xfrm>
            <a:off x="994087" y="1130603"/>
            <a:ext cx="3342442" cy="4596794"/>
          </a:xfrm>
        </p:spPr>
        <p:txBody>
          <a:bodyPr anchor="ctr">
            <a:normAutofit/>
          </a:bodyPr>
          <a:lstStyle/>
          <a:p>
            <a:br>
              <a:rPr lang="en-US" sz="3200" b="1">
                <a:solidFill>
                  <a:srgbClr val="EBEBEB"/>
                </a:solidFill>
              </a:rPr>
            </a:br>
            <a:r>
              <a:rPr lang="en-US" sz="3200" b="1">
                <a:solidFill>
                  <a:srgbClr val="EBEBEB"/>
                </a:solidFill>
              </a:rPr>
              <a:t>Solar Energy</a:t>
            </a:r>
            <a:br>
              <a:rPr lang="en-US" sz="3200" b="1">
                <a:solidFill>
                  <a:srgbClr val="EBEBEB"/>
                </a:solidFill>
              </a:rPr>
            </a:br>
            <a:endParaRPr lang="en-US" sz="3200">
              <a:solidFill>
                <a:srgbClr val="EBEBEB"/>
              </a:solidFill>
            </a:endParaRPr>
          </a:p>
        </p:txBody>
      </p:sp>
      <p:sp>
        <p:nvSpPr>
          <p:cNvPr id="3" name="Content Placeholder 2">
            <a:extLst>
              <a:ext uri="{FF2B5EF4-FFF2-40B4-BE49-F238E27FC236}">
                <a16:creationId xmlns:a16="http://schemas.microsoft.com/office/drawing/2014/main" id="{31C8CA36-B742-A046-3C32-EC636A6A121D}"/>
              </a:ext>
            </a:extLst>
          </p:cNvPr>
          <p:cNvSpPr>
            <a:spLocks noGrp="1"/>
          </p:cNvSpPr>
          <p:nvPr>
            <p:ph idx="1"/>
          </p:nvPr>
        </p:nvSpPr>
        <p:spPr>
          <a:xfrm>
            <a:off x="5290077" y="437513"/>
            <a:ext cx="5502614" cy="5954325"/>
          </a:xfrm>
        </p:spPr>
        <p:txBody>
          <a:bodyPr anchor="ctr">
            <a:normAutofit/>
          </a:bodyPr>
          <a:lstStyle/>
          <a:p>
            <a:r>
              <a:rPr lang="en-US" sz="2800" b="1" dirty="0"/>
              <a:t>Advantages</a:t>
            </a:r>
            <a:endParaRPr lang="en-US" sz="2800" dirty="0"/>
          </a:p>
          <a:p>
            <a:pPr>
              <a:buFont typeface="Arial" panose="020B0604020202020204" pitchFamily="34" charset="0"/>
              <a:buChar char="•"/>
            </a:pPr>
            <a:r>
              <a:rPr lang="en-US" sz="2800" dirty="0"/>
              <a:t>Clean and renewable.</a:t>
            </a:r>
          </a:p>
          <a:p>
            <a:pPr>
              <a:buFont typeface="Arial" panose="020B0604020202020204" pitchFamily="34" charset="0"/>
              <a:buChar char="•"/>
            </a:pPr>
            <a:r>
              <a:rPr lang="en-US" sz="2800" dirty="0"/>
              <a:t>Reduces reliance on fossil fuels.</a:t>
            </a:r>
          </a:p>
          <a:p>
            <a:pPr>
              <a:buFont typeface="Arial" panose="020B0604020202020204" pitchFamily="34" charset="0"/>
              <a:buChar char="•"/>
            </a:pPr>
            <a:r>
              <a:rPr lang="en-US" sz="2800" dirty="0"/>
              <a:t>Can be used for both electricity and heating.</a:t>
            </a:r>
          </a:p>
          <a:p>
            <a:r>
              <a:rPr lang="en-US" sz="2800" b="1" dirty="0"/>
              <a:t>Disadvantages</a:t>
            </a:r>
            <a:endParaRPr lang="en-US" sz="2800" dirty="0"/>
          </a:p>
          <a:p>
            <a:pPr>
              <a:buFont typeface="Arial" panose="020B0604020202020204" pitchFamily="34" charset="0"/>
              <a:buChar char="•"/>
            </a:pPr>
            <a:r>
              <a:rPr lang="en-US" sz="2800" dirty="0"/>
              <a:t>Initial cost of installation</a:t>
            </a:r>
          </a:p>
          <a:p>
            <a:pPr>
              <a:buFont typeface="Arial" panose="020B0604020202020204" pitchFamily="34" charset="0"/>
              <a:buChar char="•"/>
            </a:pPr>
            <a:r>
              <a:rPr lang="en-US" sz="2800" dirty="0"/>
              <a:t>Weather-dependent</a:t>
            </a:r>
          </a:p>
          <a:p>
            <a:pPr>
              <a:buFont typeface="Arial" panose="020B0604020202020204" pitchFamily="34" charset="0"/>
              <a:buChar char="•"/>
            </a:pPr>
            <a:r>
              <a:rPr lang="en-US" sz="2800" dirty="0"/>
              <a:t>Requires large areas for efficient power generation</a:t>
            </a:r>
          </a:p>
          <a:p>
            <a:endParaRPr lang="en-US" sz="2000" dirty="0"/>
          </a:p>
        </p:txBody>
      </p:sp>
    </p:spTree>
    <p:extLst>
      <p:ext uri="{BB962C8B-B14F-4D97-AF65-F5344CB8AC3E}">
        <p14:creationId xmlns:p14="http://schemas.microsoft.com/office/powerpoint/2010/main" val="990220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833D-FF8C-11E6-1CAD-54B42D709750}"/>
              </a:ext>
            </a:extLst>
          </p:cNvPr>
          <p:cNvSpPr>
            <a:spLocks noGrp="1"/>
          </p:cNvSpPr>
          <p:nvPr>
            <p:ph type="title"/>
          </p:nvPr>
        </p:nvSpPr>
        <p:spPr>
          <a:xfrm>
            <a:off x="1154954" y="973668"/>
            <a:ext cx="8761413" cy="706964"/>
          </a:xfrm>
        </p:spPr>
        <p:txBody>
          <a:bodyPr>
            <a:normAutofit fontScale="90000"/>
          </a:bodyPr>
          <a:lstStyle/>
          <a:p>
            <a:pPr>
              <a:lnSpc>
                <a:spcPct val="90000"/>
              </a:lnSpc>
            </a:pPr>
            <a:br>
              <a:rPr lang="en-US" sz="1400" b="1" dirty="0"/>
            </a:br>
            <a:r>
              <a:rPr lang="en-US" sz="3100" b="1" dirty="0"/>
              <a:t>Wind Energy</a:t>
            </a:r>
            <a:br>
              <a:rPr lang="en-US" sz="1400" b="1" dirty="0"/>
            </a:br>
            <a:endParaRPr lang="en-US" sz="1400" dirty="0"/>
          </a:p>
        </p:txBody>
      </p:sp>
      <p:sp>
        <p:nvSpPr>
          <p:cNvPr id="3" name="Content Placeholder 2">
            <a:extLst>
              <a:ext uri="{FF2B5EF4-FFF2-40B4-BE49-F238E27FC236}">
                <a16:creationId xmlns:a16="http://schemas.microsoft.com/office/drawing/2014/main" id="{5A947643-0CB6-624F-D7DD-AD6F9BF83156}"/>
              </a:ext>
            </a:extLst>
          </p:cNvPr>
          <p:cNvSpPr>
            <a:spLocks noGrp="1"/>
          </p:cNvSpPr>
          <p:nvPr>
            <p:ph idx="1"/>
          </p:nvPr>
        </p:nvSpPr>
        <p:spPr>
          <a:xfrm>
            <a:off x="304800" y="2603500"/>
            <a:ext cx="4331209" cy="3416300"/>
          </a:xfrm>
        </p:spPr>
        <p:txBody>
          <a:bodyPr anchor="ctr">
            <a:normAutofit lnSpcReduction="10000"/>
          </a:bodyPr>
          <a:lstStyle/>
          <a:p>
            <a:pPr>
              <a:buFont typeface="Arial" panose="020B0604020202020204" pitchFamily="34" charset="0"/>
              <a:buChar char="•"/>
            </a:pPr>
            <a:endParaRPr lang="en-US" sz="2400" dirty="0"/>
          </a:p>
          <a:p>
            <a:pPr>
              <a:buFont typeface="Arial" panose="020B0604020202020204" pitchFamily="34" charset="0"/>
              <a:buChar char="•"/>
            </a:pPr>
            <a:r>
              <a:rPr lang="en-US" sz="2600" dirty="0"/>
              <a:t>Wind turbines convert the kinetic energy of </a:t>
            </a:r>
            <a:r>
              <a:rPr lang="en-US" sz="2600" b="1" dirty="0"/>
              <a:t>wind </a:t>
            </a:r>
            <a:r>
              <a:rPr lang="en-US" sz="2600" dirty="0"/>
              <a:t>into electricity.</a:t>
            </a:r>
          </a:p>
          <a:p>
            <a:pPr lvl="1">
              <a:buFont typeface="Arial" panose="020B0604020202020204" pitchFamily="34" charset="0"/>
              <a:buChar char="•"/>
            </a:pPr>
            <a:r>
              <a:rPr lang="en-US" sz="2600" dirty="0"/>
              <a:t>Kinetic energy is the energy an object has because of its motion.</a:t>
            </a:r>
          </a:p>
          <a:p>
            <a:pPr>
              <a:buFont typeface="Arial" panose="020B0604020202020204" pitchFamily="34" charset="0"/>
              <a:buChar char="•"/>
            </a:pPr>
            <a:endParaRPr lang="en-US" sz="2400" dirty="0"/>
          </a:p>
          <a:p>
            <a:endParaRPr lang="en-US" sz="1600" dirty="0"/>
          </a:p>
        </p:txBody>
      </p:sp>
      <p:pic>
        <p:nvPicPr>
          <p:cNvPr id="6146" name="Picture 2" descr="Wind power - Planet Decarb">
            <a:extLst>
              <a:ext uri="{FF2B5EF4-FFF2-40B4-BE49-F238E27FC236}">
                <a16:creationId xmlns:a16="http://schemas.microsoft.com/office/drawing/2014/main" id="{E2D9A090-F90A-CC33-4622-0A3B835B8D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876" b="9369"/>
          <a:stretch/>
        </p:blipFill>
        <p:spPr bwMode="auto">
          <a:xfrm>
            <a:off x="4636009" y="3004551"/>
            <a:ext cx="4415185" cy="2198819"/>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6FBD41A-8FC7-DDD6-2843-EE8B0889CE33}"/>
              </a:ext>
            </a:extLst>
          </p:cNvPr>
          <p:cNvPicPr>
            <a:picLocks noChangeAspect="1"/>
          </p:cNvPicPr>
          <p:nvPr/>
        </p:nvPicPr>
        <p:blipFill>
          <a:blip r:embed="rId3"/>
          <a:stretch>
            <a:fillRect/>
          </a:stretch>
        </p:blipFill>
        <p:spPr>
          <a:xfrm>
            <a:off x="9372601" y="2603500"/>
            <a:ext cx="2662237" cy="2858350"/>
          </a:xfrm>
          <a:prstGeom prst="rect">
            <a:avLst/>
          </a:prstGeom>
        </p:spPr>
      </p:pic>
    </p:spTree>
    <p:extLst>
      <p:ext uri="{BB962C8B-B14F-4D97-AF65-F5344CB8AC3E}">
        <p14:creationId xmlns:p14="http://schemas.microsoft.com/office/powerpoint/2010/main" val="288467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667B3A-88B6-CEBB-8248-E88AEF0953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E8AF0823-8630-F797-9465-CA49CDCE9B45}"/>
              </a:ext>
            </a:extLst>
          </p:cNvPr>
          <p:cNvSpPr>
            <a:spLocks noGrp="1"/>
          </p:cNvSpPr>
          <p:nvPr>
            <p:ph type="title"/>
          </p:nvPr>
        </p:nvSpPr>
        <p:spPr>
          <a:xfrm>
            <a:off x="994087" y="1130603"/>
            <a:ext cx="3342442" cy="4596794"/>
          </a:xfrm>
        </p:spPr>
        <p:txBody>
          <a:bodyPr anchor="ctr">
            <a:normAutofit/>
          </a:bodyPr>
          <a:lstStyle/>
          <a:p>
            <a:br>
              <a:rPr lang="en-US" sz="3200" b="1">
                <a:solidFill>
                  <a:srgbClr val="EBEBEB"/>
                </a:solidFill>
              </a:rPr>
            </a:br>
            <a:r>
              <a:rPr lang="en-US" sz="3200" b="1">
                <a:solidFill>
                  <a:srgbClr val="EBEBEB"/>
                </a:solidFill>
              </a:rPr>
              <a:t>Wind Energy</a:t>
            </a:r>
            <a:br>
              <a:rPr lang="en-US" sz="3200" b="1">
                <a:solidFill>
                  <a:srgbClr val="EBEBEB"/>
                </a:solidFill>
              </a:rPr>
            </a:br>
            <a:endParaRPr lang="en-US" sz="3200">
              <a:solidFill>
                <a:srgbClr val="EBEBEB"/>
              </a:solidFill>
            </a:endParaRPr>
          </a:p>
        </p:txBody>
      </p:sp>
      <p:sp>
        <p:nvSpPr>
          <p:cNvPr id="3" name="Content Placeholder 2">
            <a:extLst>
              <a:ext uri="{FF2B5EF4-FFF2-40B4-BE49-F238E27FC236}">
                <a16:creationId xmlns:a16="http://schemas.microsoft.com/office/drawing/2014/main" id="{8C905ABC-C517-270B-91B9-D4634F4AB294}"/>
              </a:ext>
            </a:extLst>
          </p:cNvPr>
          <p:cNvSpPr>
            <a:spLocks noGrp="1"/>
          </p:cNvSpPr>
          <p:nvPr>
            <p:ph idx="1"/>
          </p:nvPr>
        </p:nvSpPr>
        <p:spPr>
          <a:xfrm>
            <a:off x="5290077" y="437513"/>
            <a:ext cx="5502614" cy="5954325"/>
          </a:xfrm>
        </p:spPr>
        <p:txBody>
          <a:bodyPr anchor="ctr">
            <a:normAutofit/>
          </a:bodyPr>
          <a:lstStyle/>
          <a:p>
            <a:r>
              <a:rPr lang="en-US" sz="3200" b="1" dirty="0"/>
              <a:t>Advantages</a:t>
            </a:r>
            <a:endParaRPr lang="en-US" sz="3200" dirty="0"/>
          </a:p>
          <a:p>
            <a:pPr>
              <a:buFont typeface="Arial" panose="020B0604020202020204" pitchFamily="34" charset="0"/>
              <a:buChar char="•"/>
            </a:pPr>
            <a:r>
              <a:rPr lang="en-US" sz="3200" dirty="0"/>
              <a:t>Clean and renewable</a:t>
            </a:r>
          </a:p>
          <a:p>
            <a:pPr>
              <a:buFont typeface="Arial" panose="020B0604020202020204" pitchFamily="34" charset="0"/>
              <a:buChar char="•"/>
            </a:pPr>
            <a:r>
              <a:rPr lang="en-US" sz="3200" dirty="0"/>
              <a:t>Low operating costs</a:t>
            </a:r>
          </a:p>
          <a:p>
            <a:pPr>
              <a:buFont typeface="Arial" panose="020B0604020202020204" pitchFamily="34" charset="0"/>
              <a:buChar char="•"/>
            </a:pPr>
            <a:r>
              <a:rPr lang="en-US" sz="3200" dirty="0"/>
              <a:t>Minimal land use</a:t>
            </a:r>
          </a:p>
          <a:p>
            <a:r>
              <a:rPr lang="en-US" sz="3200" b="1" dirty="0"/>
              <a:t>Disadvantages</a:t>
            </a:r>
            <a:endParaRPr lang="en-US" sz="3200" dirty="0"/>
          </a:p>
          <a:p>
            <a:pPr>
              <a:buFont typeface="Arial" panose="020B0604020202020204" pitchFamily="34" charset="0"/>
              <a:buChar char="•"/>
            </a:pPr>
            <a:r>
              <a:rPr lang="en-US" sz="3200" dirty="0"/>
              <a:t>Wind speed variability</a:t>
            </a:r>
          </a:p>
          <a:p>
            <a:pPr>
              <a:buFont typeface="Arial" panose="020B0604020202020204" pitchFamily="34" charset="0"/>
              <a:buChar char="•"/>
            </a:pPr>
            <a:r>
              <a:rPr lang="en-US" sz="3200" dirty="0"/>
              <a:t>Visual impact</a:t>
            </a:r>
          </a:p>
          <a:p>
            <a:pPr>
              <a:buFont typeface="Arial" panose="020B0604020202020204" pitchFamily="34" charset="0"/>
              <a:buChar char="•"/>
            </a:pPr>
            <a:r>
              <a:rPr lang="en-US" sz="3200" dirty="0"/>
              <a:t>Noise pollution</a:t>
            </a:r>
          </a:p>
          <a:p>
            <a:endParaRPr lang="en-US" sz="2000" dirty="0"/>
          </a:p>
        </p:txBody>
      </p:sp>
    </p:spTree>
    <p:extLst>
      <p:ext uri="{BB962C8B-B14F-4D97-AF65-F5344CB8AC3E}">
        <p14:creationId xmlns:p14="http://schemas.microsoft.com/office/powerpoint/2010/main" val="126037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310D8-D57D-DA5B-43C5-68490FB54CA8}"/>
              </a:ext>
            </a:extLst>
          </p:cNvPr>
          <p:cNvSpPr>
            <a:spLocks noGrp="1"/>
          </p:cNvSpPr>
          <p:nvPr>
            <p:ph type="title"/>
          </p:nvPr>
        </p:nvSpPr>
        <p:spPr/>
        <p:txBody>
          <a:bodyPr/>
          <a:lstStyle/>
          <a:p>
            <a:br>
              <a:rPr lang="en-US" b="1" dirty="0">
                <a:solidFill>
                  <a:srgbClr val="EBEBEB"/>
                </a:solidFill>
              </a:rPr>
            </a:br>
            <a:r>
              <a:rPr lang="en-US" b="1" dirty="0">
                <a:solidFill>
                  <a:srgbClr val="EBEBEB"/>
                </a:solidFill>
              </a:rPr>
              <a:t>Hydropower</a:t>
            </a:r>
            <a:br>
              <a:rPr lang="en-US" b="1" dirty="0">
                <a:solidFill>
                  <a:srgbClr val="EBEBEB"/>
                </a:solidFill>
              </a:rPr>
            </a:br>
            <a:endParaRPr lang="en-US" dirty="0"/>
          </a:p>
        </p:txBody>
      </p:sp>
      <p:sp>
        <p:nvSpPr>
          <p:cNvPr id="3" name="Content Placeholder 2">
            <a:extLst>
              <a:ext uri="{FF2B5EF4-FFF2-40B4-BE49-F238E27FC236}">
                <a16:creationId xmlns:a16="http://schemas.microsoft.com/office/drawing/2014/main" id="{8E71045B-857D-D2F3-364F-6918FE11AA01}"/>
              </a:ext>
            </a:extLst>
          </p:cNvPr>
          <p:cNvSpPr>
            <a:spLocks noGrp="1"/>
          </p:cNvSpPr>
          <p:nvPr>
            <p:ph idx="1"/>
          </p:nvPr>
        </p:nvSpPr>
        <p:spPr>
          <a:xfrm>
            <a:off x="1154955" y="2603500"/>
            <a:ext cx="5265510" cy="3416300"/>
          </a:xfrm>
        </p:spPr>
        <p:txBody>
          <a:bodyPr>
            <a:normAutofit/>
          </a:bodyPr>
          <a:lstStyle/>
          <a:p>
            <a:r>
              <a:rPr lang="en-US" sz="2800" dirty="0"/>
              <a:t>Dams harness the potential energy of </a:t>
            </a:r>
            <a:r>
              <a:rPr lang="en-US" sz="2800" b="1" dirty="0"/>
              <a:t>water</a:t>
            </a:r>
            <a:r>
              <a:rPr lang="en-US" sz="2800" dirty="0"/>
              <a:t> to generate electricity.</a:t>
            </a:r>
          </a:p>
          <a:p>
            <a:pPr lvl="1"/>
            <a:r>
              <a:rPr lang="en-US" sz="2400" dirty="0"/>
              <a:t>Potential energy is the energy stored in an object due to its </a:t>
            </a:r>
            <a:r>
              <a:rPr lang="en-US" sz="2400" b="1" dirty="0"/>
              <a:t>position.</a:t>
            </a:r>
            <a:r>
              <a:rPr lang="en-US" sz="2400" dirty="0"/>
              <a:t> </a:t>
            </a:r>
          </a:p>
          <a:p>
            <a:endParaRPr lang="en-US" sz="2800" dirty="0"/>
          </a:p>
          <a:p>
            <a:endParaRPr lang="en-US" dirty="0"/>
          </a:p>
        </p:txBody>
      </p:sp>
      <p:pic>
        <p:nvPicPr>
          <p:cNvPr id="4" name="Picture 2" descr="Hydropower explained - U.S. Energy Information Administration (EIA)">
            <a:extLst>
              <a:ext uri="{FF2B5EF4-FFF2-40B4-BE49-F238E27FC236}">
                <a16:creationId xmlns:a16="http://schemas.microsoft.com/office/drawing/2014/main" id="{539CE8C0-F504-2F06-B2C2-CEFD2290C2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68278" y="2603500"/>
            <a:ext cx="4595405" cy="34235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0AA7FF6-9688-21F7-F6E4-12B0C8326A95}"/>
              </a:ext>
            </a:extLst>
          </p:cNvPr>
          <p:cNvSpPr txBox="1"/>
          <p:nvPr/>
        </p:nvSpPr>
        <p:spPr>
          <a:xfrm>
            <a:off x="968829" y="5222612"/>
            <a:ext cx="6096000" cy="1323439"/>
          </a:xfrm>
          <a:prstGeom prst="rect">
            <a:avLst/>
          </a:prstGeom>
          <a:noFill/>
        </p:spPr>
        <p:txBody>
          <a:bodyPr wrap="square">
            <a:spAutoFit/>
          </a:bodyPr>
          <a:lstStyle/>
          <a:p>
            <a:pPr marL="285750" lvl="0" indent="-285750">
              <a:buFont typeface="Wingdings" panose="05000000000000000000" pitchFamily="2" charset="2"/>
              <a:buChar char="§"/>
            </a:pPr>
            <a:r>
              <a:rPr lang="en-PH" sz="1600" b="1" dirty="0"/>
              <a:t>Magat Hydro Plant </a:t>
            </a:r>
            <a:r>
              <a:rPr lang="en-PH" sz="1600" dirty="0"/>
              <a:t>in Luzon has a capacity of </a:t>
            </a:r>
            <a:r>
              <a:rPr lang="en-PH" sz="1600" dirty="0">
                <a:hlinkClick r:id="rId3"/>
              </a:rPr>
              <a:t>360 MW</a:t>
            </a:r>
            <a:r>
              <a:rPr lang="en-PH" sz="1600" dirty="0"/>
              <a:t>.</a:t>
            </a:r>
          </a:p>
          <a:p>
            <a:pPr marL="285750" lvl="0" indent="-285750">
              <a:buFont typeface="Wingdings" panose="05000000000000000000" pitchFamily="2" charset="2"/>
              <a:buChar char="§"/>
            </a:pPr>
            <a:r>
              <a:rPr lang="en-PH" sz="1600" b="1" dirty="0"/>
              <a:t>Angat Hydropower Plant </a:t>
            </a:r>
            <a:r>
              <a:rPr lang="en-PH" sz="1600" dirty="0"/>
              <a:t>in Luzon has a capacity of </a:t>
            </a:r>
            <a:r>
              <a:rPr lang="en-PH" sz="1600" dirty="0">
                <a:hlinkClick r:id="rId4"/>
              </a:rPr>
              <a:t>218 MW</a:t>
            </a:r>
            <a:r>
              <a:rPr lang="en-PH" sz="1600" dirty="0"/>
              <a:t> and supplies Manila with 90% of its fresh water.</a:t>
            </a:r>
          </a:p>
          <a:p>
            <a:pPr marL="285750" lvl="0" indent="-285750">
              <a:buFont typeface="Wingdings" panose="05000000000000000000" pitchFamily="2" charset="2"/>
              <a:buChar char="§"/>
            </a:pPr>
            <a:r>
              <a:rPr lang="en-PH" sz="1600" b="1" dirty="0"/>
              <a:t>Agus VI Hydroelectric Plant </a:t>
            </a:r>
            <a:r>
              <a:rPr lang="en-PH" sz="1600" dirty="0"/>
              <a:t>in Mindanao has a capacity of </a:t>
            </a:r>
            <a:r>
              <a:rPr lang="en-PH" sz="1600" dirty="0">
                <a:hlinkClick r:id="rId5"/>
              </a:rPr>
              <a:t>200 MW</a:t>
            </a:r>
            <a:r>
              <a:rPr lang="en-PH" sz="1600" dirty="0"/>
              <a:t> and has been online for over 50 years.</a:t>
            </a:r>
          </a:p>
        </p:txBody>
      </p:sp>
    </p:spTree>
    <p:extLst>
      <p:ext uri="{BB962C8B-B14F-4D97-AF65-F5344CB8AC3E}">
        <p14:creationId xmlns:p14="http://schemas.microsoft.com/office/powerpoint/2010/main" val="3518199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BF9A19-04FD-F4AA-AC61-3EEFA25673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D0DBB45A-DA73-B149-C9A1-574EB7FBC73E}"/>
              </a:ext>
            </a:extLst>
          </p:cNvPr>
          <p:cNvSpPr>
            <a:spLocks noGrp="1"/>
          </p:cNvSpPr>
          <p:nvPr>
            <p:ph type="title"/>
          </p:nvPr>
        </p:nvSpPr>
        <p:spPr>
          <a:xfrm>
            <a:off x="994087" y="1130603"/>
            <a:ext cx="3342442" cy="4596794"/>
          </a:xfrm>
        </p:spPr>
        <p:txBody>
          <a:bodyPr anchor="ctr">
            <a:normAutofit/>
          </a:bodyPr>
          <a:lstStyle/>
          <a:p>
            <a:br>
              <a:rPr lang="en-US" sz="3200" b="1">
                <a:solidFill>
                  <a:srgbClr val="EBEBEB"/>
                </a:solidFill>
              </a:rPr>
            </a:br>
            <a:r>
              <a:rPr lang="en-US" sz="3200" b="1">
                <a:solidFill>
                  <a:srgbClr val="EBEBEB"/>
                </a:solidFill>
              </a:rPr>
              <a:t>Hydropower</a:t>
            </a:r>
            <a:br>
              <a:rPr lang="en-US" sz="3200" b="1">
                <a:solidFill>
                  <a:srgbClr val="EBEBEB"/>
                </a:solidFill>
              </a:rPr>
            </a:br>
            <a:endParaRPr lang="en-US" sz="3200">
              <a:solidFill>
                <a:srgbClr val="EBEBEB"/>
              </a:solidFill>
            </a:endParaRPr>
          </a:p>
        </p:txBody>
      </p:sp>
      <p:sp>
        <p:nvSpPr>
          <p:cNvPr id="3" name="Content Placeholder 2">
            <a:extLst>
              <a:ext uri="{FF2B5EF4-FFF2-40B4-BE49-F238E27FC236}">
                <a16:creationId xmlns:a16="http://schemas.microsoft.com/office/drawing/2014/main" id="{34A49565-6A69-A251-48A2-9A8317A8D70F}"/>
              </a:ext>
            </a:extLst>
          </p:cNvPr>
          <p:cNvSpPr>
            <a:spLocks noGrp="1"/>
          </p:cNvSpPr>
          <p:nvPr>
            <p:ph idx="1"/>
          </p:nvPr>
        </p:nvSpPr>
        <p:spPr>
          <a:xfrm>
            <a:off x="5290077" y="437513"/>
            <a:ext cx="5502614" cy="5954325"/>
          </a:xfrm>
        </p:spPr>
        <p:txBody>
          <a:bodyPr anchor="ctr">
            <a:normAutofit/>
          </a:bodyPr>
          <a:lstStyle/>
          <a:p>
            <a:r>
              <a:rPr lang="en-US" sz="2400" b="1" dirty="0"/>
              <a:t>Advantages</a:t>
            </a:r>
            <a:endParaRPr lang="en-US" sz="2400" dirty="0"/>
          </a:p>
          <a:p>
            <a:pPr>
              <a:buFont typeface="Arial" panose="020B0604020202020204" pitchFamily="34" charset="0"/>
              <a:buChar char="•"/>
            </a:pPr>
            <a:r>
              <a:rPr lang="en-US" sz="2400" dirty="0"/>
              <a:t>Reliable and consistent power source</a:t>
            </a:r>
          </a:p>
          <a:p>
            <a:pPr>
              <a:buFont typeface="Arial" panose="020B0604020202020204" pitchFamily="34" charset="0"/>
              <a:buChar char="•"/>
            </a:pPr>
            <a:r>
              <a:rPr lang="en-US" sz="2400" dirty="0"/>
              <a:t>Low greenhouse gas emissions</a:t>
            </a:r>
          </a:p>
          <a:p>
            <a:pPr>
              <a:buFont typeface="Arial" panose="020B0604020202020204" pitchFamily="34" charset="0"/>
              <a:buChar char="•"/>
            </a:pPr>
            <a:r>
              <a:rPr lang="en-US" sz="2400" dirty="0"/>
              <a:t>Multi-purpose use (e.g., irrigation, flood control)</a:t>
            </a:r>
          </a:p>
          <a:p>
            <a:r>
              <a:rPr lang="en-US" sz="2400" b="1" dirty="0"/>
              <a:t>Disadvantages</a:t>
            </a:r>
            <a:endParaRPr lang="en-US" sz="2400" dirty="0"/>
          </a:p>
          <a:p>
            <a:pPr>
              <a:buFont typeface="Arial" panose="020B0604020202020204" pitchFamily="34" charset="0"/>
              <a:buChar char="•"/>
            </a:pPr>
            <a:r>
              <a:rPr lang="en-US" sz="2400" dirty="0"/>
              <a:t>Environmental impact on ecosystems</a:t>
            </a:r>
          </a:p>
          <a:p>
            <a:pPr>
              <a:buFont typeface="Arial" panose="020B0604020202020204" pitchFamily="34" charset="0"/>
              <a:buChar char="•"/>
            </a:pPr>
            <a:r>
              <a:rPr lang="en-US" sz="2400" dirty="0"/>
              <a:t>High initial cost of dam construction</a:t>
            </a:r>
          </a:p>
          <a:p>
            <a:pPr>
              <a:buFont typeface="Arial" panose="020B0604020202020204" pitchFamily="34" charset="0"/>
              <a:buChar char="•"/>
            </a:pPr>
            <a:r>
              <a:rPr lang="en-US" sz="2400" dirty="0"/>
              <a:t>Limited availability of suitable sites</a:t>
            </a:r>
          </a:p>
          <a:p>
            <a:endParaRPr lang="en-US" sz="2000" dirty="0"/>
          </a:p>
        </p:txBody>
      </p:sp>
    </p:spTree>
    <p:extLst>
      <p:ext uri="{BB962C8B-B14F-4D97-AF65-F5344CB8AC3E}">
        <p14:creationId xmlns:p14="http://schemas.microsoft.com/office/powerpoint/2010/main" val="745614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F474-DF7F-2456-20B1-F3EC55666BBD}"/>
              </a:ext>
            </a:extLst>
          </p:cNvPr>
          <p:cNvSpPr>
            <a:spLocks noGrp="1"/>
          </p:cNvSpPr>
          <p:nvPr>
            <p:ph type="title"/>
          </p:nvPr>
        </p:nvSpPr>
        <p:spPr/>
        <p:txBody>
          <a:bodyPr/>
          <a:lstStyle/>
          <a:p>
            <a:br>
              <a:rPr lang="en-US" b="1" dirty="0">
                <a:solidFill>
                  <a:srgbClr val="EBEBEB"/>
                </a:solidFill>
              </a:rPr>
            </a:br>
            <a:r>
              <a:rPr lang="en-US" b="1" dirty="0">
                <a:solidFill>
                  <a:srgbClr val="EBEBEB"/>
                </a:solidFill>
              </a:rPr>
              <a:t>Geothermal Energy</a:t>
            </a:r>
            <a:br>
              <a:rPr lang="en-US" b="1" dirty="0">
                <a:solidFill>
                  <a:srgbClr val="EBEBEB"/>
                </a:solidFill>
              </a:rPr>
            </a:br>
            <a:endParaRPr lang="en-US" dirty="0"/>
          </a:p>
        </p:txBody>
      </p:sp>
      <p:sp>
        <p:nvSpPr>
          <p:cNvPr id="3" name="Content Placeholder 2">
            <a:extLst>
              <a:ext uri="{FF2B5EF4-FFF2-40B4-BE49-F238E27FC236}">
                <a16:creationId xmlns:a16="http://schemas.microsoft.com/office/drawing/2014/main" id="{417A7876-5DE1-8643-8BCB-127A0EA0BE3C}"/>
              </a:ext>
            </a:extLst>
          </p:cNvPr>
          <p:cNvSpPr>
            <a:spLocks noGrp="1"/>
          </p:cNvSpPr>
          <p:nvPr>
            <p:ph idx="1"/>
          </p:nvPr>
        </p:nvSpPr>
        <p:spPr>
          <a:xfrm>
            <a:off x="1154955" y="2603500"/>
            <a:ext cx="4418531" cy="3416300"/>
          </a:xfrm>
        </p:spPr>
        <p:txBody>
          <a:bodyPr>
            <a:normAutofit/>
          </a:bodyPr>
          <a:lstStyle/>
          <a:p>
            <a:pPr>
              <a:buFont typeface="Arial" panose="020B0604020202020204" pitchFamily="34" charset="0"/>
              <a:buChar char="•"/>
            </a:pPr>
            <a:r>
              <a:rPr lang="en-US" sz="3200" dirty="0"/>
              <a:t>Harnesses heat from the </a:t>
            </a:r>
            <a:r>
              <a:rPr lang="en-US" sz="3200" b="1" dirty="0"/>
              <a:t>Earth's core</a:t>
            </a:r>
            <a:r>
              <a:rPr lang="en-US" sz="3200" dirty="0"/>
              <a:t> to generate electricity.</a:t>
            </a:r>
          </a:p>
          <a:p>
            <a:pPr lvl="1">
              <a:buFont typeface="Arial" panose="020B0604020202020204" pitchFamily="34" charset="0"/>
              <a:buChar char="•"/>
            </a:pPr>
            <a:r>
              <a:rPr lang="en-PH" b="1" dirty="0"/>
              <a:t>Leyte Geothermal Production Field </a:t>
            </a:r>
            <a:r>
              <a:rPr lang="en-PH" dirty="0"/>
              <a:t>(1,400 MW)</a:t>
            </a:r>
            <a:endParaRPr lang="en-PH" b="1" dirty="0"/>
          </a:p>
          <a:p>
            <a:pPr lvl="1">
              <a:buFont typeface="Arial" panose="020B0604020202020204" pitchFamily="34" charset="0"/>
              <a:buChar char="•"/>
            </a:pPr>
            <a:r>
              <a:rPr lang="en-PH" b="1" dirty="0" err="1"/>
              <a:t>Makban</a:t>
            </a:r>
            <a:r>
              <a:rPr lang="en-PH" b="1" dirty="0"/>
              <a:t> Geothermal Power Plant</a:t>
            </a:r>
          </a:p>
          <a:p>
            <a:pPr lvl="1">
              <a:buFont typeface="Arial" panose="020B0604020202020204" pitchFamily="34" charset="0"/>
              <a:buChar char="•"/>
            </a:pPr>
            <a:r>
              <a:rPr lang="en-PH" b="1" dirty="0"/>
              <a:t>Tiwi Geothermal Power Plant.</a:t>
            </a:r>
            <a:endParaRPr lang="en-US" sz="3000" b="1" dirty="0"/>
          </a:p>
          <a:p>
            <a:endParaRPr lang="en-US" dirty="0"/>
          </a:p>
        </p:txBody>
      </p:sp>
      <p:pic>
        <p:nvPicPr>
          <p:cNvPr id="4" name="Picture 2" descr="Geothermal Energy | A Student's Guide to Global Climate Change | US EPA">
            <a:extLst>
              <a:ext uri="{FF2B5EF4-FFF2-40B4-BE49-F238E27FC236}">
                <a16:creationId xmlns:a16="http://schemas.microsoft.com/office/drawing/2014/main" id="{E66A9139-0F4D-1D27-1900-049B3292E74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731641" y="2517535"/>
            <a:ext cx="6391533" cy="358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86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5B4C83-C091-2BE8-33CF-51C722E846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3EF6EA2D-ABD3-B90C-DE21-9B796FA65E97}"/>
              </a:ext>
            </a:extLst>
          </p:cNvPr>
          <p:cNvSpPr>
            <a:spLocks noGrp="1"/>
          </p:cNvSpPr>
          <p:nvPr>
            <p:ph type="title"/>
          </p:nvPr>
        </p:nvSpPr>
        <p:spPr>
          <a:xfrm>
            <a:off x="994087" y="1130603"/>
            <a:ext cx="3342442" cy="4596794"/>
          </a:xfrm>
        </p:spPr>
        <p:txBody>
          <a:bodyPr anchor="ctr">
            <a:normAutofit/>
          </a:bodyPr>
          <a:lstStyle/>
          <a:p>
            <a:br>
              <a:rPr lang="en-US" sz="3200" b="1">
                <a:solidFill>
                  <a:srgbClr val="EBEBEB"/>
                </a:solidFill>
              </a:rPr>
            </a:br>
            <a:r>
              <a:rPr lang="en-US" sz="3200" b="1">
                <a:solidFill>
                  <a:srgbClr val="EBEBEB"/>
                </a:solidFill>
              </a:rPr>
              <a:t>Geothermal Energy</a:t>
            </a:r>
            <a:br>
              <a:rPr lang="en-US" sz="3200" b="1">
                <a:solidFill>
                  <a:srgbClr val="EBEBEB"/>
                </a:solidFill>
              </a:rPr>
            </a:br>
            <a:endParaRPr lang="en-US" sz="3200">
              <a:solidFill>
                <a:srgbClr val="EBEBEB"/>
              </a:solidFill>
            </a:endParaRPr>
          </a:p>
        </p:txBody>
      </p:sp>
      <p:sp>
        <p:nvSpPr>
          <p:cNvPr id="3" name="Content Placeholder 2">
            <a:extLst>
              <a:ext uri="{FF2B5EF4-FFF2-40B4-BE49-F238E27FC236}">
                <a16:creationId xmlns:a16="http://schemas.microsoft.com/office/drawing/2014/main" id="{1807B331-2446-06D2-A84B-C44DA1DB7438}"/>
              </a:ext>
            </a:extLst>
          </p:cNvPr>
          <p:cNvSpPr>
            <a:spLocks noGrp="1"/>
          </p:cNvSpPr>
          <p:nvPr>
            <p:ph idx="1"/>
          </p:nvPr>
        </p:nvSpPr>
        <p:spPr>
          <a:xfrm>
            <a:off x="5290077" y="437513"/>
            <a:ext cx="5502614" cy="5954325"/>
          </a:xfrm>
        </p:spPr>
        <p:txBody>
          <a:bodyPr anchor="ctr">
            <a:normAutofit/>
          </a:bodyPr>
          <a:lstStyle/>
          <a:p>
            <a:r>
              <a:rPr lang="en-US" sz="2400" b="1" dirty="0"/>
              <a:t>Advantages</a:t>
            </a:r>
            <a:endParaRPr lang="en-US" sz="2400" dirty="0"/>
          </a:p>
          <a:p>
            <a:pPr>
              <a:buFont typeface="Arial" panose="020B0604020202020204" pitchFamily="34" charset="0"/>
              <a:buChar char="•"/>
            </a:pPr>
            <a:r>
              <a:rPr lang="en-US" sz="2400" dirty="0"/>
              <a:t>Low greenhouse gas emissions</a:t>
            </a:r>
          </a:p>
          <a:p>
            <a:pPr>
              <a:buFont typeface="Arial" panose="020B0604020202020204" pitchFamily="34" charset="0"/>
              <a:buChar char="•"/>
            </a:pPr>
            <a:r>
              <a:rPr lang="en-US" sz="2400" dirty="0"/>
              <a:t>Reliable and consistent power source</a:t>
            </a:r>
          </a:p>
          <a:p>
            <a:pPr>
              <a:buFont typeface="Arial" panose="020B0604020202020204" pitchFamily="34" charset="0"/>
              <a:buChar char="•"/>
            </a:pPr>
            <a:r>
              <a:rPr lang="en-US" sz="2400" dirty="0"/>
              <a:t>Minimal land use</a:t>
            </a:r>
          </a:p>
          <a:p>
            <a:r>
              <a:rPr lang="en-US" sz="2400" b="1" dirty="0"/>
              <a:t>Disadvantages</a:t>
            </a:r>
            <a:endParaRPr lang="en-US" sz="2400" dirty="0"/>
          </a:p>
          <a:p>
            <a:pPr>
              <a:buFont typeface="Arial" panose="020B0604020202020204" pitchFamily="34" charset="0"/>
              <a:buChar char="•"/>
            </a:pPr>
            <a:r>
              <a:rPr lang="en-US" sz="2400" dirty="0"/>
              <a:t>Limited availability of suitable geothermal sites</a:t>
            </a:r>
          </a:p>
          <a:p>
            <a:pPr>
              <a:buFont typeface="Arial" panose="020B0604020202020204" pitchFamily="34" charset="0"/>
              <a:buChar char="•"/>
            </a:pPr>
            <a:r>
              <a:rPr lang="en-US" sz="2400" dirty="0"/>
              <a:t>Potential for groundwater contamination</a:t>
            </a:r>
          </a:p>
          <a:p>
            <a:pPr>
              <a:buFont typeface="Arial" panose="020B0604020202020204" pitchFamily="34" charset="0"/>
              <a:buChar char="•"/>
            </a:pPr>
            <a:r>
              <a:rPr lang="en-US" sz="2400" dirty="0"/>
              <a:t>High initial cost of installation</a:t>
            </a:r>
          </a:p>
          <a:p>
            <a:endParaRPr lang="en-US" sz="2000" dirty="0"/>
          </a:p>
        </p:txBody>
      </p:sp>
    </p:spTree>
    <p:extLst>
      <p:ext uri="{BB962C8B-B14F-4D97-AF65-F5344CB8AC3E}">
        <p14:creationId xmlns:p14="http://schemas.microsoft.com/office/powerpoint/2010/main" val="1110854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EB44C-96AB-DFB2-3521-05BF8AF986B9}"/>
              </a:ext>
            </a:extLst>
          </p:cNvPr>
          <p:cNvSpPr>
            <a:spLocks noGrp="1"/>
          </p:cNvSpPr>
          <p:nvPr>
            <p:ph type="title"/>
          </p:nvPr>
        </p:nvSpPr>
        <p:spPr/>
        <p:txBody>
          <a:bodyPr/>
          <a:lstStyle/>
          <a:p>
            <a:br>
              <a:rPr lang="en-US" b="1" dirty="0">
                <a:solidFill>
                  <a:srgbClr val="EBEBEB"/>
                </a:solidFill>
              </a:rPr>
            </a:br>
            <a:r>
              <a:rPr lang="en-US" b="1" dirty="0">
                <a:solidFill>
                  <a:srgbClr val="EBEBEB"/>
                </a:solidFill>
              </a:rPr>
              <a:t>Biomass Energy</a:t>
            </a:r>
            <a:br>
              <a:rPr lang="en-US" b="1" dirty="0">
                <a:solidFill>
                  <a:srgbClr val="EBEBEB"/>
                </a:solidFill>
              </a:rPr>
            </a:br>
            <a:endParaRPr lang="en-US" dirty="0"/>
          </a:p>
        </p:txBody>
      </p:sp>
      <p:sp>
        <p:nvSpPr>
          <p:cNvPr id="3" name="Content Placeholder 2">
            <a:extLst>
              <a:ext uri="{FF2B5EF4-FFF2-40B4-BE49-F238E27FC236}">
                <a16:creationId xmlns:a16="http://schemas.microsoft.com/office/drawing/2014/main" id="{03D6A58D-CCC4-5F1C-75C4-AC335060BD7B}"/>
              </a:ext>
            </a:extLst>
          </p:cNvPr>
          <p:cNvSpPr>
            <a:spLocks noGrp="1"/>
          </p:cNvSpPr>
          <p:nvPr>
            <p:ph idx="1"/>
          </p:nvPr>
        </p:nvSpPr>
        <p:spPr>
          <a:xfrm>
            <a:off x="1154955" y="2603500"/>
            <a:ext cx="5255678" cy="3416300"/>
          </a:xfrm>
        </p:spPr>
        <p:txBody>
          <a:bodyPr/>
          <a:lstStyle/>
          <a:p>
            <a:pPr algn="just"/>
            <a:r>
              <a:rPr lang="en-US" sz="2800" b="1" dirty="0"/>
              <a:t>Organic matter</a:t>
            </a:r>
            <a:r>
              <a:rPr lang="en-US" sz="2800" dirty="0"/>
              <a:t>, such as wood, agricultural waste, or animal manure, is burned to produce heat or electricity.</a:t>
            </a:r>
          </a:p>
          <a:p>
            <a:endParaRPr lang="en-US" dirty="0"/>
          </a:p>
        </p:txBody>
      </p:sp>
      <p:pic>
        <p:nvPicPr>
          <p:cNvPr id="4" name="Picture 4" descr="Biomass power plants: operation, advantages and disadvantages | Be Atex">
            <a:extLst>
              <a:ext uri="{FF2B5EF4-FFF2-40B4-BE49-F238E27FC236}">
                <a16:creationId xmlns:a16="http://schemas.microsoft.com/office/drawing/2014/main" id="{02F4B03D-8311-EA04-9EF3-7C32193F56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424" y="2851355"/>
            <a:ext cx="5074407" cy="2732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125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72D14E-4CF8-A0CA-7337-6E3DD18D7B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98A89D55-E682-839A-44E3-583046600353}"/>
              </a:ext>
            </a:extLst>
          </p:cNvPr>
          <p:cNvSpPr>
            <a:spLocks noGrp="1"/>
          </p:cNvSpPr>
          <p:nvPr>
            <p:ph type="title"/>
          </p:nvPr>
        </p:nvSpPr>
        <p:spPr>
          <a:xfrm>
            <a:off x="994087" y="1130603"/>
            <a:ext cx="3342442" cy="4596794"/>
          </a:xfrm>
        </p:spPr>
        <p:txBody>
          <a:bodyPr anchor="ctr">
            <a:normAutofit/>
          </a:bodyPr>
          <a:lstStyle/>
          <a:p>
            <a:br>
              <a:rPr lang="en-US" sz="3200" b="1">
                <a:solidFill>
                  <a:srgbClr val="EBEBEB"/>
                </a:solidFill>
              </a:rPr>
            </a:br>
            <a:r>
              <a:rPr lang="en-US" sz="3200" b="1">
                <a:solidFill>
                  <a:srgbClr val="EBEBEB"/>
                </a:solidFill>
              </a:rPr>
              <a:t>Biomass Energy</a:t>
            </a:r>
            <a:br>
              <a:rPr lang="en-US" sz="3200" b="1">
                <a:solidFill>
                  <a:srgbClr val="EBEBEB"/>
                </a:solidFill>
              </a:rPr>
            </a:br>
            <a:endParaRPr lang="en-US" sz="3200">
              <a:solidFill>
                <a:srgbClr val="EBEBEB"/>
              </a:solidFill>
            </a:endParaRPr>
          </a:p>
        </p:txBody>
      </p:sp>
      <p:sp>
        <p:nvSpPr>
          <p:cNvPr id="3" name="Content Placeholder 2">
            <a:extLst>
              <a:ext uri="{FF2B5EF4-FFF2-40B4-BE49-F238E27FC236}">
                <a16:creationId xmlns:a16="http://schemas.microsoft.com/office/drawing/2014/main" id="{118430F4-2B80-DAEF-589D-C2BC0FABC12F}"/>
              </a:ext>
            </a:extLst>
          </p:cNvPr>
          <p:cNvSpPr>
            <a:spLocks noGrp="1"/>
          </p:cNvSpPr>
          <p:nvPr>
            <p:ph idx="1"/>
          </p:nvPr>
        </p:nvSpPr>
        <p:spPr>
          <a:xfrm>
            <a:off x="5290077" y="437513"/>
            <a:ext cx="5502614" cy="5954325"/>
          </a:xfrm>
        </p:spPr>
        <p:txBody>
          <a:bodyPr anchor="ctr">
            <a:normAutofit/>
          </a:bodyPr>
          <a:lstStyle/>
          <a:p>
            <a:r>
              <a:rPr lang="en-US" sz="3200" b="1" dirty="0"/>
              <a:t>Advantages</a:t>
            </a:r>
            <a:endParaRPr lang="en-US" sz="3200" dirty="0"/>
          </a:p>
          <a:p>
            <a:pPr>
              <a:buFont typeface="Arial" panose="020B0604020202020204" pitchFamily="34" charset="0"/>
              <a:buChar char="•"/>
            </a:pPr>
            <a:r>
              <a:rPr lang="en-US" sz="3200" dirty="0"/>
              <a:t>Reduces waste</a:t>
            </a:r>
          </a:p>
          <a:p>
            <a:pPr>
              <a:buFont typeface="Arial" panose="020B0604020202020204" pitchFamily="34" charset="0"/>
              <a:buChar char="•"/>
            </a:pPr>
            <a:r>
              <a:rPr lang="en-US" sz="3200" dirty="0"/>
              <a:t>Can be carbon-neutral</a:t>
            </a:r>
          </a:p>
          <a:p>
            <a:pPr>
              <a:buFont typeface="Arial" panose="020B0604020202020204" pitchFamily="34" charset="0"/>
              <a:buChar char="•"/>
            </a:pPr>
            <a:r>
              <a:rPr lang="en-US" sz="3200" dirty="0"/>
              <a:t>Versatile fuel source</a:t>
            </a:r>
          </a:p>
          <a:p>
            <a:r>
              <a:rPr lang="en-US" sz="3200" b="1" dirty="0"/>
              <a:t>Disadvantages</a:t>
            </a:r>
            <a:endParaRPr lang="en-US" sz="3200" dirty="0"/>
          </a:p>
          <a:p>
            <a:pPr>
              <a:buFont typeface="Arial" panose="020B0604020202020204" pitchFamily="34" charset="0"/>
              <a:buChar char="•"/>
            </a:pPr>
            <a:r>
              <a:rPr lang="en-US" sz="3200" dirty="0"/>
              <a:t>Potential for air pollution</a:t>
            </a:r>
          </a:p>
          <a:p>
            <a:pPr>
              <a:buFont typeface="Arial" panose="020B0604020202020204" pitchFamily="34" charset="0"/>
              <a:buChar char="•"/>
            </a:pPr>
            <a:r>
              <a:rPr lang="en-US" sz="3200" dirty="0"/>
              <a:t>Inefficient energy conversion</a:t>
            </a:r>
          </a:p>
          <a:p>
            <a:endParaRPr lang="en-US" sz="2000" dirty="0"/>
          </a:p>
        </p:txBody>
      </p:sp>
    </p:spTree>
    <p:extLst>
      <p:ext uri="{BB962C8B-B14F-4D97-AF65-F5344CB8AC3E}">
        <p14:creationId xmlns:p14="http://schemas.microsoft.com/office/powerpoint/2010/main" val="137708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6AFC2-F376-4BEC-247F-8DC688409973}"/>
              </a:ext>
            </a:extLst>
          </p:cNvPr>
          <p:cNvSpPr>
            <a:spLocks noGrp="1"/>
          </p:cNvSpPr>
          <p:nvPr>
            <p:ph type="title"/>
          </p:nvPr>
        </p:nvSpPr>
        <p:spPr/>
        <p:txBody>
          <a:bodyPr/>
          <a:lstStyle/>
          <a:p>
            <a:pPr>
              <a:buClr>
                <a:schemeClr val="accent1"/>
              </a:buClr>
              <a:buSzPct val="80000"/>
            </a:pPr>
            <a:br>
              <a:rPr lang="en-PH" b="1" dirty="0"/>
            </a:br>
            <a:r>
              <a:rPr lang="en-PH" b="1" dirty="0"/>
              <a:t>Global Energy Challenges</a:t>
            </a:r>
            <a:br>
              <a:rPr lang="en-PH" b="1" dirty="0"/>
            </a:br>
            <a:endParaRPr lang="en-PH" dirty="0"/>
          </a:p>
        </p:txBody>
      </p:sp>
      <p:sp>
        <p:nvSpPr>
          <p:cNvPr id="3" name="Content Placeholder 2">
            <a:extLst>
              <a:ext uri="{FF2B5EF4-FFF2-40B4-BE49-F238E27FC236}">
                <a16:creationId xmlns:a16="http://schemas.microsoft.com/office/drawing/2014/main" id="{13C9B233-8F0B-6A90-931E-7640689873B8}"/>
              </a:ext>
            </a:extLst>
          </p:cNvPr>
          <p:cNvSpPr>
            <a:spLocks noGrp="1"/>
          </p:cNvSpPr>
          <p:nvPr>
            <p:ph idx="1"/>
          </p:nvPr>
        </p:nvSpPr>
        <p:spPr>
          <a:xfrm>
            <a:off x="1154954" y="2603499"/>
            <a:ext cx="8825659" cy="3982357"/>
          </a:xfrm>
        </p:spPr>
        <p:txBody>
          <a:bodyPr>
            <a:normAutofit fontScale="92500" lnSpcReduction="20000"/>
          </a:bodyPr>
          <a:lstStyle/>
          <a:p>
            <a:pPr marL="0" indent="0">
              <a:buNone/>
            </a:pPr>
            <a:r>
              <a:rPr lang="en-PH" sz="1900" b="1" dirty="0"/>
              <a:t>A. Climate Change</a:t>
            </a:r>
          </a:p>
          <a:p>
            <a:r>
              <a:rPr lang="en-PH" sz="1900" dirty="0"/>
              <a:t>Burning coal, oil, and natural gas releases greenhouse gases that contribute to global warming and climate change.</a:t>
            </a:r>
          </a:p>
          <a:p>
            <a:pPr marL="0" indent="0">
              <a:buNone/>
            </a:pPr>
            <a:r>
              <a:rPr lang="en-PH" sz="1900" b="1" dirty="0"/>
              <a:t>B. Energy Security</a:t>
            </a:r>
          </a:p>
          <a:p>
            <a:r>
              <a:rPr lang="en-PH" sz="1900" dirty="0"/>
              <a:t>Countries need a reliable and affordable supply of energy. Dependence on imported fuel can make countries vulnerable to price changes and supply disruptions.</a:t>
            </a:r>
          </a:p>
          <a:p>
            <a:pPr marL="0" indent="0">
              <a:buNone/>
            </a:pPr>
            <a:r>
              <a:rPr lang="en-PH" sz="1900" b="1" dirty="0"/>
              <a:t>C. Energy Poverty</a:t>
            </a:r>
          </a:p>
          <a:p>
            <a:r>
              <a:rPr lang="en-PH" sz="1900" dirty="0"/>
              <a:t>Some communities still have limited or unreliable access to electricity and clean energy.</a:t>
            </a:r>
          </a:p>
          <a:p>
            <a:pPr marL="0" indent="0">
              <a:buNone/>
            </a:pPr>
            <a:r>
              <a:rPr lang="en-PH" sz="1900" b="1" dirty="0"/>
              <a:t>D. Depletion of Fossil Fuels</a:t>
            </a:r>
          </a:p>
          <a:p>
            <a:r>
              <a:rPr lang="en-PH" sz="1900" dirty="0"/>
              <a:t>Coal, oil, and natural gas are </a:t>
            </a:r>
            <a:r>
              <a:rPr lang="en-PH" sz="1900" b="1" dirty="0"/>
              <a:t>finite resources</a:t>
            </a:r>
            <a:r>
              <a:rPr lang="en-PH" sz="1900" dirty="0"/>
              <a:t>. They take millions of years to form and cannot be replaced quickly.</a:t>
            </a:r>
          </a:p>
          <a:p>
            <a:endParaRPr lang="en-PH" dirty="0"/>
          </a:p>
        </p:txBody>
      </p:sp>
    </p:spTree>
    <p:extLst>
      <p:ext uri="{BB962C8B-B14F-4D97-AF65-F5344CB8AC3E}">
        <p14:creationId xmlns:p14="http://schemas.microsoft.com/office/powerpoint/2010/main" val="350141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C892-5D34-6011-2D6D-617E7E2C1D19}"/>
              </a:ext>
            </a:extLst>
          </p:cNvPr>
          <p:cNvSpPr>
            <a:spLocks noGrp="1"/>
          </p:cNvSpPr>
          <p:nvPr>
            <p:ph type="title"/>
          </p:nvPr>
        </p:nvSpPr>
        <p:spPr/>
        <p:txBody>
          <a:bodyPr/>
          <a:lstStyle/>
          <a:p>
            <a:r>
              <a:rPr lang="en-PH" dirty="0"/>
              <a:t>Cont.</a:t>
            </a:r>
          </a:p>
        </p:txBody>
      </p:sp>
      <p:sp>
        <p:nvSpPr>
          <p:cNvPr id="3" name="Content Placeholder 2">
            <a:extLst>
              <a:ext uri="{FF2B5EF4-FFF2-40B4-BE49-F238E27FC236}">
                <a16:creationId xmlns:a16="http://schemas.microsoft.com/office/drawing/2014/main" id="{607EEB47-B893-070E-859C-F20098BAC80D}"/>
              </a:ext>
            </a:extLst>
          </p:cNvPr>
          <p:cNvSpPr>
            <a:spLocks noGrp="1"/>
          </p:cNvSpPr>
          <p:nvPr>
            <p:ph idx="1"/>
          </p:nvPr>
        </p:nvSpPr>
        <p:spPr/>
        <p:txBody>
          <a:bodyPr>
            <a:normAutofit/>
          </a:bodyPr>
          <a:lstStyle/>
          <a:p>
            <a:pPr marL="0" indent="0">
              <a:buNone/>
            </a:pPr>
            <a:r>
              <a:rPr lang="en-PH" b="1" dirty="0"/>
              <a:t>E. Environmental Pollution</a:t>
            </a:r>
          </a:p>
          <a:p>
            <a:r>
              <a:rPr lang="en-PH" dirty="0"/>
              <a:t>Energy production and consumption can contribute to:</a:t>
            </a:r>
          </a:p>
          <a:p>
            <a:pPr lvl="1"/>
            <a:r>
              <a:rPr lang="en-PH" dirty="0"/>
              <a:t>Air pollution </a:t>
            </a:r>
          </a:p>
          <a:p>
            <a:pPr lvl="1"/>
            <a:r>
              <a:rPr lang="en-PH" dirty="0"/>
              <a:t>Water pollution </a:t>
            </a:r>
          </a:p>
          <a:p>
            <a:pPr lvl="1"/>
            <a:r>
              <a:rPr lang="en-PH" dirty="0"/>
              <a:t>Land degradation </a:t>
            </a:r>
          </a:p>
          <a:p>
            <a:pPr lvl="1"/>
            <a:r>
              <a:rPr lang="en-PH" dirty="0"/>
              <a:t>Waste generation </a:t>
            </a:r>
          </a:p>
          <a:p>
            <a:pPr marL="0" indent="0">
              <a:buNone/>
            </a:pPr>
            <a:r>
              <a:rPr lang="en-PH" b="1" dirty="0"/>
              <a:t>F. Increasing Energy Demand</a:t>
            </a:r>
          </a:p>
          <a:p>
            <a:r>
              <a:rPr lang="en-PH" dirty="0"/>
              <a:t>As population, industries, transportation, and technology grow, the demand for energy also increases.</a:t>
            </a:r>
          </a:p>
          <a:p>
            <a:endParaRPr lang="en-PH" dirty="0"/>
          </a:p>
        </p:txBody>
      </p:sp>
    </p:spTree>
    <p:extLst>
      <p:ext uri="{BB962C8B-B14F-4D97-AF65-F5344CB8AC3E}">
        <p14:creationId xmlns:p14="http://schemas.microsoft.com/office/powerpoint/2010/main" val="4090395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3072-05AC-DD94-2209-B0ADFAF37F4E}"/>
              </a:ext>
            </a:extLst>
          </p:cNvPr>
          <p:cNvSpPr>
            <a:spLocks noGrp="1"/>
          </p:cNvSpPr>
          <p:nvPr>
            <p:ph type="title"/>
          </p:nvPr>
        </p:nvSpPr>
        <p:spPr/>
        <p:txBody>
          <a:bodyPr/>
          <a:lstStyle/>
          <a:p>
            <a:r>
              <a:rPr lang="en-PH" dirty="0"/>
              <a:t>The Future of Energy</a:t>
            </a:r>
          </a:p>
        </p:txBody>
      </p:sp>
      <p:sp>
        <p:nvSpPr>
          <p:cNvPr id="3" name="Content Placeholder 2">
            <a:extLst>
              <a:ext uri="{FF2B5EF4-FFF2-40B4-BE49-F238E27FC236}">
                <a16:creationId xmlns:a16="http://schemas.microsoft.com/office/drawing/2014/main" id="{1BC7EB36-DD74-0C1E-AB08-60BCDFCE0474}"/>
              </a:ext>
            </a:extLst>
          </p:cNvPr>
          <p:cNvSpPr>
            <a:spLocks noGrp="1"/>
          </p:cNvSpPr>
          <p:nvPr>
            <p:ph idx="1"/>
          </p:nvPr>
        </p:nvSpPr>
        <p:spPr>
          <a:xfrm>
            <a:off x="1154954" y="2603500"/>
            <a:ext cx="8825659" cy="3797300"/>
          </a:xfrm>
        </p:spPr>
        <p:txBody>
          <a:bodyPr>
            <a:normAutofit fontScale="92500" lnSpcReduction="20000"/>
          </a:bodyPr>
          <a:lstStyle/>
          <a:p>
            <a:pPr marL="0" indent="0">
              <a:buNone/>
            </a:pPr>
            <a:r>
              <a:rPr lang="en-PH" sz="2400" b="1" dirty="0"/>
              <a:t>Possible Future Energy Developments</a:t>
            </a:r>
          </a:p>
          <a:p>
            <a:pPr marL="0" indent="0">
              <a:buNone/>
            </a:pPr>
            <a:r>
              <a:rPr lang="en-PH" sz="2400" b="1" dirty="0"/>
              <a:t>Solar Energy</a:t>
            </a:r>
            <a:endParaRPr lang="en-PH" sz="2400" dirty="0"/>
          </a:p>
          <a:p>
            <a:pPr lvl="0"/>
            <a:r>
              <a:rPr lang="en-PH" sz="2400" dirty="0"/>
              <a:t>Solar technology can be used in homes, schools, and communities.</a:t>
            </a:r>
          </a:p>
          <a:p>
            <a:pPr marL="0" indent="0">
              <a:buNone/>
            </a:pPr>
            <a:r>
              <a:rPr lang="en-PH" sz="2400" b="1" dirty="0"/>
              <a:t>Electric Transportation</a:t>
            </a:r>
            <a:endParaRPr lang="en-PH" sz="2400" dirty="0"/>
          </a:p>
          <a:p>
            <a:pPr lvl="0"/>
            <a:r>
              <a:rPr lang="en-PH" sz="2400" dirty="0"/>
              <a:t>Electric vehicles can reduce dependence on gasoline and diesel. </a:t>
            </a:r>
          </a:p>
          <a:p>
            <a:pPr marL="0" indent="0">
              <a:buNone/>
            </a:pPr>
            <a:r>
              <a:rPr lang="en-PH" sz="2400" b="1" dirty="0"/>
              <a:t>Smart Energy Systems</a:t>
            </a:r>
            <a:endParaRPr lang="en-PH" sz="2400" dirty="0"/>
          </a:p>
          <a:p>
            <a:pPr lvl="0"/>
            <a:r>
              <a:rPr lang="en-PH" sz="2400" dirty="0"/>
              <a:t>Technology can help monitor and manage energy consumption more efficiently.</a:t>
            </a:r>
          </a:p>
          <a:p>
            <a:endParaRPr lang="en-PH" dirty="0"/>
          </a:p>
        </p:txBody>
      </p:sp>
    </p:spTree>
    <p:extLst>
      <p:ext uri="{BB962C8B-B14F-4D97-AF65-F5344CB8AC3E}">
        <p14:creationId xmlns:p14="http://schemas.microsoft.com/office/powerpoint/2010/main" val="2636136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5F51E-8627-4745-55F2-6AD1249B1D6A}"/>
              </a:ext>
            </a:extLst>
          </p:cNvPr>
          <p:cNvSpPr>
            <a:spLocks noGrp="1"/>
          </p:cNvSpPr>
          <p:nvPr>
            <p:ph type="title"/>
          </p:nvPr>
        </p:nvSpPr>
        <p:spPr/>
        <p:txBody>
          <a:bodyPr/>
          <a:lstStyle/>
          <a:p>
            <a:pPr>
              <a:buClr>
                <a:schemeClr val="accent1"/>
              </a:buClr>
              <a:buSzPct val="80000"/>
            </a:pPr>
            <a:r>
              <a:rPr lang="en-PH" b="1" dirty="0"/>
              <a:t>Sustainable Energy Practices</a:t>
            </a:r>
            <a:br>
              <a:rPr lang="en-PH" b="1" dirty="0"/>
            </a:br>
            <a:endParaRPr lang="en-PH" dirty="0"/>
          </a:p>
        </p:txBody>
      </p:sp>
      <p:sp>
        <p:nvSpPr>
          <p:cNvPr id="3" name="Content Placeholder 2">
            <a:extLst>
              <a:ext uri="{FF2B5EF4-FFF2-40B4-BE49-F238E27FC236}">
                <a16:creationId xmlns:a16="http://schemas.microsoft.com/office/drawing/2014/main" id="{6E295A59-AC57-C115-C451-B9774B3A132A}"/>
              </a:ext>
            </a:extLst>
          </p:cNvPr>
          <p:cNvSpPr>
            <a:spLocks noGrp="1"/>
          </p:cNvSpPr>
          <p:nvPr>
            <p:ph idx="1"/>
          </p:nvPr>
        </p:nvSpPr>
        <p:spPr/>
        <p:txBody>
          <a:bodyPr>
            <a:normAutofit fontScale="92500" lnSpcReduction="20000"/>
          </a:bodyPr>
          <a:lstStyle/>
          <a:p>
            <a:pPr lvl="0"/>
            <a:r>
              <a:rPr lang="en-PH" b="1" dirty="0"/>
              <a:t>Turn off lights and appliances when not in use.</a:t>
            </a:r>
            <a:r>
              <a:rPr lang="en-PH" dirty="0"/>
              <a:t> </a:t>
            </a:r>
          </a:p>
          <a:p>
            <a:pPr lvl="0"/>
            <a:r>
              <a:rPr lang="en-PH" b="1" dirty="0"/>
              <a:t>Use energy-efficient appliances.</a:t>
            </a:r>
            <a:r>
              <a:rPr lang="en-PH" dirty="0"/>
              <a:t> </a:t>
            </a:r>
          </a:p>
          <a:p>
            <a:pPr lvl="0"/>
            <a:r>
              <a:rPr lang="en-PH" b="1" dirty="0"/>
              <a:t>Use natural light whenever possible.</a:t>
            </a:r>
            <a:r>
              <a:rPr lang="en-PH" dirty="0"/>
              <a:t> </a:t>
            </a:r>
          </a:p>
          <a:p>
            <a:pPr lvl="0"/>
            <a:r>
              <a:rPr lang="en-PH" b="1" dirty="0"/>
              <a:t>Reduce unnecessary use of air-conditioning.</a:t>
            </a:r>
            <a:r>
              <a:rPr lang="en-PH" dirty="0"/>
              <a:t> </a:t>
            </a:r>
          </a:p>
          <a:p>
            <a:pPr lvl="0"/>
            <a:r>
              <a:rPr lang="en-PH" b="1" dirty="0"/>
              <a:t>Walk, bike, carpool, or use public transportation when possible.</a:t>
            </a:r>
            <a:r>
              <a:rPr lang="en-PH" dirty="0"/>
              <a:t> </a:t>
            </a:r>
          </a:p>
          <a:p>
            <a:pPr lvl="0"/>
            <a:r>
              <a:rPr lang="en-PH" b="1" dirty="0"/>
              <a:t>Use renewable energy when available.</a:t>
            </a:r>
            <a:r>
              <a:rPr lang="en-PH" dirty="0"/>
              <a:t> </a:t>
            </a:r>
          </a:p>
          <a:p>
            <a:pPr lvl="0"/>
            <a:r>
              <a:rPr lang="en-PH" b="1" dirty="0"/>
              <a:t>Maintain electrical equipment properly.</a:t>
            </a:r>
            <a:r>
              <a:rPr lang="en-PH" dirty="0"/>
              <a:t> </a:t>
            </a:r>
          </a:p>
          <a:p>
            <a:pPr lvl="0"/>
            <a:r>
              <a:rPr lang="en-PH" b="1" dirty="0"/>
              <a:t>Reduce, reuse, and recycle materials.</a:t>
            </a:r>
            <a:r>
              <a:rPr lang="en-PH" dirty="0"/>
              <a:t> </a:t>
            </a:r>
          </a:p>
          <a:p>
            <a:pPr lvl="0"/>
            <a:r>
              <a:rPr lang="en-PH" b="1" dirty="0"/>
              <a:t>Plant and protect trees.</a:t>
            </a:r>
            <a:r>
              <a:rPr lang="en-PH" dirty="0"/>
              <a:t> </a:t>
            </a:r>
          </a:p>
          <a:p>
            <a:pPr lvl="0"/>
            <a:r>
              <a:rPr lang="en-PH" b="1" dirty="0"/>
              <a:t>Educate others about responsible energy use.</a:t>
            </a:r>
            <a:endParaRPr lang="en-PH" dirty="0"/>
          </a:p>
          <a:p>
            <a:endParaRPr lang="en-PH" dirty="0"/>
          </a:p>
        </p:txBody>
      </p:sp>
    </p:spTree>
    <p:extLst>
      <p:ext uri="{BB962C8B-B14F-4D97-AF65-F5344CB8AC3E}">
        <p14:creationId xmlns:p14="http://schemas.microsoft.com/office/powerpoint/2010/main" val="18732738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PH"/>
            </a:p>
          </p:txBody>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3" name="Rectangle 12">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 y="473745"/>
            <a:ext cx="11227090"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a:extLst>
              <a:ext uri="{FF2B5EF4-FFF2-40B4-BE49-F238E27FC236}">
                <a16:creationId xmlns:a16="http://schemas.microsoft.com/office/drawing/2014/main" id="{C6B54DF7-1F51-C80C-3CA8-8874E7971F7F}"/>
              </a:ext>
            </a:extLst>
          </p:cNvPr>
          <p:cNvSpPr>
            <a:spLocks noGrp="1"/>
          </p:cNvSpPr>
          <p:nvPr>
            <p:ph type="title"/>
          </p:nvPr>
        </p:nvSpPr>
        <p:spPr>
          <a:xfrm>
            <a:off x="1232062" y="2090176"/>
            <a:ext cx="8825658" cy="2677648"/>
          </a:xfrm>
        </p:spPr>
        <p:txBody>
          <a:bodyPr vert="horz" lIns="91440" tIns="45720" rIns="91440" bIns="45720" rtlCol="0" anchor="b">
            <a:normAutofit/>
          </a:bodyPr>
          <a:lstStyle/>
          <a:p>
            <a:pPr>
              <a:lnSpc>
                <a:spcPct val="90000"/>
              </a:lnSpc>
            </a:pPr>
            <a:r>
              <a:rPr lang="en-US" sz="4600" dirty="0">
                <a:solidFill>
                  <a:schemeClr val="tx2">
                    <a:lumMod val="75000"/>
                  </a:schemeClr>
                </a:solidFill>
              </a:rPr>
              <a:t>The future is </a:t>
            </a:r>
            <a:r>
              <a:rPr lang="en-US" sz="4600" b="1" dirty="0">
                <a:solidFill>
                  <a:schemeClr val="tx2">
                    <a:lumMod val="75000"/>
                  </a:schemeClr>
                </a:solidFill>
              </a:rPr>
              <a:t>not simply about finding more energy</a:t>
            </a:r>
            <a:r>
              <a:rPr lang="en-US" sz="4600" dirty="0">
                <a:solidFill>
                  <a:schemeClr val="tx2">
                    <a:lumMod val="75000"/>
                  </a:schemeClr>
                </a:solidFill>
              </a:rPr>
              <a:t>. It is also about using energy more </a:t>
            </a:r>
            <a:r>
              <a:rPr lang="en-US" sz="4600" b="1" dirty="0">
                <a:solidFill>
                  <a:schemeClr val="tx2">
                    <a:lumMod val="75000"/>
                  </a:schemeClr>
                </a:solidFill>
              </a:rPr>
              <a:t>efficiently</a:t>
            </a:r>
            <a:r>
              <a:rPr lang="en-US" sz="4600" dirty="0">
                <a:solidFill>
                  <a:schemeClr val="tx2">
                    <a:lumMod val="75000"/>
                  </a:schemeClr>
                </a:solidFill>
              </a:rPr>
              <a:t> and </a:t>
            </a:r>
            <a:r>
              <a:rPr lang="en-US" sz="4600" b="1" dirty="0">
                <a:solidFill>
                  <a:schemeClr val="tx2">
                    <a:lumMod val="75000"/>
                  </a:schemeClr>
                </a:solidFill>
              </a:rPr>
              <a:t>responsibly.</a:t>
            </a:r>
          </a:p>
        </p:txBody>
      </p:sp>
      <p:sp>
        <p:nvSpPr>
          <p:cNvPr id="17" name="Rectangle 16">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PH"/>
          </a:p>
        </p:txBody>
      </p:sp>
    </p:spTree>
    <p:extLst>
      <p:ext uri="{BB962C8B-B14F-4D97-AF65-F5344CB8AC3E}">
        <p14:creationId xmlns:p14="http://schemas.microsoft.com/office/powerpoint/2010/main" val="744012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CA18-D600-48A1-EAA9-2192A5D5C730}"/>
              </a:ext>
            </a:extLst>
          </p:cNvPr>
          <p:cNvSpPr>
            <a:spLocks noGrp="1"/>
          </p:cNvSpPr>
          <p:nvPr>
            <p:ph type="title"/>
          </p:nvPr>
        </p:nvSpPr>
        <p:spPr/>
        <p:txBody>
          <a:bodyPr/>
          <a:lstStyle/>
          <a:p>
            <a:pPr>
              <a:buClr>
                <a:schemeClr val="accent1"/>
              </a:buClr>
              <a:buSzPct val="80000"/>
            </a:pPr>
            <a:br>
              <a:rPr lang="en-PH" b="1" dirty="0"/>
            </a:br>
            <a:r>
              <a:rPr lang="en-PH" b="1" dirty="0"/>
              <a:t>Activity: “Energy: Then, Now, and Tomorrow”</a:t>
            </a:r>
            <a:br>
              <a:rPr lang="en-PH" b="1" dirty="0"/>
            </a:br>
            <a:endParaRPr lang="en-PH" dirty="0"/>
          </a:p>
        </p:txBody>
      </p:sp>
      <p:sp>
        <p:nvSpPr>
          <p:cNvPr id="3" name="Content Placeholder 2">
            <a:extLst>
              <a:ext uri="{FF2B5EF4-FFF2-40B4-BE49-F238E27FC236}">
                <a16:creationId xmlns:a16="http://schemas.microsoft.com/office/drawing/2014/main" id="{43AC5FA4-5DF3-0831-AF9D-C0704BAB6E1E}"/>
              </a:ext>
            </a:extLst>
          </p:cNvPr>
          <p:cNvSpPr>
            <a:spLocks noGrp="1"/>
          </p:cNvSpPr>
          <p:nvPr>
            <p:ph idx="1"/>
          </p:nvPr>
        </p:nvSpPr>
        <p:spPr>
          <a:xfrm>
            <a:off x="1154954" y="2603500"/>
            <a:ext cx="8825659" cy="1152071"/>
          </a:xfrm>
        </p:spPr>
        <p:txBody>
          <a:bodyPr/>
          <a:lstStyle/>
          <a:p>
            <a:pPr marL="0" indent="0">
              <a:buNone/>
            </a:pPr>
            <a:r>
              <a:rPr lang="en-PH" b="1" dirty="0"/>
              <a:t>Instructions</a:t>
            </a:r>
          </a:p>
          <a:p>
            <a:r>
              <a:rPr lang="en-PH" dirty="0"/>
              <a:t>Form 8 groups. Each group will analyze how energy use has changed over time.</a:t>
            </a:r>
          </a:p>
          <a:p>
            <a:endParaRPr lang="en-PH" dirty="0"/>
          </a:p>
        </p:txBody>
      </p:sp>
      <p:sp>
        <p:nvSpPr>
          <p:cNvPr id="5" name="TextBox 4">
            <a:extLst>
              <a:ext uri="{FF2B5EF4-FFF2-40B4-BE49-F238E27FC236}">
                <a16:creationId xmlns:a16="http://schemas.microsoft.com/office/drawing/2014/main" id="{5FA5BDBF-9C58-1F55-A980-E4B07AEE0EAA}"/>
              </a:ext>
            </a:extLst>
          </p:cNvPr>
          <p:cNvSpPr txBox="1"/>
          <p:nvPr/>
        </p:nvSpPr>
        <p:spPr>
          <a:xfrm>
            <a:off x="1154954" y="3770398"/>
            <a:ext cx="6096000" cy="369332"/>
          </a:xfrm>
          <a:prstGeom prst="rect">
            <a:avLst/>
          </a:prstGeom>
          <a:noFill/>
        </p:spPr>
        <p:txBody>
          <a:bodyPr wrap="square">
            <a:spAutoFit/>
          </a:bodyPr>
          <a:lstStyle/>
          <a:p>
            <a:r>
              <a:rPr lang="en-PH" dirty="0"/>
              <a:t>Complete the following:</a:t>
            </a:r>
          </a:p>
        </p:txBody>
      </p:sp>
      <p:graphicFrame>
        <p:nvGraphicFramePr>
          <p:cNvPr id="7" name="Table 6">
            <a:extLst>
              <a:ext uri="{FF2B5EF4-FFF2-40B4-BE49-F238E27FC236}">
                <a16:creationId xmlns:a16="http://schemas.microsoft.com/office/drawing/2014/main" id="{59684D7F-3639-1930-E753-3B3A4D0BAC3F}"/>
              </a:ext>
            </a:extLst>
          </p:cNvPr>
          <p:cNvGraphicFramePr>
            <a:graphicFrameLocks noGrp="1"/>
          </p:cNvGraphicFramePr>
          <p:nvPr>
            <p:extLst>
              <p:ext uri="{D42A27DB-BD31-4B8C-83A1-F6EECF244321}">
                <p14:modId xmlns:p14="http://schemas.microsoft.com/office/powerpoint/2010/main" val="1986692772"/>
              </p:ext>
            </p:extLst>
          </p:nvPr>
        </p:nvGraphicFramePr>
        <p:xfrm>
          <a:off x="1154954" y="4154557"/>
          <a:ext cx="7030965" cy="2093072"/>
        </p:xfrm>
        <a:graphic>
          <a:graphicData uri="http://schemas.openxmlformats.org/drawingml/2006/table">
            <a:tbl>
              <a:tblPr firstRow="1" bandRow="1">
                <a:tableStyleId>{073A0DAA-6AF3-43AB-8588-CEC1D06C72B9}</a:tableStyleId>
              </a:tblPr>
              <a:tblGrid>
                <a:gridCol w="1098504">
                  <a:extLst>
                    <a:ext uri="{9D8B030D-6E8A-4147-A177-3AD203B41FA5}">
                      <a16:colId xmlns:a16="http://schemas.microsoft.com/office/drawing/2014/main" val="2005334674"/>
                    </a:ext>
                  </a:extLst>
                </a:gridCol>
                <a:gridCol w="1304980">
                  <a:extLst>
                    <a:ext uri="{9D8B030D-6E8A-4147-A177-3AD203B41FA5}">
                      <a16:colId xmlns:a16="http://schemas.microsoft.com/office/drawing/2014/main" val="2898962890"/>
                    </a:ext>
                  </a:extLst>
                </a:gridCol>
                <a:gridCol w="1716581">
                  <a:extLst>
                    <a:ext uri="{9D8B030D-6E8A-4147-A177-3AD203B41FA5}">
                      <a16:colId xmlns:a16="http://schemas.microsoft.com/office/drawing/2014/main" val="1453253261"/>
                    </a:ext>
                  </a:extLst>
                </a:gridCol>
                <a:gridCol w="1427785">
                  <a:extLst>
                    <a:ext uri="{9D8B030D-6E8A-4147-A177-3AD203B41FA5}">
                      <a16:colId xmlns:a16="http://schemas.microsoft.com/office/drawing/2014/main" val="35377888"/>
                    </a:ext>
                  </a:extLst>
                </a:gridCol>
                <a:gridCol w="1483115">
                  <a:extLst>
                    <a:ext uri="{9D8B030D-6E8A-4147-A177-3AD203B41FA5}">
                      <a16:colId xmlns:a16="http://schemas.microsoft.com/office/drawing/2014/main" val="1515824239"/>
                    </a:ext>
                  </a:extLst>
                </a:gridCol>
              </a:tblGrid>
              <a:tr h="584097">
                <a:tc>
                  <a:txBody>
                    <a:bodyPr/>
                    <a:lstStyle/>
                    <a:p>
                      <a:pPr algn="ctr" fontAlgn="ctr">
                        <a:buNone/>
                      </a:pPr>
                      <a:r>
                        <a:rPr lang="en-PH" sz="1100" b="0" u="none" strike="noStrike" cap="all" spc="150" dirty="0">
                          <a:solidFill>
                            <a:schemeClr val="lt1"/>
                          </a:solidFill>
                          <a:effectLst/>
                        </a:rPr>
                        <a:t>Period</a:t>
                      </a:r>
                      <a:endParaRPr lang="en-PH" sz="1100" b="0" i="0" u="none" strike="noStrike" cap="all" spc="150" dirty="0">
                        <a:solidFill>
                          <a:schemeClr val="lt1"/>
                        </a:solidFill>
                        <a:effectLst/>
                        <a:latin typeface="Aptos Narrow" panose="020B0004020202020204" pitchFamily="34" charset="0"/>
                      </a:endParaRPr>
                    </a:p>
                  </a:txBody>
                  <a:tcPr marL="141619" marR="141619" marT="141619" marB="141619" anchor="ctr"/>
                </a:tc>
                <a:tc>
                  <a:txBody>
                    <a:bodyPr/>
                    <a:lstStyle/>
                    <a:p>
                      <a:pPr algn="ctr" fontAlgn="ctr">
                        <a:buNone/>
                      </a:pPr>
                      <a:r>
                        <a:rPr lang="en-PH" sz="1100" b="0" u="none" strike="noStrike" cap="all" spc="150">
                          <a:solidFill>
                            <a:schemeClr val="lt1"/>
                          </a:solidFill>
                          <a:effectLst/>
                        </a:rPr>
                        <a:t>Main Energy Sources</a:t>
                      </a:r>
                      <a:endParaRPr lang="en-PH" sz="1100" b="0" i="0" u="none" strike="noStrike" cap="all" spc="150">
                        <a:solidFill>
                          <a:schemeClr val="lt1"/>
                        </a:solidFill>
                        <a:effectLst/>
                        <a:latin typeface="Aptos Narrow" panose="020B0004020202020204" pitchFamily="34" charset="0"/>
                      </a:endParaRPr>
                    </a:p>
                  </a:txBody>
                  <a:tcPr marL="141619" marR="141619" marT="141619" marB="141619" anchor="ctr"/>
                </a:tc>
                <a:tc>
                  <a:txBody>
                    <a:bodyPr/>
                    <a:lstStyle/>
                    <a:p>
                      <a:pPr algn="ctr" fontAlgn="ctr">
                        <a:buNone/>
                      </a:pPr>
                      <a:r>
                        <a:rPr lang="en-PH" sz="1100" b="0" u="none" strike="noStrike" cap="all" spc="150" dirty="0">
                          <a:solidFill>
                            <a:schemeClr val="lt1"/>
                          </a:solidFill>
                          <a:effectLst/>
                        </a:rPr>
                        <a:t>How Energy Was/Is Used</a:t>
                      </a:r>
                      <a:endParaRPr lang="en-PH" sz="1100" b="0" i="0" u="none" strike="noStrike" cap="all" spc="150" dirty="0">
                        <a:solidFill>
                          <a:schemeClr val="lt1"/>
                        </a:solidFill>
                        <a:effectLst/>
                        <a:latin typeface="Aptos Narrow" panose="020B0004020202020204" pitchFamily="34" charset="0"/>
                      </a:endParaRPr>
                    </a:p>
                  </a:txBody>
                  <a:tcPr marL="141619" marR="141619" marT="141619" marB="141619" anchor="ctr"/>
                </a:tc>
                <a:tc>
                  <a:txBody>
                    <a:bodyPr/>
                    <a:lstStyle/>
                    <a:p>
                      <a:pPr algn="ctr" fontAlgn="ctr">
                        <a:buNone/>
                      </a:pPr>
                      <a:r>
                        <a:rPr lang="en-PH" sz="1100" b="0" u="none" strike="noStrike" cap="all" spc="150">
                          <a:solidFill>
                            <a:schemeClr val="lt1"/>
                          </a:solidFill>
                          <a:effectLst/>
                        </a:rPr>
                        <a:t>Problems</a:t>
                      </a:r>
                      <a:endParaRPr lang="en-PH" sz="1100" b="0" i="0" u="none" strike="noStrike" cap="all" spc="150">
                        <a:solidFill>
                          <a:schemeClr val="lt1"/>
                        </a:solidFill>
                        <a:effectLst/>
                        <a:latin typeface="Aptos Narrow" panose="020B0004020202020204" pitchFamily="34" charset="0"/>
                      </a:endParaRPr>
                    </a:p>
                  </a:txBody>
                  <a:tcPr marL="141619" marR="141619" marT="141619" marB="141619" anchor="ctr"/>
                </a:tc>
                <a:tc>
                  <a:txBody>
                    <a:bodyPr/>
                    <a:lstStyle/>
                    <a:p>
                      <a:pPr algn="ctr" fontAlgn="ctr">
                        <a:buNone/>
                      </a:pPr>
                      <a:r>
                        <a:rPr lang="en-PH" sz="1100" b="0" u="none" strike="noStrike" cap="all" spc="150">
                          <a:solidFill>
                            <a:schemeClr val="lt1"/>
                          </a:solidFill>
                          <a:effectLst/>
                        </a:rPr>
                        <a:t>Possible Solutions</a:t>
                      </a:r>
                      <a:endParaRPr lang="en-PH" sz="1100" b="0" i="0" u="none" strike="noStrike" cap="all" spc="150">
                        <a:solidFill>
                          <a:schemeClr val="lt1"/>
                        </a:solidFill>
                        <a:effectLst/>
                        <a:latin typeface="Aptos Narrow" panose="020B0004020202020204" pitchFamily="34" charset="0"/>
                      </a:endParaRPr>
                    </a:p>
                  </a:txBody>
                  <a:tcPr marL="141619" marR="141619" marT="141619" marB="141619" anchor="ctr"/>
                </a:tc>
                <a:extLst>
                  <a:ext uri="{0D108BD9-81ED-4DB2-BD59-A6C34878D82A}">
                    <a16:rowId xmlns:a16="http://schemas.microsoft.com/office/drawing/2014/main" val="3822847269"/>
                  </a:ext>
                </a:extLst>
              </a:tr>
              <a:tr h="323669">
                <a:tc>
                  <a:txBody>
                    <a:bodyPr/>
                    <a:lstStyle/>
                    <a:p>
                      <a:pPr algn="l" fontAlgn="ctr">
                        <a:buNone/>
                      </a:pPr>
                      <a:r>
                        <a:rPr lang="en-PH" sz="1000" u="none" strike="noStrike" cap="none" spc="0">
                          <a:solidFill>
                            <a:schemeClr val="tx1"/>
                          </a:solidFill>
                          <a:effectLst/>
                        </a:rPr>
                        <a:t>Past</a:t>
                      </a: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extLst>
                  <a:ext uri="{0D108BD9-81ED-4DB2-BD59-A6C34878D82A}">
                    <a16:rowId xmlns:a16="http://schemas.microsoft.com/office/drawing/2014/main" val="4206915738"/>
                  </a:ext>
                </a:extLst>
              </a:tr>
              <a:tr h="323669">
                <a:tc>
                  <a:txBody>
                    <a:bodyPr/>
                    <a:lstStyle/>
                    <a:p>
                      <a:pPr algn="l" fontAlgn="ctr">
                        <a:buNone/>
                      </a:pPr>
                      <a:r>
                        <a:rPr lang="en-PH" sz="1000" u="none" strike="noStrike" cap="none" spc="0">
                          <a:solidFill>
                            <a:schemeClr val="tx1"/>
                          </a:solidFill>
                          <a:effectLst/>
                        </a:rPr>
                        <a:t>Present</a:t>
                      </a: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dirty="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extLst>
                  <a:ext uri="{0D108BD9-81ED-4DB2-BD59-A6C34878D82A}">
                    <a16:rowId xmlns:a16="http://schemas.microsoft.com/office/drawing/2014/main" val="707288939"/>
                  </a:ext>
                </a:extLst>
              </a:tr>
              <a:tr h="323669">
                <a:tc>
                  <a:txBody>
                    <a:bodyPr/>
                    <a:lstStyle/>
                    <a:p>
                      <a:pPr algn="l" fontAlgn="ctr">
                        <a:buNone/>
                      </a:pPr>
                      <a:r>
                        <a:rPr lang="en-PH" sz="1000" u="none" strike="noStrike" cap="none" spc="0">
                          <a:solidFill>
                            <a:schemeClr val="tx1"/>
                          </a:solidFill>
                          <a:effectLst/>
                        </a:rPr>
                        <a:t>Future</a:t>
                      </a: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ctr">
                        <a:buNone/>
                      </a:pPr>
                      <a:endParaRPr lang="en-PH" sz="1000" b="0" i="0" u="none" strike="noStrike" cap="none" spc="0">
                        <a:solidFill>
                          <a:schemeClr val="tx1"/>
                        </a:solidFill>
                        <a:effectLst/>
                        <a:latin typeface="Aptos Narrow" panose="020B0004020202020204" pitchFamily="34" charset="0"/>
                      </a:endParaRPr>
                    </a:p>
                  </a:txBody>
                  <a:tcPr marL="141619" marR="141619" marT="141619" marB="141619" anchor="ctr"/>
                </a:tc>
                <a:tc>
                  <a:txBody>
                    <a:bodyPr/>
                    <a:lstStyle/>
                    <a:p>
                      <a:pPr algn="l" fontAlgn="b">
                        <a:buNone/>
                      </a:pPr>
                      <a:endParaRPr lang="en-PH" sz="1000" b="0" i="0" u="none" strike="noStrike" cap="none" spc="0" dirty="0">
                        <a:solidFill>
                          <a:schemeClr val="tx1"/>
                        </a:solidFill>
                        <a:effectLst/>
                        <a:latin typeface="Aptos Narrow" panose="020B0004020202020204" pitchFamily="34" charset="0"/>
                      </a:endParaRPr>
                    </a:p>
                  </a:txBody>
                  <a:tcPr marL="141619" marR="141619" marT="141619" marB="141619" anchor="b"/>
                </a:tc>
                <a:tc>
                  <a:txBody>
                    <a:bodyPr/>
                    <a:lstStyle/>
                    <a:p>
                      <a:pPr algn="l" fontAlgn="b">
                        <a:buNone/>
                      </a:pPr>
                      <a:endParaRPr lang="en-PH" sz="1000" b="0" i="0" u="none" strike="noStrike" cap="none" spc="0" dirty="0">
                        <a:solidFill>
                          <a:schemeClr val="tx1"/>
                        </a:solidFill>
                        <a:effectLst/>
                        <a:latin typeface="Aptos Narrow" panose="020B0004020202020204" pitchFamily="34" charset="0"/>
                      </a:endParaRPr>
                    </a:p>
                  </a:txBody>
                  <a:tcPr marL="141619" marR="141619" marT="141619" marB="141619" anchor="b"/>
                </a:tc>
                <a:extLst>
                  <a:ext uri="{0D108BD9-81ED-4DB2-BD59-A6C34878D82A}">
                    <a16:rowId xmlns:a16="http://schemas.microsoft.com/office/drawing/2014/main" val="2306916981"/>
                  </a:ext>
                </a:extLst>
              </a:tr>
            </a:tbl>
          </a:graphicData>
        </a:graphic>
      </p:graphicFrame>
    </p:spTree>
    <p:extLst>
      <p:ext uri="{BB962C8B-B14F-4D97-AF65-F5344CB8AC3E}">
        <p14:creationId xmlns:p14="http://schemas.microsoft.com/office/powerpoint/2010/main" val="33336945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3148-0953-CC0B-B991-259DA02BA809}"/>
              </a:ext>
            </a:extLst>
          </p:cNvPr>
          <p:cNvSpPr>
            <a:spLocks noGrp="1"/>
          </p:cNvSpPr>
          <p:nvPr>
            <p:ph type="title"/>
          </p:nvPr>
        </p:nvSpPr>
        <p:spPr/>
        <p:txBody>
          <a:bodyPr/>
          <a:lstStyle/>
          <a:p>
            <a:r>
              <a:rPr lang="en-PH" dirty="0"/>
              <a:t>Rubric</a:t>
            </a:r>
          </a:p>
        </p:txBody>
      </p:sp>
      <p:graphicFrame>
        <p:nvGraphicFramePr>
          <p:cNvPr id="6" name="Table 5">
            <a:extLst>
              <a:ext uri="{FF2B5EF4-FFF2-40B4-BE49-F238E27FC236}">
                <a16:creationId xmlns:a16="http://schemas.microsoft.com/office/drawing/2014/main" id="{7C7CB313-93BE-09DD-B865-FA38D14090EE}"/>
              </a:ext>
            </a:extLst>
          </p:cNvPr>
          <p:cNvGraphicFramePr>
            <a:graphicFrameLocks noGrp="1"/>
          </p:cNvGraphicFramePr>
          <p:nvPr>
            <p:extLst>
              <p:ext uri="{D42A27DB-BD31-4B8C-83A1-F6EECF244321}">
                <p14:modId xmlns:p14="http://schemas.microsoft.com/office/powerpoint/2010/main" val="994468993"/>
              </p:ext>
            </p:extLst>
          </p:nvPr>
        </p:nvGraphicFramePr>
        <p:xfrm>
          <a:off x="1691587" y="2608441"/>
          <a:ext cx="8539778" cy="3609447"/>
        </p:xfrm>
        <a:graphic>
          <a:graphicData uri="http://schemas.openxmlformats.org/drawingml/2006/table">
            <a:tbl>
              <a:tblPr firstRow="1" bandRow="1">
                <a:noFill/>
                <a:tableStyleId>{5C22544A-7EE6-4342-B048-85BDC9FD1C3A}</a:tableStyleId>
              </a:tblPr>
              <a:tblGrid>
                <a:gridCol w="1265514">
                  <a:extLst>
                    <a:ext uri="{9D8B030D-6E8A-4147-A177-3AD203B41FA5}">
                      <a16:colId xmlns:a16="http://schemas.microsoft.com/office/drawing/2014/main" val="1753544428"/>
                    </a:ext>
                  </a:extLst>
                </a:gridCol>
                <a:gridCol w="1979749">
                  <a:extLst>
                    <a:ext uri="{9D8B030D-6E8A-4147-A177-3AD203B41FA5}">
                      <a16:colId xmlns:a16="http://schemas.microsoft.com/office/drawing/2014/main" val="2151436748"/>
                    </a:ext>
                  </a:extLst>
                </a:gridCol>
                <a:gridCol w="1857014">
                  <a:extLst>
                    <a:ext uri="{9D8B030D-6E8A-4147-A177-3AD203B41FA5}">
                      <a16:colId xmlns:a16="http://schemas.microsoft.com/office/drawing/2014/main" val="3588240762"/>
                    </a:ext>
                  </a:extLst>
                </a:gridCol>
                <a:gridCol w="1747586">
                  <a:extLst>
                    <a:ext uri="{9D8B030D-6E8A-4147-A177-3AD203B41FA5}">
                      <a16:colId xmlns:a16="http://schemas.microsoft.com/office/drawing/2014/main" val="3778234057"/>
                    </a:ext>
                  </a:extLst>
                </a:gridCol>
                <a:gridCol w="1689915">
                  <a:extLst>
                    <a:ext uri="{9D8B030D-6E8A-4147-A177-3AD203B41FA5}">
                      <a16:colId xmlns:a16="http://schemas.microsoft.com/office/drawing/2014/main" val="2946222608"/>
                    </a:ext>
                  </a:extLst>
                </a:gridCol>
              </a:tblGrid>
              <a:tr h="576262">
                <a:tc>
                  <a:txBody>
                    <a:bodyPr/>
                    <a:lstStyle/>
                    <a:p>
                      <a:pPr algn="ctr" fontAlgn="ctr">
                        <a:buNone/>
                      </a:pPr>
                      <a:r>
                        <a:rPr lang="en-PH" sz="1500" b="1" u="none" strike="noStrike" cap="none" spc="0" dirty="0">
                          <a:solidFill>
                            <a:schemeClr val="tx1"/>
                          </a:solidFill>
                          <a:effectLst/>
                        </a:rPr>
                        <a:t>Criteria</a:t>
                      </a:r>
                      <a:endParaRPr lang="en-PH" sz="1500" b="1" i="0" u="none" strike="noStrike" cap="none" spc="0" dirty="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1" u="none" strike="noStrike" cap="none" spc="0" dirty="0">
                          <a:solidFill>
                            <a:schemeClr val="tx1"/>
                          </a:solidFill>
                          <a:effectLst/>
                        </a:rPr>
                        <a:t>Excellent (4)</a:t>
                      </a:r>
                      <a:endParaRPr lang="en-PH" sz="1500" b="1" i="0" u="none" strike="noStrike" cap="none" spc="0" dirty="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1" u="none" strike="noStrike" cap="none" spc="0" dirty="0">
                          <a:solidFill>
                            <a:schemeClr val="tx1"/>
                          </a:solidFill>
                          <a:effectLst/>
                        </a:rPr>
                        <a:t>Good (3)</a:t>
                      </a:r>
                      <a:endParaRPr lang="en-PH" sz="1500" b="1" i="0" u="none" strike="noStrike" cap="none" spc="0" dirty="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1" u="none" strike="noStrike" cap="none" spc="0">
                          <a:solidFill>
                            <a:schemeClr val="tx1"/>
                          </a:solidFill>
                          <a:effectLst/>
                        </a:rPr>
                        <a:t>Fair (2)</a:t>
                      </a:r>
                      <a:endParaRPr lang="en-PH" sz="1500" b="1"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1" u="none" strike="noStrike" cap="none" spc="0" dirty="0">
                          <a:solidFill>
                            <a:schemeClr val="tx1"/>
                          </a:solidFill>
                          <a:effectLst/>
                        </a:rPr>
                        <a:t>Needs Improvement (1)</a:t>
                      </a:r>
                      <a:endParaRPr lang="en-PH" sz="1500" b="1" i="0" u="none" strike="noStrike" cap="none" spc="0" dirty="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619862402"/>
                  </a:ext>
                </a:extLst>
              </a:tr>
              <a:tr h="633046">
                <a:tc>
                  <a:txBody>
                    <a:bodyPr/>
                    <a:lstStyle/>
                    <a:p>
                      <a:pPr algn="l" fontAlgn="ctr">
                        <a:buNone/>
                      </a:pPr>
                      <a:r>
                        <a:rPr lang="en-PH" sz="1100" b="1" u="none" strike="noStrike" cap="none" spc="0" dirty="0">
                          <a:solidFill>
                            <a:schemeClr val="tx1"/>
                          </a:solidFill>
                          <a:effectLst/>
                        </a:rPr>
                        <a:t>Analysis of Energy Sources</a:t>
                      </a:r>
                      <a:endParaRPr lang="en-PH" sz="1100" b="1"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Clearly identifies appropriate energy sources for the past, present, and future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dirty="0">
                          <a:solidFill>
                            <a:schemeClr val="tx1"/>
                          </a:solidFill>
                          <a:effectLst/>
                        </a:rPr>
                        <a:t>Identifies most appropriate energy sources</a:t>
                      </a: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dirty="0">
                          <a:solidFill>
                            <a:schemeClr val="tx1"/>
                          </a:solidFill>
                          <a:effectLst/>
                        </a:rPr>
                        <a:t>Identifies some energy sources but with limited explanation</a:t>
                      </a: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dirty="0">
                          <a:solidFill>
                            <a:schemeClr val="tx1"/>
                          </a:solidFill>
                          <a:effectLst/>
                        </a:rPr>
                        <a:t>Energy sources are unclear or mostly incorrect</a:t>
                      </a: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1596592917"/>
                  </a:ext>
                </a:extLst>
              </a:tr>
              <a:tr h="462694">
                <a:tc>
                  <a:txBody>
                    <a:bodyPr/>
                    <a:lstStyle/>
                    <a:p>
                      <a:pPr algn="l" fontAlgn="ctr">
                        <a:buNone/>
                      </a:pPr>
                      <a:r>
                        <a:rPr lang="en-PH" sz="1100" b="1" u="none" strike="noStrike" cap="none" spc="0" dirty="0">
                          <a:solidFill>
                            <a:schemeClr val="tx1"/>
                          </a:solidFill>
                          <a:effectLst/>
                        </a:rPr>
                        <a:t>Understanding of Energy Use</a:t>
                      </a:r>
                      <a:endParaRPr lang="en-PH" sz="1100" b="1"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Clearly explains how energy is/was/will be used</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Explains energy use with minor gaps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Gives limited explanation</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Explanation is unclear or incomplete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3776792"/>
                  </a:ext>
                </a:extLst>
              </a:tr>
              <a:tr h="462694">
                <a:tc>
                  <a:txBody>
                    <a:bodyPr/>
                    <a:lstStyle/>
                    <a:p>
                      <a:pPr algn="l" fontAlgn="ctr">
                        <a:buNone/>
                      </a:pPr>
                      <a:r>
                        <a:rPr lang="en-PH" sz="1100" b="1" u="none" strike="noStrike" cap="none" spc="0" dirty="0">
                          <a:solidFill>
                            <a:schemeClr val="tx1"/>
                          </a:solidFill>
                          <a:effectLst/>
                        </a:rPr>
                        <a:t>Problems and Challenges</a:t>
                      </a:r>
                      <a:endParaRPr lang="en-PH" sz="1100" b="1"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Clearly identifies relevant problems and challenges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relevant problems with some explanation</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few problems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Problems are unclear or missing</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692318398"/>
                  </a:ext>
                </a:extLst>
              </a:tr>
              <a:tr h="462694">
                <a:tc>
                  <a:txBody>
                    <a:bodyPr/>
                    <a:lstStyle/>
                    <a:p>
                      <a:pPr algn="l" fontAlgn="ctr">
                        <a:buNone/>
                      </a:pPr>
                      <a:r>
                        <a:rPr lang="en-PH" sz="1100" b="1" u="none" strike="noStrike" cap="none" spc="0" dirty="0">
                          <a:solidFill>
                            <a:schemeClr val="tx1"/>
                          </a:solidFill>
                          <a:effectLst/>
                        </a:rPr>
                        <a:t>Possible Solutions</a:t>
                      </a:r>
                      <a:endParaRPr lang="en-PH" sz="1100" b="1"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Provides realistic and sustainable solutions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dirty="0">
                          <a:solidFill>
                            <a:schemeClr val="tx1"/>
                          </a:solidFill>
                          <a:effectLst/>
                        </a:rPr>
                        <a:t>Provides appropriate solutions</a:t>
                      </a: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Provides limited solutions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Solutions are unrealistic or missing</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2631824"/>
                  </a:ext>
                </a:extLst>
              </a:tr>
              <a:tr h="633046">
                <a:tc>
                  <a:txBody>
                    <a:bodyPr/>
                    <a:lstStyle/>
                    <a:p>
                      <a:pPr algn="l" fontAlgn="ctr">
                        <a:buNone/>
                      </a:pPr>
                      <a:r>
                        <a:rPr lang="en-PH" sz="1100" b="1" u="none" strike="noStrike" cap="none" spc="0" dirty="0">
                          <a:solidFill>
                            <a:schemeClr val="tx1"/>
                          </a:solidFill>
                          <a:effectLst/>
                        </a:rPr>
                        <a:t>Group Participation &amp; Presentation</a:t>
                      </a:r>
                      <a:endParaRPr lang="en-PH" sz="1100" b="1" i="0" u="none" strike="noStrike" cap="none" spc="0" dirty="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All members participate; presentation is clear and organized</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Most members participate; presentation is understandable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Some members participate; presentation needs improvement</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buNone/>
                      </a:pP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48003826"/>
                  </a:ext>
                </a:extLst>
              </a:tr>
            </a:tbl>
          </a:graphicData>
        </a:graphic>
      </p:graphicFrame>
    </p:spTree>
    <p:extLst>
      <p:ext uri="{BB962C8B-B14F-4D97-AF65-F5344CB8AC3E}">
        <p14:creationId xmlns:p14="http://schemas.microsoft.com/office/powerpoint/2010/main" val="544756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2" name="Freeform: Shape 11">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graphicFrame>
        <p:nvGraphicFramePr>
          <p:cNvPr id="3" name="Table 2">
            <a:extLst>
              <a:ext uri="{FF2B5EF4-FFF2-40B4-BE49-F238E27FC236}">
                <a16:creationId xmlns:a16="http://schemas.microsoft.com/office/drawing/2014/main" id="{A9AE0AA1-8B4A-C90C-78BB-3C9BBE4CE617}"/>
              </a:ext>
            </a:extLst>
          </p:cNvPr>
          <p:cNvGraphicFramePr>
            <a:graphicFrameLocks noGrp="1"/>
          </p:cNvGraphicFramePr>
          <p:nvPr>
            <p:extLst>
              <p:ext uri="{D42A27DB-BD31-4B8C-83A1-F6EECF244321}">
                <p14:modId xmlns:p14="http://schemas.microsoft.com/office/powerpoint/2010/main" val="1150658613"/>
              </p:ext>
            </p:extLst>
          </p:nvPr>
        </p:nvGraphicFramePr>
        <p:xfrm>
          <a:off x="3008758" y="1813784"/>
          <a:ext cx="8539778" cy="3609447"/>
        </p:xfrm>
        <a:graphic>
          <a:graphicData uri="http://schemas.openxmlformats.org/drawingml/2006/table">
            <a:tbl>
              <a:tblPr firstRow="1" bandRow="1">
                <a:noFill/>
                <a:tableStyleId>{5C22544A-7EE6-4342-B048-85BDC9FD1C3A}</a:tableStyleId>
              </a:tblPr>
              <a:tblGrid>
                <a:gridCol w="1265514">
                  <a:extLst>
                    <a:ext uri="{9D8B030D-6E8A-4147-A177-3AD203B41FA5}">
                      <a16:colId xmlns:a16="http://schemas.microsoft.com/office/drawing/2014/main" val="1753544428"/>
                    </a:ext>
                  </a:extLst>
                </a:gridCol>
                <a:gridCol w="1979749">
                  <a:extLst>
                    <a:ext uri="{9D8B030D-6E8A-4147-A177-3AD203B41FA5}">
                      <a16:colId xmlns:a16="http://schemas.microsoft.com/office/drawing/2014/main" val="2151436748"/>
                    </a:ext>
                  </a:extLst>
                </a:gridCol>
                <a:gridCol w="1857014">
                  <a:extLst>
                    <a:ext uri="{9D8B030D-6E8A-4147-A177-3AD203B41FA5}">
                      <a16:colId xmlns:a16="http://schemas.microsoft.com/office/drawing/2014/main" val="3588240762"/>
                    </a:ext>
                  </a:extLst>
                </a:gridCol>
                <a:gridCol w="1747586">
                  <a:extLst>
                    <a:ext uri="{9D8B030D-6E8A-4147-A177-3AD203B41FA5}">
                      <a16:colId xmlns:a16="http://schemas.microsoft.com/office/drawing/2014/main" val="3778234057"/>
                    </a:ext>
                  </a:extLst>
                </a:gridCol>
                <a:gridCol w="1689915">
                  <a:extLst>
                    <a:ext uri="{9D8B030D-6E8A-4147-A177-3AD203B41FA5}">
                      <a16:colId xmlns:a16="http://schemas.microsoft.com/office/drawing/2014/main" val="2946222608"/>
                    </a:ext>
                  </a:extLst>
                </a:gridCol>
              </a:tblGrid>
              <a:tr h="576262">
                <a:tc>
                  <a:txBody>
                    <a:bodyPr/>
                    <a:lstStyle/>
                    <a:p>
                      <a:pPr algn="ctr" fontAlgn="ctr">
                        <a:buNone/>
                      </a:pPr>
                      <a:r>
                        <a:rPr lang="en-PH" sz="1500" b="0" u="none" strike="noStrike" cap="none" spc="0">
                          <a:solidFill>
                            <a:schemeClr val="tx1"/>
                          </a:solidFill>
                          <a:effectLst/>
                        </a:rPr>
                        <a:t>Criteria</a:t>
                      </a:r>
                      <a:endParaRPr lang="en-PH" sz="1500" b="0"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0" u="none" strike="noStrike" cap="none" spc="0">
                          <a:solidFill>
                            <a:schemeClr val="tx1"/>
                          </a:solidFill>
                          <a:effectLst/>
                        </a:rPr>
                        <a:t>Excellent (4)</a:t>
                      </a:r>
                      <a:endParaRPr lang="en-PH" sz="1500" b="0"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0" u="none" strike="noStrike" cap="none" spc="0">
                          <a:solidFill>
                            <a:schemeClr val="tx1"/>
                          </a:solidFill>
                          <a:effectLst/>
                        </a:rPr>
                        <a:t>Good (3)</a:t>
                      </a:r>
                      <a:endParaRPr lang="en-PH" sz="1500" b="0"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0" u="none" strike="noStrike" cap="none" spc="0">
                          <a:solidFill>
                            <a:schemeClr val="tx1"/>
                          </a:solidFill>
                          <a:effectLst/>
                        </a:rPr>
                        <a:t>Fair (2)</a:t>
                      </a:r>
                      <a:endParaRPr lang="en-PH" sz="1500" b="0"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tc>
                  <a:txBody>
                    <a:bodyPr/>
                    <a:lstStyle/>
                    <a:p>
                      <a:pPr algn="ctr" fontAlgn="ctr">
                        <a:buNone/>
                      </a:pPr>
                      <a:r>
                        <a:rPr lang="en-PH" sz="1500" b="0" u="none" strike="noStrike" cap="none" spc="0">
                          <a:solidFill>
                            <a:schemeClr val="tx1"/>
                          </a:solidFill>
                          <a:effectLst/>
                        </a:rPr>
                        <a:t>Needs Improvement (1)</a:t>
                      </a:r>
                      <a:endParaRPr lang="en-PH" sz="1500" b="0" i="0" u="none" strike="noStrike" cap="none" spc="0">
                        <a:solidFill>
                          <a:schemeClr val="tx1"/>
                        </a:solidFill>
                        <a:effectLst/>
                        <a:latin typeface="Aptos Narrow" panose="020B0004020202020204" pitchFamily="34" charset="0"/>
                      </a:endParaRPr>
                    </a:p>
                  </a:txBody>
                  <a:tcPr marL="42588" marR="42588" marT="2743" marB="85176"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619862402"/>
                  </a:ext>
                </a:extLst>
              </a:tr>
              <a:tr h="633046">
                <a:tc>
                  <a:txBody>
                    <a:bodyPr/>
                    <a:lstStyle/>
                    <a:p>
                      <a:pPr algn="l" fontAlgn="ctr">
                        <a:buNone/>
                      </a:pPr>
                      <a:r>
                        <a:rPr lang="en-PH" sz="1100" u="none" strike="noStrike" cap="none" spc="0">
                          <a:solidFill>
                            <a:schemeClr val="tx1"/>
                          </a:solidFill>
                          <a:effectLst/>
                        </a:rPr>
                        <a:t>Analysis of Energy Sources</a:t>
                      </a:r>
                      <a:endParaRPr lang="en-PH" sz="1100" b="1"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Clearly identifies appropriate energy sources for the past, present, and future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most appropriate energy sources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some energy sources but with limited explanation</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Energy sources are unclear or mostly incorrect</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1596592917"/>
                  </a:ext>
                </a:extLst>
              </a:tr>
              <a:tr h="462694">
                <a:tc>
                  <a:txBody>
                    <a:bodyPr/>
                    <a:lstStyle/>
                    <a:p>
                      <a:pPr algn="l" fontAlgn="ctr">
                        <a:buNone/>
                      </a:pPr>
                      <a:r>
                        <a:rPr lang="en-PH" sz="1100" u="none" strike="noStrike" cap="none" spc="0">
                          <a:solidFill>
                            <a:schemeClr val="tx1"/>
                          </a:solidFill>
                          <a:effectLst/>
                        </a:rPr>
                        <a:t>Understanding of Energy Use</a:t>
                      </a:r>
                      <a:endParaRPr lang="en-PH" sz="1100" b="1"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Clearly explains how energy is/was/will be used</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Explains energy use with minor gaps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Gives limited explanation</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Explanation is unclear or incomplete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3776792"/>
                  </a:ext>
                </a:extLst>
              </a:tr>
              <a:tr h="462694">
                <a:tc>
                  <a:txBody>
                    <a:bodyPr/>
                    <a:lstStyle/>
                    <a:p>
                      <a:pPr algn="l" fontAlgn="ctr">
                        <a:buNone/>
                      </a:pPr>
                      <a:r>
                        <a:rPr lang="en-PH" sz="1100" u="none" strike="noStrike" cap="none" spc="0">
                          <a:solidFill>
                            <a:schemeClr val="tx1"/>
                          </a:solidFill>
                          <a:effectLst/>
                        </a:rPr>
                        <a:t>Problems and Challenges</a:t>
                      </a:r>
                      <a:endParaRPr lang="en-PH" sz="1100" b="1"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Clearly identifies relevant problems and challenges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relevant problems with some explanation</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Identifies few problems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fontAlgn="ctr">
                        <a:buNone/>
                      </a:pPr>
                      <a:r>
                        <a:rPr lang="en-PH" sz="1100" u="none" strike="noStrike" cap="none" spc="0">
                          <a:solidFill>
                            <a:schemeClr val="tx1"/>
                          </a:solidFill>
                          <a:effectLst/>
                        </a:rPr>
                        <a:t>Problems are unclear or missing</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692318398"/>
                  </a:ext>
                </a:extLst>
              </a:tr>
              <a:tr h="462694">
                <a:tc>
                  <a:txBody>
                    <a:bodyPr/>
                    <a:lstStyle/>
                    <a:p>
                      <a:pPr algn="l" fontAlgn="ctr">
                        <a:buNone/>
                      </a:pPr>
                      <a:r>
                        <a:rPr lang="en-PH" sz="1100" u="none" strike="noStrike" cap="none" spc="0">
                          <a:solidFill>
                            <a:schemeClr val="tx1"/>
                          </a:solidFill>
                          <a:effectLst/>
                        </a:rPr>
                        <a:t>Possible Solutions</a:t>
                      </a:r>
                      <a:endParaRPr lang="en-PH" sz="1100" b="1"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Provides realistic and sustainable solutions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Provides appropriate solutions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Provides limited solutions</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fontAlgn="ctr">
                        <a:buNone/>
                      </a:pPr>
                      <a:r>
                        <a:rPr lang="en-PH" sz="1100" u="none" strike="noStrike" cap="none" spc="0">
                          <a:solidFill>
                            <a:schemeClr val="tx1"/>
                          </a:solidFill>
                          <a:effectLst/>
                        </a:rPr>
                        <a:t>Solutions are unrealistic or missing</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2631824"/>
                  </a:ext>
                </a:extLst>
              </a:tr>
              <a:tr h="633046">
                <a:tc>
                  <a:txBody>
                    <a:bodyPr/>
                    <a:lstStyle/>
                    <a:p>
                      <a:pPr algn="l" fontAlgn="ctr">
                        <a:buNone/>
                      </a:pPr>
                      <a:r>
                        <a:rPr lang="en-PH" sz="1100" u="none" strike="noStrike" cap="none" spc="0">
                          <a:solidFill>
                            <a:schemeClr val="tx1"/>
                          </a:solidFill>
                          <a:effectLst/>
                        </a:rPr>
                        <a:t>Group Participation &amp; Presentation</a:t>
                      </a:r>
                      <a:endParaRPr lang="en-PH" sz="1100" b="1"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All members participate; presentation is clear and organized</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Most members participate; presentation is understandable</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ctr">
                        <a:buNone/>
                      </a:pPr>
                      <a:r>
                        <a:rPr lang="en-PH" sz="1100" u="none" strike="noStrike" cap="none" spc="0">
                          <a:solidFill>
                            <a:schemeClr val="tx1"/>
                          </a:solidFill>
                          <a:effectLst/>
                        </a:rPr>
                        <a:t>Some members participate; presentation needs improvement</a:t>
                      </a:r>
                      <a:endParaRPr lang="en-PH" sz="1100" b="0" i="0" u="none" strike="noStrike" cap="none" spc="0">
                        <a:solidFill>
                          <a:schemeClr val="tx1"/>
                        </a:solidFill>
                        <a:effectLst/>
                        <a:latin typeface="Aptos Narrow" panose="020B0004020202020204" pitchFamily="34" charset="0"/>
                      </a:endParaRPr>
                    </a:p>
                  </a:txBody>
                  <a:tcPr marL="42588" marR="42588" marT="2743" marB="85176"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fontAlgn="b">
                        <a:buNone/>
                      </a:pPr>
                      <a:endParaRPr lang="en-PH" sz="1100" b="0" i="0" u="none" strike="noStrike" cap="none" spc="0" dirty="0">
                        <a:solidFill>
                          <a:schemeClr val="tx1"/>
                        </a:solidFill>
                        <a:effectLst/>
                        <a:latin typeface="Aptos Narrow" panose="020B0004020202020204" pitchFamily="34" charset="0"/>
                      </a:endParaRPr>
                    </a:p>
                  </a:txBody>
                  <a:tcPr marL="42588" marR="42588" marT="2743" marB="8517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48003826"/>
                  </a:ext>
                </a:extLst>
              </a:tr>
            </a:tbl>
          </a:graphicData>
        </a:graphic>
      </p:graphicFrame>
    </p:spTree>
    <p:extLst>
      <p:ext uri="{BB962C8B-B14F-4D97-AF65-F5344CB8AC3E}">
        <p14:creationId xmlns:p14="http://schemas.microsoft.com/office/powerpoint/2010/main" val="36152534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905</TotalTime>
  <Words>1711</Words>
  <Application>Microsoft Office PowerPoint</Application>
  <PresentationFormat>Widescreen</PresentationFormat>
  <Paragraphs>270</Paragraphs>
  <Slides>40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Aptos Narrow</vt:lpstr>
      <vt:lpstr>Arial</vt:lpstr>
      <vt:lpstr>Calibri</vt:lpstr>
      <vt:lpstr>Century Gothic</vt:lpstr>
      <vt:lpstr>Wingdings</vt:lpstr>
      <vt:lpstr>Wingdings 3</vt:lpstr>
      <vt:lpstr>Ion Boardroom</vt:lpstr>
      <vt:lpstr>Energy:Past, Present, and Future  </vt:lpstr>
      <vt:lpstr>Objectives</vt:lpstr>
      <vt:lpstr>What are the different energy sources you know?</vt:lpstr>
      <vt:lpstr>Energy-Past</vt:lpstr>
      <vt:lpstr>Human and Animal Power</vt:lpstr>
      <vt:lpstr> Biomass </vt:lpstr>
      <vt:lpstr> Wind Power </vt:lpstr>
      <vt:lpstr> Water Power </vt:lpstr>
      <vt:lpstr> Early Use of Fossil Fuels </vt:lpstr>
      <vt:lpstr> Sunlight </vt:lpstr>
      <vt:lpstr>Energy: Present and Future</vt:lpstr>
      <vt:lpstr>Energy sources</vt:lpstr>
      <vt:lpstr>Fossil Fuels</vt:lpstr>
      <vt:lpstr>PowerPoint Presentation</vt:lpstr>
      <vt:lpstr>PowerPoint Presentation</vt:lpstr>
      <vt:lpstr>Fossil Fuels</vt:lpstr>
      <vt:lpstr>Fossil Fuels</vt:lpstr>
      <vt:lpstr>Nuclear Energy</vt:lpstr>
      <vt:lpstr> Nuclear Energy </vt:lpstr>
      <vt:lpstr>PowerPoint Presentation</vt:lpstr>
      <vt:lpstr>Nuclear Energy</vt:lpstr>
      <vt:lpstr> Solar Energy </vt:lpstr>
      <vt:lpstr>PowerPoint Presentation</vt:lpstr>
      <vt:lpstr> Solar Energy </vt:lpstr>
      <vt:lpstr> Wind Energy </vt:lpstr>
      <vt:lpstr> Wind Energy </vt:lpstr>
      <vt:lpstr> Hydropower </vt:lpstr>
      <vt:lpstr> Hydropower </vt:lpstr>
      <vt:lpstr> Geothermal Energy </vt:lpstr>
      <vt:lpstr> Geothermal Energy </vt:lpstr>
      <vt:lpstr> Biomass Energy </vt:lpstr>
      <vt:lpstr> Biomass Energy </vt:lpstr>
      <vt:lpstr> Global Energy Challenges </vt:lpstr>
      <vt:lpstr>Cont.</vt:lpstr>
      <vt:lpstr>The Future of Energy</vt:lpstr>
      <vt:lpstr>Sustainable Energy Practices </vt:lpstr>
      <vt:lpstr>The future is not simply about finding more energy. It is also about using energy more efficiently and responsibly.</vt:lpstr>
      <vt:lpstr> Activity: “Energy: Then, Now, and Tomorrow” </vt:lpstr>
      <vt:lpstr>Rubric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Office365</dc:creator>
  <cp:lastModifiedBy>Brigida Reyes</cp:lastModifiedBy>
  <cp:revision>41</cp:revision>
  <dcterms:created xsi:type="dcterms:W3CDTF">2024-11-19T11:23:47Z</dcterms:created>
  <dcterms:modified xsi:type="dcterms:W3CDTF">2026-10-03T23:39:06Z</dcterms:modified>
</cp:coreProperties>
</file>