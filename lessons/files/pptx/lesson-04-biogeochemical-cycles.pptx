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9" r:id="rId2"/>
    <p:sldId id="343" r:id="rId3"/>
    <p:sldId id="340" r:id="rId4"/>
    <p:sldId id="342" r:id="rId5"/>
    <p:sldId id="391" r:id="rId6"/>
    <p:sldId id="397" r:id="rId7"/>
    <p:sldId id="398" r:id="rId8"/>
    <p:sldId id="399" r:id="rId9"/>
    <p:sldId id="428" r:id="rId10"/>
    <p:sldId id="400" r:id="rId11"/>
    <p:sldId id="392" r:id="rId12"/>
    <p:sldId id="393" r:id="rId13"/>
    <p:sldId id="394" r:id="rId14"/>
    <p:sldId id="39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592C88E-00EE-4A6E-A042-527969035B4D}" type="doc">
      <dgm:prSet loTypeId="urn:microsoft.com/office/officeart/2018/2/layout/IconVerticalSolidList" loCatId="icon" qsTypeId="urn:microsoft.com/office/officeart/2005/8/quickstyle/simple1#5" qsCatId="simple" csTypeId="urn:microsoft.com/office/officeart/2005/8/colors/accent1_2#3" csCatId="accent1" phldr="1"/>
      <dgm:spPr/>
      <dgm:t>
        <a:bodyPr/>
        <a:lstStyle/>
        <a:p>
          <a:endParaRPr lang="en-US"/>
        </a:p>
      </dgm:t>
    </dgm:pt>
    <dgm:pt modelId="{665632BA-7016-4A55-9851-39CACBF6B946}">
      <dgm:prSet/>
      <dgm:spPr/>
      <dgm:t>
        <a:bodyPr/>
        <a:lstStyle/>
        <a:p>
          <a:pPr>
            <a:lnSpc>
              <a:spcPct val="100000"/>
            </a:lnSpc>
          </a:pPr>
          <a:r>
            <a:rPr lang="en-US" b="1"/>
            <a:t>Understand</a:t>
          </a:r>
          <a:r>
            <a:rPr lang="en-US"/>
            <a:t> how </a:t>
          </a:r>
          <a:r>
            <a:rPr lang="en-US" b="1"/>
            <a:t>Biogeochemical Cycles </a:t>
          </a:r>
          <a:r>
            <a:rPr lang="en-US"/>
            <a:t>are interconnected and their importance to ecosystem health.</a:t>
          </a:r>
        </a:p>
      </dgm:t>
    </dgm:pt>
    <dgm:pt modelId="{6B57BDEB-9C28-4A2D-BFFB-02F3B77852B3}" type="parTrans" cxnId="{F9E4D5C9-50AB-45F0-8768-356C2A1E36BF}">
      <dgm:prSet/>
      <dgm:spPr/>
      <dgm:t>
        <a:bodyPr/>
        <a:lstStyle/>
        <a:p>
          <a:endParaRPr lang="en-US"/>
        </a:p>
      </dgm:t>
    </dgm:pt>
    <dgm:pt modelId="{36AE4D48-3194-4346-8059-7DA474B61A10}" type="sibTrans" cxnId="{F9E4D5C9-50AB-45F0-8768-356C2A1E36BF}">
      <dgm:prSet/>
      <dgm:spPr/>
      <dgm:t>
        <a:bodyPr/>
        <a:lstStyle/>
        <a:p>
          <a:endParaRPr lang="en-US"/>
        </a:p>
      </dgm:t>
    </dgm:pt>
    <dgm:pt modelId="{D1DEBB1E-CF5D-4213-9354-331E852FB917}">
      <dgm:prSet/>
      <dgm:spPr/>
      <dgm:t>
        <a:bodyPr/>
        <a:lstStyle/>
        <a:p>
          <a:pPr>
            <a:lnSpc>
              <a:spcPct val="100000"/>
            </a:lnSpc>
          </a:pPr>
          <a:r>
            <a:rPr lang="en-US" b="1" dirty="0"/>
            <a:t>Analyze and explain </a:t>
          </a:r>
          <a:r>
            <a:rPr lang="en-US" dirty="0"/>
            <a:t>diagrams or models of the cycles of matter, identifying key processes.</a:t>
          </a:r>
        </a:p>
      </dgm:t>
    </dgm:pt>
    <dgm:pt modelId="{9A287B4D-6929-4A2A-934E-56CA87C12F56}" type="parTrans" cxnId="{3882E84F-4EBE-4924-A132-1846A18A35BA}">
      <dgm:prSet/>
      <dgm:spPr/>
      <dgm:t>
        <a:bodyPr/>
        <a:lstStyle/>
        <a:p>
          <a:endParaRPr lang="en-US"/>
        </a:p>
      </dgm:t>
    </dgm:pt>
    <dgm:pt modelId="{4AEA159D-E710-4752-AE9E-E9C467A22826}" type="sibTrans" cxnId="{3882E84F-4EBE-4924-A132-1846A18A35BA}">
      <dgm:prSet/>
      <dgm:spPr/>
      <dgm:t>
        <a:bodyPr/>
        <a:lstStyle/>
        <a:p>
          <a:endParaRPr lang="en-US"/>
        </a:p>
      </dgm:t>
    </dgm:pt>
    <dgm:pt modelId="{8C01D145-871A-4F8F-9C40-801B83D25D78}">
      <dgm:prSet/>
      <dgm:spPr/>
      <dgm:t>
        <a:bodyPr/>
        <a:lstStyle/>
        <a:p>
          <a:pPr>
            <a:lnSpc>
              <a:spcPct val="100000"/>
            </a:lnSpc>
          </a:pPr>
          <a:r>
            <a:rPr lang="en-US" b="1"/>
            <a:t>Develop </a:t>
          </a:r>
          <a:r>
            <a:rPr lang="en-US"/>
            <a:t>an appreciation for the delicate balance of ecosystems and the role that the cycles of matter play in maintaining this balance.</a:t>
          </a:r>
        </a:p>
      </dgm:t>
    </dgm:pt>
    <dgm:pt modelId="{6B73CDF2-9836-4617-B4C7-51F537EF4E5F}" type="parTrans" cxnId="{E989DF07-35D5-40C4-8394-12A205EC3F8E}">
      <dgm:prSet/>
      <dgm:spPr/>
      <dgm:t>
        <a:bodyPr/>
        <a:lstStyle/>
        <a:p>
          <a:endParaRPr lang="en-US"/>
        </a:p>
      </dgm:t>
    </dgm:pt>
    <dgm:pt modelId="{1D04E925-C727-4B89-A2DD-A498321437A5}" type="sibTrans" cxnId="{E989DF07-35D5-40C4-8394-12A205EC3F8E}">
      <dgm:prSet/>
      <dgm:spPr/>
      <dgm:t>
        <a:bodyPr/>
        <a:lstStyle/>
        <a:p>
          <a:endParaRPr lang="en-US"/>
        </a:p>
      </dgm:t>
    </dgm:pt>
    <dgm:pt modelId="{3BC9FBD2-0884-430B-AB18-F90C4B2140AE}" type="pres">
      <dgm:prSet presAssocID="{1592C88E-00EE-4A6E-A042-527969035B4D}" presName="root" presStyleCnt="0">
        <dgm:presLayoutVars>
          <dgm:dir/>
          <dgm:resizeHandles val="exact"/>
        </dgm:presLayoutVars>
      </dgm:prSet>
      <dgm:spPr/>
    </dgm:pt>
    <dgm:pt modelId="{C8D97C0D-5DBF-449B-972D-3E52628F3573}" type="pres">
      <dgm:prSet presAssocID="{665632BA-7016-4A55-9851-39CACBF6B946}" presName="compNode" presStyleCnt="0"/>
      <dgm:spPr/>
    </dgm:pt>
    <dgm:pt modelId="{BE270D64-8FB5-4C34-ADD0-4C538C433E12}" type="pres">
      <dgm:prSet presAssocID="{665632BA-7016-4A55-9851-39CACBF6B946}" presName="bgRect" presStyleLbl="bgShp" presStyleIdx="0" presStyleCnt="3"/>
      <dgm:spPr/>
    </dgm:pt>
    <dgm:pt modelId="{E65BE641-51FB-46E8-97EE-630D2C6C98FF}" type="pres">
      <dgm:prSet presAssocID="{665632BA-7016-4A55-9851-39CACBF6B94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pt>
    <dgm:pt modelId="{C042A61F-1441-4E1B-91CD-EEB35813AB5D}" type="pres">
      <dgm:prSet presAssocID="{665632BA-7016-4A55-9851-39CACBF6B946}" presName="spaceRect" presStyleCnt="0"/>
      <dgm:spPr/>
    </dgm:pt>
    <dgm:pt modelId="{7A137C4A-3005-40E5-828B-7280261C5B5F}" type="pres">
      <dgm:prSet presAssocID="{665632BA-7016-4A55-9851-39CACBF6B946}" presName="parTx" presStyleLbl="revTx" presStyleIdx="0" presStyleCnt="3">
        <dgm:presLayoutVars>
          <dgm:chMax val="0"/>
          <dgm:chPref val="0"/>
        </dgm:presLayoutVars>
      </dgm:prSet>
      <dgm:spPr/>
    </dgm:pt>
    <dgm:pt modelId="{5A886355-80AF-45D9-92FC-D9B8DE0ECC99}" type="pres">
      <dgm:prSet presAssocID="{36AE4D48-3194-4346-8059-7DA474B61A10}" presName="sibTrans" presStyleCnt="0"/>
      <dgm:spPr/>
    </dgm:pt>
    <dgm:pt modelId="{A66D0FE7-0AD8-47D1-899A-55AED7DA9A1E}" type="pres">
      <dgm:prSet presAssocID="{D1DEBB1E-CF5D-4213-9354-331E852FB917}" presName="compNode" presStyleCnt="0"/>
      <dgm:spPr/>
    </dgm:pt>
    <dgm:pt modelId="{5CDA8762-FDE4-4AC4-9F15-564B963796E3}" type="pres">
      <dgm:prSet presAssocID="{D1DEBB1E-CF5D-4213-9354-331E852FB917}" presName="bgRect" presStyleLbl="bgShp" presStyleIdx="1" presStyleCnt="3"/>
      <dgm:spPr/>
    </dgm:pt>
    <dgm:pt modelId="{76E5C0F7-08B6-4E7A-B677-36D8EBC5EC93}" type="pres">
      <dgm:prSet presAssocID="{D1DEBB1E-CF5D-4213-9354-331E852FB91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A8028BD2-85FC-498B-979F-C833F7233783}" type="pres">
      <dgm:prSet presAssocID="{D1DEBB1E-CF5D-4213-9354-331E852FB917}" presName="spaceRect" presStyleCnt="0"/>
      <dgm:spPr/>
    </dgm:pt>
    <dgm:pt modelId="{74BA8AD2-876D-4816-9665-BC21546DED80}" type="pres">
      <dgm:prSet presAssocID="{D1DEBB1E-CF5D-4213-9354-331E852FB917}" presName="parTx" presStyleLbl="revTx" presStyleIdx="1" presStyleCnt="3">
        <dgm:presLayoutVars>
          <dgm:chMax val="0"/>
          <dgm:chPref val="0"/>
        </dgm:presLayoutVars>
      </dgm:prSet>
      <dgm:spPr/>
    </dgm:pt>
    <dgm:pt modelId="{AFDAA8D2-50CC-4CC6-BB1F-F0359A318406}" type="pres">
      <dgm:prSet presAssocID="{4AEA159D-E710-4752-AE9E-E9C467A22826}" presName="sibTrans" presStyleCnt="0"/>
      <dgm:spPr/>
    </dgm:pt>
    <dgm:pt modelId="{60DED333-4E28-4F26-8BE8-2EC208D2D0C7}" type="pres">
      <dgm:prSet presAssocID="{8C01D145-871A-4F8F-9C40-801B83D25D78}" presName="compNode" presStyleCnt="0"/>
      <dgm:spPr/>
    </dgm:pt>
    <dgm:pt modelId="{308A1543-4E39-4EF6-A906-6C43313EB231}" type="pres">
      <dgm:prSet presAssocID="{8C01D145-871A-4F8F-9C40-801B83D25D78}" presName="bgRect" presStyleLbl="bgShp" presStyleIdx="2" presStyleCnt="3"/>
      <dgm:spPr/>
    </dgm:pt>
    <dgm:pt modelId="{98FB6F44-84FD-4C94-88B8-A9901C68DB61}" type="pres">
      <dgm:prSet presAssocID="{8C01D145-871A-4F8F-9C40-801B83D25D7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pt>
    <dgm:pt modelId="{ABAD9238-BCB0-4BA1-85B8-859A5E9E913C}" type="pres">
      <dgm:prSet presAssocID="{8C01D145-871A-4F8F-9C40-801B83D25D78}" presName="spaceRect" presStyleCnt="0"/>
      <dgm:spPr/>
    </dgm:pt>
    <dgm:pt modelId="{845D3170-8D61-4EA8-B96F-DCD212A86737}" type="pres">
      <dgm:prSet presAssocID="{8C01D145-871A-4F8F-9C40-801B83D25D78}" presName="parTx" presStyleLbl="revTx" presStyleIdx="2" presStyleCnt="3">
        <dgm:presLayoutVars>
          <dgm:chMax val="0"/>
          <dgm:chPref val="0"/>
        </dgm:presLayoutVars>
      </dgm:prSet>
      <dgm:spPr/>
    </dgm:pt>
  </dgm:ptLst>
  <dgm:cxnLst>
    <dgm:cxn modelId="{E989DF07-35D5-40C4-8394-12A205EC3F8E}" srcId="{1592C88E-00EE-4A6E-A042-527969035B4D}" destId="{8C01D145-871A-4F8F-9C40-801B83D25D78}" srcOrd="2" destOrd="0" parTransId="{6B73CDF2-9836-4617-B4C7-51F537EF4E5F}" sibTransId="{1D04E925-C727-4B89-A2DD-A498321437A5}"/>
    <dgm:cxn modelId="{43582243-149D-45E9-A219-D0C131E8878E}" type="presOf" srcId="{1592C88E-00EE-4A6E-A042-527969035B4D}" destId="{3BC9FBD2-0884-430B-AB18-F90C4B2140AE}" srcOrd="0" destOrd="0" presId="urn:microsoft.com/office/officeart/2018/2/layout/IconVerticalSolidList"/>
    <dgm:cxn modelId="{3882E84F-4EBE-4924-A132-1846A18A35BA}" srcId="{1592C88E-00EE-4A6E-A042-527969035B4D}" destId="{D1DEBB1E-CF5D-4213-9354-331E852FB917}" srcOrd="1" destOrd="0" parTransId="{9A287B4D-6929-4A2A-934E-56CA87C12F56}" sibTransId="{4AEA159D-E710-4752-AE9E-E9C467A22826}"/>
    <dgm:cxn modelId="{947AF288-6376-4A4A-AACA-D4E9A06AFECB}" type="presOf" srcId="{D1DEBB1E-CF5D-4213-9354-331E852FB917}" destId="{74BA8AD2-876D-4816-9665-BC21546DED80}" srcOrd="0" destOrd="0" presId="urn:microsoft.com/office/officeart/2018/2/layout/IconVerticalSolidList"/>
    <dgm:cxn modelId="{F0E2268D-4F45-4DEF-A851-C6ACC5449FBD}" type="presOf" srcId="{8C01D145-871A-4F8F-9C40-801B83D25D78}" destId="{845D3170-8D61-4EA8-B96F-DCD212A86737}" srcOrd="0" destOrd="0" presId="urn:microsoft.com/office/officeart/2018/2/layout/IconVerticalSolidList"/>
    <dgm:cxn modelId="{28ADAAA8-1CF8-4C89-A948-CFC3353CD836}" type="presOf" srcId="{665632BA-7016-4A55-9851-39CACBF6B946}" destId="{7A137C4A-3005-40E5-828B-7280261C5B5F}" srcOrd="0" destOrd="0" presId="urn:microsoft.com/office/officeart/2018/2/layout/IconVerticalSolidList"/>
    <dgm:cxn modelId="{F9E4D5C9-50AB-45F0-8768-356C2A1E36BF}" srcId="{1592C88E-00EE-4A6E-A042-527969035B4D}" destId="{665632BA-7016-4A55-9851-39CACBF6B946}" srcOrd="0" destOrd="0" parTransId="{6B57BDEB-9C28-4A2D-BFFB-02F3B77852B3}" sibTransId="{36AE4D48-3194-4346-8059-7DA474B61A10}"/>
    <dgm:cxn modelId="{9E2D690B-CBCC-4596-9356-497778BDBFC0}" type="presParOf" srcId="{3BC9FBD2-0884-430B-AB18-F90C4B2140AE}" destId="{C8D97C0D-5DBF-449B-972D-3E52628F3573}" srcOrd="0" destOrd="0" presId="urn:microsoft.com/office/officeart/2018/2/layout/IconVerticalSolidList"/>
    <dgm:cxn modelId="{6C978566-D274-4FE0-9EBB-CDF4342C8F34}" type="presParOf" srcId="{C8D97C0D-5DBF-449B-972D-3E52628F3573}" destId="{BE270D64-8FB5-4C34-ADD0-4C538C433E12}" srcOrd="0" destOrd="0" presId="urn:microsoft.com/office/officeart/2018/2/layout/IconVerticalSolidList"/>
    <dgm:cxn modelId="{E4E25EED-CBD6-4C34-A4DE-A141B40951A3}" type="presParOf" srcId="{C8D97C0D-5DBF-449B-972D-3E52628F3573}" destId="{E65BE641-51FB-46E8-97EE-630D2C6C98FF}" srcOrd="1" destOrd="0" presId="urn:microsoft.com/office/officeart/2018/2/layout/IconVerticalSolidList"/>
    <dgm:cxn modelId="{B22DB416-0F08-409F-B53F-2EB9E8D4B735}" type="presParOf" srcId="{C8D97C0D-5DBF-449B-972D-3E52628F3573}" destId="{C042A61F-1441-4E1B-91CD-EEB35813AB5D}" srcOrd="2" destOrd="0" presId="urn:microsoft.com/office/officeart/2018/2/layout/IconVerticalSolidList"/>
    <dgm:cxn modelId="{CAA93B25-F656-426E-9FEA-221905F5DA24}" type="presParOf" srcId="{C8D97C0D-5DBF-449B-972D-3E52628F3573}" destId="{7A137C4A-3005-40E5-828B-7280261C5B5F}" srcOrd="3" destOrd="0" presId="urn:microsoft.com/office/officeart/2018/2/layout/IconVerticalSolidList"/>
    <dgm:cxn modelId="{D9DABF40-57D7-4C20-BCBD-45FA33544B9E}" type="presParOf" srcId="{3BC9FBD2-0884-430B-AB18-F90C4B2140AE}" destId="{5A886355-80AF-45D9-92FC-D9B8DE0ECC99}" srcOrd="1" destOrd="0" presId="urn:microsoft.com/office/officeart/2018/2/layout/IconVerticalSolidList"/>
    <dgm:cxn modelId="{EBB8D3F0-1091-4431-A778-121B4A5A9DC9}" type="presParOf" srcId="{3BC9FBD2-0884-430B-AB18-F90C4B2140AE}" destId="{A66D0FE7-0AD8-47D1-899A-55AED7DA9A1E}" srcOrd="2" destOrd="0" presId="urn:microsoft.com/office/officeart/2018/2/layout/IconVerticalSolidList"/>
    <dgm:cxn modelId="{101B22E6-2CB2-4923-839B-A7AAC077982B}" type="presParOf" srcId="{A66D0FE7-0AD8-47D1-899A-55AED7DA9A1E}" destId="{5CDA8762-FDE4-4AC4-9F15-564B963796E3}" srcOrd="0" destOrd="0" presId="urn:microsoft.com/office/officeart/2018/2/layout/IconVerticalSolidList"/>
    <dgm:cxn modelId="{83CDBC27-7C7D-4334-8BE3-50649BF2B012}" type="presParOf" srcId="{A66D0FE7-0AD8-47D1-899A-55AED7DA9A1E}" destId="{76E5C0F7-08B6-4E7A-B677-36D8EBC5EC93}" srcOrd="1" destOrd="0" presId="urn:microsoft.com/office/officeart/2018/2/layout/IconVerticalSolidList"/>
    <dgm:cxn modelId="{FC7D1C9A-3AF8-4FC1-8E80-668D5E34B941}" type="presParOf" srcId="{A66D0FE7-0AD8-47D1-899A-55AED7DA9A1E}" destId="{A8028BD2-85FC-498B-979F-C833F7233783}" srcOrd="2" destOrd="0" presId="urn:microsoft.com/office/officeart/2018/2/layout/IconVerticalSolidList"/>
    <dgm:cxn modelId="{D17458AA-8C86-4179-9BB0-DA4424637A1E}" type="presParOf" srcId="{A66D0FE7-0AD8-47D1-899A-55AED7DA9A1E}" destId="{74BA8AD2-876D-4816-9665-BC21546DED80}" srcOrd="3" destOrd="0" presId="urn:microsoft.com/office/officeart/2018/2/layout/IconVerticalSolidList"/>
    <dgm:cxn modelId="{9E28D482-B7CF-49B2-85D4-916F7A76C306}" type="presParOf" srcId="{3BC9FBD2-0884-430B-AB18-F90C4B2140AE}" destId="{AFDAA8D2-50CC-4CC6-BB1F-F0359A318406}" srcOrd="3" destOrd="0" presId="urn:microsoft.com/office/officeart/2018/2/layout/IconVerticalSolidList"/>
    <dgm:cxn modelId="{B597977D-63B2-4286-9298-DF03D608AD8C}" type="presParOf" srcId="{3BC9FBD2-0884-430B-AB18-F90C4B2140AE}" destId="{60DED333-4E28-4F26-8BE8-2EC208D2D0C7}" srcOrd="4" destOrd="0" presId="urn:microsoft.com/office/officeart/2018/2/layout/IconVerticalSolidList"/>
    <dgm:cxn modelId="{DBD89690-2273-41B9-9160-FC4E04B1CF6B}" type="presParOf" srcId="{60DED333-4E28-4F26-8BE8-2EC208D2D0C7}" destId="{308A1543-4E39-4EF6-A906-6C43313EB231}" srcOrd="0" destOrd="0" presId="urn:microsoft.com/office/officeart/2018/2/layout/IconVerticalSolidList"/>
    <dgm:cxn modelId="{8BEB1EA0-6E49-46A6-9325-8069354398A9}" type="presParOf" srcId="{60DED333-4E28-4F26-8BE8-2EC208D2D0C7}" destId="{98FB6F44-84FD-4C94-88B8-A9901C68DB61}" srcOrd="1" destOrd="0" presId="urn:microsoft.com/office/officeart/2018/2/layout/IconVerticalSolidList"/>
    <dgm:cxn modelId="{5FA03BE1-C47A-417C-A312-AC8E76C8617E}" type="presParOf" srcId="{60DED333-4E28-4F26-8BE8-2EC208D2D0C7}" destId="{ABAD9238-BCB0-4BA1-85B8-859A5E9E913C}" srcOrd="2" destOrd="0" presId="urn:microsoft.com/office/officeart/2018/2/layout/IconVerticalSolidList"/>
    <dgm:cxn modelId="{EC13AE3C-77C7-44FC-873B-5F379A90F4D8}" type="presParOf" srcId="{60DED333-4E28-4F26-8BE8-2EC208D2D0C7}" destId="{845D3170-8D61-4EA8-B96F-DCD212A8673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70D64-8FB5-4C34-ADD0-4C538C433E12}">
      <dsp:nvSpPr>
        <dsp:cNvPr id="0" name=""/>
        <dsp:cNvSpPr/>
      </dsp:nvSpPr>
      <dsp:spPr>
        <a:xfrm>
          <a:off x="0" y="560"/>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BE641-51FB-46E8-97EE-630D2C6C98FF}">
      <dsp:nvSpPr>
        <dsp:cNvPr id="0" name=""/>
        <dsp:cNvSpPr/>
      </dsp:nvSpPr>
      <dsp:spPr>
        <a:xfrm>
          <a:off x="396941" y="295806"/>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137C4A-3005-40E5-828B-7280261C5B5F}">
      <dsp:nvSpPr>
        <dsp:cNvPr id="0" name=""/>
        <dsp:cNvSpPr/>
      </dsp:nvSpPr>
      <dsp:spPr bwMode="white">
        <a:xfrm>
          <a:off x="1515593" y="560"/>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977900">
            <a:lnSpc>
              <a:spcPct val="100000"/>
            </a:lnSpc>
            <a:spcBef>
              <a:spcPct val="0"/>
            </a:spcBef>
            <a:spcAft>
              <a:spcPct val="35000"/>
            </a:spcAft>
            <a:buNone/>
          </a:pPr>
          <a:r>
            <a:rPr lang="en-US" sz="2200" b="1" kern="1200"/>
            <a:t>Understand</a:t>
          </a:r>
          <a:r>
            <a:rPr lang="en-US" sz="2200" kern="1200"/>
            <a:t> how </a:t>
          </a:r>
          <a:r>
            <a:rPr lang="en-US" sz="2200" b="1" kern="1200"/>
            <a:t>Biogeochemical Cycles </a:t>
          </a:r>
          <a:r>
            <a:rPr lang="en-US" sz="2200" kern="1200"/>
            <a:t>are interconnected and their importance to ecosystem health.</a:t>
          </a:r>
        </a:p>
      </dsp:txBody>
      <dsp:txXfrm>
        <a:off x="1515593" y="560"/>
        <a:ext cx="9137985" cy="1312201"/>
      </dsp:txXfrm>
    </dsp:sp>
    <dsp:sp modelId="{5CDA8762-FDE4-4AC4-9F15-564B963796E3}">
      <dsp:nvSpPr>
        <dsp:cNvPr id="0" name=""/>
        <dsp:cNvSpPr/>
      </dsp:nvSpPr>
      <dsp:spPr>
        <a:xfrm>
          <a:off x="0" y="1640813"/>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E5C0F7-08B6-4E7A-B677-36D8EBC5EC93}">
      <dsp:nvSpPr>
        <dsp:cNvPr id="0" name=""/>
        <dsp:cNvSpPr/>
      </dsp:nvSpPr>
      <dsp:spPr>
        <a:xfrm>
          <a:off x="396941" y="1936058"/>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BA8AD2-876D-4816-9665-BC21546DED80}">
      <dsp:nvSpPr>
        <dsp:cNvPr id="0" name=""/>
        <dsp:cNvSpPr/>
      </dsp:nvSpPr>
      <dsp:spPr bwMode="white">
        <a:xfrm>
          <a:off x="1515593" y="1640813"/>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977900">
            <a:lnSpc>
              <a:spcPct val="100000"/>
            </a:lnSpc>
            <a:spcBef>
              <a:spcPct val="0"/>
            </a:spcBef>
            <a:spcAft>
              <a:spcPct val="35000"/>
            </a:spcAft>
            <a:buNone/>
          </a:pPr>
          <a:r>
            <a:rPr lang="en-US" sz="2200" b="1" kern="1200" dirty="0"/>
            <a:t>Analyze and explain </a:t>
          </a:r>
          <a:r>
            <a:rPr lang="en-US" sz="2200" kern="1200" dirty="0"/>
            <a:t>diagrams or models of the cycles of matter, identifying key processes.</a:t>
          </a:r>
        </a:p>
      </dsp:txBody>
      <dsp:txXfrm>
        <a:off x="1515593" y="1640813"/>
        <a:ext cx="9137985" cy="1312201"/>
      </dsp:txXfrm>
    </dsp:sp>
    <dsp:sp modelId="{308A1543-4E39-4EF6-A906-6C43313EB231}">
      <dsp:nvSpPr>
        <dsp:cNvPr id="0" name=""/>
        <dsp:cNvSpPr/>
      </dsp:nvSpPr>
      <dsp:spPr>
        <a:xfrm>
          <a:off x="0" y="3281065"/>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FB6F44-84FD-4C94-88B8-A9901C68DB61}">
      <dsp:nvSpPr>
        <dsp:cNvPr id="0" name=""/>
        <dsp:cNvSpPr/>
      </dsp:nvSpPr>
      <dsp:spPr>
        <a:xfrm>
          <a:off x="396941" y="3576310"/>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5D3170-8D61-4EA8-B96F-DCD212A86737}">
      <dsp:nvSpPr>
        <dsp:cNvPr id="0" name=""/>
        <dsp:cNvSpPr/>
      </dsp:nvSpPr>
      <dsp:spPr bwMode="white">
        <a:xfrm>
          <a:off x="1515593" y="3281065"/>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977900">
            <a:lnSpc>
              <a:spcPct val="100000"/>
            </a:lnSpc>
            <a:spcBef>
              <a:spcPct val="0"/>
            </a:spcBef>
            <a:spcAft>
              <a:spcPct val="35000"/>
            </a:spcAft>
            <a:buNone/>
          </a:pPr>
          <a:r>
            <a:rPr lang="en-US" sz="2200" b="1" kern="1200"/>
            <a:t>Develop </a:t>
          </a:r>
          <a:r>
            <a:rPr lang="en-US" sz="2200" kern="1200"/>
            <a:t>an appreciation for the delicate balance of ecosystems and the role that the cycles of matter play in maintaining this balance.</a:t>
          </a:r>
        </a:p>
      </dsp:txBody>
      <dsp:txXfrm>
        <a:off x="1515593" y="3281065"/>
        <a:ext cx="9137985" cy="13122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8/22/2026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C1210E-201E-4473-82AC-2466F5386C38}" type="datetime1">
              <a:rPr lang="en-US" smtClean="0"/>
              <a:t>8/22/2026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8/22/2026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06041F-4525-44D5-AA4F-332294BF1F56}" type="datetime1">
              <a:rPr lang="en-US" smtClean="0"/>
              <a:t>8/22/2026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557091-BBDF-4EB9-BA6B-2BB67AC4FC0F}" type="datetime1">
              <a:rPr lang="en-US" smtClean="0"/>
              <a:t>8/22/2026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B226B-77A6-410C-9796-083F278E0125}" type="datetime1">
              <a:rPr lang="en-US" smtClean="0"/>
              <a:t>8/22/2026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8/22/2026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8/22/2026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8/22/2026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04EDB3-C0E8-45F8-9E1D-1B6C8D1880C0}" type="datetime1">
              <a:rPr lang="en-US" smtClean="0"/>
              <a:t>8/22/2026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8/22/2026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8/22/2026</a:t>
            </a:fld>
            <a:endParaRPr lang="en-US"/>
          </a:p>
        </p:txBody>
      </p:sp>
      <p:sp>
        <p:nvSpPr>
          <p:cNvPr id="5" name="Footer Placeholder 4"/>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Cycles of Matter | 2.6K plays | Quizizz"/>
          <p:cNvPicPr>
            <a:picLocks noChangeAspect="1" noChangeArrowheads="1"/>
          </p:cNvPicPr>
          <p:nvPr/>
        </p:nvPicPr>
        <p:blipFill>
          <a:blip r:embed="rId2">
            <a:extLst>
              <a:ext uri="{28A0092B-C50C-407E-A947-70E740481C1C}">
                <a14:useLocalDpi xmlns:a14="http://schemas.microsoft.com/office/drawing/2010/main" val="0"/>
              </a:ext>
            </a:extLst>
          </a:blip>
          <a:srcRect t="6438" r="-1" b="-1"/>
          <a:stretch>
            <a:fillRect/>
          </a:stretch>
        </p:blipFill>
        <p:spPr bwMode="auto">
          <a:xfrm>
            <a:off x="2" y="10"/>
            <a:ext cx="736775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7598230" y="1585762"/>
            <a:ext cx="4033932" cy="2811737"/>
          </a:xfrm>
        </p:spPr>
        <p:txBody>
          <a:bodyPr vert="horz" lIns="91440" tIns="45720" rIns="91440" bIns="45720" rtlCol="0" anchor="b">
            <a:normAutofit/>
          </a:bodyPr>
          <a:lstStyle/>
          <a:p>
            <a:br>
              <a:rPr lang="en-US" sz="4400" dirty="0"/>
            </a:br>
            <a:r>
              <a:rPr lang="en-US" sz="2800" dirty="0"/>
              <a:t>Biogeochemical Cycles</a:t>
            </a:r>
            <a:br>
              <a:rPr lang="en-US" sz="4400" dirty="0"/>
            </a:br>
            <a:endParaRPr lang="en-US" sz="4400" dirty="0"/>
          </a:p>
        </p:txBody>
      </p:sp>
      <p:sp>
        <p:nvSpPr>
          <p:cNvPr id="3" name="Text Placeholder 2"/>
          <p:cNvSpPr>
            <a:spLocks noGrp="1"/>
          </p:cNvSpPr>
          <p:nvPr>
            <p:ph type="body" idx="1"/>
          </p:nvPr>
        </p:nvSpPr>
        <p:spPr>
          <a:xfrm>
            <a:off x="7843395" y="4524046"/>
            <a:ext cx="3614857" cy="1319951"/>
          </a:xfrm>
        </p:spPr>
        <p:txBody>
          <a:bodyPr vert="horz" lIns="91440" tIns="45720" rIns="91440" bIns="45720" rtlCol="0">
            <a:normAutofit/>
          </a:bodyPr>
          <a:lstStyle/>
          <a:p>
            <a:r>
              <a:rPr lang="en-US" sz="1800" dirty="0"/>
              <a:t>Lesson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graphicFrame>
        <p:nvGraphicFramePr>
          <p:cNvPr id="5" name="Content Placeholder 2"/>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Biogeochemical Cycles</a:t>
            </a:r>
          </a:p>
        </p:txBody>
      </p:sp>
      <p:sp>
        <p:nvSpPr>
          <p:cNvPr id="4" name="Rectangle 1"/>
          <p:cNvSpPr>
            <a:spLocks noGrp="1" noChangeArrowheads="1"/>
          </p:cNvSpPr>
          <p:nvPr>
            <p:ph idx="1"/>
          </p:nvPr>
        </p:nvSpPr>
        <p:spPr bwMode="auto">
          <a:xfrm>
            <a:off x="612648" y="1419961"/>
            <a:ext cx="677816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eaLnBrk="0" fontAlgn="base" hangingPunct="0">
              <a:lnSpc>
                <a:spcPct val="100000"/>
              </a:lnSpc>
              <a:spcBef>
                <a:spcPct val="0"/>
              </a:spcBef>
              <a:spcAft>
                <a:spcPct val="0"/>
              </a:spcAft>
              <a:buNone/>
            </a:pPr>
            <a:r>
              <a:rPr kumimoji="0" lang="en-US" altLang="en-US" b="1" i="0" u="none" strike="noStrike" cap="none" normalizeH="0" baseline="0" dirty="0">
                <a:ln>
                  <a:noFill/>
                </a:ln>
                <a:solidFill>
                  <a:schemeClr val="tx1"/>
                </a:solidFill>
                <a:effectLst/>
                <a:latin typeface="+mj-lt"/>
              </a:rPr>
              <a:t>Biogeochemical Cycles</a:t>
            </a:r>
            <a:r>
              <a:rPr kumimoji="0" lang="en-US" altLang="en-US" b="0" i="0" u="none" strike="noStrike" cap="none" normalizeH="0" baseline="0" dirty="0">
                <a:ln>
                  <a:noFill/>
                </a:ln>
                <a:solidFill>
                  <a:schemeClr val="tx1"/>
                </a:solidFill>
                <a:effectLst/>
                <a:latin typeface="+mj-lt"/>
              </a:rPr>
              <a:t> are the </a:t>
            </a:r>
            <a:r>
              <a:rPr kumimoji="0" lang="en-US" altLang="en-US" b="1" i="0" u="none" strike="noStrike" cap="none" normalizeH="0" baseline="0" dirty="0">
                <a:ln>
                  <a:noFill/>
                </a:ln>
                <a:solidFill>
                  <a:schemeClr val="tx1"/>
                </a:solidFill>
                <a:effectLst/>
                <a:latin typeface="+mj-lt"/>
              </a:rPr>
              <a:t>pathways </a:t>
            </a:r>
            <a:r>
              <a:rPr kumimoji="0" lang="en-US" altLang="en-US" b="0" i="0" u="none" strike="noStrike" cap="none" normalizeH="0" baseline="0" dirty="0">
                <a:ln>
                  <a:noFill/>
                </a:ln>
                <a:solidFill>
                  <a:schemeClr val="tx1"/>
                </a:solidFill>
                <a:effectLst/>
                <a:latin typeface="+mj-lt"/>
              </a:rPr>
              <a:t>through which </a:t>
            </a:r>
            <a:r>
              <a:rPr kumimoji="0" lang="en-US" altLang="en-US" b="1" i="0" u="none" strike="noStrike" cap="none" normalizeH="0" baseline="0" dirty="0">
                <a:ln>
                  <a:noFill/>
                </a:ln>
                <a:solidFill>
                  <a:schemeClr val="tx1"/>
                </a:solidFill>
                <a:effectLst/>
                <a:latin typeface="+mj-lt"/>
              </a:rPr>
              <a:t>chemical elements and compounds </a:t>
            </a:r>
            <a:r>
              <a:rPr kumimoji="0" lang="en-US" altLang="en-US" b="1" i="0" u="none" strike="noStrike" cap="none" normalizeH="0" baseline="0" dirty="0">
                <a:ln>
                  <a:noFill/>
                </a:ln>
                <a:solidFill>
                  <a:srgbClr val="FF0000"/>
                </a:solidFill>
                <a:effectLst/>
                <a:latin typeface="+mj-lt"/>
              </a:rPr>
              <a:t>move</a:t>
            </a:r>
            <a:r>
              <a:rPr kumimoji="0" lang="en-US" altLang="en-US" b="0" i="0" u="none" strike="noStrike" cap="none" normalizeH="0" baseline="0" dirty="0">
                <a:ln>
                  <a:noFill/>
                </a:ln>
                <a:solidFill>
                  <a:schemeClr val="tx1"/>
                </a:solidFill>
                <a:effectLst/>
                <a:latin typeface="+mj-lt"/>
              </a:rPr>
              <a:t> through the </a:t>
            </a:r>
            <a:r>
              <a:rPr kumimoji="0" lang="en-US" altLang="en-US" b="1" i="0" u="none" strike="noStrike" cap="none" normalizeH="0" baseline="0" dirty="0">
                <a:ln>
                  <a:noFill/>
                </a:ln>
                <a:solidFill>
                  <a:schemeClr val="tx1"/>
                </a:solidFill>
                <a:effectLst/>
                <a:latin typeface="+mj-lt"/>
              </a:rPr>
              <a:t>biotic (living) and abiotic (non-living) components </a:t>
            </a:r>
            <a:r>
              <a:rPr kumimoji="0" lang="en-US" altLang="en-US" b="0" i="0" u="none" strike="noStrike" cap="none" normalizeH="0" baseline="0" dirty="0">
                <a:ln>
                  <a:noFill/>
                </a:ln>
                <a:solidFill>
                  <a:schemeClr val="tx1"/>
                </a:solidFill>
                <a:effectLst/>
                <a:latin typeface="+mj-lt"/>
              </a:rPr>
              <a:t>of an ecosystem. </a:t>
            </a:r>
          </a:p>
          <a:p>
            <a:pPr marL="0" indent="0" eaLnBrk="0" fontAlgn="base" hangingPunct="0">
              <a:lnSpc>
                <a:spcPct val="100000"/>
              </a:lnSpc>
              <a:spcBef>
                <a:spcPct val="0"/>
              </a:spcBef>
              <a:spcAft>
                <a:spcPct val="0"/>
              </a:spcAft>
              <a:buNone/>
            </a:pPr>
            <a:endParaRPr kumimoji="0" lang="en-US" altLang="en-US" b="0" i="0" u="none" strike="noStrike" cap="none" normalizeH="0" baseline="0" dirty="0">
              <a:ln>
                <a:noFill/>
              </a:ln>
              <a:solidFill>
                <a:schemeClr val="tx1"/>
              </a:solidFill>
              <a:effectLst/>
              <a:latin typeface="+mj-lt"/>
            </a:endParaRP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mj-lt"/>
              </a:rPr>
              <a:t>These cycles are </a:t>
            </a:r>
            <a:r>
              <a:rPr kumimoji="0" lang="en-US" altLang="en-US" b="1" i="0" u="none" strike="noStrike" cap="none" normalizeH="0" baseline="0" dirty="0">
                <a:ln>
                  <a:noFill/>
                </a:ln>
                <a:solidFill>
                  <a:schemeClr val="tx1"/>
                </a:solidFill>
                <a:effectLst/>
                <a:latin typeface="+mj-lt"/>
              </a:rPr>
              <a:t>essential for life </a:t>
            </a:r>
            <a:r>
              <a:rPr kumimoji="0" lang="en-US" altLang="en-US" b="0" i="0" u="none" strike="noStrike" cap="none" normalizeH="0" baseline="0" dirty="0">
                <a:ln>
                  <a:noFill/>
                </a:ln>
                <a:solidFill>
                  <a:schemeClr val="tx1"/>
                </a:solidFill>
                <a:effectLst/>
                <a:latin typeface="+mj-lt"/>
              </a:rPr>
              <a:t>as they </a:t>
            </a:r>
            <a:r>
              <a:rPr kumimoji="0" lang="en-US" altLang="en-US" b="1" i="0" u="none" strike="noStrike" cap="none" normalizeH="0" baseline="0" dirty="0">
                <a:ln>
                  <a:noFill/>
                </a:ln>
                <a:solidFill>
                  <a:schemeClr val="tx1"/>
                </a:solidFill>
                <a:effectLst/>
                <a:latin typeface="+mj-lt"/>
              </a:rPr>
              <a:t>ensure the continuous recycling </a:t>
            </a:r>
            <a:r>
              <a:rPr kumimoji="0" lang="en-US" altLang="en-US" b="0" i="0" u="none" strike="noStrike" cap="none" normalizeH="0" baseline="0" dirty="0">
                <a:ln>
                  <a:noFill/>
                </a:ln>
                <a:solidFill>
                  <a:schemeClr val="tx1"/>
                </a:solidFill>
                <a:effectLst/>
                <a:latin typeface="+mj-lt"/>
              </a:rPr>
              <a:t>of nutrients and other elements </a:t>
            </a:r>
            <a:r>
              <a:rPr kumimoji="0" lang="en-US" altLang="en-US" b="1" i="0" u="none" strike="noStrike" cap="none" normalizeH="0" baseline="0" dirty="0">
                <a:ln>
                  <a:noFill/>
                </a:ln>
                <a:solidFill>
                  <a:schemeClr val="tx1"/>
                </a:solidFill>
                <a:effectLst/>
                <a:latin typeface="+mj-lt"/>
              </a:rPr>
              <a:t>necessary for organisms to survive and thrive.</a:t>
            </a:r>
          </a:p>
          <a:p>
            <a:pPr marL="0" indent="0" eaLnBrk="0" fontAlgn="base" hangingPunct="0">
              <a:lnSpc>
                <a:spcPct val="100000"/>
              </a:lnSpc>
              <a:spcBef>
                <a:spcPct val="0"/>
              </a:spcBef>
              <a:spcAft>
                <a:spcPct val="0"/>
              </a:spcAft>
              <a:buNone/>
            </a:pPr>
            <a:endParaRPr kumimoji="0" lang="en-US" altLang="en-US" b="1" i="0" u="none" strike="noStrike" cap="none" normalizeH="0" baseline="0" dirty="0">
              <a:ln>
                <a:noFill/>
              </a:ln>
              <a:solidFill>
                <a:schemeClr val="tx1"/>
              </a:solidFill>
              <a:effectLst/>
              <a:latin typeface="+mj-lt"/>
            </a:endParaRPr>
          </a:p>
          <a:p>
            <a:pPr marL="0" indent="0" eaLnBrk="0" fontAlgn="base" hangingPunct="0">
              <a:lnSpc>
                <a:spcPct val="100000"/>
              </a:lnSpc>
              <a:spcBef>
                <a:spcPct val="0"/>
              </a:spcBef>
              <a:spcAft>
                <a:spcPct val="0"/>
              </a:spcAft>
              <a:buNone/>
            </a:pPr>
            <a:r>
              <a:rPr lang="en-US" sz="1800" dirty="0">
                <a:latin typeface="+mj-lt"/>
              </a:rPr>
              <a:t>Major Biogeochemical Cycles</a:t>
            </a:r>
            <a:endParaRPr lang="en-US" b="1" dirty="0">
              <a:latin typeface="+mj-lt"/>
            </a:endParaRPr>
          </a:p>
          <a:p>
            <a:pPr marL="342900" indent="-342900" eaLnBrk="0" fontAlgn="base" hangingPunct="0">
              <a:lnSpc>
                <a:spcPct val="100000"/>
              </a:lnSpc>
              <a:spcBef>
                <a:spcPct val="0"/>
              </a:spcBef>
              <a:spcAft>
                <a:spcPct val="0"/>
              </a:spcAft>
              <a:buFont typeface="+mj-lt"/>
              <a:buAutoNum type="arabicParenR"/>
            </a:pPr>
            <a:r>
              <a:rPr lang="en-US" sz="1800" b="1" dirty="0">
                <a:latin typeface="+mj-lt"/>
              </a:rPr>
              <a:t>Water Cycle (Hydrologic Cycle)</a:t>
            </a:r>
            <a:endParaRPr lang="en-US" b="1" dirty="0">
              <a:latin typeface="+mj-lt"/>
            </a:endParaRPr>
          </a:p>
          <a:p>
            <a:pPr marL="342900" indent="-342900" eaLnBrk="0" fontAlgn="base" hangingPunct="0">
              <a:lnSpc>
                <a:spcPct val="100000"/>
              </a:lnSpc>
              <a:spcBef>
                <a:spcPct val="0"/>
              </a:spcBef>
              <a:spcAft>
                <a:spcPct val="0"/>
              </a:spcAft>
              <a:buFont typeface="+mj-lt"/>
              <a:buAutoNum type="arabicParenR"/>
            </a:pPr>
            <a:r>
              <a:rPr lang="en-US" sz="1800" b="1" dirty="0">
                <a:latin typeface="+mj-lt"/>
              </a:rPr>
              <a:t>Carbon Cycle</a:t>
            </a:r>
            <a:endParaRPr lang="en-US" b="1" dirty="0">
              <a:latin typeface="+mj-lt"/>
            </a:endParaRPr>
          </a:p>
          <a:p>
            <a:pPr marL="342900" indent="-342900" eaLnBrk="0" fontAlgn="base" hangingPunct="0">
              <a:lnSpc>
                <a:spcPct val="100000"/>
              </a:lnSpc>
              <a:spcBef>
                <a:spcPct val="0"/>
              </a:spcBef>
              <a:spcAft>
                <a:spcPct val="0"/>
              </a:spcAft>
              <a:buFont typeface="+mj-lt"/>
              <a:buAutoNum type="arabicParenR"/>
            </a:pPr>
            <a:r>
              <a:rPr kumimoji="0" lang="en-US" altLang="en-US" b="1" i="0" u="none" strike="noStrike" cap="none" normalizeH="0" baseline="0" dirty="0">
                <a:ln>
                  <a:noFill/>
                </a:ln>
                <a:solidFill>
                  <a:schemeClr val="tx1"/>
                </a:solidFill>
                <a:effectLst/>
                <a:latin typeface="+mj-lt"/>
              </a:rPr>
              <a:t>Nitrogen cycle</a:t>
            </a:r>
          </a:p>
          <a:p>
            <a:pPr marL="342900" indent="-342900" eaLnBrk="0" fontAlgn="base" hangingPunct="0">
              <a:lnSpc>
                <a:spcPct val="100000"/>
              </a:lnSpc>
              <a:spcBef>
                <a:spcPct val="0"/>
              </a:spcBef>
              <a:spcAft>
                <a:spcPct val="0"/>
              </a:spcAft>
              <a:buFont typeface="+mj-lt"/>
              <a:buAutoNum type="arabicParenR"/>
            </a:pPr>
            <a:r>
              <a:rPr lang="en-US" sz="1800" b="1" dirty="0">
                <a:latin typeface="+mj-lt"/>
              </a:rPr>
              <a:t>Phosphorus Cycle</a:t>
            </a:r>
            <a:endParaRPr lang="en-US" b="1" dirty="0">
              <a:latin typeface="+mj-lt"/>
            </a:endParaRPr>
          </a:p>
          <a:p>
            <a:pPr marL="342900" indent="-342900" eaLnBrk="0" fontAlgn="base" hangingPunct="0">
              <a:lnSpc>
                <a:spcPct val="100000"/>
              </a:lnSpc>
              <a:spcBef>
                <a:spcPct val="0"/>
              </a:spcBef>
              <a:spcAft>
                <a:spcPct val="0"/>
              </a:spcAft>
              <a:buFont typeface="+mj-lt"/>
              <a:buAutoNum type="arabicParenR"/>
            </a:pPr>
            <a:r>
              <a:rPr lang="en-US" sz="1800" b="1" dirty="0">
                <a:latin typeface="+mj-lt"/>
              </a:rPr>
              <a:t>Sulfur Cycle</a:t>
            </a: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mj-lt"/>
            </a:endParaRPr>
          </a:p>
        </p:txBody>
      </p:sp>
      <p:pic>
        <p:nvPicPr>
          <p:cNvPr id="17411" name="Picture 3" descr="Biogeochemical Cycles: Definition, Types, Examples &amp; Impor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0344" y="1749531"/>
            <a:ext cx="4339702" cy="3780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mj-lt"/>
              </a:rPr>
              <a:t>Water Cycle (Hydrologic Cycle)</a:t>
            </a:r>
            <a:br>
              <a:rPr lang="en-US" b="1" dirty="0">
                <a:latin typeface="+mj-lt"/>
              </a:rPr>
            </a:br>
            <a:endParaRPr lang="en-US" dirty="0"/>
          </a:p>
        </p:txBody>
      </p:sp>
      <p:sp>
        <p:nvSpPr>
          <p:cNvPr id="6" name="Rectangle 3"/>
          <p:cNvSpPr>
            <a:spLocks noGrp="1" noChangeArrowheads="1"/>
          </p:cNvSpPr>
          <p:nvPr>
            <p:ph idx="1"/>
          </p:nvPr>
        </p:nvSpPr>
        <p:spPr bwMode="auto">
          <a:xfrm>
            <a:off x="612648" y="2718487"/>
            <a:ext cx="65059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pPr>
            <a:endParaRPr lang="en-US" altLang="en-US" sz="2400"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p:cNvSpPr txBox="1"/>
          <p:nvPr/>
        </p:nvSpPr>
        <p:spPr>
          <a:xfrm>
            <a:off x="737420" y="1725011"/>
            <a:ext cx="6096000"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mj-lt"/>
              </a:rPr>
              <a:t>The water cycle describes the </a:t>
            </a:r>
            <a:r>
              <a:rPr kumimoji="0" lang="en-US" altLang="en-US" sz="2400" b="0" i="0" u="none" strike="noStrike" cap="none" normalizeH="0" baseline="0" dirty="0">
                <a:ln>
                  <a:noFill/>
                </a:ln>
                <a:solidFill>
                  <a:srgbClr val="FF0000"/>
                </a:solidFill>
                <a:effectLst/>
                <a:latin typeface="+mj-lt"/>
              </a:rPr>
              <a:t>continuous movement of </a:t>
            </a:r>
            <a:r>
              <a:rPr kumimoji="0" lang="en-US" altLang="en-US" sz="2400" b="1" i="0" u="none" strike="noStrike" cap="none" normalizeH="0" baseline="0" dirty="0">
                <a:ln>
                  <a:noFill/>
                </a:ln>
                <a:solidFill>
                  <a:srgbClr val="FF0000"/>
                </a:solidFill>
                <a:effectLst/>
                <a:latin typeface="+mj-lt"/>
              </a:rPr>
              <a:t>water</a:t>
            </a:r>
            <a:r>
              <a:rPr kumimoji="0" lang="en-US" altLang="en-US" sz="2400" b="0" i="0" u="none" strike="noStrike" cap="none" normalizeH="0" baseline="0" dirty="0">
                <a:ln>
                  <a:noFill/>
                </a:ln>
                <a:solidFill>
                  <a:srgbClr val="FF0000"/>
                </a:solidFill>
                <a:effectLst/>
                <a:latin typeface="+mj-lt"/>
              </a:rPr>
              <a:t> </a:t>
            </a:r>
            <a:r>
              <a:rPr kumimoji="0" lang="en-US" altLang="en-US" sz="2400" b="0" i="0" u="none" strike="noStrike" cap="none" normalizeH="0" baseline="0" dirty="0">
                <a:ln>
                  <a:noFill/>
                </a:ln>
                <a:solidFill>
                  <a:schemeClr val="tx1"/>
                </a:solidFill>
                <a:effectLst/>
                <a:latin typeface="+mj-lt"/>
              </a:rPr>
              <a:t>in its various forms (liquid, solid, gas) through the Earth's </a:t>
            </a:r>
            <a:r>
              <a:rPr kumimoji="0" lang="en-US" altLang="en-US" sz="2400" b="1" i="1" u="none" strike="noStrike" cap="none" normalizeH="0" baseline="0" dirty="0">
                <a:ln>
                  <a:noFill/>
                </a:ln>
                <a:solidFill>
                  <a:schemeClr val="tx1"/>
                </a:solidFill>
                <a:effectLst/>
                <a:latin typeface="+mj-lt"/>
              </a:rPr>
              <a:t>atmosphere, oceans</a:t>
            </a:r>
            <a:r>
              <a:rPr kumimoji="0" lang="en-US" altLang="en-US" sz="2400" b="0" i="0" u="none" strike="noStrike" cap="none" normalizeH="0" baseline="0" dirty="0">
                <a:ln>
                  <a:noFill/>
                </a:ln>
                <a:solidFill>
                  <a:schemeClr val="tx1"/>
                </a:solidFill>
                <a:effectLst/>
                <a:latin typeface="+mj-lt"/>
              </a:rPr>
              <a:t>, and </a:t>
            </a:r>
            <a:r>
              <a:rPr kumimoji="0" lang="en-US" altLang="en-US" sz="2400" b="1" i="1" u="none" strike="noStrike" cap="none" normalizeH="0" baseline="0" dirty="0">
                <a:ln>
                  <a:noFill/>
                </a:ln>
                <a:solidFill>
                  <a:schemeClr val="tx1"/>
                </a:solidFill>
                <a:effectLst/>
                <a:latin typeface="+mj-lt"/>
              </a:rPr>
              <a:t>land.</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mj-lt"/>
            </a:endParaRP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tx1"/>
                </a:solidFill>
                <a:effectLst/>
                <a:latin typeface="+mj-lt"/>
              </a:rPr>
              <a:t>Essential for all life; influences climate, weather patterns, and the distribution of other elements.</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mj-lt"/>
            </a:endParaRPr>
          </a:p>
          <a:p>
            <a:pPr marL="0" indent="0" eaLnBrk="0" fontAlgn="base" hangingPunct="0">
              <a:lnSpc>
                <a:spcPct val="100000"/>
              </a:lnSpc>
              <a:spcBef>
                <a:spcPct val="0"/>
              </a:spcBef>
              <a:spcAft>
                <a:spcPct val="0"/>
              </a:spcAft>
              <a:buNone/>
            </a:pPr>
            <a:r>
              <a:rPr kumimoji="0" lang="en-US" altLang="en-US" sz="2400" b="1" i="0" u="none" strike="noStrike" cap="none" normalizeH="0" baseline="0" dirty="0">
                <a:ln>
                  <a:noFill/>
                </a:ln>
                <a:solidFill>
                  <a:schemeClr val="tx1"/>
                </a:solidFill>
                <a:effectLst/>
                <a:latin typeface="+mj-lt"/>
              </a:rPr>
              <a:t>Key Processes:</a:t>
            </a:r>
            <a:r>
              <a:rPr kumimoji="0" lang="en-US" altLang="en-US" sz="2400" b="0" i="0" u="none" strike="noStrike" cap="none" normalizeH="0" baseline="0" dirty="0">
                <a:ln>
                  <a:noFill/>
                </a:ln>
                <a:solidFill>
                  <a:schemeClr val="tx1"/>
                </a:solidFill>
                <a:effectLst/>
                <a:latin typeface="+mj-lt"/>
              </a:rPr>
              <a:t> Evaporation, transpiration, condensation, precipitation, infiltration, runoff.</a:t>
            </a:r>
          </a:p>
        </p:txBody>
      </p:sp>
      <p:pic>
        <p:nvPicPr>
          <p:cNvPr id="11" name="Picture 2" descr="Water on Earth | CK-12 Foundation"/>
          <p:cNvPicPr>
            <a:picLocks noChangeAspect="1" noChangeArrowheads="1"/>
          </p:cNvPicPr>
          <p:nvPr/>
        </p:nvPicPr>
        <p:blipFill rotWithShape="1">
          <a:blip r:embed="rId2">
            <a:extLst>
              <a:ext uri="{28A0092B-C50C-407E-A947-70E740481C1C}">
                <a14:useLocalDpi xmlns:a14="http://schemas.microsoft.com/office/drawing/2010/main" val="0"/>
              </a:ext>
            </a:extLst>
          </a:blip>
          <a:srcRect l="1568" t="11396" r="-366" b="-1056"/>
          <a:stretch>
            <a:fillRect/>
          </a:stretch>
        </p:blipFill>
        <p:spPr bwMode="auto">
          <a:xfrm>
            <a:off x="7569079" y="2320413"/>
            <a:ext cx="4296274" cy="3382298"/>
          </a:xfrm>
          <a:prstGeom prst="rect">
            <a:avLst/>
          </a:prstGeom>
          <a:noFill/>
          <a:ln w="57150" cmpd="thickThin">
            <a:solidFill>
              <a:schemeClr val="tx1">
                <a:lumMod val="50000"/>
                <a:lumOff val="50000"/>
              </a:schemeClr>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453" y="228600"/>
            <a:ext cx="9601196" cy="1303867"/>
          </a:xfrm>
        </p:spPr>
        <p:txBody>
          <a:bodyPr>
            <a:normAutofit fontScale="90000"/>
          </a:bodyPr>
          <a:lstStyle/>
          <a:p>
            <a:pPr>
              <a:lnSpc>
                <a:spcPct val="90000"/>
              </a:lnSpc>
            </a:pPr>
            <a:br>
              <a:rPr lang="en-US" sz="4100" b="1" dirty="0"/>
            </a:br>
            <a:r>
              <a:rPr lang="en-US" sz="4100" b="1" dirty="0"/>
              <a:t>Water Cycle (Hydrologic Cycle)</a:t>
            </a:r>
            <a:br>
              <a:rPr lang="en-US" sz="4100" b="1" dirty="0"/>
            </a:br>
            <a:endParaRPr lang="en-US" sz="4100" dirty="0"/>
          </a:p>
        </p:txBody>
      </p:sp>
      <p:sp>
        <p:nvSpPr>
          <p:cNvPr id="3" name="Content Placeholder 2"/>
          <p:cNvSpPr>
            <a:spLocks noGrp="1"/>
          </p:cNvSpPr>
          <p:nvPr>
            <p:ph idx="1"/>
          </p:nvPr>
        </p:nvSpPr>
        <p:spPr>
          <a:xfrm>
            <a:off x="823453" y="1769531"/>
            <a:ext cx="5783824" cy="4670597"/>
          </a:xfrm>
        </p:spPr>
        <p:style>
          <a:lnRef idx="2">
            <a:schemeClr val="accent3"/>
          </a:lnRef>
          <a:fillRef idx="1">
            <a:schemeClr val="lt1"/>
          </a:fillRef>
          <a:effectRef idx="0">
            <a:schemeClr val="accent3"/>
          </a:effectRef>
          <a:fontRef idx="minor">
            <a:schemeClr val="dk1"/>
          </a:fontRef>
        </p:style>
        <p:txBody>
          <a:bodyPr>
            <a:normAutofit lnSpcReduction="20000"/>
          </a:bodyPr>
          <a:lstStyle/>
          <a:p>
            <a:pPr>
              <a:lnSpc>
                <a:spcPct val="90000"/>
              </a:lnSpc>
            </a:pPr>
            <a:r>
              <a:rPr lang="en-US" sz="1700" b="1" dirty="0">
                <a:latin typeface="Comic Sans MS" panose="030F0702030302020204" charset="0"/>
                <a:cs typeface="Comic Sans MS" panose="030F0702030302020204" charset="0"/>
              </a:rPr>
              <a:t>Evaporation</a:t>
            </a:r>
            <a:r>
              <a:rPr lang="en-US" sz="1700" dirty="0">
                <a:latin typeface="Comic Sans MS" panose="030F0702030302020204" charset="0"/>
                <a:cs typeface="Comic Sans MS" panose="030F0702030302020204" charset="0"/>
              </a:rPr>
              <a:t>: The process by which water transforms from a </a:t>
            </a:r>
            <a:r>
              <a:rPr lang="en-US" sz="1700" dirty="0">
                <a:solidFill>
                  <a:srgbClr val="FF0000"/>
                </a:solidFill>
                <a:latin typeface="Comic Sans MS" panose="030F0702030302020204" charset="0"/>
                <a:cs typeface="Comic Sans MS" panose="030F0702030302020204" charset="0"/>
              </a:rPr>
              <a:t>liquid state to a vapor</a:t>
            </a:r>
            <a:r>
              <a:rPr lang="en-US" sz="1700" dirty="0">
                <a:latin typeface="Comic Sans MS" panose="030F0702030302020204" charset="0"/>
                <a:cs typeface="Comic Sans MS" panose="030F0702030302020204" charset="0"/>
              </a:rPr>
              <a:t>, rising into the atmosphere due to heat from the sun.</a:t>
            </a:r>
          </a:p>
          <a:p>
            <a:pPr>
              <a:lnSpc>
                <a:spcPct val="90000"/>
              </a:lnSpc>
            </a:pPr>
            <a:r>
              <a:rPr kumimoji="0" lang="en-US" altLang="en-US" sz="1700" b="1" i="0" u="none" strike="noStrike" cap="none" normalizeH="0" baseline="0" dirty="0">
                <a:ln>
                  <a:noFill/>
                </a:ln>
                <a:solidFill>
                  <a:schemeClr val="tx1"/>
                </a:solidFill>
                <a:effectLst/>
                <a:latin typeface="Comic Sans MS" panose="030F0702030302020204" charset="0"/>
                <a:cs typeface="Comic Sans MS" panose="030F0702030302020204" charset="0"/>
              </a:rPr>
              <a:t>Transpiration: </a:t>
            </a:r>
            <a:r>
              <a:rPr kumimoji="0" lang="en-US" altLang="en-US" sz="1700" i="0" u="none" strike="noStrike" cap="none" normalizeH="0" baseline="0" dirty="0">
                <a:ln>
                  <a:noFill/>
                </a:ln>
                <a:solidFill>
                  <a:schemeClr val="tx1"/>
                </a:solidFill>
                <a:effectLst/>
                <a:latin typeface="Comic Sans MS" panose="030F0702030302020204" charset="0"/>
                <a:cs typeface="Comic Sans MS" panose="030F0702030302020204" charset="0"/>
              </a:rPr>
              <a:t>Th</a:t>
            </a:r>
            <a:r>
              <a:rPr kumimoji="0" lang="en-US" altLang="en-US" sz="1700" b="0" i="0" u="none" strike="noStrike" cap="none" normalizeH="0" baseline="0" dirty="0">
                <a:ln>
                  <a:noFill/>
                </a:ln>
                <a:solidFill>
                  <a:schemeClr val="tx1"/>
                </a:solidFill>
                <a:effectLst/>
                <a:latin typeface="Comic Sans MS" panose="030F0702030302020204" charset="0"/>
                <a:cs typeface="Comic Sans MS" panose="030F0702030302020204" charset="0"/>
              </a:rPr>
              <a:t>e process of water movement through a plant and </a:t>
            </a:r>
            <a:r>
              <a:rPr kumimoji="0" lang="en-US" altLang="en-US" sz="1700" b="0" i="0" u="none" strike="noStrike" cap="none" normalizeH="0" baseline="0" dirty="0">
                <a:ln>
                  <a:noFill/>
                </a:ln>
                <a:solidFill>
                  <a:srgbClr val="FF0000"/>
                </a:solidFill>
                <a:effectLst/>
                <a:latin typeface="Comic Sans MS" panose="030F0702030302020204" charset="0"/>
                <a:cs typeface="Comic Sans MS" panose="030F0702030302020204" charset="0"/>
              </a:rPr>
              <a:t>its evaporation from aerial parts</a:t>
            </a:r>
            <a:r>
              <a:rPr kumimoji="0" lang="en-US" altLang="en-US" sz="1700" b="0" i="0" u="none" strike="noStrike" cap="none" normalizeH="0" baseline="0" dirty="0">
                <a:ln>
                  <a:noFill/>
                </a:ln>
                <a:solidFill>
                  <a:schemeClr val="tx1"/>
                </a:solidFill>
                <a:effectLst/>
                <a:latin typeface="Comic Sans MS" panose="030F0702030302020204" charset="0"/>
                <a:cs typeface="Comic Sans MS" panose="030F0702030302020204" charset="0"/>
              </a:rPr>
              <a:t>, such as leaves, stems, and flowers. It is like the plant "sweating" out water vapor.   </a:t>
            </a:r>
          </a:p>
          <a:p>
            <a:pPr>
              <a:lnSpc>
                <a:spcPct val="90000"/>
              </a:lnSpc>
            </a:pPr>
            <a:r>
              <a:rPr lang="en-US" sz="1700" b="1" dirty="0">
                <a:latin typeface="Comic Sans MS" panose="030F0702030302020204" charset="0"/>
                <a:cs typeface="Comic Sans MS" panose="030F0702030302020204" charset="0"/>
              </a:rPr>
              <a:t>Condensation</a:t>
            </a:r>
            <a:r>
              <a:rPr lang="en-US" sz="1700" dirty="0">
                <a:latin typeface="Comic Sans MS" panose="030F0702030302020204" charset="0"/>
                <a:cs typeface="Comic Sans MS" panose="030F0702030302020204" charset="0"/>
              </a:rPr>
              <a:t>: The transformation of </a:t>
            </a:r>
            <a:r>
              <a:rPr lang="en-US" sz="1700" dirty="0">
                <a:solidFill>
                  <a:srgbClr val="FF0000"/>
                </a:solidFill>
                <a:latin typeface="Comic Sans MS" panose="030F0702030302020204" charset="0"/>
                <a:cs typeface="Comic Sans MS" panose="030F0702030302020204" charset="0"/>
              </a:rPr>
              <a:t>water vapor back into liquid water droplets</a:t>
            </a:r>
            <a:r>
              <a:rPr lang="en-US" sz="1700" dirty="0">
                <a:latin typeface="Comic Sans MS" panose="030F0702030302020204" charset="0"/>
                <a:cs typeface="Comic Sans MS" panose="030F0702030302020204" charset="0"/>
              </a:rPr>
              <a:t>, </a:t>
            </a:r>
            <a:r>
              <a:rPr lang="en-US" sz="1700" b="1" dirty="0">
                <a:latin typeface="Comic Sans MS" panose="030F0702030302020204" charset="0"/>
                <a:cs typeface="Comic Sans MS" panose="030F0702030302020204" charset="0"/>
              </a:rPr>
              <a:t>forming clouds </a:t>
            </a:r>
            <a:r>
              <a:rPr lang="en-US" sz="1700" dirty="0">
                <a:latin typeface="Comic Sans MS" panose="030F0702030302020204" charset="0"/>
                <a:cs typeface="Comic Sans MS" panose="030F0702030302020204" charset="0"/>
              </a:rPr>
              <a:t>as the vapor cools and loses energy.</a:t>
            </a:r>
          </a:p>
          <a:p>
            <a:pPr>
              <a:lnSpc>
                <a:spcPct val="90000"/>
              </a:lnSpc>
            </a:pPr>
            <a:r>
              <a:rPr lang="en-US" sz="1700" b="1" dirty="0">
                <a:latin typeface="Comic Sans MS" panose="030F0702030302020204" charset="0"/>
                <a:cs typeface="Comic Sans MS" panose="030F0702030302020204" charset="0"/>
              </a:rPr>
              <a:t>Precipitation</a:t>
            </a:r>
            <a:r>
              <a:rPr lang="en-US" sz="1700" dirty="0">
                <a:latin typeface="Comic Sans MS" panose="030F0702030302020204" charset="0"/>
                <a:cs typeface="Comic Sans MS" panose="030F0702030302020204" charset="0"/>
              </a:rPr>
              <a:t>: The </a:t>
            </a:r>
            <a:r>
              <a:rPr lang="en-US" sz="1700" dirty="0">
                <a:solidFill>
                  <a:srgbClr val="FF0000"/>
                </a:solidFill>
                <a:latin typeface="Comic Sans MS" panose="030F0702030302020204" charset="0"/>
                <a:cs typeface="Comic Sans MS" panose="030F0702030302020204" charset="0"/>
              </a:rPr>
              <a:t>release of water from clouds </a:t>
            </a:r>
            <a:r>
              <a:rPr lang="en-US" sz="1700" dirty="0">
                <a:latin typeface="Comic Sans MS" panose="030F0702030302020204" charset="0"/>
                <a:cs typeface="Comic Sans MS" panose="030F0702030302020204" charset="0"/>
              </a:rPr>
              <a:t>in the form of </a:t>
            </a:r>
            <a:r>
              <a:rPr lang="en-US" sz="1700" b="1" dirty="0">
                <a:latin typeface="Comic Sans MS" panose="030F0702030302020204" charset="0"/>
                <a:cs typeface="Comic Sans MS" panose="030F0702030302020204" charset="0"/>
              </a:rPr>
              <a:t>rain, snow, sleet, or hail </a:t>
            </a:r>
            <a:r>
              <a:rPr lang="en-US" sz="1700" dirty="0">
                <a:latin typeface="Comic Sans MS" panose="030F0702030302020204" charset="0"/>
                <a:cs typeface="Comic Sans MS" panose="030F0702030302020204" charset="0"/>
              </a:rPr>
              <a:t>that falls back to the Earth's surface.</a:t>
            </a:r>
          </a:p>
          <a:p>
            <a:pPr>
              <a:lnSpc>
                <a:spcPct val="90000"/>
              </a:lnSpc>
            </a:pPr>
            <a:r>
              <a:rPr lang="en-US" sz="1700" b="1" dirty="0">
                <a:latin typeface="Comic Sans MS" panose="030F0702030302020204" charset="0"/>
                <a:cs typeface="Comic Sans MS" panose="030F0702030302020204" charset="0"/>
              </a:rPr>
              <a:t>Infiltration</a:t>
            </a:r>
            <a:r>
              <a:rPr lang="en-US" sz="1700" dirty="0">
                <a:latin typeface="Comic Sans MS" panose="030F0702030302020204" charset="0"/>
                <a:cs typeface="Comic Sans MS" panose="030F0702030302020204" charset="0"/>
              </a:rPr>
              <a:t>: The process by which </a:t>
            </a:r>
            <a:r>
              <a:rPr lang="en-US" sz="1700" dirty="0">
                <a:solidFill>
                  <a:srgbClr val="FF0000"/>
                </a:solidFill>
                <a:latin typeface="Comic Sans MS" panose="030F0702030302020204" charset="0"/>
                <a:cs typeface="Comic Sans MS" panose="030F0702030302020204" charset="0"/>
              </a:rPr>
              <a:t>water penetrates the soil surface and moves downward </a:t>
            </a:r>
            <a:r>
              <a:rPr lang="en-US" sz="1700" dirty="0">
                <a:latin typeface="Comic Sans MS" panose="030F0702030302020204" charset="0"/>
                <a:cs typeface="Comic Sans MS" panose="030F0702030302020204" charset="0"/>
              </a:rPr>
              <a:t>into the </a:t>
            </a:r>
            <a:r>
              <a:rPr lang="en-US" sz="1700" b="1" dirty="0">
                <a:latin typeface="Comic Sans MS" panose="030F0702030302020204" charset="0"/>
                <a:cs typeface="Comic Sans MS" panose="030F0702030302020204" charset="0"/>
              </a:rPr>
              <a:t>groundwater supply</a:t>
            </a:r>
            <a:r>
              <a:rPr lang="en-US" sz="1700" dirty="0">
                <a:latin typeface="Comic Sans MS" panose="030F0702030302020204" charset="0"/>
                <a:cs typeface="Comic Sans MS" panose="030F0702030302020204" charset="0"/>
              </a:rPr>
              <a:t>.</a:t>
            </a:r>
          </a:p>
          <a:p>
            <a:pPr>
              <a:lnSpc>
                <a:spcPct val="90000"/>
              </a:lnSpc>
            </a:pPr>
            <a:r>
              <a:rPr lang="en-US" sz="1700" b="1" dirty="0">
                <a:latin typeface="Comic Sans MS" panose="030F0702030302020204" charset="0"/>
                <a:cs typeface="Comic Sans MS" panose="030F0702030302020204" charset="0"/>
              </a:rPr>
              <a:t>Runoff</a:t>
            </a:r>
            <a:r>
              <a:rPr lang="en-US" sz="1700" dirty="0">
                <a:latin typeface="Comic Sans MS" panose="030F0702030302020204" charset="0"/>
                <a:cs typeface="Comic Sans MS" panose="030F0702030302020204" charset="0"/>
              </a:rPr>
              <a:t>: The flow of water, often from rain or melting snow, that travels across the </a:t>
            </a:r>
            <a:r>
              <a:rPr lang="en-US" sz="1700" dirty="0">
                <a:solidFill>
                  <a:srgbClr val="FF0000"/>
                </a:solidFill>
                <a:latin typeface="Comic Sans MS" panose="030F0702030302020204" charset="0"/>
                <a:cs typeface="Comic Sans MS" panose="030F0702030302020204" charset="0"/>
              </a:rPr>
              <a:t>land surface </a:t>
            </a:r>
            <a:r>
              <a:rPr lang="en-US" sz="1700" dirty="0">
                <a:latin typeface="Comic Sans MS" panose="030F0702030302020204" charset="0"/>
                <a:cs typeface="Comic Sans MS" panose="030F0702030302020204" charset="0"/>
              </a:rPr>
              <a:t>and eventually </a:t>
            </a:r>
            <a:r>
              <a:rPr lang="en-US" sz="1700" dirty="0">
                <a:solidFill>
                  <a:srgbClr val="FF0000"/>
                </a:solidFill>
                <a:latin typeface="Comic Sans MS" panose="030F0702030302020204" charset="0"/>
                <a:cs typeface="Comic Sans MS" panose="030F0702030302020204" charset="0"/>
              </a:rPr>
              <a:t>enters rivers, lakes, or oceans.</a:t>
            </a:r>
          </a:p>
          <a:p>
            <a:pPr>
              <a:lnSpc>
                <a:spcPct val="90000"/>
              </a:lnSpc>
            </a:pPr>
            <a:endParaRPr lang="en-US" sz="1700" dirty="0">
              <a:latin typeface="Comic Sans MS" panose="030F0702030302020204" charset="0"/>
              <a:cs typeface="Comic Sans MS" panose="030F0702030302020204" charset="0"/>
            </a:endParaRPr>
          </a:p>
        </p:txBody>
      </p:sp>
      <p:pic>
        <p:nvPicPr>
          <p:cNvPr id="4" name="Picture 2" descr="Water on Earth | CK-12 Foundation"/>
          <p:cNvPicPr>
            <a:picLocks noChangeAspect="1" noChangeArrowheads="1"/>
          </p:cNvPicPr>
          <p:nvPr/>
        </p:nvPicPr>
        <p:blipFill rotWithShape="1">
          <a:blip r:embed="rId2">
            <a:extLst>
              <a:ext uri="{28A0092B-C50C-407E-A947-70E740481C1C}">
                <a14:useLocalDpi xmlns:a14="http://schemas.microsoft.com/office/drawing/2010/main" val="0"/>
              </a:ext>
            </a:extLst>
          </a:blip>
          <a:srcRect l="1568" t="11396" r="-366" b="-1056"/>
          <a:stretch>
            <a:fillRect/>
          </a:stretch>
        </p:blipFill>
        <p:spPr bwMode="auto">
          <a:xfrm>
            <a:off x="7267308" y="2150532"/>
            <a:ext cx="4537037" cy="3571842"/>
          </a:xfrm>
          <a:prstGeom prst="rect">
            <a:avLst/>
          </a:prstGeom>
          <a:noFill/>
          <a:ln w="57150" cmpd="thickThin">
            <a:solidFill>
              <a:schemeClr val="tx1">
                <a:lumMod val="50000"/>
                <a:lumOff val="50000"/>
              </a:schemeClr>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Carbon Cycle</a:t>
            </a:r>
            <a:br>
              <a:rPr lang="en-US" b="1" dirty="0">
                <a:latin typeface="+mj-lt"/>
              </a:rPr>
            </a:br>
            <a:endParaRPr lang="en-US" dirty="0"/>
          </a:p>
        </p:txBody>
      </p:sp>
      <p:sp>
        <p:nvSpPr>
          <p:cNvPr id="6" name="Rectangle 3"/>
          <p:cNvSpPr>
            <a:spLocks noGrp="1" noChangeArrowheads="1"/>
          </p:cNvSpPr>
          <p:nvPr>
            <p:ph idx="1"/>
          </p:nvPr>
        </p:nvSpPr>
        <p:spPr bwMode="auto">
          <a:xfrm>
            <a:off x="612648" y="2718487"/>
            <a:ext cx="65059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pPr>
            <a:endParaRPr lang="en-US" altLang="en-US" sz="2400"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p:cNvSpPr txBox="1"/>
          <p:nvPr/>
        </p:nvSpPr>
        <p:spPr>
          <a:xfrm>
            <a:off x="737420" y="1725011"/>
            <a:ext cx="6096000"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pPr>
            <a:r>
              <a:rPr lang="en-US" sz="2400" dirty="0"/>
              <a:t>The carbon cycle involves the movement of carbon through the atmosphere, oceans, land, and living organisms.</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mj-lt"/>
            </a:endParaRPr>
          </a:p>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Carbon</a:t>
            </a:r>
            <a:r>
              <a:rPr kumimoji="0" lang="en-US" altLang="en-US" sz="2400" b="0" i="0" u="none" strike="noStrike" cap="none" normalizeH="0" baseline="0" dirty="0">
                <a:ln>
                  <a:noFill/>
                </a:ln>
                <a:solidFill>
                  <a:schemeClr val="tx1"/>
                </a:solidFill>
                <a:effectLst/>
                <a:latin typeface="Arial" panose="020B0604020202020204" pitchFamily="34" charset="0"/>
              </a:rPr>
              <a:t> is the </a:t>
            </a:r>
            <a:r>
              <a:rPr kumimoji="0" lang="en-US" altLang="en-US" sz="2400" b="1" i="0" u="none" strike="noStrike" cap="none" normalizeH="0" baseline="0" dirty="0">
                <a:ln>
                  <a:noFill/>
                </a:ln>
                <a:solidFill>
                  <a:schemeClr val="tx1"/>
                </a:solidFill>
                <a:effectLst/>
                <a:latin typeface="Arial" panose="020B0604020202020204" pitchFamily="34" charset="0"/>
              </a:rPr>
              <a:t>backbone of all organic molecules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regulates Earth's temperature </a:t>
            </a:r>
            <a:r>
              <a:rPr kumimoji="0" lang="en-US" altLang="en-US" sz="2400" b="0" i="0" u="none" strike="noStrike" cap="none" normalizeH="0" baseline="0" dirty="0">
                <a:ln>
                  <a:noFill/>
                </a:ln>
                <a:solidFill>
                  <a:schemeClr val="tx1"/>
                </a:solidFill>
                <a:effectLst/>
                <a:latin typeface="Arial" panose="020B0604020202020204" pitchFamily="34" charset="0"/>
              </a:rPr>
              <a:t>and is a </a:t>
            </a:r>
            <a:r>
              <a:rPr kumimoji="0" lang="en-US" altLang="en-US" sz="2400" b="1" i="0" u="none" strike="noStrike" cap="none" normalizeH="0" baseline="0" dirty="0">
                <a:ln>
                  <a:noFill/>
                </a:ln>
                <a:solidFill>
                  <a:schemeClr val="tx1"/>
                </a:solidFill>
                <a:effectLst/>
                <a:latin typeface="Arial" panose="020B0604020202020204" pitchFamily="34" charset="0"/>
              </a:rPr>
              <a:t>key component of fossil fuels.   </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mj-lt"/>
            </a:endParaRPr>
          </a:p>
          <a:p>
            <a:pPr marL="0" indent="0" eaLnBrk="0" fontAlgn="base" hangingPunct="0">
              <a:lnSpc>
                <a:spcPct val="100000"/>
              </a:lnSpc>
              <a:spcBef>
                <a:spcPct val="0"/>
              </a:spcBef>
              <a:spcAft>
                <a:spcPct val="0"/>
              </a:spcAft>
              <a:buNone/>
            </a:pPr>
            <a:r>
              <a:rPr kumimoji="0" lang="en-US" altLang="en-US" sz="2400" b="1" i="0" u="none" strike="noStrike" cap="none" normalizeH="0" baseline="0" dirty="0">
                <a:ln>
                  <a:noFill/>
                </a:ln>
                <a:solidFill>
                  <a:schemeClr val="tx1"/>
                </a:solidFill>
                <a:effectLst/>
                <a:latin typeface="+mj-lt"/>
              </a:rPr>
              <a:t>Key Processes:</a:t>
            </a:r>
            <a:r>
              <a:rPr kumimoji="0" lang="en-US" altLang="en-US" sz="2400" b="0" i="0" u="none" strike="noStrike" cap="none" normalizeH="0" baseline="0" dirty="0">
                <a:ln>
                  <a:noFill/>
                </a:ln>
                <a:solidFill>
                  <a:schemeClr val="tx1"/>
                </a:solidFill>
                <a:effectLst/>
                <a:latin typeface="+mj-lt"/>
              </a:rPr>
              <a:t> </a:t>
            </a:r>
            <a:r>
              <a:rPr lang="en-US" sz="2400" dirty="0"/>
              <a:t>Photosynthesis, respiration, decomposition, combustion, fossilization.</a:t>
            </a:r>
            <a:endParaRPr kumimoji="0" lang="en-US" altLang="en-US" sz="2400" b="0" i="0" u="none" strike="noStrike" cap="none" normalizeH="0" baseline="0" dirty="0">
              <a:ln>
                <a:noFill/>
              </a:ln>
              <a:solidFill>
                <a:schemeClr val="tx1"/>
              </a:solidFill>
              <a:effectLst/>
              <a:latin typeface="+mj-lt"/>
            </a:endParaRPr>
          </a:p>
        </p:txBody>
      </p:sp>
      <p:pic>
        <p:nvPicPr>
          <p:cNvPr id="21508" name="Picture 4" descr="The diagram shows a simplified model of the carbon cycle; arrows indicate the movement of carbon from the atmosphere to the biosphere to the geosphere, and then back to the atmosphere again. Arrow 1 represents carbon moving from a factory’s emissions to the atmosphere. Arrow 2 represents carbon moving from nonliving organic matter underground to the atmosphere. Arrow 3 represents carbon moving from vegetation to the atmosphere. Arrow 4 represents carbon moving from the atmosphere to vege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8555" y="1841395"/>
            <a:ext cx="4762500" cy="4038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Carbon Cycle</a:t>
            </a:r>
          </a:p>
        </p:txBody>
      </p:sp>
      <p:sp>
        <p:nvSpPr>
          <p:cNvPr id="3" name="Content Placeholder 2"/>
          <p:cNvSpPr>
            <a:spLocks noGrp="1"/>
          </p:cNvSpPr>
          <p:nvPr>
            <p:ph idx="1"/>
          </p:nvPr>
        </p:nvSpPr>
        <p:spPr>
          <a:xfrm>
            <a:off x="612647" y="1507253"/>
            <a:ext cx="10653579" cy="5044271"/>
          </a:xfrm>
        </p:spPr>
        <p:style>
          <a:lnRef idx="2">
            <a:schemeClr val="accent3"/>
          </a:lnRef>
          <a:fillRef idx="1">
            <a:schemeClr val="lt1"/>
          </a:fillRef>
          <a:effectRef idx="0">
            <a:schemeClr val="accent3"/>
          </a:effectRef>
          <a:fontRef idx="minor">
            <a:schemeClr val="dk1"/>
          </a:fontRef>
        </p:style>
        <p:txBody>
          <a:bodyPr>
            <a:normAutofit lnSpcReduction="10000"/>
          </a:bodyPr>
          <a:lstStyle/>
          <a:p>
            <a:r>
              <a:rPr lang="en-US" sz="1800" b="1" dirty="0"/>
              <a:t>Photosynthesis:</a:t>
            </a:r>
            <a:r>
              <a:rPr lang="en-US" sz="1800" dirty="0"/>
              <a:t> This is how plants (and some other organisms) use sunlight, water, and carbon dioxide in the atmosphere to create sugars (glucose) for energy and release oxygen as a byproduct.</a:t>
            </a:r>
          </a:p>
          <a:p>
            <a:r>
              <a:rPr lang="en-US" sz="1800" b="1" dirty="0"/>
              <a:t>Aerobic Respiration:</a:t>
            </a:r>
            <a:r>
              <a:rPr lang="en-US" sz="1800" dirty="0"/>
              <a:t> This is the process by which organisms (plants, animals, fungi, bacteria) break down sugars (like glucose) to release energy. This process consumes oxygen and releases carbon dioxide back into the atmosphere.</a:t>
            </a:r>
          </a:p>
          <a:p>
            <a:r>
              <a:rPr lang="en-US" sz="1800" b="1" dirty="0"/>
              <a:t>Decomposition:</a:t>
            </a:r>
            <a:r>
              <a:rPr lang="en-US" sz="1800" dirty="0"/>
              <a:t> When organisms die, their remains are broken down by decomposers (bacteria and fungi). This process releases carbon back into the soil and, as carbon dioxide, into the atmosphere.</a:t>
            </a:r>
          </a:p>
          <a:p>
            <a:r>
              <a:rPr lang="en-US" sz="1800" b="1" dirty="0"/>
              <a:t>Combustion:</a:t>
            </a:r>
            <a:r>
              <a:rPr lang="en-US" sz="1800" dirty="0"/>
              <a:t> Burning organic material (wood, fossil fuels) rapidly combines the carbon in the material with oxygen, producing carbon dioxide and releasing energy (heat and light).</a:t>
            </a:r>
          </a:p>
          <a:p>
            <a:r>
              <a:rPr lang="en-US" sz="1800" b="1" dirty="0"/>
              <a:t>Fossilization:</a:t>
            </a:r>
            <a:r>
              <a:rPr lang="en-US" sz="1800" dirty="0"/>
              <a:t> Over long periods of time, under specific conditions, the remains of dead organisms can be transformed into fossil fuels (coal, oil, natural gas). This process stores carbon in the Earth's crus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4680" y="603504"/>
            <a:ext cx="4361688" cy="712830"/>
          </a:xfrm>
        </p:spPr>
        <p:txBody>
          <a:bodyPr anchor="b">
            <a:normAutofit/>
          </a:bodyPr>
          <a:lstStyle/>
          <a:p>
            <a:r>
              <a:rPr lang="en-US" dirty="0"/>
              <a:t>Nitrogen Cycle</a:t>
            </a:r>
          </a:p>
        </p:txBody>
      </p:sp>
      <p:sp>
        <p:nvSpPr>
          <p:cNvPr id="3" name="Content Placeholder 2"/>
          <p:cNvSpPr>
            <a:spLocks noGrp="1"/>
          </p:cNvSpPr>
          <p:nvPr>
            <p:ph idx="1"/>
          </p:nvPr>
        </p:nvSpPr>
        <p:spPr>
          <a:xfrm>
            <a:off x="614679" y="1507253"/>
            <a:ext cx="4361688" cy="4802107"/>
          </a:xfrm>
        </p:spPr>
        <p:txBody>
          <a:bodyPr>
            <a:normAutofit lnSpcReduction="10000"/>
          </a:bodyPr>
          <a:lstStyle/>
          <a:p>
            <a:r>
              <a:rPr lang="en-US" dirty="0"/>
              <a:t>The nitrogen cycle is the process by which nitrogen is converted into various forms and cycled through the </a:t>
            </a:r>
            <a:r>
              <a:rPr lang="en-US" b="1" dirty="0"/>
              <a:t>atmosphere, soil</a:t>
            </a:r>
            <a:r>
              <a:rPr lang="en-US" dirty="0"/>
              <a:t>, and </a:t>
            </a:r>
            <a:r>
              <a:rPr lang="en-US" b="1" dirty="0"/>
              <a:t>living organisms</a:t>
            </a:r>
            <a:r>
              <a:rPr lang="en-US" dirty="0"/>
              <a:t>.</a:t>
            </a:r>
          </a:p>
          <a:p>
            <a:r>
              <a:rPr lang="en-US" dirty="0"/>
              <a:t>Nitrogen is a crucial component of proteins and nucleic acids; often a </a:t>
            </a:r>
            <a:r>
              <a:rPr lang="en-US" dirty="0">
                <a:solidFill>
                  <a:srgbClr val="FF0000"/>
                </a:solidFill>
              </a:rPr>
              <a:t>limiting nutrient for plant growth.</a:t>
            </a:r>
          </a:p>
          <a:p>
            <a:r>
              <a:rPr lang="en-US" b="1" dirty="0"/>
              <a:t>Key Processes:</a:t>
            </a:r>
            <a:r>
              <a:rPr lang="en-US" dirty="0"/>
              <a:t> Nitrogen fixation, nitrification, denitrification, assimilation, ammonification.</a:t>
            </a:r>
          </a:p>
        </p:txBody>
      </p:sp>
      <p:pic>
        <p:nvPicPr>
          <p:cNvPr id="5" name="Picture 4"/>
          <p:cNvPicPr>
            <a:picLocks noChangeAspect="1"/>
          </p:cNvPicPr>
          <p:nvPr/>
        </p:nvPicPr>
        <p:blipFill>
          <a:blip r:embed="rId2"/>
          <a:stretch>
            <a:fillRect/>
          </a:stretch>
        </p:blipFill>
        <p:spPr>
          <a:xfrm>
            <a:off x="5390963" y="603504"/>
            <a:ext cx="6660361" cy="56220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Nitrogen Cycl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342" y="237203"/>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13085"/>
            <a:ext cx="10653578" cy="1132258"/>
          </a:xfrm>
        </p:spPr>
        <p:txBody>
          <a:bodyPr/>
          <a:lstStyle/>
          <a:p>
            <a:r>
              <a:rPr lang="en-US" dirty="0"/>
              <a:t>Nitrogen Cycle</a:t>
            </a:r>
          </a:p>
        </p:txBody>
      </p:sp>
      <p:sp>
        <p:nvSpPr>
          <p:cNvPr id="3" name="Content Placeholder 2"/>
          <p:cNvSpPr>
            <a:spLocks noGrp="1"/>
          </p:cNvSpPr>
          <p:nvPr>
            <p:ph idx="1"/>
          </p:nvPr>
        </p:nvSpPr>
        <p:spPr>
          <a:xfrm>
            <a:off x="612647" y="1120879"/>
            <a:ext cx="10653579" cy="5240592"/>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r>
              <a:rPr lang="en-US" b="1" dirty="0">
                <a:latin typeface="Comic Sans MS" panose="030F0702030302020204" charset="0"/>
                <a:cs typeface="Comic Sans MS" panose="030F0702030302020204" charset="0"/>
              </a:rPr>
              <a:t>Nitrogen Fixation:</a:t>
            </a:r>
            <a:r>
              <a:rPr lang="en-US" dirty="0">
                <a:latin typeface="Comic Sans MS" panose="030F0702030302020204" charset="0"/>
                <a:cs typeface="Comic Sans MS" panose="030F0702030302020204" charset="0"/>
              </a:rPr>
              <a:t> This is the process where atmospheric nitrogen (N</a:t>
            </a:r>
            <a:r>
              <a:rPr lang="en-US" baseline="-25000" dirty="0">
                <a:latin typeface="Comic Sans MS" panose="030F0702030302020204" charset="0"/>
                <a:cs typeface="Comic Sans MS" panose="030F0702030302020204" charset="0"/>
              </a:rPr>
              <a:t>2</a:t>
            </a:r>
            <a:r>
              <a:rPr lang="en-US" dirty="0">
                <a:latin typeface="Comic Sans MS" panose="030F0702030302020204" charset="0"/>
                <a:cs typeface="Comic Sans MS" panose="030F0702030302020204" charset="0"/>
              </a:rPr>
              <a:t>), which is unusable by most organisms, is converted into </a:t>
            </a:r>
            <a:r>
              <a:rPr lang="en-US" dirty="0">
                <a:solidFill>
                  <a:srgbClr val="FF0000"/>
                </a:solidFill>
                <a:latin typeface="Comic Sans MS" panose="030F0702030302020204" charset="0"/>
                <a:cs typeface="Comic Sans MS" panose="030F0702030302020204" charset="0"/>
              </a:rPr>
              <a:t>ammonia (NH</a:t>
            </a:r>
            <a:r>
              <a:rPr lang="en-US" baseline="-25000" dirty="0">
                <a:solidFill>
                  <a:srgbClr val="FF0000"/>
                </a:solidFill>
                <a:latin typeface="Comic Sans MS" panose="030F0702030302020204" charset="0"/>
                <a:cs typeface="Comic Sans MS" panose="030F0702030302020204" charset="0"/>
              </a:rPr>
              <a:t>3</a:t>
            </a:r>
            <a:r>
              <a:rPr lang="en-US" dirty="0">
                <a:solidFill>
                  <a:srgbClr val="FF0000"/>
                </a:solidFill>
                <a:latin typeface="Comic Sans MS" panose="030F0702030302020204" charset="0"/>
                <a:cs typeface="Comic Sans MS" panose="030F0702030302020204" charset="0"/>
              </a:rPr>
              <a:t>)</a:t>
            </a:r>
            <a:r>
              <a:rPr lang="en-US" dirty="0">
                <a:latin typeface="Comic Sans MS" panose="030F0702030302020204" charset="0"/>
                <a:cs typeface="Comic Sans MS" panose="030F0702030302020204" charset="0"/>
              </a:rPr>
              <a:t> or other usable nitrogen compounds. This is primarily done by </a:t>
            </a:r>
            <a:r>
              <a:rPr lang="en-US" dirty="0">
                <a:solidFill>
                  <a:srgbClr val="FF0000"/>
                </a:solidFill>
                <a:latin typeface="Comic Sans MS" panose="030F0702030302020204" charset="0"/>
                <a:cs typeface="Comic Sans MS" panose="030F0702030302020204" charset="0"/>
              </a:rPr>
              <a:t>certain </a:t>
            </a:r>
            <a:r>
              <a:rPr lang="en-US" b="1" dirty="0">
                <a:solidFill>
                  <a:srgbClr val="FF0000"/>
                </a:solidFill>
                <a:latin typeface="Comic Sans MS" panose="030F0702030302020204" charset="0"/>
                <a:cs typeface="Comic Sans MS" panose="030F0702030302020204" charset="0"/>
              </a:rPr>
              <a:t>bacteria</a:t>
            </a:r>
            <a:r>
              <a:rPr lang="en-US" dirty="0">
                <a:solidFill>
                  <a:srgbClr val="FF0000"/>
                </a:solidFill>
                <a:latin typeface="Comic Sans MS" panose="030F0702030302020204" charset="0"/>
                <a:cs typeface="Comic Sans MS" panose="030F0702030302020204" charset="0"/>
              </a:rPr>
              <a:t> in the soil or in the roots of some plants </a:t>
            </a:r>
            <a:r>
              <a:rPr lang="en-US" dirty="0">
                <a:latin typeface="Comic Sans MS" panose="030F0702030302020204" charset="0"/>
                <a:cs typeface="Comic Sans MS" panose="030F0702030302020204" charset="0"/>
              </a:rPr>
              <a:t>(like legumes).</a:t>
            </a:r>
          </a:p>
          <a:p>
            <a:r>
              <a:rPr lang="en-US" b="1" dirty="0">
                <a:latin typeface="Comic Sans MS" panose="030F0702030302020204" charset="0"/>
                <a:cs typeface="Comic Sans MS" panose="030F0702030302020204" charset="0"/>
              </a:rPr>
              <a:t>Nitrification:</a:t>
            </a:r>
            <a:r>
              <a:rPr lang="en-US" dirty="0">
                <a:latin typeface="Comic Sans MS" panose="030F0702030302020204" charset="0"/>
                <a:cs typeface="Comic Sans MS" panose="030F0702030302020204" charset="0"/>
              </a:rPr>
              <a:t> Ammonia (NH</a:t>
            </a:r>
            <a:r>
              <a:rPr lang="en-US" baseline="-25000" dirty="0">
                <a:latin typeface="Comic Sans MS" panose="030F0702030302020204" charset="0"/>
                <a:cs typeface="Comic Sans MS" panose="030F0702030302020204" charset="0"/>
              </a:rPr>
              <a:t>3</a:t>
            </a:r>
            <a:r>
              <a:rPr lang="en-US" dirty="0">
                <a:latin typeface="Comic Sans MS" panose="030F0702030302020204" charset="0"/>
                <a:cs typeface="Comic Sans MS" panose="030F0702030302020204" charset="0"/>
              </a:rPr>
              <a:t>) is converted into nitrites (NO</a:t>
            </a:r>
            <a:r>
              <a:rPr lang="en-US" baseline="30000" dirty="0">
                <a:latin typeface="Comic Sans MS" panose="030F0702030302020204" charset="0"/>
                <a:cs typeface="Comic Sans MS" panose="030F0702030302020204" charset="0"/>
              </a:rPr>
              <a:t>2-</a:t>
            </a:r>
            <a:r>
              <a:rPr lang="en-US" dirty="0">
                <a:latin typeface="Comic Sans MS" panose="030F0702030302020204" charset="0"/>
                <a:cs typeface="Comic Sans MS" panose="030F0702030302020204" charset="0"/>
              </a:rPr>
              <a:t>) and then </a:t>
            </a:r>
            <a:r>
              <a:rPr lang="en-US" b="1" dirty="0">
                <a:solidFill>
                  <a:srgbClr val="FF0000"/>
                </a:solidFill>
                <a:latin typeface="Comic Sans MS" panose="030F0702030302020204" charset="0"/>
                <a:cs typeface="Comic Sans MS" panose="030F0702030302020204" charset="0"/>
              </a:rPr>
              <a:t>nitrates (NO</a:t>
            </a:r>
            <a:r>
              <a:rPr lang="en-US" b="1" baseline="30000" dirty="0">
                <a:solidFill>
                  <a:srgbClr val="FF0000"/>
                </a:solidFill>
                <a:latin typeface="Comic Sans MS" panose="030F0702030302020204" charset="0"/>
                <a:cs typeface="Comic Sans MS" panose="030F0702030302020204" charset="0"/>
              </a:rPr>
              <a:t>3-</a:t>
            </a:r>
            <a:r>
              <a:rPr lang="en-US" b="1" dirty="0">
                <a:solidFill>
                  <a:srgbClr val="FF0000"/>
                </a:solidFill>
                <a:latin typeface="Comic Sans MS" panose="030F0702030302020204" charset="0"/>
                <a:cs typeface="Comic Sans MS" panose="030F0702030302020204" charset="0"/>
              </a:rPr>
              <a:t>) </a:t>
            </a:r>
            <a:r>
              <a:rPr lang="en-US" dirty="0">
                <a:latin typeface="Comic Sans MS" panose="030F0702030302020204" charset="0"/>
                <a:cs typeface="Comic Sans MS" panose="030F0702030302020204" charset="0"/>
              </a:rPr>
              <a:t>by </a:t>
            </a:r>
            <a:r>
              <a:rPr lang="en-US" dirty="0">
                <a:solidFill>
                  <a:srgbClr val="FF0000"/>
                </a:solidFill>
                <a:latin typeface="Comic Sans MS" panose="030F0702030302020204" charset="0"/>
                <a:cs typeface="Comic Sans MS" panose="030F0702030302020204" charset="0"/>
              </a:rPr>
              <a:t>bacteria</a:t>
            </a:r>
            <a:r>
              <a:rPr lang="en-US" dirty="0">
                <a:latin typeface="Comic Sans MS" panose="030F0702030302020204" charset="0"/>
                <a:cs typeface="Comic Sans MS" panose="030F0702030302020204" charset="0"/>
              </a:rPr>
              <a:t> in the soil. </a:t>
            </a:r>
            <a:r>
              <a:rPr lang="en-US" b="1" dirty="0">
                <a:latin typeface="Comic Sans MS" panose="030F0702030302020204" charset="0"/>
                <a:cs typeface="Comic Sans MS" panose="030F0702030302020204" charset="0"/>
              </a:rPr>
              <a:t>Nitrates</a:t>
            </a:r>
            <a:r>
              <a:rPr lang="en-US" dirty="0">
                <a:latin typeface="Comic Sans MS" panose="030F0702030302020204" charset="0"/>
                <a:cs typeface="Comic Sans MS" panose="030F0702030302020204" charset="0"/>
              </a:rPr>
              <a:t> are a form of nitrogen that </a:t>
            </a:r>
            <a:r>
              <a:rPr lang="en-US" b="1" dirty="0">
                <a:latin typeface="Comic Sans MS" panose="030F0702030302020204" charset="0"/>
                <a:cs typeface="Comic Sans MS" panose="030F0702030302020204" charset="0"/>
              </a:rPr>
              <a:t>plants can readily absorb</a:t>
            </a:r>
            <a:r>
              <a:rPr lang="en-US" dirty="0">
                <a:latin typeface="Comic Sans MS" panose="030F0702030302020204" charset="0"/>
                <a:cs typeface="Comic Sans MS" panose="030F0702030302020204" charset="0"/>
              </a:rPr>
              <a:t>.</a:t>
            </a:r>
          </a:p>
          <a:p>
            <a:r>
              <a:rPr lang="en-US" b="1" dirty="0">
                <a:latin typeface="Comic Sans MS" panose="030F0702030302020204" charset="0"/>
                <a:cs typeface="Comic Sans MS" panose="030F0702030302020204" charset="0"/>
              </a:rPr>
              <a:t>Denitrification:</a:t>
            </a:r>
            <a:r>
              <a:rPr lang="en-US" dirty="0">
                <a:latin typeface="Comic Sans MS" panose="030F0702030302020204" charset="0"/>
                <a:cs typeface="Comic Sans MS" panose="030F0702030302020204" charset="0"/>
              </a:rPr>
              <a:t> Nitrates (NO</a:t>
            </a:r>
            <a:r>
              <a:rPr lang="en-US" baseline="30000" dirty="0">
                <a:latin typeface="Comic Sans MS" panose="030F0702030302020204" charset="0"/>
                <a:cs typeface="Comic Sans MS" panose="030F0702030302020204" charset="0"/>
              </a:rPr>
              <a:t>3-</a:t>
            </a:r>
            <a:r>
              <a:rPr lang="en-US" dirty="0">
                <a:latin typeface="Comic Sans MS" panose="030F0702030302020204" charset="0"/>
                <a:cs typeface="Comic Sans MS" panose="030F0702030302020204" charset="0"/>
              </a:rPr>
              <a:t>) are </a:t>
            </a:r>
            <a:r>
              <a:rPr lang="en-US" dirty="0">
                <a:solidFill>
                  <a:srgbClr val="FF0000"/>
                </a:solidFill>
                <a:latin typeface="Comic Sans MS" panose="030F0702030302020204" charset="0"/>
                <a:cs typeface="Comic Sans MS" panose="030F0702030302020204" charset="0"/>
              </a:rPr>
              <a:t>converted back into atmospheric nitrogen gas </a:t>
            </a:r>
            <a:r>
              <a:rPr lang="en-US" dirty="0">
                <a:latin typeface="Comic Sans MS" panose="030F0702030302020204" charset="0"/>
                <a:cs typeface="Comic Sans MS" panose="030F0702030302020204" charset="0"/>
              </a:rPr>
              <a:t>(N</a:t>
            </a:r>
            <a:r>
              <a:rPr lang="en-US" baseline="-25000" dirty="0">
                <a:latin typeface="Comic Sans MS" panose="030F0702030302020204" charset="0"/>
                <a:cs typeface="Comic Sans MS" panose="030F0702030302020204" charset="0"/>
              </a:rPr>
              <a:t>2</a:t>
            </a:r>
            <a:r>
              <a:rPr lang="en-US" dirty="0">
                <a:latin typeface="Comic Sans MS" panose="030F0702030302020204" charset="0"/>
                <a:cs typeface="Comic Sans MS" panose="030F0702030302020204" charset="0"/>
              </a:rPr>
              <a:t>) by certain </a:t>
            </a:r>
            <a:r>
              <a:rPr lang="en-US" dirty="0">
                <a:solidFill>
                  <a:srgbClr val="FF0000"/>
                </a:solidFill>
                <a:latin typeface="Comic Sans MS" panose="030F0702030302020204" charset="0"/>
                <a:cs typeface="Comic Sans MS" panose="030F0702030302020204" charset="0"/>
              </a:rPr>
              <a:t>bacteria</a:t>
            </a:r>
            <a:r>
              <a:rPr lang="en-US" dirty="0">
                <a:latin typeface="Comic Sans MS" panose="030F0702030302020204" charset="0"/>
                <a:cs typeface="Comic Sans MS" panose="030F0702030302020204" charset="0"/>
              </a:rPr>
              <a:t> in oxygen-poor environments (like waterlogged soils). This process </a:t>
            </a:r>
            <a:r>
              <a:rPr lang="en-US" dirty="0">
                <a:solidFill>
                  <a:srgbClr val="FF0000"/>
                </a:solidFill>
                <a:latin typeface="Comic Sans MS" panose="030F0702030302020204" charset="0"/>
                <a:cs typeface="Comic Sans MS" panose="030F0702030302020204" charset="0"/>
              </a:rPr>
              <a:t>returns nitrogen to the atmosphere.</a:t>
            </a:r>
          </a:p>
          <a:p>
            <a:r>
              <a:rPr lang="en-US" b="1" dirty="0">
                <a:latin typeface="Comic Sans MS" panose="030F0702030302020204" charset="0"/>
                <a:cs typeface="Comic Sans MS" panose="030F0702030302020204" charset="0"/>
              </a:rPr>
              <a:t>Assimilation:</a:t>
            </a:r>
            <a:r>
              <a:rPr lang="en-US" dirty="0">
                <a:latin typeface="Comic Sans MS" panose="030F0702030302020204" charset="0"/>
                <a:cs typeface="Comic Sans MS" panose="030F0702030302020204" charset="0"/>
              </a:rPr>
              <a:t> </a:t>
            </a:r>
            <a:r>
              <a:rPr lang="en-US" dirty="0">
                <a:solidFill>
                  <a:srgbClr val="FF0000"/>
                </a:solidFill>
                <a:latin typeface="Comic Sans MS" panose="030F0702030302020204" charset="0"/>
                <a:cs typeface="Comic Sans MS" panose="030F0702030302020204" charset="0"/>
              </a:rPr>
              <a:t>Plants</a:t>
            </a:r>
            <a:r>
              <a:rPr lang="en-US" dirty="0">
                <a:latin typeface="Comic Sans MS" panose="030F0702030302020204" charset="0"/>
                <a:cs typeface="Comic Sans MS" panose="030F0702030302020204" charset="0"/>
              </a:rPr>
              <a:t> absorb </a:t>
            </a:r>
            <a:r>
              <a:rPr lang="en-US" dirty="0">
                <a:solidFill>
                  <a:srgbClr val="FF0000"/>
                </a:solidFill>
                <a:latin typeface="Comic Sans MS" panose="030F0702030302020204" charset="0"/>
                <a:cs typeface="Comic Sans MS" panose="030F0702030302020204" charset="0"/>
              </a:rPr>
              <a:t>nitrogen</a:t>
            </a:r>
            <a:r>
              <a:rPr lang="en-US" dirty="0">
                <a:latin typeface="Comic Sans MS" panose="030F0702030302020204" charset="0"/>
                <a:cs typeface="Comic Sans MS" panose="030F0702030302020204" charset="0"/>
              </a:rPr>
              <a:t> (in the form of nitrates or ammonia) through their </a:t>
            </a:r>
            <a:r>
              <a:rPr lang="en-US" dirty="0">
                <a:solidFill>
                  <a:srgbClr val="FF0000"/>
                </a:solidFill>
                <a:latin typeface="Comic Sans MS" panose="030F0702030302020204" charset="0"/>
                <a:cs typeface="Comic Sans MS" panose="030F0702030302020204" charset="0"/>
              </a:rPr>
              <a:t>roots</a:t>
            </a:r>
            <a:r>
              <a:rPr lang="en-US" dirty="0">
                <a:latin typeface="Comic Sans MS" panose="030F0702030302020204" charset="0"/>
                <a:cs typeface="Comic Sans MS" panose="030F0702030302020204" charset="0"/>
              </a:rPr>
              <a:t> and incorporate it into organic molecules like proteins and nucleic acids. </a:t>
            </a:r>
            <a:r>
              <a:rPr lang="en-US" dirty="0">
                <a:solidFill>
                  <a:srgbClr val="FF0000"/>
                </a:solidFill>
                <a:latin typeface="Comic Sans MS" panose="030F0702030302020204" charset="0"/>
                <a:cs typeface="Comic Sans MS" panose="030F0702030302020204" charset="0"/>
              </a:rPr>
              <a:t>Animals </a:t>
            </a:r>
            <a:r>
              <a:rPr lang="en-US" dirty="0">
                <a:latin typeface="Comic Sans MS" panose="030F0702030302020204" charset="0"/>
                <a:cs typeface="Comic Sans MS" panose="030F0702030302020204" charset="0"/>
              </a:rPr>
              <a:t>then </a:t>
            </a:r>
            <a:r>
              <a:rPr lang="en-US" dirty="0">
                <a:solidFill>
                  <a:srgbClr val="FF0000"/>
                </a:solidFill>
                <a:latin typeface="Comic Sans MS" panose="030F0702030302020204" charset="0"/>
                <a:cs typeface="Comic Sans MS" panose="030F0702030302020204" charset="0"/>
              </a:rPr>
              <a:t>assimilate nitrogen by eating plants </a:t>
            </a:r>
            <a:r>
              <a:rPr lang="en-US" dirty="0">
                <a:latin typeface="Comic Sans MS" panose="030F0702030302020204" charset="0"/>
                <a:cs typeface="Comic Sans MS" panose="030F0702030302020204" charset="0"/>
              </a:rPr>
              <a:t>(or other animals that have eaten plants).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Comic Sans MS" panose="030F0702030302020204" charset="0"/>
                <a:cs typeface="Comic Sans MS" panose="030F0702030302020204" charset="0"/>
              </a:rPr>
              <a:t>Ammonification:</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 When organisms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die or produce waste</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 the organic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nitrogen</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 in their remains is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converted back into ammonia (NH</a:t>
            </a:r>
            <a:r>
              <a:rPr kumimoji="0" lang="en-US" altLang="en-US" sz="2000" b="0" i="0" u="none" strike="noStrike" cap="none" normalizeH="0" baseline="-25000" dirty="0">
                <a:ln>
                  <a:noFill/>
                </a:ln>
                <a:solidFill>
                  <a:srgbClr val="FF0000"/>
                </a:solidFill>
                <a:effectLst/>
                <a:latin typeface="Comic Sans MS" panose="030F0702030302020204" charset="0"/>
                <a:cs typeface="Comic Sans MS" panose="030F0702030302020204" charset="0"/>
              </a:rPr>
              <a:t>3</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 </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by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decomposers </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(bacteria and fungi). This ammonia can then be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used by plants</a:t>
            </a:r>
            <a:r>
              <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rPr>
              <a:t> or </a:t>
            </a:r>
            <a:r>
              <a:rPr kumimoji="0" lang="en-US" altLang="en-US" sz="2000" b="0" i="0" u="none" strike="noStrike" cap="none" normalizeH="0" baseline="0" dirty="0">
                <a:ln>
                  <a:noFill/>
                </a:ln>
                <a:solidFill>
                  <a:srgbClr val="FF0000"/>
                </a:solidFill>
                <a:effectLst/>
                <a:latin typeface="Comic Sans MS" panose="030F0702030302020204" charset="0"/>
                <a:cs typeface="Comic Sans MS" panose="030F0702030302020204" charset="0"/>
              </a:rPr>
              <a:t>go through nitrification again. </a:t>
            </a:r>
          </a:p>
          <a:p>
            <a:pPr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Comic Sans MS" panose="030F0702030302020204" charset="0"/>
              <a:cs typeface="Comic Sans MS" panose="030F0702030302020204" charset="0"/>
            </a:endParaRPr>
          </a:p>
          <a:p>
            <a:endParaRPr lang="en-US" dirty="0">
              <a:latin typeface="Comic Sans MS" panose="030F0702030302020204" charset="0"/>
              <a:cs typeface="Comic Sans MS" panose="030F0702030302020204" charset="0"/>
            </a:endParaRPr>
          </a:p>
          <a:p>
            <a:endParaRPr lang="en-US" dirty="0">
              <a:latin typeface="Comic Sans MS" panose="030F0702030302020204" charset="0"/>
              <a:cs typeface="Comic Sans MS" panose="030F07020303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609601"/>
            <a:ext cx="4621553" cy="540773"/>
          </a:xfrm>
        </p:spPr>
        <p:txBody>
          <a:bodyPr anchor="b">
            <a:normAutofit fontScale="90000"/>
          </a:bodyPr>
          <a:lstStyle/>
          <a:p>
            <a:r>
              <a:rPr lang="en-US" dirty="0"/>
              <a:t>Phosphorus Cycle</a:t>
            </a:r>
          </a:p>
        </p:txBody>
      </p:sp>
      <p:sp>
        <p:nvSpPr>
          <p:cNvPr id="3" name="Content Placeholder 2"/>
          <p:cNvSpPr>
            <a:spLocks noGrp="1"/>
          </p:cNvSpPr>
          <p:nvPr>
            <p:ph idx="1"/>
          </p:nvPr>
        </p:nvSpPr>
        <p:spPr>
          <a:xfrm>
            <a:off x="612648" y="1592826"/>
            <a:ext cx="5011404" cy="5034116"/>
          </a:xfrm>
        </p:spPr>
        <p:txBody>
          <a:bodyPr>
            <a:normAutofit fontScale="92500" lnSpcReduction="20000"/>
          </a:bodyPr>
          <a:lstStyle/>
          <a:p>
            <a:pPr>
              <a:lnSpc>
                <a:spcPct val="110000"/>
              </a:lnSpc>
            </a:pPr>
            <a:r>
              <a:rPr lang="en-US" sz="2400" dirty="0"/>
              <a:t>The phosphorus cycle describes the movement of phosphorus through the Earth's ecosystems. Unlike other cycles, it </a:t>
            </a:r>
            <a:r>
              <a:rPr lang="en-US" sz="2400" b="1" dirty="0"/>
              <a:t>does not </a:t>
            </a:r>
            <a:r>
              <a:rPr lang="en-US" sz="2400" dirty="0"/>
              <a:t>have a significant </a:t>
            </a:r>
            <a:r>
              <a:rPr lang="en-US" sz="2400" b="1" dirty="0"/>
              <a:t>atmospheric component.</a:t>
            </a:r>
          </a:p>
          <a:p>
            <a:pPr>
              <a:lnSpc>
                <a:spcPct val="110000"/>
              </a:lnSpc>
            </a:pPr>
            <a:r>
              <a:rPr lang="en-US" sz="2200" b="0" i="0" dirty="0">
                <a:solidFill>
                  <a:srgbClr val="313131"/>
                </a:solidFill>
                <a:effectLst/>
                <a:latin typeface="+mj-lt"/>
              </a:rPr>
              <a:t>Phosphorus exists in nature as a phosphate ion </a:t>
            </a:r>
            <a:r>
              <a:rPr lang="en-US" sz="2200" b="0" i="0" dirty="0">
                <a:solidFill>
                  <a:srgbClr val="FF0000"/>
                </a:solidFill>
                <a:effectLst/>
                <a:latin typeface="+mj-lt"/>
              </a:rPr>
              <a:t>(PO</a:t>
            </a:r>
            <a:r>
              <a:rPr lang="en-US" sz="2200" b="0" baseline="-25000" dirty="0">
                <a:solidFill>
                  <a:srgbClr val="FF0000"/>
                </a:solidFill>
                <a:effectLst/>
                <a:latin typeface="+mj-lt"/>
              </a:rPr>
              <a:t>4</a:t>
            </a:r>
            <a:r>
              <a:rPr lang="en-US" sz="2200" b="0" baseline="30000" dirty="0">
                <a:solidFill>
                  <a:srgbClr val="FF0000"/>
                </a:solidFill>
                <a:effectLst/>
                <a:latin typeface="+mj-lt"/>
              </a:rPr>
              <a:t>3-</a:t>
            </a:r>
            <a:r>
              <a:rPr lang="en-US" sz="2200" b="0" i="0" dirty="0">
                <a:solidFill>
                  <a:srgbClr val="FF0000"/>
                </a:solidFill>
                <a:effectLst/>
                <a:latin typeface="+mj-lt"/>
              </a:rPr>
              <a:t>).</a:t>
            </a:r>
            <a:endParaRPr lang="en-US" sz="2600" b="1" dirty="0">
              <a:solidFill>
                <a:srgbClr val="FF0000"/>
              </a:solidFill>
              <a:latin typeface="+mj-lt"/>
            </a:endParaRPr>
          </a:p>
          <a:p>
            <a:pPr>
              <a:lnSpc>
                <a:spcPct val="110000"/>
              </a:lnSpc>
            </a:pPr>
            <a:r>
              <a:rPr lang="en-US" sz="2400" dirty="0"/>
              <a:t>Phosphorus is essential for DNA, RNA, and ATP (the energy currency of cells); often a limiting nutrient for plant growth.</a:t>
            </a:r>
          </a:p>
          <a:p>
            <a:pPr>
              <a:lnSpc>
                <a:spcPct val="110000"/>
              </a:lnSpc>
            </a:pPr>
            <a:r>
              <a:rPr lang="en-US" sz="2400" b="1" dirty="0"/>
              <a:t>Key Processes:</a:t>
            </a:r>
            <a:r>
              <a:rPr lang="en-US" sz="2400" dirty="0"/>
              <a:t> Weathering, erosion, assimilation, decomposition, sedimentation.</a:t>
            </a:r>
          </a:p>
        </p:txBody>
      </p:sp>
      <p:pic>
        <p:nvPicPr>
          <p:cNvPr id="4" name="Picture 3" descr="Phosphorus Cycle - Tropical Ecosytem"/>
          <p:cNvPicPr/>
          <p:nvPr/>
        </p:nvPicPr>
        <p:blipFill>
          <a:blip r:embed="rId2">
            <a:extLst>
              <a:ext uri="{28A0092B-C50C-407E-A947-70E740481C1C}">
                <a14:useLocalDpi xmlns:a14="http://schemas.microsoft.com/office/drawing/2010/main" val="0"/>
              </a:ext>
            </a:extLst>
          </a:blip>
          <a:stretch>
            <a:fillRect/>
          </a:stretch>
        </p:blipFill>
        <p:spPr bwMode="auto">
          <a:xfrm>
            <a:off x="5846849" y="429756"/>
            <a:ext cx="6194323" cy="5958347"/>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Phosphorus Cycle</a:t>
            </a:r>
          </a:p>
        </p:txBody>
      </p:sp>
      <p:sp>
        <p:nvSpPr>
          <p:cNvPr id="3" name="Content Placeholder 2"/>
          <p:cNvSpPr>
            <a:spLocks noGrp="1"/>
          </p:cNvSpPr>
          <p:nvPr>
            <p:ph idx="1"/>
          </p:nvPr>
        </p:nvSpPr>
        <p:spPr>
          <a:xfrm>
            <a:off x="612647" y="1327355"/>
            <a:ext cx="10653579" cy="5250426"/>
          </a:xfrm>
        </p:spPr>
        <p:style>
          <a:lnRef idx="2">
            <a:schemeClr val="accent3"/>
          </a:lnRef>
          <a:fillRef idx="1">
            <a:schemeClr val="lt1"/>
          </a:fillRef>
          <a:effectRef idx="0">
            <a:schemeClr val="accent3"/>
          </a:effectRef>
          <a:fontRef idx="minor">
            <a:schemeClr val="dk1"/>
          </a:fontRef>
        </p:style>
        <p:txBody>
          <a:bodyPr>
            <a:normAutofit fontScale="92500" lnSpcReduction="20000"/>
          </a:bodyPr>
          <a:lstStyle/>
          <a:p>
            <a:r>
              <a:rPr lang="en-US" b="1" dirty="0"/>
              <a:t>Weathering:</a:t>
            </a:r>
            <a:r>
              <a:rPr lang="en-US" dirty="0"/>
              <a:t> This is the breakdown of rocks and minerals at the Earth's surface through physical, chemical, and biological processes. Weathering </a:t>
            </a:r>
            <a:r>
              <a:rPr lang="en-US" b="1" dirty="0">
                <a:solidFill>
                  <a:srgbClr val="FF0000"/>
                </a:solidFill>
              </a:rPr>
              <a:t>releases</a:t>
            </a:r>
            <a:r>
              <a:rPr lang="en-US" dirty="0">
                <a:solidFill>
                  <a:srgbClr val="FF0000"/>
                </a:solidFill>
              </a:rPr>
              <a:t> phosphorus </a:t>
            </a:r>
            <a:r>
              <a:rPr lang="en-US" dirty="0"/>
              <a:t>(and other minerals) from </a:t>
            </a:r>
            <a:r>
              <a:rPr lang="en-US" dirty="0">
                <a:solidFill>
                  <a:srgbClr val="FF0000"/>
                </a:solidFill>
              </a:rPr>
              <a:t>rocks</a:t>
            </a:r>
            <a:r>
              <a:rPr lang="en-US" dirty="0"/>
              <a:t> into the </a:t>
            </a:r>
            <a:r>
              <a:rPr lang="en-US" dirty="0">
                <a:solidFill>
                  <a:srgbClr val="FF0000"/>
                </a:solidFill>
              </a:rPr>
              <a:t>soil and water.</a:t>
            </a:r>
          </a:p>
          <a:p>
            <a:r>
              <a:rPr lang="en-US" b="1" dirty="0"/>
              <a:t>Erosion:</a:t>
            </a:r>
            <a:r>
              <a:rPr lang="en-US" dirty="0"/>
              <a:t> This is the movement of weathered material (soil, rock fragments) from one place to another by natural forces like wind, water, and ice. Erosion can </a:t>
            </a:r>
            <a:r>
              <a:rPr lang="en-US" b="1" dirty="0">
                <a:solidFill>
                  <a:srgbClr val="FF0000"/>
                </a:solidFill>
              </a:rPr>
              <a:t>transport</a:t>
            </a:r>
            <a:r>
              <a:rPr lang="en-US" dirty="0">
                <a:solidFill>
                  <a:srgbClr val="FF0000"/>
                </a:solidFill>
              </a:rPr>
              <a:t> </a:t>
            </a:r>
            <a:r>
              <a:rPr lang="en-US" dirty="0"/>
              <a:t>phosphorus-containing particles to new locations, including bodies of water.</a:t>
            </a:r>
          </a:p>
          <a:p>
            <a:r>
              <a:rPr lang="en-US" b="1" dirty="0"/>
              <a:t>Assimilation:</a:t>
            </a:r>
            <a:r>
              <a:rPr lang="en-US" dirty="0"/>
              <a:t> This is the process by which </a:t>
            </a:r>
            <a:r>
              <a:rPr lang="en-US" dirty="0">
                <a:solidFill>
                  <a:srgbClr val="FF0000"/>
                </a:solidFill>
              </a:rPr>
              <a:t>living organisms </a:t>
            </a:r>
            <a:r>
              <a:rPr lang="en-US" b="1" dirty="0">
                <a:solidFill>
                  <a:srgbClr val="FF0000"/>
                </a:solidFill>
              </a:rPr>
              <a:t>incorporate</a:t>
            </a:r>
            <a:r>
              <a:rPr lang="en-US" dirty="0">
                <a:solidFill>
                  <a:srgbClr val="FF0000"/>
                </a:solidFill>
              </a:rPr>
              <a:t> nutrients</a:t>
            </a:r>
            <a:r>
              <a:rPr lang="en-US" dirty="0"/>
              <a:t>, like phosphorus, into their cells and tissues</a:t>
            </a:r>
            <a:r>
              <a:rPr lang="en-US" dirty="0">
                <a:solidFill>
                  <a:srgbClr val="FF0000"/>
                </a:solidFill>
              </a:rPr>
              <a:t>. Plants </a:t>
            </a:r>
            <a:r>
              <a:rPr lang="en-US" dirty="0"/>
              <a:t>assimilate phosphorus from the soil through their </a:t>
            </a:r>
            <a:r>
              <a:rPr lang="en-US" dirty="0">
                <a:solidFill>
                  <a:srgbClr val="FF0000"/>
                </a:solidFill>
              </a:rPr>
              <a:t>roots</a:t>
            </a:r>
            <a:r>
              <a:rPr lang="en-US" dirty="0"/>
              <a:t>, and </a:t>
            </a:r>
            <a:r>
              <a:rPr lang="en-US" dirty="0">
                <a:solidFill>
                  <a:srgbClr val="FF0000"/>
                </a:solidFill>
              </a:rPr>
              <a:t>animal</a:t>
            </a:r>
            <a:r>
              <a:rPr lang="en-US" dirty="0"/>
              <a:t>s assimilate it by </a:t>
            </a:r>
            <a:r>
              <a:rPr lang="en-US" dirty="0">
                <a:solidFill>
                  <a:srgbClr val="FF0000"/>
                </a:solidFill>
              </a:rPr>
              <a:t>eating plants (or other animals).</a:t>
            </a:r>
          </a:p>
          <a:p>
            <a:r>
              <a:rPr lang="en-US" b="1" dirty="0"/>
              <a:t>Decomposition:</a:t>
            </a:r>
            <a:r>
              <a:rPr lang="en-US" dirty="0"/>
              <a:t> This is the breakdown of dead organisms and organic matter by decomposers (bacteria and fungi). Decomposition </a:t>
            </a:r>
            <a:r>
              <a:rPr lang="en-US" b="1" dirty="0">
                <a:solidFill>
                  <a:srgbClr val="FF0000"/>
                </a:solidFill>
              </a:rPr>
              <a:t>releases</a:t>
            </a:r>
            <a:r>
              <a:rPr lang="en-US" dirty="0"/>
              <a:t> phosphorus (and other nutrients) back into the </a:t>
            </a:r>
            <a:r>
              <a:rPr lang="en-US" dirty="0">
                <a:solidFill>
                  <a:srgbClr val="FF0000"/>
                </a:solidFill>
              </a:rPr>
              <a:t>soil,</a:t>
            </a:r>
            <a:r>
              <a:rPr lang="en-US" dirty="0"/>
              <a:t> where it can be </a:t>
            </a:r>
            <a:r>
              <a:rPr lang="en-US" dirty="0">
                <a:solidFill>
                  <a:srgbClr val="FF0000"/>
                </a:solidFill>
              </a:rPr>
              <a:t>used by plants again.</a:t>
            </a:r>
          </a:p>
          <a:p>
            <a:r>
              <a:rPr lang="en-US" b="1" dirty="0"/>
              <a:t>Sedimentation:</a:t>
            </a:r>
            <a:r>
              <a:rPr lang="en-US" dirty="0"/>
              <a:t> This is the process by which particles of sediment (including phosphorus-containing minerals) settle out of water or air and accumulate over time, </a:t>
            </a:r>
            <a:r>
              <a:rPr lang="en-US" dirty="0">
                <a:solidFill>
                  <a:srgbClr val="FF0000"/>
                </a:solidFill>
              </a:rPr>
              <a:t>forming layers of sediment</a:t>
            </a:r>
            <a:r>
              <a:rPr lang="en-US" dirty="0"/>
              <a:t>. Over long periods, these sediments can </a:t>
            </a:r>
            <a:r>
              <a:rPr lang="en-US" dirty="0">
                <a:solidFill>
                  <a:srgbClr val="FF0000"/>
                </a:solidFill>
              </a:rPr>
              <a:t>become rock</a:t>
            </a:r>
            <a:r>
              <a:rPr lang="en-US" dirty="0"/>
              <a:t>, trapping the phosphorus within them until weathering releases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Sulfur Cycle</a:t>
            </a:r>
          </a:p>
        </p:txBody>
      </p:sp>
      <p:sp>
        <p:nvSpPr>
          <p:cNvPr id="3" name="Content Placeholder 2"/>
          <p:cNvSpPr>
            <a:spLocks noGrp="1"/>
          </p:cNvSpPr>
          <p:nvPr>
            <p:ph idx="1"/>
          </p:nvPr>
        </p:nvSpPr>
        <p:spPr>
          <a:xfrm>
            <a:off x="612648" y="1440227"/>
            <a:ext cx="4893417" cy="4990069"/>
          </a:xfrm>
        </p:spPr>
        <p:txBody>
          <a:bodyPr>
            <a:normAutofit fontScale="85000" lnSpcReduction="10000"/>
          </a:bodyPr>
          <a:lstStyle/>
          <a:p>
            <a:r>
              <a:rPr lang="en-US" sz="2400" dirty="0"/>
              <a:t>The sulfur cycle involves the movement of sulfur through the atmosphere, oceans, land, and living organisms.</a:t>
            </a:r>
          </a:p>
          <a:p>
            <a:r>
              <a:rPr lang="en-US" sz="2400" dirty="0"/>
              <a:t>Sulfur is a component of some amino acids and proteins; plays a role in enzyme activity and protein structure.</a:t>
            </a:r>
          </a:p>
          <a:p>
            <a:r>
              <a:rPr lang="en-US" sz="2400" b="0" i="0" dirty="0">
                <a:solidFill>
                  <a:srgbClr val="313131"/>
                </a:solidFill>
                <a:effectLst/>
                <a:latin typeface="+mj-lt"/>
              </a:rPr>
              <a:t>Sulfur exists in the atmosphere as sulfur dioxide </a:t>
            </a:r>
            <a:r>
              <a:rPr lang="en-US" sz="2400" b="0" i="0" dirty="0">
                <a:solidFill>
                  <a:srgbClr val="FF0000"/>
                </a:solidFill>
                <a:effectLst/>
                <a:latin typeface="+mj-lt"/>
              </a:rPr>
              <a:t>(SO</a:t>
            </a:r>
            <a:r>
              <a:rPr lang="en-US" sz="2400" b="0" baseline="-25000" dirty="0">
                <a:solidFill>
                  <a:srgbClr val="FF0000"/>
                </a:solidFill>
                <a:effectLst/>
                <a:latin typeface="+mj-lt"/>
              </a:rPr>
              <a:t>2</a:t>
            </a:r>
            <a:r>
              <a:rPr lang="en-US" sz="2400" b="0" i="0" dirty="0">
                <a:solidFill>
                  <a:srgbClr val="FF0000"/>
                </a:solidFill>
                <a:effectLst/>
                <a:latin typeface="+mj-lt"/>
              </a:rPr>
              <a:t>).</a:t>
            </a:r>
            <a:endParaRPr lang="en-US" sz="3300" dirty="0">
              <a:solidFill>
                <a:srgbClr val="FF0000"/>
              </a:solidFill>
              <a:latin typeface="+mj-lt"/>
            </a:endParaRPr>
          </a:p>
          <a:p>
            <a:r>
              <a:rPr lang="en-US" sz="2400" b="1" dirty="0"/>
              <a:t>Key Processes:</a:t>
            </a:r>
            <a:r>
              <a:rPr lang="en-US" sz="2400" dirty="0"/>
              <a:t> Weathering, volcanic activity, assimilation, decomposition, oxidation, reduction.</a:t>
            </a:r>
          </a:p>
        </p:txBody>
      </p:sp>
      <p:pic>
        <p:nvPicPr>
          <p:cNvPr id="5" name="Picture 2" descr="The Sulfur Cycle MCQ Quiz - Quiz"/>
          <p:cNvPicPr>
            <a:picLocks noChangeAspect="1" noChangeArrowheads="1"/>
          </p:cNvPicPr>
          <p:nvPr/>
        </p:nvPicPr>
        <p:blipFill>
          <a:blip r:embed="rId2">
            <a:extLst>
              <a:ext uri="{28A0092B-C50C-407E-A947-70E740481C1C}">
                <a14:useLocalDpi xmlns:a14="http://schemas.microsoft.com/office/drawing/2010/main" val="0"/>
              </a:ext>
            </a:extLst>
          </a:blip>
          <a:srcRect l="3631" r="8813"/>
          <a:stretch>
            <a:fillRect/>
          </a:stretch>
        </p:blipFill>
        <p:spPr bwMode="auto">
          <a:xfrm>
            <a:off x="5739279" y="1761285"/>
            <a:ext cx="6452721" cy="36296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Sulfur Cycle</a:t>
            </a:r>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r>
              <a:rPr lang="en-US" b="1" dirty="0"/>
              <a:t>Volcanic Activity:</a:t>
            </a:r>
            <a:r>
              <a:rPr lang="en-US" dirty="0"/>
              <a:t> Volcanoes </a:t>
            </a:r>
            <a:r>
              <a:rPr lang="en-US" b="1" dirty="0">
                <a:solidFill>
                  <a:srgbClr val="FF0000"/>
                </a:solidFill>
              </a:rPr>
              <a:t>release </a:t>
            </a:r>
            <a:r>
              <a:rPr lang="en-US" dirty="0"/>
              <a:t>large amounts of sulfur dioxide (SO₂) into the </a:t>
            </a:r>
            <a:r>
              <a:rPr lang="en-US" dirty="0">
                <a:solidFill>
                  <a:srgbClr val="FF0000"/>
                </a:solidFill>
              </a:rPr>
              <a:t>atmosphere</a:t>
            </a:r>
            <a:r>
              <a:rPr lang="en-US" dirty="0"/>
              <a:t>, which can then be converted into sulfuric acid (H₂SO</a:t>
            </a:r>
            <a:r>
              <a:rPr lang="en-US" baseline="-25000" dirty="0"/>
              <a:t>4</a:t>
            </a:r>
            <a:r>
              <a:rPr lang="en-US" dirty="0"/>
              <a:t>) and </a:t>
            </a:r>
            <a:r>
              <a:rPr lang="en-US" b="1" dirty="0">
                <a:solidFill>
                  <a:srgbClr val="FF0000"/>
                </a:solidFill>
              </a:rPr>
              <a:t>return</a:t>
            </a:r>
            <a:r>
              <a:rPr lang="en-US" dirty="0"/>
              <a:t> to Earth as </a:t>
            </a:r>
            <a:r>
              <a:rPr lang="en-US" dirty="0">
                <a:solidFill>
                  <a:srgbClr val="FF0000"/>
                </a:solidFill>
              </a:rPr>
              <a:t>acid rain</a:t>
            </a:r>
            <a:r>
              <a:rPr lang="en-US" dirty="0"/>
              <a:t>.</a:t>
            </a:r>
          </a:p>
          <a:p>
            <a:r>
              <a:rPr lang="en-US" b="1" dirty="0"/>
              <a:t>Assimilation:</a:t>
            </a:r>
            <a:r>
              <a:rPr lang="en-US" dirty="0"/>
              <a:t> Plants </a:t>
            </a:r>
            <a:r>
              <a:rPr lang="en-US" b="1" dirty="0">
                <a:solidFill>
                  <a:srgbClr val="FF0000"/>
                </a:solidFill>
              </a:rPr>
              <a:t>absorb </a:t>
            </a:r>
            <a:r>
              <a:rPr lang="en-US" dirty="0"/>
              <a:t>sulfur from the soil and incorporate it into proteins and other organic molecules. Animals then </a:t>
            </a:r>
            <a:r>
              <a:rPr lang="en-US" b="1" dirty="0">
                <a:solidFill>
                  <a:srgbClr val="FF0000"/>
                </a:solidFill>
              </a:rPr>
              <a:t>assimilate</a:t>
            </a:r>
            <a:r>
              <a:rPr lang="en-US" dirty="0"/>
              <a:t> sulfur by eating plants (or other animals).</a:t>
            </a:r>
          </a:p>
          <a:p>
            <a:r>
              <a:rPr lang="en-US" b="1" dirty="0"/>
              <a:t>Decomposition:</a:t>
            </a:r>
            <a:r>
              <a:rPr lang="en-US" dirty="0"/>
              <a:t> When organisms die, decomposers break down their remains, </a:t>
            </a:r>
            <a:r>
              <a:rPr lang="en-US" b="1" dirty="0">
                <a:solidFill>
                  <a:srgbClr val="FF0000"/>
                </a:solidFill>
              </a:rPr>
              <a:t>releasing</a:t>
            </a:r>
            <a:r>
              <a:rPr lang="en-US" dirty="0"/>
              <a:t> sulfur back into the </a:t>
            </a:r>
            <a:r>
              <a:rPr lang="en-US" dirty="0">
                <a:solidFill>
                  <a:srgbClr val="FF0000"/>
                </a:solidFill>
              </a:rPr>
              <a:t>soil</a:t>
            </a:r>
            <a:r>
              <a:rPr lang="en-US" dirty="0"/>
              <a:t> in various forms.</a:t>
            </a:r>
          </a:p>
          <a:p>
            <a:r>
              <a:rPr lang="en-US" b="1" dirty="0"/>
              <a:t>Oxidation:</a:t>
            </a:r>
            <a:r>
              <a:rPr lang="en-US" dirty="0"/>
              <a:t> This is a chemical process where </a:t>
            </a:r>
            <a:r>
              <a:rPr lang="en-US" b="1" dirty="0">
                <a:solidFill>
                  <a:srgbClr val="FF0000"/>
                </a:solidFill>
              </a:rPr>
              <a:t>sulfur reacts with oxygen</a:t>
            </a:r>
            <a:r>
              <a:rPr lang="en-US" dirty="0"/>
              <a:t>, changing its form. </a:t>
            </a:r>
          </a:p>
          <a:p>
            <a:pPr lvl="1"/>
            <a:r>
              <a:rPr lang="en-US" dirty="0"/>
              <a:t>Example: Hydrogen sulfide (H₂S) can be oxidized to sulfur dioxide (SO₂).</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Reduction:</a:t>
            </a:r>
            <a:r>
              <a:rPr kumimoji="0" lang="en-US" altLang="en-US" sz="2000" b="0" i="0" u="none" strike="noStrike" cap="none" normalizeH="0" baseline="0" dirty="0">
                <a:ln>
                  <a:noFill/>
                </a:ln>
                <a:solidFill>
                  <a:schemeClr val="tx1"/>
                </a:solidFill>
                <a:effectLst/>
                <a:latin typeface="Arial" panose="020B0604020202020204" pitchFamily="34" charset="0"/>
              </a:rPr>
              <a:t> This is the </a:t>
            </a:r>
            <a:r>
              <a:rPr kumimoji="0" lang="en-US" altLang="en-US" sz="2000" b="0" i="0" u="none" strike="noStrike" cap="none" normalizeH="0" baseline="0" dirty="0">
                <a:ln>
                  <a:noFill/>
                </a:ln>
                <a:solidFill>
                  <a:srgbClr val="FF0000"/>
                </a:solidFill>
                <a:effectLst/>
                <a:latin typeface="Arial" panose="020B0604020202020204" pitchFamily="34" charset="0"/>
              </a:rPr>
              <a:t>opposite of oxidation</a:t>
            </a:r>
            <a:r>
              <a:rPr kumimoji="0" lang="en-US" altLang="en-US" sz="2000" b="0" i="0" u="none" strike="noStrike" cap="none" normalizeH="0" baseline="0" dirty="0">
                <a:ln>
                  <a:noFill/>
                </a:ln>
                <a:solidFill>
                  <a:schemeClr val="tx1"/>
                </a:solidFill>
                <a:effectLst/>
                <a:latin typeface="Arial" panose="020B0604020202020204" pitchFamily="34" charset="0"/>
              </a:rPr>
              <a:t>, where sulfur gains electrons and changes to a less oxidized form. </a:t>
            </a:r>
          </a:p>
          <a:p>
            <a:pPr lvl="1"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Example:  Sulfates (SO₄²⁻) can be reduced to sulfides (S²⁻) by certain bacteria in anaerobic (oxygen-poor) environments.</a:t>
            </a:r>
            <a:endParaRPr lang="en-US" dirty="0"/>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endParaRPr lang="en-US" dirty="0"/>
          </a:p>
          <a:p>
            <a:endParaRPr lang="en-US" dirty="0"/>
          </a:p>
        </p:txBody>
      </p:sp>
    </p:spTree>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Custom 2">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TotalTime>
  <Words>1449</Words>
  <Application>Microsoft Office PowerPoint</Application>
  <PresentationFormat>Widescreen</PresentationFormat>
  <Paragraphs>88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Comic Sans MS</vt:lpstr>
      <vt:lpstr>Neue Haas Grotesk Text Pro</vt:lpstr>
      <vt:lpstr>VanillaVTI</vt:lpstr>
      <vt:lpstr> Biogeochemical Cycles </vt:lpstr>
      <vt:lpstr>Objectives</vt:lpstr>
      <vt:lpstr>Biogeochemical Cycles</vt:lpstr>
      <vt:lpstr>Water Cycle (Hydrologic Cycle) </vt:lpstr>
      <vt:lpstr> Water Cycle (Hydrologic Cycle) </vt:lpstr>
      <vt:lpstr>Carbon Cycle </vt:lpstr>
      <vt:lpstr>Carbon Cycle</vt:lpstr>
      <vt:lpstr>Nitrogen Cycle</vt:lpstr>
      <vt:lpstr>PowerPoint Presentation</vt:lpstr>
      <vt:lpstr>Nitrogen Cycle</vt:lpstr>
      <vt:lpstr>Phosphorus Cycle</vt:lpstr>
      <vt:lpstr>Phosphorus Cycle</vt:lpstr>
      <vt:lpstr>Sulfur Cycle</vt:lpstr>
      <vt:lpstr>Sulfur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Office365</dc:creator>
  <cp:lastModifiedBy>bettinaangel20@outlook.com</cp:lastModifiedBy>
  <cp:revision>29</cp:revision>
  <dcterms:created xsi:type="dcterms:W3CDTF">2025-02-13T21:46:00Z</dcterms:created>
  <dcterms:modified xsi:type="dcterms:W3CDTF">2026-08-22T08:49:16Z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F913430474CD4C43B87462EFFA455828_12</vt:lpwstr>
  </property>
  <property fmtid="{D5CDD505-2E9C-101B-9397-08002B2CF9AE}" pid="3" name="KSOProductBuildVer">
    <vt:lpwstr>2057-12.2.0.20326</vt:lpwstr>
  </property>
</Properties>
</file>