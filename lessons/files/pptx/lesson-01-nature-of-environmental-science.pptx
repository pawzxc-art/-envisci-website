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70" r:id="rId4"/>
    <p:sldId id="258" r:id="rId5"/>
    <p:sldId id="275" r:id="rId6"/>
    <p:sldId id="259" r:id="rId7"/>
    <p:sldId id="260" r:id="rId8"/>
    <p:sldId id="261" r:id="rId9"/>
    <p:sldId id="262" r:id="rId10"/>
    <p:sldId id="277" r:id="rId11"/>
    <p:sldId id="278" r:id="rId12"/>
    <p:sldId id="264" r:id="rId13"/>
    <p:sldId id="276" r:id="rId14"/>
    <p:sldId id="265" r:id="rId15"/>
    <p:sldId id="266" r:id="rId16"/>
    <p:sldId id="267" r:id="rId17"/>
    <p:sldId id="271" r:id="rId18"/>
    <p:sldId id="268" r:id="rId19"/>
    <p:sldId id="269" r:id="rId20"/>
    <p:sldId id="272" r:id="rId21"/>
    <p:sldId id="279" r:id="rId22"/>
    <p:sldId id="285" r:id="rId23"/>
    <p:sldId id="286" r:id="rId24"/>
    <p:sldId id="287" r:id="rId25"/>
    <p:sldId id="288" r:id="rId26"/>
    <p:sldId id="263" r:id="rId27"/>
    <p:sldId id="290" r:id="rId28"/>
    <p:sldId id="291" r:id="rId29"/>
    <p:sldId id="284" r:id="rId30"/>
    <p:sldId id="283" r:id="rId31"/>
    <p:sldId id="280"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diagrams/_rels/data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image" Target="../media/image6.svg"/></Relationships>
</file>

<file path=ppt/diagrams/_rels/drawing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image" Target="../media/image6.svg"/></Relationships>
</file>

<file path=ppt/diagrams/colors1.xml><?xml version="1.0" encoding="utf-8"?>
<dgm:colorsDef xmlns:dgm="http://schemas.openxmlformats.org/drawingml/2006/diagram" xmlns:a="http://schemas.openxmlformats.org/drawingml/2006/main" uniqueId="urn:microsoft.com/office/officeart/2018/5/colors/Iconchunking_neutralbg_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a:alpha val="0"/>
      </a:schemeClr>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A41E5D8-452B-44CB-8AEE-7DA43671295D}" type="doc">
      <dgm:prSet loTypeId="urn:microsoft.com/office/officeart/2018/2/layout/IconVerticalSolidList" loCatId="icon" qsTypeId="urn:microsoft.com/office/officeart/2005/8/quickstyle/simple1" qsCatId="simple" csTypeId="urn:microsoft.com/office/officeart/2018/5/colors/Iconchunking_neutralbg_accent0_3" csCatId="mainScheme" phldr="1"/>
      <dgm:spPr/>
      <dgm:t>
        <a:bodyPr/>
        <a:lstStyle/>
        <a:p>
          <a:endParaRPr lang="en-US"/>
        </a:p>
      </dgm:t>
    </dgm:pt>
    <dgm:pt modelId="{A800EF9B-44C1-4CE4-8AE2-B5F5899CCA16}">
      <dgm:prSet/>
      <dgm:spPr/>
      <dgm:t>
        <a:bodyPr/>
        <a:lstStyle/>
        <a:p>
          <a:r>
            <a:rPr lang="en-US" dirty="0"/>
            <a:t>Before our next meeting, review and familiarize yourself with the organisms that I will provide.</a:t>
          </a:r>
        </a:p>
      </dgm:t>
    </dgm:pt>
    <dgm:pt modelId="{39F78214-37CE-4D57-9DE8-6F82D039CDAA}" type="parTrans" cxnId="{FADFC72D-DAB8-4ADC-BB98-E21ABBFDEE64}">
      <dgm:prSet/>
      <dgm:spPr/>
      <dgm:t>
        <a:bodyPr/>
        <a:lstStyle/>
        <a:p>
          <a:endParaRPr lang="en-US"/>
        </a:p>
      </dgm:t>
    </dgm:pt>
    <dgm:pt modelId="{BEDC80BF-3E4C-48D1-ACB6-D7135FAEC51F}" type="sibTrans" cxnId="{FADFC72D-DAB8-4ADC-BB98-E21ABBFDEE64}">
      <dgm:prSet/>
      <dgm:spPr/>
      <dgm:t>
        <a:bodyPr/>
        <a:lstStyle/>
        <a:p>
          <a:endParaRPr lang="en-US"/>
        </a:p>
      </dgm:t>
    </dgm:pt>
    <dgm:pt modelId="{9816B725-117B-43FF-9386-77A924B9DA7C}">
      <dgm:prSet/>
      <dgm:spPr/>
      <dgm:t>
        <a:bodyPr/>
        <a:lstStyle/>
        <a:p>
          <a:r>
            <a:rPr lang="en-US"/>
            <a:t>You do </a:t>
          </a:r>
          <a:r>
            <a:rPr lang="en-US" b="1"/>
            <a:t>NOT</a:t>
          </a:r>
          <a:r>
            <a:rPr lang="en-US"/>
            <a:t> need to write anything, just be ready to recognize and understand them.</a:t>
          </a:r>
        </a:p>
      </dgm:t>
    </dgm:pt>
    <dgm:pt modelId="{3E0E9934-3ED3-4887-826E-3AC1FC7D9B6C}" type="parTrans" cxnId="{A69444AB-3FA0-4559-950E-AC084DA669BF}">
      <dgm:prSet/>
      <dgm:spPr/>
      <dgm:t>
        <a:bodyPr/>
        <a:lstStyle/>
        <a:p>
          <a:endParaRPr lang="en-US"/>
        </a:p>
      </dgm:t>
    </dgm:pt>
    <dgm:pt modelId="{00946EB3-212C-4569-97E1-10CA20101BCF}" type="sibTrans" cxnId="{A69444AB-3FA0-4559-950E-AC084DA669BF}">
      <dgm:prSet/>
      <dgm:spPr/>
      <dgm:t>
        <a:bodyPr/>
        <a:lstStyle/>
        <a:p>
          <a:endParaRPr lang="en-US"/>
        </a:p>
      </dgm:t>
    </dgm:pt>
    <dgm:pt modelId="{67728852-33CD-4F25-8B73-D5C3E1CB6FB0}">
      <dgm:prSet/>
      <dgm:spPr/>
      <dgm:t>
        <a:bodyPr/>
        <a:lstStyle/>
        <a:p>
          <a:r>
            <a:rPr lang="en-US" b="1"/>
            <a:t>Be prepared to use this knowledge in our next activity.</a:t>
          </a:r>
          <a:endParaRPr lang="en-US"/>
        </a:p>
      </dgm:t>
    </dgm:pt>
    <dgm:pt modelId="{ECC0BC3B-739A-4711-9BD5-D1FE8591596B}" type="parTrans" cxnId="{65F2934D-E3E4-41DD-B82A-A073E80C23BB}">
      <dgm:prSet/>
      <dgm:spPr/>
      <dgm:t>
        <a:bodyPr/>
        <a:lstStyle/>
        <a:p>
          <a:endParaRPr lang="en-US"/>
        </a:p>
      </dgm:t>
    </dgm:pt>
    <dgm:pt modelId="{97E9A449-197B-4CEE-B407-3B16FF7FBB57}" type="sibTrans" cxnId="{65F2934D-E3E4-41DD-B82A-A073E80C23BB}">
      <dgm:prSet/>
      <dgm:spPr/>
      <dgm:t>
        <a:bodyPr/>
        <a:lstStyle/>
        <a:p>
          <a:endParaRPr lang="en-US"/>
        </a:p>
      </dgm:t>
    </dgm:pt>
    <dgm:pt modelId="{488FF707-1452-43C4-82B8-AE8B0F78F71E}" type="pres">
      <dgm:prSet presAssocID="{AA41E5D8-452B-44CB-8AEE-7DA43671295D}" presName="root" presStyleCnt="0">
        <dgm:presLayoutVars>
          <dgm:dir/>
          <dgm:resizeHandles val="exact"/>
        </dgm:presLayoutVars>
      </dgm:prSet>
      <dgm:spPr/>
    </dgm:pt>
    <dgm:pt modelId="{2207D04F-F4FD-4390-9655-4DD1DF9D8962}" type="pres">
      <dgm:prSet presAssocID="{A800EF9B-44C1-4CE4-8AE2-B5F5899CCA16}" presName="compNode" presStyleCnt="0"/>
      <dgm:spPr/>
    </dgm:pt>
    <dgm:pt modelId="{AB7C8592-4479-4656-B111-437A92BC0A46}" type="pres">
      <dgm:prSet presAssocID="{A800EF9B-44C1-4CE4-8AE2-B5F5899CCA16}" presName="bgRect" presStyleLbl="bgShp" presStyleIdx="0" presStyleCnt="3"/>
      <dgm:spPr/>
    </dgm:pt>
    <dgm:pt modelId="{DD76B6BD-CE2D-4D0B-857C-F21A509D92FE}" type="pres">
      <dgm:prSet presAssocID="{A800EF9B-44C1-4CE4-8AE2-B5F5899CCA16}"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Board Room"/>
        </a:ext>
      </dgm:extLst>
    </dgm:pt>
    <dgm:pt modelId="{757CD080-2D3E-4289-8F15-80DDFE616A5D}" type="pres">
      <dgm:prSet presAssocID="{A800EF9B-44C1-4CE4-8AE2-B5F5899CCA16}" presName="spaceRect" presStyleCnt="0"/>
      <dgm:spPr/>
    </dgm:pt>
    <dgm:pt modelId="{036C8EEF-8FFD-4297-AAB2-7241B47CFBAB}" type="pres">
      <dgm:prSet presAssocID="{A800EF9B-44C1-4CE4-8AE2-B5F5899CCA16}" presName="parTx" presStyleLbl="revTx" presStyleIdx="0" presStyleCnt="3">
        <dgm:presLayoutVars>
          <dgm:chMax val="0"/>
          <dgm:chPref val="0"/>
        </dgm:presLayoutVars>
      </dgm:prSet>
      <dgm:spPr/>
    </dgm:pt>
    <dgm:pt modelId="{1E978E4F-30A6-4DFA-ABE2-1B685029947D}" type="pres">
      <dgm:prSet presAssocID="{BEDC80BF-3E4C-48D1-ACB6-D7135FAEC51F}" presName="sibTrans" presStyleCnt="0"/>
      <dgm:spPr/>
    </dgm:pt>
    <dgm:pt modelId="{E8C5378B-2B72-46B9-B476-455BA5ACC5D9}" type="pres">
      <dgm:prSet presAssocID="{9816B725-117B-43FF-9386-77A924B9DA7C}" presName="compNode" presStyleCnt="0"/>
      <dgm:spPr/>
    </dgm:pt>
    <dgm:pt modelId="{18FEDAAA-ABDF-4367-9ED4-D1C25A551B02}" type="pres">
      <dgm:prSet presAssocID="{9816B725-117B-43FF-9386-77A924B9DA7C}" presName="bgRect" presStyleLbl="bgShp" presStyleIdx="1" presStyleCnt="3"/>
      <dgm:spPr/>
    </dgm:pt>
    <dgm:pt modelId="{D3D6CD2B-03E9-4022-9F26-C7A295D4AEE3}" type="pres">
      <dgm:prSet presAssocID="{9816B725-117B-43FF-9386-77A924B9DA7C}"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encil"/>
        </a:ext>
      </dgm:extLst>
    </dgm:pt>
    <dgm:pt modelId="{51A2E32C-3B4A-4AC2-9724-449985A8FE4C}" type="pres">
      <dgm:prSet presAssocID="{9816B725-117B-43FF-9386-77A924B9DA7C}" presName="spaceRect" presStyleCnt="0"/>
      <dgm:spPr/>
    </dgm:pt>
    <dgm:pt modelId="{C8D76F29-2A66-401C-A61A-520ACFFE305A}" type="pres">
      <dgm:prSet presAssocID="{9816B725-117B-43FF-9386-77A924B9DA7C}" presName="parTx" presStyleLbl="revTx" presStyleIdx="1" presStyleCnt="3">
        <dgm:presLayoutVars>
          <dgm:chMax val="0"/>
          <dgm:chPref val="0"/>
        </dgm:presLayoutVars>
      </dgm:prSet>
      <dgm:spPr/>
    </dgm:pt>
    <dgm:pt modelId="{9DEE1A86-622F-49B2-9879-4D0C2A82EC3B}" type="pres">
      <dgm:prSet presAssocID="{00946EB3-212C-4569-97E1-10CA20101BCF}" presName="sibTrans" presStyleCnt="0"/>
      <dgm:spPr/>
    </dgm:pt>
    <dgm:pt modelId="{3386D250-D7DC-4184-9B18-57FCD73E306E}" type="pres">
      <dgm:prSet presAssocID="{67728852-33CD-4F25-8B73-D5C3E1CB6FB0}" presName="compNode" presStyleCnt="0"/>
      <dgm:spPr/>
    </dgm:pt>
    <dgm:pt modelId="{70F58596-56E1-4552-AB3E-A41DDAD6FFAB}" type="pres">
      <dgm:prSet presAssocID="{67728852-33CD-4F25-8B73-D5C3E1CB6FB0}" presName="bgRect" presStyleLbl="bgShp" presStyleIdx="2" presStyleCnt="3"/>
      <dgm:spPr/>
    </dgm:pt>
    <dgm:pt modelId="{27017B02-A0FC-4CA8-8B0E-E4A53DF1CAD7}" type="pres">
      <dgm:prSet presAssocID="{67728852-33CD-4F25-8B73-D5C3E1CB6FB0}"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Classroom"/>
        </a:ext>
      </dgm:extLst>
    </dgm:pt>
    <dgm:pt modelId="{CC591115-BFCF-4042-9176-ACBF93161FEA}" type="pres">
      <dgm:prSet presAssocID="{67728852-33CD-4F25-8B73-D5C3E1CB6FB0}" presName="spaceRect" presStyleCnt="0"/>
      <dgm:spPr/>
    </dgm:pt>
    <dgm:pt modelId="{C6265EDB-EF1F-4ABA-B88C-3A6997D52FDC}" type="pres">
      <dgm:prSet presAssocID="{67728852-33CD-4F25-8B73-D5C3E1CB6FB0}" presName="parTx" presStyleLbl="revTx" presStyleIdx="2" presStyleCnt="3">
        <dgm:presLayoutVars>
          <dgm:chMax val="0"/>
          <dgm:chPref val="0"/>
        </dgm:presLayoutVars>
      </dgm:prSet>
      <dgm:spPr/>
    </dgm:pt>
  </dgm:ptLst>
  <dgm:cxnLst>
    <dgm:cxn modelId="{5EA6670E-9881-4724-898B-0315391A2D04}" type="presOf" srcId="{AA41E5D8-452B-44CB-8AEE-7DA43671295D}" destId="{488FF707-1452-43C4-82B8-AE8B0F78F71E}" srcOrd="0" destOrd="0" presId="urn:microsoft.com/office/officeart/2018/2/layout/IconVerticalSolidList"/>
    <dgm:cxn modelId="{FADFC72D-DAB8-4ADC-BB98-E21ABBFDEE64}" srcId="{AA41E5D8-452B-44CB-8AEE-7DA43671295D}" destId="{A800EF9B-44C1-4CE4-8AE2-B5F5899CCA16}" srcOrd="0" destOrd="0" parTransId="{39F78214-37CE-4D57-9DE8-6F82D039CDAA}" sibTransId="{BEDC80BF-3E4C-48D1-ACB6-D7135FAEC51F}"/>
    <dgm:cxn modelId="{65F2934D-E3E4-41DD-B82A-A073E80C23BB}" srcId="{AA41E5D8-452B-44CB-8AEE-7DA43671295D}" destId="{67728852-33CD-4F25-8B73-D5C3E1CB6FB0}" srcOrd="2" destOrd="0" parTransId="{ECC0BC3B-739A-4711-9BD5-D1FE8591596B}" sibTransId="{97E9A449-197B-4CEE-B407-3B16FF7FBB57}"/>
    <dgm:cxn modelId="{90C1C49B-FB40-417F-824C-6981A02D7777}" type="presOf" srcId="{A800EF9B-44C1-4CE4-8AE2-B5F5899CCA16}" destId="{036C8EEF-8FFD-4297-AAB2-7241B47CFBAB}" srcOrd="0" destOrd="0" presId="urn:microsoft.com/office/officeart/2018/2/layout/IconVerticalSolidList"/>
    <dgm:cxn modelId="{CB63C0AA-6DA1-42FB-B250-2214B329AC95}" type="presOf" srcId="{67728852-33CD-4F25-8B73-D5C3E1CB6FB0}" destId="{C6265EDB-EF1F-4ABA-B88C-3A6997D52FDC}" srcOrd="0" destOrd="0" presId="urn:microsoft.com/office/officeart/2018/2/layout/IconVerticalSolidList"/>
    <dgm:cxn modelId="{A69444AB-3FA0-4559-950E-AC084DA669BF}" srcId="{AA41E5D8-452B-44CB-8AEE-7DA43671295D}" destId="{9816B725-117B-43FF-9386-77A924B9DA7C}" srcOrd="1" destOrd="0" parTransId="{3E0E9934-3ED3-4887-826E-3AC1FC7D9B6C}" sibTransId="{00946EB3-212C-4569-97E1-10CA20101BCF}"/>
    <dgm:cxn modelId="{5587A0F1-8BF1-4BEC-9BF7-C8562B90D7CE}" type="presOf" srcId="{9816B725-117B-43FF-9386-77A924B9DA7C}" destId="{C8D76F29-2A66-401C-A61A-520ACFFE305A}" srcOrd="0" destOrd="0" presId="urn:microsoft.com/office/officeart/2018/2/layout/IconVerticalSolidList"/>
    <dgm:cxn modelId="{48DD5B44-8731-4285-8BA0-54D24463A3EE}" type="presParOf" srcId="{488FF707-1452-43C4-82B8-AE8B0F78F71E}" destId="{2207D04F-F4FD-4390-9655-4DD1DF9D8962}" srcOrd="0" destOrd="0" presId="urn:microsoft.com/office/officeart/2018/2/layout/IconVerticalSolidList"/>
    <dgm:cxn modelId="{F89BECF6-05E2-4749-B646-A0AA6BD16DE2}" type="presParOf" srcId="{2207D04F-F4FD-4390-9655-4DD1DF9D8962}" destId="{AB7C8592-4479-4656-B111-437A92BC0A46}" srcOrd="0" destOrd="0" presId="urn:microsoft.com/office/officeart/2018/2/layout/IconVerticalSolidList"/>
    <dgm:cxn modelId="{13FE7158-274C-44D0-9413-9D94AE8FEAFD}" type="presParOf" srcId="{2207D04F-F4FD-4390-9655-4DD1DF9D8962}" destId="{DD76B6BD-CE2D-4D0B-857C-F21A509D92FE}" srcOrd="1" destOrd="0" presId="urn:microsoft.com/office/officeart/2018/2/layout/IconVerticalSolidList"/>
    <dgm:cxn modelId="{66580426-6327-45C3-BB3C-C6ED1CEABCA7}" type="presParOf" srcId="{2207D04F-F4FD-4390-9655-4DD1DF9D8962}" destId="{757CD080-2D3E-4289-8F15-80DDFE616A5D}" srcOrd="2" destOrd="0" presId="urn:microsoft.com/office/officeart/2018/2/layout/IconVerticalSolidList"/>
    <dgm:cxn modelId="{28AA2727-3206-480E-9ACE-17B3B5F931CD}" type="presParOf" srcId="{2207D04F-F4FD-4390-9655-4DD1DF9D8962}" destId="{036C8EEF-8FFD-4297-AAB2-7241B47CFBAB}" srcOrd="3" destOrd="0" presId="urn:microsoft.com/office/officeart/2018/2/layout/IconVerticalSolidList"/>
    <dgm:cxn modelId="{3101057B-462D-473D-844B-EA29A8A56649}" type="presParOf" srcId="{488FF707-1452-43C4-82B8-AE8B0F78F71E}" destId="{1E978E4F-30A6-4DFA-ABE2-1B685029947D}" srcOrd="1" destOrd="0" presId="urn:microsoft.com/office/officeart/2018/2/layout/IconVerticalSolidList"/>
    <dgm:cxn modelId="{D960D55F-5D63-483B-AC2A-5A6A02B7B2CB}" type="presParOf" srcId="{488FF707-1452-43C4-82B8-AE8B0F78F71E}" destId="{E8C5378B-2B72-46B9-B476-455BA5ACC5D9}" srcOrd="2" destOrd="0" presId="urn:microsoft.com/office/officeart/2018/2/layout/IconVerticalSolidList"/>
    <dgm:cxn modelId="{BB78F9ED-AEEA-4567-87A4-A010B4C5604B}" type="presParOf" srcId="{E8C5378B-2B72-46B9-B476-455BA5ACC5D9}" destId="{18FEDAAA-ABDF-4367-9ED4-D1C25A551B02}" srcOrd="0" destOrd="0" presId="urn:microsoft.com/office/officeart/2018/2/layout/IconVerticalSolidList"/>
    <dgm:cxn modelId="{FE5688AF-4243-49D2-A18F-68E885DC95DD}" type="presParOf" srcId="{E8C5378B-2B72-46B9-B476-455BA5ACC5D9}" destId="{D3D6CD2B-03E9-4022-9F26-C7A295D4AEE3}" srcOrd="1" destOrd="0" presId="urn:microsoft.com/office/officeart/2018/2/layout/IconVerticalSolidList"/>
    <dgm:cxn modelId="{29007122-5E53-4017-8624-7C669A3D7B83}" type="presParOf" srcId="{E8C5378B-2B72-46B9-B476-455BA5ACC5D9}" destId="{51A2E32C-3B4A-4AC2-9724-449985A8FE4C}" srcOrd="2" destOrd="0" presId="urn:microsoft.com/office/officeart/2018/2/layout/IconVerticalSolidList"/>
    <dgm:cxn modelId="{E8400A29-E366-4707-80DE-CB2C3F1241AE}" type="presParOf" srcId="{E8C5378B-2B72-46B9-B476-455BA5ACC5D9}" destId="{C8D76F29-2A66-401C-A61A-520ACFFE305A}" srcOrd="3" destOrd="0" presId="urn:microsoft.com/office/officeart/2018/2/layout/IconVerticalSolidList"/>
    <dgm:cxn modelId="{5F809B0A-6FAE-45C7-B52C-009C7784DDAE}" type="presParOf" srcId="{488FF707-1452-43C4-82B8-AE8B0F78F71E}" destId="{9DEE1A86-622F-49B2-9879-4D0C2A82EC3B}" srcOrd="3" destOrd="0" presId="urn:microsoft.com/office/officeart/2018/2/layout/IconVerticalSolidList"/>
    <dgm:cxn modelId="{E5C28A18-559F-4A32-9AB1-C342B23DF208}" type="presParOf" srcId="{488FF707-1452-43C4-82B8-AE8B0F78F71E}" destId="{3386D250-D7DC-4184-9B18-57FCD73E306E}" srcOrd="4" destOrd="0" presId="urn:microsoft.com/office/officeart/2018/2/layout/IconVerticalSolidList"/>
    <dgm:cxn modelId="{553662F2-FE69-4087-B968-1E742D10469E}" type="presParOf" srcId="{3386D250-D7DC-4184-9B18-57FCD73E306E}" destId="{70F58596-56E1-4552-AB3E-A41DDAD6FFAB}" srcOrd="0" destOrd="0" presId="urn:microsoft.com/office/officeart/2018/2/layout/IconVerticalSolidList"/>
    <dgm:cxn modelId="{B8376F2E-6B5E-46EB-B3E3-78226148C26E}" type="presParOf" srcId="{3386D250-D7DC-4184-9B18-57FCD73E306E}" destId="{27017B02-A0FC-4CA8-8B0E-E4A53DF1CAD7}" srcOrd="1" destOrd="0" presId="urn:microsoft.com/office/officeart/2018/2/layout/IconVerticalSolidList"/>
    <dgm:cxn modelId="{8227B6B6-30D3-409B-ACE9-6CFBB1BDD0E5}" type="presParOf" srcId="{3386D250-D7DC-4184-9B18-57FCD73E306E}" destId="{CC591115-BFCF-4042-9176-ACBF93161FEA}" srcOrd="2" destOrd="0" presId="urn:microsoft.com/office/officeart/2018/2/layout/IconVerticalSolidList"/>
    <dgm:cxn modelId="{CFBCC679-6C0D-4983-B955-E4E972D9C7F2}" type="presParOf" srcId="{3386D250-D7DC-4184-9B18-57FCD73E306E}" destId="{C6265EDB-EF1F-4ABA-B88C-3A6997D52FDC}"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7C8592-4479-4656-B111-437A92BC0A46}">
      <dsp:nvSpPr>
        <dsp:cNvPr id="0" name=""/>
        <dsp:cNvSpPr/>
      </dsp:nvSpPr>
      <dsp:spPr>
        <a:xfrm>
          <a:off x="0" y="671"/>
          <a:ext cx="6263640" cy="157238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D76B6BD-CE2D-4D0B-857C-F21A509D92FE}">
      <dsp:nvSpPr>
        <dsp:cNvPr id="0" name=""/>
        <dsp:cNvSpPr/>
      </dsp:nvSpPr>
      <dsp:spPr>
        <a:xfrm>
          <a:off x="475646" y="354458"/>
          <a:ext cx="864811" cy="86481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36C8EEF-8FFD-4297-AAB2-7241B47CFBAB}">
      <dsp:nvSpPr>
        <dsp:cNvPr id="0" name=""/>
        <dsp:cNvSpPr/>
      </dsp:nvSpPr>
      <dsp:spPr>
        <a:xfrm>
          <a:off x="1816103" y="671"/>
          <a:ext cx="4447536" cy="15723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6411" tIns="166411" rIns="166411" bIns="166411" numCol="1" spcCol="1270" anchor="ctr" anchorCtr="0">
          <a:noAutofit/>
        </a:bodyPr>
        <a:lstStyle/>
        <a:p>
          <a:pPr marL="0" lvl="0" indent="0" algn="l" defTabSz="1022350">
            <a:lnSpc>
              <a:spcPct val="90000"/>
            </a:lnSpc>
            <a:spcBef>
              <a:spcPct val="0"/>
            </a:spcBef>
            <a:spcAft>
              <a:spcPct val="35000"/>
            </a:spcAft>
            <a:buNone/>
          </a:pPr>
          <a:r>
            <a:rPr lang="en-US" sz="2300" kern="1200" dirty="0"/>
            <a:t>Before our next meeting, review and familiarize yourself with the organisms that I will provide.</a:t>
          </a:r>
        </a:p>
      </dsp:txBody>
      <dsp:txXfrm>
        <a:off x="1816103" y="671"/>
        <a:ext cx="4447536" cy="1572384"/>
      </dsp:txXfrm>
    </dsp:sp>
    <dsp:sp modelId="{18FEDAAA-ABDF-4367-9ED4-D1C25A551B02}">
      <dsp:nvSpPr>
        <dsp:cNvPr id="0" name=""/>
        <dsp:cNvSpPr/>
      </dsp:nvSpPr>
      <dsp:spPr>
        <a:xfrm>
          <a:off x="0" y="1966151"/>
          <a:ext cx="6263640" cy="157238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3D6CD2B-03E9-4022-9F26-C7A295D4AEE3}">
      <dsp:nvSpPr>
        <dsp:cNvPr id="0" name=""/>
        <dsp:cNvSpPr/>
      </dsp:nvSpPr>
      <dsp:spPr>
        <a:xfrm>
          <a:off x="475646" y="2319938"/>
          <a:ext cx="864811" cy="86481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8D76F29-2A66-401C-A61A-520ACFFE305A}">
      <dsp:nvSpPr>
        <dsp:cNvPr id="0" name=""/>
        <dsp:cNvSpPr/>
      </dsp:nvSpPr>
      <dsp:spPr>
        <a:xfrm>
          <a:off x="1816103" y="1966151"/>
          <a:ext cx="4447536" cy="15723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6411" tIns="166411" rIns="166411" bIns="166411" numCol="1" spcCol="1270" anchor="ctr" anchorCtr="0">
          <a:noAutofit/>
        </a:bodyPr>
        <a:lstStyle/>
        <a:p>
          <a:pPr marL="0" lvl="0" indent="0" algn="l" defTabSz="1022350">
            <a:lnSpc>
              <a:spcPct val="90000"/>
            </a:lnSpc>
            <a:spcBef>
              <a:spcPct val="0"/>
            </a:spcBef>
            <a:spcAft>
              <a:spcPct val="35000"/>
            </a:spcAft>
            <a:buNone/>
          </a:pPr>
          <a:r>
            <a:rPr lang="en-US" sz="2300" kern="1200"/>
            <a:t>You do </a:t>
          </a:r>
          <a:r>
            <a:rPr lang="en-US" sz="2300" b="1" kern="1200"/>
            <a:t>NOT</a:t>
          </a:r>
          <a:r>
            <a:rPr lang="en-US" sz="2300" kern="1200"/>
            <a:t> need to write anything, just be ready to recognize and understand them.</a:t>
          </a:r>
        </a:p>
      </dsp:txBody>
      <dsp:txXfrm>
        <a:off x="1816103" y="1966151"/>
        <a:ext cx="4447536" cy="1572384"/>
      </dsp:txXfrm>
    </dsp:sp>
    <dsp:sp modelId="{70F58596-56E1-4552-AB3E-A41DDAD6FFAB}">
      <dsp:nvSpPr>
        <dsp:cNvPr id="0" name=""/>
        <dsp:cNvSpPr/>
      </dsp:nvSpPr>
      <dsp:spPr>
        <a:xfrm>
          <a:off x="0" y="3931632"/>
          <a:ext cx="6263640" cy="157238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7017B02-A0FC-4CA8-8B0E-E4A53DF1CAD7}">
      <dsp:nvSpPr>
        <dsp:cNvPr id="0" name=""/>
        <dsp:cNvSpPr/>
      </dsp:nvSpPr>
      <dsp:spPr>
        <a:xfrm>
          <a:off x="475646" y="4285418"/>
          <a:ext cx="864811" cy="86481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6265EDB-EF1F-4ABA-B88C-3A6997D52FDC}">
      <dsp:nvSpPr>
        <dsp:cNvPr id="0" name=""/>
        <dsp:cNvSpPr/>
      </dsp:nvSpPr>
      <dsp:spPr>
        <a:xfrm>
          <a:off x="1816103" y="3931632"/>
          <a:ext cx="4447536" cy="15723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6411" tIns="166411" rIns="166411" bIns="166411" numCol="1" spcCol="1270" anchor="ctr" anchorCtr="0">
          <a:noAutofit/>
        </a:bodyPr>
        <a:lstStyle/>
        <a:p>
          <a:pPr marL="0" lvl="0" indent="0" algn="l" defTabSz="1022350">
            <a:lnSpc>
              <a:spcPct val="90000"/>
            </a:lnSpc>
            <a:spcBef>
              <a:spcPct val="0"/>
            </a:spcBef>
            <a:spcAft>
              <a:spcPct val="35000"/>
            </a:spcAft>
            <a:buNone/>
          </a:pPr>
          <a:r>
            <a:rPr lang="en-US" sz="2300" b="1" kern="1200"/>
            <a:t>Be prepared to use this knowledge in our next activity.</a:t>
          </a:r>
          <a:endParaRPr lang="en-US" sz="2300" kern="1200"/>
        </a:p>
      </dsp:txBody>
      <dsp:txXfrm>
        <a:off x="1816103" y="3931632"/>
        <a:ext cx="4447536" cy="1572384"/>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C25DE-516D-93F3-474C-805CE47D521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D2E3CD9-84BE-5408-2D7B-EDA158AC3B2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FC84506-1F70-075F-367B-BC1854F6A0F5}"/>
              </a:ext>
            </a:extLst>
          </p:cNvPr>
          <p:cNvSpPr>
            <a:spLocks noGrp="1"/>
          </p:cNvSpPr>
          <p:nvPr>
            <p:ph type="dt" sz="half" idx="10"/>
          </p:nvPr>
        </p:nvSpPr>
        <p:spPr/>
        <p:txBody>
          <a:bodyPr/>
          <a:lstStyle/>
          <a:p>
            <a:fld id="{FBBF69E3-0E24-4897-9182-DACE35EBC807}" type="datetimeFigureOut">
              <a:rPr lang="en-US" smtClean="0"/>
              <a:t>7/6/2026</a:t>
            </a:fld>
            <a:endParaRPr lang="en-US"/>
          </a:p>
        </p:txBody>
      </p:sp>
      <p:sp>
        <p:nvSpPr>
          <p:cNvPr id="5" name="Footer Placeholder 4">
            <a:extLst>
              <a:ext uri="{FF2B5EF4-FFF2-40B4-BE49-F238E27FC236}">
                <a16:creationId xmlns:a16="http://schemas.microsoft.com/office/drawing/2014/main" id="{2D9FAC3A-477E-6353-F985-864246E3B1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E71F938-5639-CD43-9165-C630EB410A40}"/>
              </a:ext>
            </a:extLst>
          </p:cNvPr>
          <p:cNvSpPr>
            <a:spLocks noGrp="1"/>
          </p:cNvSpPr>
          <p:nvPr>
            <p:ph type="sldNum" sz="quarter" idx="12"/>
          </p:nvPr>
        </p:nvSpPr>
        <p:spPr/>
        <p:txBody>
          <a:bodyPr/>
          <a:lstStyle/>
          <a:p>
            <a:fld id="{24064DC6-7B53-46B8-8452-6DA0E789B385}" type="slidenum">
              <a:rPr lang="en-US" smtClean="0"/>
              <a:t>‹#›</a:t>
            </a:fld>
            <a:endParaRPr lang="en-US"/>
          </a:p>
        </p:txBody>
      </p:sp>
    </p:spTree>
    <p:extLst>
      <p:ext uri="{BB962C8B-B14F-4D97-AF65-F5344CB8AC3E}">
        <p14:creationId xmlns:p14="http://schemas.microsoft.com/office/powerpoint/2010/main" val="38065532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24D27-4A6A-1F15-A0FA-353F216BCCF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CD6BB27-680F-B424-57A3-37E98075482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D4CA37-EA65-8997-665E-6166D59E12B9}"/>
              </a:ext>
            </a:extLst>
          </p:cNvPr>
          <p:cNvSpPr>
            <a:spLocks noGrp="1"/>
          </p:cNvSpPr>
          <p:nvPr>
            <p:ph type="dt" sz="half" idx="10"/>
          </p:nvPr>
        </p:nvSpPr>
        <p:spPr/>
        <p:txBody>
          <a:bodyPr/>
          <a:lstStyle/>
          <a:p>
            <a:fld id="{FBBF69E3-0E24-4897-9182-DACE35EBC807}" type="datetimeFigureOut">
              <a:rPr lang="en-US" smtClean="0"/>
              <a:t>7/6/2026</a:t>
            </a:fld>
            <a:endParaRPr lang="en-US"/>
          </a:p>
        </p:txBody>
      </p:sp>
      <p:sp>
        <p:nvSpPr>
          <p:cNvPr id="5" name="Footer Placeholder 4">
            <a:extLst>
              <a:ext uri="{FF2B5EF4-FFF2-40B4-BE49-F238E27FC236}">
                <a16:creationId xmlns:a16="http://schemas.microsoft.com/office/drawing/2014/main" id="{D782F1C2-CF27-2312-8718-73105DB1A4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C90323-F4A3-84E7-F693-9F9695CDEA3B}"/>
              </a:ext>
            </a:extLst>
          </p:cNvPr>
          <p:cNvSpPr>
            <a:spLocks noGrp="1"/>
          </p:cNvSpPr>
          <p:nvPr>
            <p:ph type="sldNum" sz="quarter" idx="12"/>
          </p:nvPr>
        </p:nvSpPr>
        <p:spPr/>
        <p:txBody>
          <a:bodyPr/>
          <a:lstStyle/>
          <a:p>
            <a:fld id="{24064DC6-7B53-46B8-8452-6DA0E789B385}" type="slidenum">
              <a:rPr lang="en-US" smtClean="0"/>
              <a:t>‹#›</a:t>
            </a:fld>
            <a:endParaRPr lang="en-US"/>
          </a:p>
        </p:txBody>
      </p:sp>
    </p:spTree>
    <p:extLst>
      <p:ext uri="{BB962C8B-B14F-4D97-AF65-F5344CB8AC3E}">
        <p14:creationId xmlns:p14="http://schemas.microsoft.com/office/powerpoint/2010/main" val="3444111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B0CD9-70F2-2932-CFAF-FEA039569C2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A611119-EF29-94F7-BCFC-7CE09AF2A40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58C4B5F-8B41-4367-80B0-FB2C8C3DE563}"/>
              </a:ext>
            </a:extLst>
          </p:cNvPr>
          <p:cNvSpPr>
            <a:spLocks noGrp="1"/>
          </p:cNvSpPr>
          <p:nvPr>
            <p:ph type="dt" sz="half" idx="10"/>
          </p:nvPr>
        </p:nvSpPr>
        <p:spPr/>
        <p:txBody>
          <a:bodyPr/>
          <a:lstStyle/>
          <a:p>
            <a:fld id="{FBBF69E3-0E24-4897-9182-DACE35EBC807}" type="datetimeFigureOut">
              <a:rPr lang="en-US" smtClean="0"/>
              <a:t>7/6/2026</a:t>
            </a:fld>
            <a:endParaRPr lang="en-US"/>
          </a:p>
        </p:txBody>
      </p:sp>
      <p:sp>
        <p:nvSpPr>
          <p:cNvPr id="5" name="Footer Placeholder 4">
            <a:extLst>
              <a:ext uri="{FF2B5EF4-FFF2-40B4-BE49-F238E27FC236}">
                <a16:creationId xmlns:a16="http://schemas.microsoft.com/office/drawing/2014/main" id="{A4960E28-9E66-7A2A-BF6D-DD05B18595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0B6637-8510-795A-1A67-24B336E9FE94}"/>
              </a:ext>
            </a:extLst>
          </p:cNvPr>
          <p:cNvSpPr>
            <a:spLocks noGrp="1"/>
          </p:cNvSpPr>
          <p:nvPr>
            <p:ph type="sldNum" sz="quarter" idx="12"/>
          </p:nvPr>
        </p:nvSpPr>
        <p:spPr/>
        <p:txBody>
          <a:bodyPr/>
          <a:lstStyle/>
          <a:p>
            <a:fld id="{24064DC6-7B53-46B8-8452-6DA0E789B385}" type="slidenum">
              <a:rPr lang="en-US" smtClean="0"/>
              <a:t>‹#›</a:t>
            </a:fld>
            <a:endParaRPr lang="en-US"/>
          </a:p>
        </p:txBody>
      </p:sp>
    </p:spTree>
    <p:extLst>
      <p:ext uri="{BB962C8B-B14F-4D97-AF65-F5344CB8AC3E}">
        <p14:creationId xmlns:p14="http://schemas.microsoft.com/office/powerpoint/2010/main" val="35854519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B20988-2BA9-3897-665F-C5BACEB3341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173A4BA-41AD-E8A0-74E4-47EBC140DEE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65BA7D0-6DE7-2DEC-218A-9BC693BE45A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D33A6A6-3C37-97C7-15F2-5CB035A298B5}"/>
              </a:ext>
            </a:extLst>
          </p:cNvPr>
          <p:cNvSpPr>
            <a:spLocks noGrp="1"/>
          </p:cNvSpPr>
          <p:nvPr>
            <p:ph type="dt" sz="half" idx="10"/>
          </p:nvPr>
        </p:nvSpPr>
        <p:spPr/>
        <p:txBody>
          <a:bodyPr/>
          <a:lstStyle/>
          <a:p>
            <a:fld id="{FBBF69E3-0E24-4897-9182-DACE35EBC807}" type="datetimeFigureOut">
              <a:rPr lang="en-US" smtClean="0"/>
              <a:t>7/6/2026</a:t>
            </a:fld>
            <a:endParaRPr lang="en-US"/>
          </a:p>
        </p:txBody>
      </p:sp>
      <p:sp>
        <p:nvSpPr>
          <p:cNvPr id="6" name="Footer Placeholder 5">
            <a:extLst>
              <a:ext uri="{FF2B5EF4-FFF2-40B4-BE49-F238E27FC236}">
                <a16:creationId xmlns:a16="http://schemas.microsoft.com/office/drawing/2014/main" id="{F773AEAF-D225-2654-AEA9-82F9C86CB07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1C60756-0BDF-C4E5-697F-71198B7BA2C2}"/>
              </a:ext>
            </a:extLst>
          </p:cNvPr>
          <p:cNvSpPr>
            <a:spLocks noGrp="1"/>
          </p:cNvSpPr>
          <p:nvPr>
            <p:ph type="sldNum" sz="quarter" idx="12"/>
          </p:nvPr>
        </p:nvSpPr>
        <p:spPr/>
        <p:txBody>
          <a:bodyPr/>
          <a:lstStyle/>
          <a:p>
            <a:fld id="{24064DC6-7B53-46B8-8452-6DA0E789B385}" type="slidenum">
              <a:rPr lang="en-US" smtClean="0"/>
              <a:t>‹#›</a:t>
            </a:fld>
            <a:endParaRPr lang="en-US"/>
          </a:p>
        </p:txBody>
      </p:sp>
    </p:spTree>
    <p:extLst>
      <p:ext uri="{BB962C8B-B14F-4D97-AF65-F5344CB8AC3E}">
        <p14:creationId xmlns:p14="http://schemas.microsoft.com/office/powerpoint/2010/main" val="27220923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5013D6-231D-41E1-1A82-577870F90C4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3AD751D-59C1-8E52-A93C-D3403A1E5EE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0FD5115-F87F-7E49-F5BB-425C1D20182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C309ED3-F1DF-536C-599D-47A335AD4EA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DAAE75A-D3A8-3CCB-B938-299C364985F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A78E0F8-0B6C-E442-960B-08810E560F0E}"/>
              </a:ext>
            </a:extLst>
          </p:cNvPr>
          <p:cNvSpPr>
            <a:spLocks noGrp="1"/>
          </p:cNvSpPr>
          <p:nvPr>
            <p:ph type="dt" sz="half" idx="10"/>
          </p:nvPr>
        </p:nvSpPr>
        <p:spPr/>
        <p:txBody>
          <a:bodyPr/>
          <a:lstStyle/>
          <a:p>
            <a:fld id="{FBBF69E3-0E24-4897-9182-DACE35EBC807}" type="datetimeFigureOut">
              <a:rPr lang="en-US" smtClean="0"/>
              <a:t>7/6/2026</a:t>
            </a:fld>
            <a:endParaRPr lang="en-US"/>
          </a:p>
        </p:txBody>
      </p:sp>
      <p:sp>
        <p:nvSpPr>
          <p:cNvPr id="8" name="Footer Placeholder 7">
            <a:extLst>
              <a:ext uri="{FF2B5EF4-FFF2-40B4-BE49-F238E27FC236}">
                <a16:creationId xmlns:a16="http://schemas.microsoft.com/office/drawing/2014/main" id="{5877A94D-6B8F-9C24-FE80-0CF6C37BB56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E18C707-9BEE-E4E3-2ABD-D3B51A402483}"/>
              </a:ext>
            </a:extLst>
          </p:cNvPr>
          <p:cNvSpPr>
            <a:spLocks noGrp="1"/>
          </p:cNvSpPr>
          <p:nvPr>
            <p:ph type="sldNum" sz="quarter" idx="12"/>
          </p:nvPr>
        </p:nvSpPr>
        <p:spPr/>
        <p:txBody>
          <a:bodyPr/>
          <a:lstStyle/>
          <a:p>
            <a:fld id="{24064DC6-7B53-46B8-8452-6DA0E789B385}" type="slidenum">
              <a:rPr lang="en-US" smtClean="0"/>
              <a:t>‹#›</a:t>
            </a:fld>
            <a:endParaRPr lang="en-US"/>
          </a:p>
        </p:txBody>
      </p:sp>
    </p:spTree>
    <p:extLst>
      <p:ext uri="{BB962C8B-B14F-4D97-AF65-F5344CB8AC3E}">
        <p14:creationId xmlns:p14="http://schemas.microsoft.com/office/powerpoint/2010/main" val="22337986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1B9B8-65A3-1425-96BC-14632F35564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DE23FEE-11EB-E58C-EE90-9D6FBC45A2CA}"/>
              </a:ext>
            </a:extLst>
          </p:cNvPr>
          <p:cNvSpPr>
            <a:spLocks noGrp="1"/>
          </p:cNvSpPr>
          <p:nvPr>
            <p:ph type="dt" sz="half" idx="10"/>
          </p:nvPr>
        </p:nvSpPr>
        <p:spPr/>
        <p:txBody>
          <a:bodyPr/>
          <a:lstStyle/>
          <a:p>
            <a:fld id="{FBBF69E3-0E24-4897-9182-DACE35EBC807}" type="datetimeFigureOut">
              <a:rPr lang="en-US" smtClean="0"/>
              <a:t>7/6/2026</a:t>
            </a:fld>
            <a:endParaRPr lang="en-US"/>
          </a:p>
        </p:txBody>
      </p:sp>
      <p:sp>
        <p:nvSpPr>
          <p:cNvPr id="4" name="Footer Placeholder 3">
            <a:extLst>
              <a:ext uri="{FF2B5EF4-FFF2-40B4-BE49-F238E27FC236}">
                <a16:creationId xmlns:a16="http://schemas.microsoft.com/office/drawing/2014/main" id="{C10A7494-0000-7362-37A9-4A47E015481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5A3BD54-9F53-E76B-7D15-3C4EBFA1D6A0}"/>
              </a:ext>
            </a:extLst>
          </p:cNvPr>
          <p:cNvSpPr>
            <a:spLocks noGrp="1"/>
          </p:cNvSpPr>
          <p:nvPr>
            <p:ph type="sldNum" sz="quarter" idx="12"/>
          </p:nvPr>
        </p:nvSpPr>
        <p:spPr/>
        <p:txBody>
          <a:bodyPr/>
          <a:lstStyle/>
          <a:p>
            <a:fld id="{24064DC6-7B53-46B8-8452-6DA0E789B385}" type="slidenum">
              <a:rPr lang="en-US" smtClean="0"/>
              <a:t>‹#›</a:t>
            </a:fld>
            <a:endParaRPr lang="en-US"/>
          </a:p>
        </p:txBody>
      </p:sp>
    </p:spTree>
    <p:extLst>
      <p:ext uri="{BB962C8B-B14F-4D97-AF65-F5344CB8AC3E}">
        <p14:creationId xmlns:p14="http://schemas.microsoft.com/office/powerpoint/2010/main" val="10540192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1D69189-5365-26A3-12C1-D581757F3BB2}"/>
              </a:ext>
            </a:extLst>
          </p:cNvPr>
          <p:cNvSpPr>
            <a:spLocks noGrp="1"/>
          </p:cNvSpPr>
          <p:nvPr>
            <p:ph type="dt" sz="half" idx="10"/>
          </p:nvPr>
        </p:nvSpPr>
        <p:spPr/>
        <p:txBody>
          <a:bodyPr/>
          <a:lstStyle/>
          <a:p>
            <a:fld id="{FBBF69E3-0E24-4897-9182-DACE35EBC807}" type="datetimeFigureOut">
              <a:rPr lang="en-US" smtClean="0"/>
              <a:t>7/6/2026</a:t>
            </a:fld>
            <a:endParaRPr lang="en-US"/>
          </a:p>
        </p:txBody>
      </p:sp>
      <p:sp>
        <p:nvSpPr>
          <p:cNvPr id="3" name="Footer Placeholder 2">
            <a:extLst>
              <a:ext uri="{FF2B5EF4-FFF2-40B4-BE49-F238E27FC236}">
                <a16:creationId xmlns:a16="http://schemas.microsoft.com/office/drawing/2014/main" id="{27102B8A-5402-DA18-51DA-48AB49F8027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3DE5A9B-BD78-BFA7-A4D0-6D8C2AF8C1EC}"/>
              </a:ext>
            </a:extLst>
          </p:cNvPr>
          <p:cNvSpPr>
            <a:spLocks noGrp="1"/>
          </p:cNvSpPr>
          <p:nvPr>
            <p:ph type="sldNum" sz="quarter" idx="12"/>
          </p:nvPr>
        </p:nvSpPr>
        <p:spPr/>
        <p:txBody>
          <a:bodyPr/>
          <a:lstStyle/>
          <a:p>
            <a:fld id="{24064DC6-7B53-46B8-8452-6DA0E789B385}" type="slidenum">
              <a:rPr lang="en-US" smtClean="0"/>
              <a:t>‹#›</a:t>
            </a:fld>
            <a:endParaRPr lang="en-US"/>
          </a:p>
        </p:txBody>
      </p:sp>
    </p:spTree>
    <p:extLst>
      <p:ext uri="{BB962C8B-B14F-4D97-AF65-F5344CB8AC3E}">
        <p14:creationId xmlns:p14="http://schemas.microsoft.com/office/powerpoint/2010/main" val="19566394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F2BB5-D798-9824-21FD-35C92EDC994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87665B5-6A7C-5B4F-E5C1-0FC881171F1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BE721AF-A85F-24EB-8E57-FCAA7B69F1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E1309FF-ACCB-7CD2-28A8-093EF9312C61}"/>
              </a:ext>
            </a:extLst>
          </p:cNvPr>
          <p:cNvSpPr>
            <a:spLocks noGrp="1"/>
          </p:cNvSpPr>
          <p:nvPr>
            <p:ph type="dt" sz="half" idx="10"/>
          </p:nvPr>
        </p:nvSpPr>
        <p:spPr/>
        <p:txBody>
          <a:bodyPr/>
          <a:lstStyle/>
          <a:p>
            <a:fld id="{FBBF69E3-0E24-4897-9182-DACE35EBC807}" type="datetimeFigureOut">
              <a:rPr lang="en-US" smtClean="0"/>
              <a:t>7/6/2026</a:t>
            </a:fld>
            <a:endParaRPr lang="en-US"/>
          </a:p>
        </p:txBody>
      </p:sp>
      <p:sp>
        <p:nvSpPr>
          <p:cNvPr id="6" name="Footer Placeholder 5">
            <a:extLst>
              <a:ext uri="{FF2B5EF4-FFF2-40B4-BE49-F238E27FC236}">
                <a16:creationId xmlns:a16="http://schemas.microsoft.com/office/drawing/2014/main" id="{8A16D12B-2C77-4EEA-53BD-4C4A71286C0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1B9959F-DF3C-6B42-ABED-58777E8BBE4F}"/>
              </a:ext>
            </a:extLst>
          </p:cNvPr>
          <p:cNvSpPr>
            <a:spLocks noGrp="1"/>
          </p:cNvSpPr>
          <p:nvPr>
            <p:ph type="sldNum" sz="quarter" idx="12"/>
          </p:nvPr>
        </p:nvSpPr>
        <p:spPr/>
        <p:txBody>
          <a:bodyPr/>
          <a:lstStyle/>
          <a:p>
            <a:fld id="{24064DC6-7B53-46B8-8452-6DA0E789B385}" type="slidenum">
              <a:rPr lang="en-US" smtClean="0"/>
              <a:t>‹#›</a:t>
            </a:fld>
            <a:endParaRPr lang="en-US"/>
          </a:p>
        </p:txBody>
      </p:sp>
    </p:spTree>
    <p:extLst>
      <p:ext uri="{BB962C8B-B14F-4D97-AF65-F5344CB8AC3E}">
        <p14:creationId xmlns:p14="http://schemas.microsoft.com/office/powerpoint/2010/main" val="39494133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1A8C6C-988A-EE38-BF18-BE833796D03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8DCA712-8E64-D6B2-C6C1-885B44641C6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D83322B-7562-A885-7151-94EFC0CDAE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DFD1523-7EB9-2900-70E8-0884361AD088}"/>
              </a:ext>
            </a:extLst>
          </p:cNvPr>
          <p:cNvSpPr>
            <a:spLocks noGrp="1"/>
          </p:cNvSpPr>
          <p:nvPr>
            <p:ph type="dt" sz="half" idx="10"/>
          </p:nvPr>
        </p:nvSpPr>
        <p:spPr/>
        <p:txBody>
          <a:bodyPr/>
          <a:lstStyle/>
          <a:p>
            <a:fld id="{FBBF69E3-0E24-4897-9182-DACE35EBC807}" type="datetimeFigureOut">
              <a:rPr lang="en-US" smtClean="0"/>
              <a:t>7/6/2026</a:t>
            </a:fld>
            <a:endParaRPr lang="en-US"/>
          </a:p>
        </p:txBody>
      </p:sp>
      <p:sp>
        <p:nvSpPr>
          <p:cNvPr id="6" name="Footer Placeholder 5">
            <a:extLst>
              <a:ext uri="{FF2B5EF4-FFF2-40B4-BE49-F238E27FC236}">
                <a16:creationId xmlns:a16="http://schemas.microsoft.com/office/drawing/2014/main" id="{5176C66D-01D1-44A8-19D7-D9347C6B716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DCED737-57D8-DA33-0467-C0226A84DFCC}"/>
              </a:ext>
            </a:extLst>
          </p:cNvPr>
          <p:cNvSpPr>
            <a:spLocks noGrp="1"/>
          </p:cNvSpPr>
          <p:nvPr>
            <p:ph type="sldNum" sz="quarter" idx="12"/>
          </p:nvPr>
        </p:nvSpPr>
        <p:spPr/>
        <p:txBody>
          <a:bodyPr/>
          <a:lstStyle/>
          <a:p>
            <a:fld id="{24064DC6-7B53-46B8-8452-6DA0E789B385}" type="slidenum">
              <a:rPr lang="en-US" smtClean="0"/>
              <a:t>‹#›</a:t>
            </a:fld>
            <a:endParaRPr lang="en-US"/>
          </a:p>
        </p:txBody>
      </p:sp>
    </p:spTree>
    <p:extLst>
      <p:ext uri="{BB962C8B-B14F-4D97-AF65-F5344CB8AC3E}">
        <p14:creationId xmlns:p14="http://schemas.microsoft.com/office/powerpoint/2010/main" val="10600224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26053-15C6-BDF4-0B2E-FD032A7FFA7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5628BAF-8B70-34E8-B566-21DD7270FDD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CEE4E70-9DA8-47FA-8E13-B71790EE163E}"/>
              </a:ext>
            </a:extLst>
          </p:cNvPr>
          <p:cNvSpPr>
            <a:spLocks noGrp="1"/>
          </p:cNvSpPr>
          <p:nvPr>
            <p:ph type="dt" sz="half" idx="10"/>
          </p:nvPr>
        </p:nvSpPr>
        <p:spPr/>
        <p:txBody>
          <a:bodyPr/>
          <a:lstStyle/>
          <a:p>
            <a:fld id="{FBBF69E3-0E24-4897-9182-DACE35EBC807}" type="datetimeFigureOut">
              <a:rPr lang="en-US" smtClean="0"/>
              <a:t>7/6/2026</a:t>
            </a:fld>
            <a:endParaRPr lang="en-US"/>
          </a:p>
        </p:txBody>
      </p:sp>
      <p:sp>
        <p:nvSpPr>
          <p:cNvPr id="5" name="Footer Placeholder 4">
            <a:extLst>
              <a:ext uri="{FF2B5EF4-FFF2-40B4-BE49-F238E27FC236}">
                <a16:creationId xmlns:a16="http://schemas.microsoft.com/office/drawing/2014/main" id="{AC70DF1F-9DFB-C86A-3785-D3C535264A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636C6D-66E2-E41B-A1DB-87C2EE45998B}"/>
              </a:ext>
            </a:extLst>
          </p:cNvPr>
          <p:cNvSpPr>
            <a:spLocks noGrp="1"/>
          </p:cNvSpPr>
          <p:nvPr>
            <p:ph type="sldNum" sz="quarter" idx="12"/>
          </p:nvPr>
        </p:nvSpPr>
        <p:spPr/>
        <p:txBody>
          <a:bodyPr/>
          <a:lstStyle/>
          <a:p>
            <a:fld id="{24064DC6-7B53-46B8-8452-6DA0E789B385}" type="slidenum">
              <a:rPr lang="en-US" smtClean="0"/>
              <a:t>‹#›</a:t>
            </a:fld>
            <a:endParaRPr lang="en-US"/>
          </a:p>
        </p:txBody>
      </p:sp>
    </p:spTree>
    <p:extLst>
      <p:ext uri="{BB962C8B-B14F-4D97-AF65-F5344CB8AC3E}">
        <p14:creationId xmlns:p14="http://schemas.microsoft.com/office/powerpoint/2010/main" val="22272559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AD0E532-E735-B8B8-FFE0-DD5B6A71A78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979023F-D338-1281-E2D8-C991990FDEC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C8D45C-28AF-54FB-079D-228E73B117DA}"/>
              </a:ext>
            </a:extLst>
          </p:cNvPr>
          <p:cNvSpPr>
            <a:spLocks noGrp="1"/>
          </p:cNvSpPr>
          <p:nvPr>
            <p:ph type="dt" sz="half" idx="10"/>
          </p:nvPr>
        </p:nvSpPr>
        <p:spPr/>
        <p:txBody>
          <a:bodyPr/>
          <a:lstStyle/>
          <a:p>
            <a:fld id="{FBBF69E3-0E24-4897-9182-DACE35EBC807}" type="datetimeFigureOut">
              <a:rPr lang="en-US" smtClean="0"/>
              <a:t>7/6/2026</a:t>
            </a:fld>
            <a:endParaRPr lang="en-US"/>
          </a:p>
        </p:txBody>
      </p:sp>
      <p:sp>
        <p:nvSpPr>
          <p:cNvPr id="5" name="Footer Placeholder 4">
            <a:extLst>
              <a:ext uri="{FF2B5EF4-FFF2-40B4-BE49-F238E27FC236}">
                <a16:creationId xmlns:a16="http://schemas.microsoft.com/office/drawing/2014/main" id="{ED7862C7-0E93-CEE8-2E15-F2D99E33C9F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84A764-C5CD-3E09-4578-8DB9A31B9AB8}"/>
              </a:ext>
            </a:extLst>
          </p:cNvPr>
          <p:cNvSpPr>
            <a:spLocks noGrp="1"/>
          </p:cNvSpPr>
          <p:nvPr>
            <p:ph type="sldNum" sz="quarter" idx="12"/>
          </p:nvPr>
        </p:nvSpPr>
        <p:spPr/>
        <p:txBody>
          <a:bodyPr/>
          <a:lstStyle/>
          <a:p>
            <a:fld id="{24064DC6-7B53-46B8-8452-6DA0E789B385}" type="slidenum">
              <a:rPr lang="en-US" smtClean="0"/>
              <a:t>‹#›</a:t>
            </a:fld>
            <a:endParaRPr lang="en-US"/>
          </a:p>
        </p:txBody>
      </p:sp>
    </p:spTree>
    <p:extLst>
      <p:ext uri="{BB962C8B-B14F-4D97-AF65-F5344CB8AC3E}">
        <p14:creationId xmlns:p14="http://schemas.microsoft.com/office/powerpoint/2010/main" val="33253715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38FFAC4-C12E-849F-5B88-8A657487611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A7D6E25-8786-CC79-53E6-0C42ADFC89C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607D76-9F10-3773-6DB9-89A707CBAB2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BBF69E3-0E24-4897-9182-DACE35EBC807}" type="datetimeFigureOut">
              <a:rPr lang="en-US" smtClean="0"/>
              <a:t>7/6/2026</a:t>
            </a:fld>
            <a:endParaRPr lang="en-US"/>
          </a:p>
        </p:txBody>
      </p:sp>
      <p:sp>
        <p:nvSpPr>
          <p:cNvPr id="5" name="Footer Placeholder 4">
            <a:extLst>
              <a:ext uri="{FF2B5EF4-FFF2-40B4-BE49-F238E27FC236}">
                <a16:creationId xmlns:a16="http://schemas.microsoft.com/office/drawing/2014/main" id="{F9D4E84D-851E-5EA3-E0DB-F33092D75B8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6B06AC5-C477-BA35-3837-8B70225B481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4064DC6-7B53-46B8-8452-6DA0E789B385}" type="slidenum">
              <a:rPr lang="en-US" smtClean="0"/>
              <a:t>‹#›</a:t>
            </a:fld>
            <a:endParaRPr lang="en-US"/>
          </a:p>
        </p:txBody>
      </p:sp>
    </p:spTree>
    <p:extLst>
      <p:ext uri="{BB962C8B-B14F-4D97-AF65-F5344CB8AC3E}">
        <p14:creationId xmlns:p14="http://schemas.microsoft.com/office/powerpoint/2010/main" val="25451950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43CAA20-3569-4189-9E48-239A229A8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C4A20D2-8E2A-6D4A-A970-88EF98809346}"/>
              </a:ext>
            </a:extLst>
          </p:cNvPr>
          <p:cNvSpPr>
            <a:spLocks noGrp="1"/>
          </p:cNvSpPr>
          <p:nvPr>
            <p:ph type="ctrTitle"/>
          </p:nvPr>
        </p:nvSpPr>
        <p:spPr>
          <a:xfrm>
            <a:off x="838200" y="451381"/>
            <a:ext cx="10512552" cy="4066540"/>
          </a:xfrm>
        </p:spPr>
        <p:txBody>
          <a:bodyPr anchor="b">
            <a:normAutofit/>
          </a:bodyPr>
          <a:lstStyle/>
          <a:p>
            <a:pPr algn="l"/>
            <a:r>
              <a:rPr lang="en-PH" sz="6600" b="1"/>
              <a:t>Understanding the Nature of Environmental Science</a:t>
            </a:r>
            <a:endParaRPr lang="en-US" sz="6600"/>
          </a:p>
        </p:txBody>
      </p:sp>
      <p:sp>
        <p:nvSpPr>
          <p:cNvPr id="3" name="Subtitle 2">
            <a:extLst>
              <a:ext uri="{FF2B5EF4-FFF2-40B4-BE49-F238E27FC236}">
                <a16:creationId xmlns:a16="http://schemas.microsoft.com/office/drawing/2014/main" id="{7BBBB263-21E0-6230-445A-C42302ACA819}"/>
              </a:ext>
            </a:extLst>
          </p:cNvPr>
          <p:cNvSpPr>
            <a:spLocks noGrp="1"/>
          </p:cNvSpPr>
          <p:nvPr>
            <p:ph type="subTitle" idx="1"/>
          </p:nvPr>
        </p:nvSpPr>
        <p:spPr>
          <a:xfrm>
            <a:off x="838199" y="4983276"/>
            <a:ext cx="10512552" cy="1126680"/>
          </a:xfrm>
        </p:spPr>
        <p:txBody>
          <a:bodyPr>
            <a:normAutofit/>
          </a:bodyPr>
          <a:lstStyle/>
          <a:p>
            <a:pPr algn="l"/>
            <a:r>
              <a:rPr lang="en-PH" b="1" dirty="0"/>
              <a:t>Lesson 1</a:t>
            </a:r>
            <a:endParaRPr lang="en-US" dirty="0"/>
          </a:p>
        </p:txBody>
      </p:sp>
      <p:sp>
        <p:nvSpPr>
          <p:cNvPr id="10" name="sketch line">
            <a:extLst>
              <a:ext uri="{FF2B5EF4-FFF2-40B4-BE49-F238E27FC236}">
                <a16:creationId xmlns:a16="http://schemas.microsoft.com/office/drawing/2014/main" id="{DA542B6D-E775-4832-91DC-2D20F8578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354538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75EA9BE-575F-9C7D-D42D-D98B9F2D34F4}"/>
              </a:ext>
            </a:extLst>
          </p:cNvPr>
          <p:cNvSpPr>
            <a:spLocks noGrp="1"/>
          </p:cNvSpPr>
          <p:nvPr>
            <p:ph type="title"/>
          </p:nvPr>
        </p:nvSpPr>
        <p:spPr>
          <a:xfrm>
            <a:off x="1115568" y="548640"/>
            <a:ext cx="10168128" cy="1179576"/>
          </a:xfrm>
        </p:spPr>
        <p:txBody>
          <a:bodyPr>
            <a:normAutofit/>
          </a:bodyPr>
          <a:lstStyle/>
          <a:p>
            <a:r>
              <a:rPr lang="en-PH" sz="3700" b="1"/>
              <a:t>Understanding the Nature of Environmental Science</a:t>
            </a:r>
            <a:endParaRPr lang="en-US" sz="3700"/>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52E08509-83F0-8B76-957F-C479B3C78AA4}"/>
              </a:ext>
            </a:extLst>
          </p:cNvPr>
          <p:cNvSpPr>
            <a:spLocks noGrp="1"/>
          </p:cNvSpPr>
          <p:nvPr>
            <p:ph idx="1"/>
          </p:nvPr>
        </p:nvSpPr>
        <p:spPr>
          <a:xfrm>
            <a:off x="1115568" y="2481943"/>
            <a:ext cx="10168128" cy="3695020"/>
          </a:xfrm>
        </p:spPr>
        <p:txBody>
          <a:bodyPr>
            <a:normAutofit/>
          </a:bodyPr>
          <a:lstStyle/>
          <a:p>
            <a:pPr marL="571500" indent="-571500">
              <a:buFont typeface="+mj-lt"/>
              <a:buAutoNum type="arabicPeriod"/>
            </a:pPr>
            <a:r>
              <a:rPr lang="en-PH" sz="5400" b="1" dirty="0"/>
              <a:t>Environmental Principles</a:t>
            </a:r>
            <a:endParaRPr lang="en-US" sz="5400" b="1" dirty="0"/>
          </a:p>
          <a:p>
            <a:pPr marL="571500" indent="-571500">
              <a:buFont typeface="+mj-lt"/>
              <a:buAutoNum type="arabicPeriod"/>
            </a:pPr>
            <a:r>
              <a:rPr lang="en-PH" sz="5400" b="1" dirty="0"/>
              <a:t>Environmental Ethics</a:t>
            </a:r>
          </a:p>
          <a:p>
            <a:pPr marL="571500" indent="-571500">
              <a:buFont typeface="+mj-lt"/>
              <a:buAutoNum type="arabicPeriod"/>
            </a:pPr>
            <a:r>
              <a:rPr lang="en-US" sz="5400" b="1" dirty="0"/>
              <a:t>Ecological Concept</a:t>
            </a:r>
          </a:p>
          <a:p>
            <a:endParaRPr lang="en-US" sz="2200" dirty="0"/>
          </a:p>
        </p:txBody>
      </p:sp>
    </p:spTree>
    <p:extLst>
      <p:ext uri="{BB962C8B-B14F-4D97-AF65-F5344CB8AC3E}">
        <p14:creationId xmlns:p14="http://schemas.microsoft.com/office/powerpoint/2010/main" val="41104972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A8FB0CC-C8F3-80CB-8502-DCC0658CA28B}"/>
              </a:ext>
            </a:extLst>
          </p:cNvPr>
          <p:cNvSpPr>
            <a:spLocks noGrp="1"/>
          </p:cNvSpPr>
          <p:nvPr>
            <p:ph type="title"/>
          </p:nvPr>
        </p:nvSpPr>
        <p:spPr>
          <a:xfrm>
            <a:off x="1115568" y="548640"/>
            <a:ext cx="10168128" cy="1179576"/>
          </a:xfrm>
        </p:spPr>
        <p:txBody>
          <a:bodyPr>
            <a:normAutofit/>
          </a:bodyPr>
          <a:lstStyle/>
          <a:p>
            <a:r>
              <a:rPr lang="en-US" sz="4000"/>
              <a:t>Learning Objectives</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93C8C373-D645-4BE2-F25F-4223B146708F}"/>
              </a:ext>
            </a:extLst>
          </p:cNvPr>
          <p:cNvSpPr>
            <a:spLocks noGrp="1"/>
          </p:cNvSpPr>
          <p:nvPr>
            <p:ph idx="1"/>
          </p:nvPr>
        </p:nvSpPr>
        <p:spPr>
          <a:xfrm>
            <a:off x="1115568" y="2481943"/>
            <a:ext cx="10168128" cy="3695020"/>
          </a:xfrm>
        </p:spPr>
        <p:txBody>
          <a:bodyPr>
            <a:normAutofit/>
          </a:bodyPr>
          <a:lstStyle/>
          <a:p>
            <a:pPr marL="0" indent="0" fontAlgn="t">
              <a:buNone/>
            </a:pPr>
            <a:r>
              <a:rPr lang="en-US" dirty="0"/>
              <a:t>At the end of this lesson, students should be able to:</a:t>
            </a:r>
          </a:p>
          <a:p>
            <a:pPr marL="514350" indent="-514350" fontAlgn="t">
              <a:buFont typeface="+mj-lt"/>
              <a:buAutoNum type="arabicPeriod"/>
            </a:pPr>
            <a:r>
              <a:rPr lang="en-US" dirty="0"/>
              <a:t>Define environmental science and explain its importance.</a:t>
            </a:r>
          </a:p>
          <a:p>
            <a:pPr marL="514350" indent="-514350" fontAlgn="t">
              <a:buFont typeface="+mj-lt"/>
              <a:buAutoNum type="arabicPeriod"/>
            </a:pPr>
            <a:r>
              <a:rPr lang="en-US" dirty="0"/>
              <a:t>Identify key environmental principles.</a:t>
            </a:r>
          </a:p>
          <a:p>
            <a:pPr marL="514350" indent="-514350" fontAlgn="t">
              <a:buFont typeface="+mj-lt"/>
              <a:buAutoNum type="arabicPeriod"/>
            </a:pPr>
            <a:r>
              <a:rPr lang="en-US" dirty="0"/>
              <a:t>Understand environmental ethics and their role in decision-making.</a:t>
            </a:r>
          </a:p>
          <a:p>
            <a:pPr marL="514350" indent="-514350" fontAlgn="t">
              <a:buFont typeface="+mj-lt"/>
              <a:buAutoNum type="arabicPeriod"/>
            </a:pPr>
            <a:r>
              <a:rPr lang="en-US" dirty="0"/>
              <a:t>Apply concepts to real-life environmental issues.</a:t>
            </a:r>
          </a:p>
          <a:p>
            <a:pPr marL="514350" indent="-514350" fontAlgn="t">
              <a:buFont typeface="+mj-lt"/>
              <a:buAutoNum type="arabicPeriod"/>
            </a:pPr>
            <a:r>
              <a:rPr lang="en-US" dirty="0"/>
              <a:t>Identify key ecological concepts.</a:t>
            </a:r>
          </a:p>
          <a:p>
            <a:endParaRPr lang="en-US" sz="2200" dirty="0"/>
          </a:p>
        </p:txBody>
      </p:sp>
    </p:spTree>
    <p:extLst>
      <p:ext uri="{BB962C8B-B14F-4D97-AF65-F5344CB8AC3E}">
        <p14:creationId xmlns:p14="http://schemas.microsoft.com/office/powerpoint/2010/main" val="36242675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 name="Rectangle 40">
            <a:extLst>
              <a:ext uri="{FF2B5EF4-FFF2-40B4-BE49-F238E27FC236}">
                <a16:creationId xmlns:a16="http://schemas.microsoft.com/office/drawing/2014/main" id="{90D01200-0224-43C5-AB38-FB4D16B73F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67E6FD3-3CC4-C7C9-8596-6ED41812AD50}"/>
              </a:ext>
            </a:extLst>
          </p:cNvPr>
          <p:cNvSpPr>
            <a:spLocks noGrp="1"/>
          </p:cNvSpPr>
          <p:nvPr>
            <p:ph type="title"/>
          </p:nvPr>
        </p:nvSpPr>
        <p:spPr>
          <a:xfrm>
            <a:off x="612648" y="1078992"/>
            <a:ext cx="6268770" cy="1536192"/>
          </a:xfrm>
        </p:spPr>
        <p:txBody>
          <a:bodyPr anchor="b">
            <a:normAutofit/>
          </a:bodyPr>
          <a:lstStyle/>
          <a:p>
            <a:br>
              <a:rPr lang="en-US" sz="2500" b="1" dirty="0"/>
            </a:br>
            <a:r>
              <a:rPr lang="en-US" sz="2500" b="1" dirty="0"/>
              <a:t>Environmental Science</a:t>
            </a:r>
            <a:br>
              <a:rPr lang="en-US" sz="2500" b="1" dirty="0"/>
            </a:br>
            <a:endParaRPr lang="en-US" sz="2500" dirty="0"/>
          </a:p>
        </p:txBody>
      </p:sp>
      <p:sp>
        <p:nvSpPr>
          <p:cNvPr id="43" name="Rectangle 42">
            <a:extLst>
              <a:ext uri="{FF2B5EF4-FFF2-40B4-BE49-F238E27FC236}">
                <a16:creationId xmlns:a16="http://schemas.microsoft.com/office/drawing/2014/main" id="{728A44A4-A002-4A88-9FC9-1D0566C97A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3202" y="36338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5" name="Rectangle 44">
            <a:extLst>
              <a:ext uri="{FF2B5EF4-FFF2-40B4-BE49-F238E27FC236}">
                <a16:creationId xmlns:a16="http://schemas.microsoft.com/office/drawing/2014/main" id="{3E7D5C7B-DD16-401B-85CE-4AAA2A4F51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8506" y="2935541"/>
            <a:ext cx="62179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60F5C17E-62D0-31BE-F49A-B2A59DE77EBE}"/>
              </a:ext>
            </a:extLst>
          </p:cNvPr>
          <p:cNvSpPr>
            <a:spLocks noGrp="1"/>
          </p:cNvSpPr>
          <p:nvPr>
            <p:ph idx="1"/>
          </p:nvPr>
        </p:nvSpPr>
        <p:spPr>
          <a:xfrm>
            <a:off x="612648" y="3355848"/>
            <a:ext cx="6268770" cy="2825496"/>
          </a:xfrm>
        </p:spPr>
        <p:txBody>
          <a:bodyPr>
            <a:normAutofit/>
          </a:bodyPr>
          <a:lstStyle/>
          <a:p>
            <a:pPr algn="justLow"/>
            <a:r>
              <a:rPr lang="en-US" sz="2400" b="1" dirty="0"/>
              <a:t>Environmental science</a:t>
            </a:r>
            <a:r>
              <a:rPr lang="en-US" sz="2400" dirty="0"/>
              <a:t> is the dynamic, </a:t>
            </a:r>
            <a:r>
              <a:rPr lang="en-US" sz="2400" b="1" dirty="0"/>
              <a:t>interdisciplinary</a:t>
            </a:r>
            <a:r>
              <a:rPr lang="en-US" sz="2400" dirty="0"/>
              <a:t> study of the </a:t>
            </a:r>
            <a:r>
              <a:rPr lang="en-US" sz="2400" dirty="0">
                <a:solidFill>
                  <a:srgbClr val="FF0000"/>
                </a:solidFill>
              </a:rPr>
              <a:t>interaction</a:t>
            </a:r>
            <a:r>
              <a:rPr lang="en-US" sz="2400" dirty="0"/>
              <a:t> of </a:t>
            </a:r>
            <a:r>
              <a:rPr lang="en-US" sz="2400" dirty="0">
                <a:solidFill>
                  <a:srgbClr val="FF0000"/>
                </a:solidFill>
              </a:rPr>
              <a:t>living</a:t>
            </a:r>
            <a:r>
              <a:rPr lang="en-US" sz="2400" dirty="0"/>
              <a:t> and </a:t>
            </a:r>
            <a:r>
              <a:rPr lang="en-US" sz="2400" dirty="0">
                <a:solidFill>
                  <a:srgbClr val="FF0000"/>
                </a:solidFill>
              </a:rPr>
              <a:t>non-living</a:t>
            </a:r>
            <a:r>
              <a:rPr lang="en-US" sz="2400" dirty="0"/>
              <a:t> parts of the environment, with special focus on the </a:t>
            </a:r>
            <a:r>
              <a:rPr lang="en-US" sz="2400" dirty="0">
                <a:solidFill>
                  <a:srgbClr val="FF0000"/>
                </a:solidFill>
              </a:rPr>
              <a:t>impact of </a:t>
            </a:r>
            <a:r>
              <a:rPr lang="en-US" sz="2400" b="1" dirty="0">
                <a:solidFill>
                  <a:srgbClr val="FF0000"/>
                </a:solidFill>
              </a:rPr>
              <a:t>humans on the environment. </a:t>
            </a:r>
          </a:p>
        </p:txBody>
      </p:sp>
      <p:pic>
        <p:nvPicPr>
          <p:cNvPr id="4" name="Picture 3" descr="Venn diagram illustrating how interdisciplinary environmental science is. It incorporates humanities, social, and natural sciences.">
            <a:extLst>
              <a:ext uri="{FF2B5EF4-FFF2-40B4-BE49-F238E27FC236}">
                <a16:creationId xmlns:a16="http://schemas.microsoft.com/office/drawing/2014/main" id="{57EBEB36-866D-1D03-10BC-7B1304FBC8C8}"/>
              </a:ext>
            </a:extLst>
          </p:cNvPr>
          <p:cNvPicPr>
            <a:picLocks noChangeAspect="1"/>
          </p:cNvPicPr>
          <p:nvPr/>
        </p:nvPicPr>
        <p:blipFill>
          <a:blip r:embed="rId2"/>
          <a:stretch>
            <a:fillRect/>
          </a:stretch>
        </p:blipFill>
        <p:spPr>
          <a:xfrm>
            <a:off x="7494066" y="803573"/>
            <a:ext cx="4237686" cy="3623221"/>
          </a:xfrm>
          <a:prstGeom prst="rect">
            <a:avLst/>
          </a:prstGeom>
        </p:spPr>
      </p:pic>
      <p:sp>
        <p:nvSpPr>
          <p:cNvPr id="6" name="TextBox 5">
            <a:extLst>
              <a:ext uri="{FF2B5EF4-FFF2-40B4-BE49-F238E27FC236}">
                <a16:creationId xmlns:a16="http://schemas.microsoft.com/office/drawing/2014/main" id="{5C2574C5-4C33-9593-C4B8-865401DACA07}"/>
              </a:ext>
            </a:extLst>
          </p:cNvPr>
          <p:cNvSpPr txBox="1"/>
          <p:nvPr/>
        </p:nvSpPr>
        <p:spPr>
          <a:xfrm>
            <a:off x="7494066" y="4458569"/>
            <a:ext cx="4391971" cy="181588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r>
              <a:rPr lang="en-US" sz="1400" dirty="0"/>
              <a:t>Environmental science includes disciplines in the physical sciences (like geology, soil science, physical geography, chemistry, and atmospheric sciences), life sciences (like ecology, conservation biology, restoration biology, and population biology), social sciences (like human geography, economics, law, political science, and anthropology), and humanities (philosophy, ethics).</a:t>
            </a:r>
          </a:p>
        </p:txBody>
      </p:sp>
    </p:spTree>
    <p:extLst>
      <p:ext uri="{BB962C8B-B14F-4D97-AF65-F5344CB8AC3E}">
        <p14:creationId xmlns:p14="http://schemas.microsoft.com/office/powerpoint/2010/main" val="38040288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463EB0A-3D7C-4AA5-BFA5-8EE5B4BA56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A7A36CC-D392-05D6-0572-17DDAF91CCA2}"/>
              </a:ext>
            </a:extLst>
          </p:cNvPr>
          <p:cNvSpPr>
            <a:spLocks noGrp="1"/>
          </p:cNvSpPr>
          <p:nvPr>
            <p:ph type="title"/>
          </p:nvPr>
        </p:nvSpPr>
        <p:spPr>
          <a:xfrm>
            <a:off x="578651" y="1122363"/>
            <a:ext cx="11034695" cy="3174690"/>
          </a:xfrm>
        </p:spPr>
        <p:txBody>
          <a:bodyPr vert="horz" lIns="91440" tIns="45720" rIns="91440" bIns="45720" rtlCol="0" anchor="b">
            <a:normAutofit/>
          </a:bodyPr>
          <a:lstStyle/>
          <a:p>
            <a:r>
              <a:rPr lang="en-US" sz="8000" b="1" kern="1200">
                <a:solidFill>
                  <a:schemeClr val="tx1"/>
                </a:solidFill>
                <a:latin typeface="+mj-lt"/>
                <a:ea typeface="+mj-ea"/>
                <a:cs typeface="+mj-cs"/>
              </a:rPr>
              <a:t>Environmental Principles</a:t>
            </a:r>
            <a:endParaRPr lang="en-US" sz="8000" kern="1200">
              <a:solidFill>
                <a:schemeClr val="tx1"/>
              </a:solidFill>
              <a:latin typeface="+mj-lt"/>
              <a:ea typeface="+mj-ea"/>
              <a:cs typeface="+mj-cs"/>
            </a:endParaRPr>
          </a:p>
        </p:txBody>
      </p:sp>
      <p:sp>
        <p:nvSpPr>
          <p:cNvPr id="3" name="Text Placeholder 2">
            <a:extLst>
              <a:ext uri="{FF2B5EF4-FFF2-40B4-BE49-F238E27FC236}">
                <a16:creationId xmlns:a16="http://schemas.microsoft.com/office/drawing/2014/main" id="{258560BD-A1F8-685B-0A97-99A0FA360C2B}"/>
              </a:ext>
            </a:extLst>
          </p:cNvPr>
          <p:cNvSpPr>
            <a:spLocks noGrp="1"/>
          </p:cNvSpPr>
          <p:nvPr>
            <p:ph type="body" idx="1"/>
          </p:nvPr>
        </p:nvSpPr>
        <p:spPr>
          <a:xfrm>
            <a:off x="578651" y="4723637"/>
            <a:ext cx="11034695" cy="1481396"/>
          </a:xfrm>
        </p:spPr>
        <p:txBody>
          <a:bodyPr vert="horz" lIns="91440" tIns="45720" rIns="91440" bIns="45720" rtlCol="0">
            <a:normAutofit/>
          </a:bodyPr>
          <a:lstStyle/>
          <a:p>
            <a:r>
              <a:rPr lang="en-US" sz="2800" kern="1200">
                <a:solidFill>
                  <a:schemeClr val="tx1"/>
                </a:solidFill>
                <a:latin typeface="+mn-lt"/>
                <a:ea typeface="+mn-ea"/>
                <a:cs typeface="+mn-cs"/>
              </a:rPr>
              <a:t>To understand how the world works, we follow several core ecological principles. These serve as the "ground rules" for nature.</a:t>
            </a:r>
          </a:p>
          <a:p>
            <a:endParaRPr lang="en-US" sz="2800" kern="1200">
              <a:solidFill>
                <a:schemeClr val="tx1"/>
              </a:solidFill>
              <a:latin typeface="+mn-lt"/>
              <a:ea typeface="+mn-ea"/>
              <a:cs typeface="+mn-cs"/>
            </a:endParaRPr>
          </a:p>
        </p:txBody>
      </p:sp>
      <p:sp>
        <p:nvSpPr>
          <p:cNvPr id="10" name="Rectangle 9">
            <a:extLst>
              <a:ext uri="{FF2B5EF4-FFF2-40B4-BE49-F238E27FC236}">
                <a16:creationId xmlns:a16="http://schemas.microsoft.com/office/drawing/2014/main" id="{7945AD00-F967-454D-A4B2-39ABA5C88C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544"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E9BC5B79-B912-427C-8219-E3E50943FC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78652" y="4501201"/>
            <a:ext cx="1103469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Tree>
    <p:extLst>
      <p:ext uri="{BB962C8B-B14F-4D97-AF65-F5344CB8AC3E}">
        <p14:creationId xmlns:p14="http://schemas.microsoft.com/office/powerpoint/2010/main" val="26309879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AF682E6-F128-1A37-4845-23E0BC2F6818}"/>
              </a:ext>
            </a:extLst>
          </p:cNvPr>
          <p:cNvSpPr>
            <a:spLocks noGrp="1"/>
          </p:cNvSpPr>
          <p:nvPr>
            <p:ph type="title"/>
          </p:nvPr>
        </p:nvSpPr>
        <p:spPr>
          <a:xfrm>
            <a:off x="1115568" y="548640"/>
            <a:ext cx="10168128" cy="1179576"/>
          </a:xfrm>
        </p:spPr>
        <p:txBody>
          <a:bodyPr>
            <a:normAutofit/>
          </a:bodyPr>
          <a:lstStyle/>
          <a:p>
            <a:br>
              <a:rPr lang="en-US" sz="2500" b="1" dirty="0"/>
            </a:br>
            <a:r>
              <a:rPr lang="en-US" sz="2500" b="1" dirty="0"/>
              <a:t>Environmental Principles</a:t>
            </a:r>
            <a:br>
              <a:rPr lang="en-US" sz="2500" b="1" dirty="0"/>
            </a:br>
            <a:endParaRPr lang="en-US" sz="2500" dirty="0"/>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1BDA6602-565D-2627-B90B-9F2D780CA0CC}"/>
              </a:ext>
            </a:extLst>
          </p:cNvPr>
          <p:cNvSpPr>
            <a:spLocks noGrp="1"/>
          </p:cNvSpPr>
          <p:nvPr>
            <p:ph idx="1"/>
          </p:nvPr>
        </p:nvSpPr>
        <p:spPr>
          <a:xfrm>
            <a:off x="1115568" y="2481943"/>
            <a:ext cx="10168128" cy="3695020"/>
          </a:xfrm>
        </p:spPr>
        <p:txBody>
          <a:bodyPr>
            <a:normAutofit/>
          </a:bodyPr>
          <a:lstStyle/>
          <a:p>
            <a:pPr marL="514350" indent="-514350">
              <a:buAutoNum type="arabicPeriod"/>
            </a:pPr>
            <a:r>
              <a:rPr lang="en-US" sz="2200" b="1"/>
              <a:t>Everything is connected to everything else (Interdependence).</a:t>
            </a:r>
          </a:p>
          <a:p>
            <a:pPr marL="514350" indent="-514350">
              <a:buFont typeface="Arial" panose="020B0604020202020204" pitchFamily="34" charset="0"/>
              <a:buAutoNum type="arabicPeriod"/>
            </a:pPr>
            <a:r>
              <a:rPr lang="en-US" sz="2200" b="1"/>
              <a:t>All forms of life are important (Diversity).</a:t>
            </a:r>
          </a:p>
          <a:p>
            <a:pPr marL="514350" indent="-514350">
              <a:buFont typeface="Arial" panose="020B0604020202020204" pitchFamily="34" charset="0"/>
              <a:buAutoNum type="arabicPeriod"/>
            </a:pPr>
            <a:r>
              <a:rPr lang="en-US" sz="2200" b="1"/>
              <a:t>Nature knows best.</a:t>
            </a:r>
          </a:p>
          <a:p>
            <a:pPr marL="514350" indent="-514350">
              <a:buFont typeface="Arial" panose="020B0604020202020204" pitchFamily="34" charset="0"/>
              <a:buAutoNum type="arabicPeriod"/>
            </a:pPr>
            <a:r>
              <a:rPr lang="en-US" sz="2200" b="1"/>
              <a:t>Ours is a finite earth (Resource Management).</a:t>
            </a:r>
          </a:p>
          <a:p>
            <a:pPr marL="514350" indent="-514350">
              <a:buFont typeface="Arial" panose="020B0604020202020204" pitchFamily="34" charset="0"/>
              <a:buAutoNum type="arabicPeriod"/>
            </a:pPr>
            <a:r>
              <a:rPr lang="en-US" sz="2200" b="1"/>
              <a:t>Nature is beautiful, and we are stewards of God’s creation.</a:t>
            </a:r>
          </a:p>
          <a:p>
            <a:pPr marL="514350" indent="-514350">
              <a:buFont typeface="Arial" panose="020B0604020202020204" pitchFamily="34" charset="0"/>
              <a:buAutoNum type="arabicPeriod"/>
            </a:pPr>
            <a:r>
              <a:rPr lang="en-US" sz="2200" b="1"/>
              <a:t>Everything changes.</a:t>
            </a:r>
          </a:p>
          <a:p>
            <a:pPr marL="514350" indent="-514350">
              <a:buFont typeface="Arial" panose="020B0604020202020204" pitchFamily="34" charset="0"/>
              <a:buAutoNum type="arabicPeriod"/>
            </a:pPr>
            <a:r>
              <a:rPr lang="en-US" sz="2200" b="1"/>
              <a:t>Everything must go somewhere</a:t>
            </a:r>
          </a:p>
          <a:p>
            <a:pPr marL="514350" indent="-514350">
              <a:buFont typeface="Arial" panose="020B0604020202020204" pitchFamily="34" charset="0"/>
              <a:buAutoNum type="arabicPeriod"/>
            </a:pPr>
            <a:endParaRPr lang="en-US" sz="2200" b="1"/>
          </a:p>
          <a:p>
            <a:pPr marL="514350" indent="-514350">
              <a:buFont typeface="Arial" panose="020B0604020202020204" pitchFamily="34" charset="0"/>
              <a:buAutoNum type="arabicPeriod"/>
            </a:pPr>
            <a:endParaRPr lang="en-US" sz="2200" b="1"/>
          </a:p>
          <a:p>
            <a:pPr marL="514350" indent="-514350">
              <a:buAutoNum type="arabicPeriod"/>
            </a:pPr>
            <a:endParaRPr lang="en-US" sz="2200" b="1"/>
          </a:p>
          <a:p>
            <a:pPr marL="0" indent="0">
              <a:buNone/>
            </a:pPr>
            <a:endParaRPr lang="en-US" sz="2200"/>
          </a:p>
        </p:txBody>
      </p:sp>
    </p:spTree>
    <p:extLst>
      <p:ext uri="{BB962C8B-B14F-4D97-AF65-F5344CB8AC3E}">
        <p14:creationId xmlns:p14="http://schemas.microsoft.com/office/powerpoint/2010/main" val="22911499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EB393EB-1F85-329F-A42A-E10BE69506BC}"/>
              </a:ext>
            </a:extLst>
          </p:cNvPr>
          <p:cNvSpPr>
            <a:spLocks noGrp="1"/>
          </p:cNvSpPr>
          <p:nvPr>
            <p:ph type="title"/>
          </p:nvPr>
        </p:nvSpPr>
        <p:spPr>
          <a:xfrm>
            <a:off x="1115568" y="548640"/>
            <a:ext cx="10168128" cy="1179576"/>
          </a:xfrm>
        </p:spPr>
        <p:txBody>
          <a:bodyPr>
            <a:normAutofit/>
          </a:bodyPr>
          <a:lstStyle/>
          <a:p>
            <a:r>
              <a:rPr lang="en-US" sz="4000" b="1" dirty="0"/>
              <a:t>Environmental Principles</a:t>
            </a:r>
            <a:endParaRPr lang="en-US" sz="4000" dirty="0"/>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9885A563-807D-6D05-EF02-8E819504FFDB}"/>
              </a:ext>
            </a:extLst>
          </p:cNvPr>
          <p:cNvSpPr>
            <a:spLocks noGrp="1"/>
          </p:cNvSpPr>
          <p:nvPr>
            <p:ph idx="1"/>
          </p:nvPr>
        </p:nvSpPr>
        <p:spPr>
          <a:xfrm>
            <a:off x="1115568" y="2481943"/>
            <a:ext cx="10168128" cy="3695020"/>
          </a:xfrm>
        </p:spPr>
        <p:txBody>
          <a:bodyPr>
            <a:normAutofit/>
          </a:bodyPr>
          <a:lstStyle/>
          <a:p>
            <a:pPr marL="0" indent="0">
              <a:buNone/>
            </a:pPr>
            <a:r>
              <a:rPr lang="en-US" sz="2200" b="1"/>
              <a:t>1. Everything is connected to everything else (Interdependence)</a:t>
            </a:r>
          </a:p>
          <a:p>
            <a:r>
              <a:rPr lang="en-US" sz="2200"/>
              <a:t>Nature is a complex web. If you change one part of an ecosystem (e.g., removing a predator), it creates a ripple effect that impacts all other parts (e.g., overpopulation of prey and depletion of vegetation).</a:t>
            </a:r>
          </a:p>
          <a:p>
            <a:pPr marL="0" indent="0">
              <a:buNone/>
            </a:pPr>
            <a:r>
              <a:rPr lang="en-US" sz="2200" b="1"/>
              <a:t>2. All forms of life are important (Diversity)</a:t>
            </a:r>
          </a:p>
          <a:p>
            <a:r>
              <a:rPr lang="en-US" sz="2200"/>
              <a:t>Biodiversity is the backbone of ecosystem resilience. A variety of species ensures that an ecosystem can survive diseases, climate shifts, or disasters.</a:t>
            </a:r>
          </a:p>
          <a:p>
            <a:endParaRPr lang="en-US" sz="2200"/>
          </a:p>
        </p:txBody>
      </p:sp>
    </p:spTree>
    <p:extLst>
      <p:ext uri="{BB962C8B-B14F-4D97-AF65-F5344CB8AC3E}">
        <p14:creationId xmlns:p14="http://schemas.microsoft.com/office/powerpoint/2010/main" val="16502383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2A29AA5-E245-93B3-30C4-004A830BE9E4}"/>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450AD56-4563-3A79-A68C-E903283E0058}"/>
              </a:ext>
            </a:extLst>
          </p:cNvPr>
          <p:cNvSpPr>
            <a:spLocks noGrp="1"/>
          </p:cNvSpPr>
          <p:nvPr>
            <p:ph type="title"/>
          </p:nvPr>
        </p:nvSpPr>
        <p:spPr>
          <a:xfrm>
            <a:off x="1115568" y="548640"/>
            <a:ext cx="10168128" cy="1179576"/>
          </a:xfrm>
        </p:spPr>
        <p:txBody>
          <a:bodyPr>
            <a:normAutofit/>
          </a:bodyPr>
          <a:lstStyle/>
          <a:p>
            <a:r>
              <a:rPr lang="en-US" sz="4000" b="1" dirty="0"/>
              <a:t>Environmental Principles</a:t>
            </a:r>
            <a:endParaRPr lang="en-US" sz="4000" dirty="0"/>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C54A9CFC-0049-21FB-45FF-7ADA2A3EF78D}"/>
              </a:ext>
            </a:extLst>
          </p:cNvPr>
          <p:cNvSpPr>
            <a:spLocks noGrp="1"/>
          </p:cNvSpPr>
          <p:nvPr>
            <p:ph idx="1"/>
          </p:nvPr>
        </p:nvSpPr>
        <p:spPr>
          <a:xfrm>
            <a:off x="1115568" y="2481943"/>
            <a:ext cx="10168128" cy="3695020"/>
          </a:xfrm>
        </p:spPr>
        <p:txBody>
          <a:bodyPr>
            <a:normAutofit/>
          </a:bodyPr>
          <a:lstStyle/>
          <a:p>
            <a:pPr marL="0" indent="0">
              <a:buNone/>
            </a:pPr>
            <a:r>
              <a:rPr lang="en-US" sz="2200" b="1" dirty="0"/>
              <a:t>3. Nature knows best</a:t>
            </a:r>
          </a:p>
          <a:p>
            <a:r>
              <a:rPr lang="en-US" sz="2200" dirty="0"/>
              <a:t>Nature has evolved self-regulating mechanisms over billions of years. When humans attempt to </a:t>
            </a:r>
            <a:r>
              <a:rPr lang="en-US" sz="2200" dirty="0">
                <a:solidFill>
                  <a:srgbClr val="FF0000"/>
                </a:solidFill>
              </a:rPr>
              <a:t>"improve" </a:t>
            </a:r>
            <a:r>
              <a:rPr lang="en-US" sz="2200" dirty="0"/>
              <a:t>nature, it often leads to unforeseen negative consequences.</a:t>
            </a:r>
          </a:p>
          <a:p>
            <a:pPr marL="0" indent="0">
              <a:buNone/>
            </a:pPr>
            <a:r>
              <a:rPr lang="en-US" sz="2200" b="1" dirty="0"/>
              <a:t>4. Ours is a finite earth (Resource Management)</a:t>
            </a:r>
          </a:p>
          <a:p>
            <a:r>
              <a:rPr lang="en-US" sz="2200" dirty="0"/>
              <a:t>Earth’s resources, water, minerals, and space, are not infinite. We must live within the "carrying capacity" of our planet.</a:t>
            </a:r>
          </a:p>
          <a:p>
            <a:endParaRPr lang="en-US" sz="2200" dirty="0"/>
          </a:p>
        </p:txBody>
      </p:sp>
    </p:spTree>
    <p:extLst>
      <p:ext uri="{BB962C8B-B14F-4D97-AF65-F5344CB8AC3E}">
        <p14:creationId xmlns:p14="http://schemas.microsoft.com/office/powerpoint/2010/main" val="5771096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17CCD0E-CDAE-56C7-5557-09BF7D738AF4}"/>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08D954F-AD60-B321-717F-F66C58DA6787}"/>
              </a:ext>
            </a:extLst>
          </p:cNvPr>
          <p:cNvSpPr>
            <a:spLocks noGrp="1"/>
          </p:cNvSpPr>
          <p:nvPr>
            <p:ph type="title"/>
          </p:nvPr>
        </p:nvSpPr>
        <p:spPr>
          <a:xfrm>
            <a:off x="1115568" y="548640"/>
            <a:ext cx="10168128" cy="1179576"/>
          </a:xfrm>
        </p:spPr>
        <p:txBody>
          <a:bodyPr>
            <a:normAutofit/>
          </a:bodyPr>
          <a:lstStyle/>
          <a:p>
            <a:r>
              <a:rPr lang="en-US" sz="4000" b="1" dirty="0"/>
              <a:t>Environmental Principles</a:t>
            </a:r>
            <a:endParaRPr lang="en-US" sz="4000" dirty="0"/>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A24D1981-9B2D-3565-DB2D-D388B650B55A}"/>
              </a:ext>
            </a:extLst>
          </p:cNvPr>
          <p:cNvSpPr>
            <a:spLocks noGrp="1"/>
          </p:cNvSpPr>
          <p:nvPr>
            <p:ph idx="1"/>
          </p:nvPr>
        </p:nvSpPr>
        <p:spPr>
          <a:xfrm>
            <a:off x="1115568" y="2481943"/>
            <a:ext cx="10168128" cy="3695020"/>
          </a:xfrm>
        </p:spPr>
        <p:txBody>
          <a:bodyPr>
            <a:normAutofit/>
          </a:bodyPr>
          <a:lstStyle/>
          <a:p>
            <a:pPr marL="0" indent="0">
              <a:buNone/>
            </a:pPr>
            <a:r>
              <a:rPr lang="en-US" sz="2000" b="1"/>
              <a:t>5. Nature is beautiful and we are stewards of God’s creation</a:t>
            </a:r>
          </a:p>
          <a:p>
            <a:r>
              <a:rPr lang="en-US" sz="2000"/>
              <a:t>This principle bridges science and morality. It suggests that humans have a responsibility (Stewardship) to protect the environment not just for its utility, but for its intrinsic value.</a:t>
            </a:r>
          </a:p>
          <a:p>
            <a:pPr marL="0" indent="0">
              <a:buNone/>
            </a:pPr>
            <a:r>
              <a:rPr lang="en-US" sz="2000" b="1"/>
              <a:t>6. Everything changes</a:t>
            </a:r>
          </a:p>
          <a:p>
            <a:r>
              <a:rPr lang="en-US" sz="2000"/>
              <a:t>Nature is dynamic, not static. Ecosystems go through succession, and species evolve. Human-induced change, however, often happens too fast for nature to adapt.</a:t>
            </a:r>
          </a:p>
          <a:p>
            <a:pPr marL="0" indent="0" fontAlgn="t">
              <a:buNone/>
            </a:pPr>
            <a:r>
              <a:rPr lang="en-US" sz="2000" b="1"/>
              <a:t>7. Everything must go somewhere</a:t>
            </a:r>
          </a:p>
          <a:p>
            <a:pPr fontAlgn="t"/>
            <a:r>
              <a:rPr lang="en-US" sz="2000"/>
              <a:t>Waste does not disappear; it accumulates in land, air, or water.</a:t>
            </a:r>
          </a:p>
          <a:p>
            <a:endParaRPr lang="en-US" sz="2000"/>
          </a:p>
          <a:p>
            <a:endParaRPr lang="en-US" sz="2000"/>
          </a:p>
        </p:txBody>
      </p:sp>
    </p:spTree>
    <p:extLst>
      <p:ext uri="{BB962C8B-B14F-4D97-AF65-F5344CB8AC3E}">
        <p14:creationId xmlns:p14="http://schemas.microsoft.com/office/powerpoint/2010/main" val="787125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91DC736-0EF8-4F87-9146-EBF1D2EE4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Stop Pollution - Save Earth | Mother earth drawing, River drawing, Water  pollution">
            <a:extLst>
              <a:ext uri="{FF2B5EF4-FFF2-40B4-BE49-F238E27FC236}">
                <a16:creationId xmlns:a16="http://schemas.microsoft.com/office/drawing/2014/main" id="{6E13DFD2-CCA9-F834-5DB1-76B2DD6F1F35}"/>
              </a:ext>
            </a:extLst>
          </p:cNvPr>
          <p:cNvPicPr>
            <a:picLocks noChangeAspect="1"/>
          </p:cNvPicPr>
          <p:nvPr/>
        </p:nvPicPr>
        <p:blipFill>
          <a:blip r:embed="rId2"/>
          <a:srcRect t="10744" r="5909" b="28960"/>
          <a:stretch>
            <a:fillRect/>
          </a:stretch>
        </p:blipFill>
        <p:spPr>
          <a:xfrm>
            <a:off x="3523488" y="10"/>
            <a:ext cx="8668512" cy="6857990"/>
          </a:xfrm>
          <a:prstGeom prst="rect">
            <a:avLst/>
          </a:prstGeom>
        </p:spPr>
      </p:pic>
      <p:sp>
        <p:nvSpPr>
          <p:cNvPr id="10" name="Rectangle 9">
            <a:extLst>
              <a:ext uri="{FF2B5EF4-FFF2-40B4-BE49-F238E27FC236}">
                <a16:creationId xmlns:a16="http://schemas.microsoft.com/office/drawing/2014/main" id="{097CD68E-23E3-4007-8847-CD0944C4F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6601"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70EA2CB-D896-9C87-5131-39D8B08A64A0}"/>
              </a:ext>
            </a:extLst>
          </p:cNvPr>
          <p:cNvSpPr>
            <a:spLocks noGrp="1"/>
          </p:cNvSpPr>
          <p:nvPr>
            <p:ph type="title"/>
          </p:nvPr>
        </p:nvSpPr>
        <p:spPr>
          <a:xfrm>
            <a:off x="477981" y="1122363"/>
            <a:ext cx="4023360" cy="3204134"/>
          </a:xfrm>
        </p:spPr>
        <p:txBody>
          <a:bodyPr vert="horz" lIns="91440" tIns="45720" rIns="91440" bIns="45720" rtlCol="0" anchor="b">
            <a:normAutofit/>
          </a:bodyPr>
          <a:lstStyle/>
          <a:p>
            <a:br>
              <a:rPr lang="en-US" sz="3700"/>
            </a:br>
            <a:r>
              <a:rPr lang="en-US" sz="3700"/>
              <a:t>How does throwing plastic affect the environment?</a:t>
            </a:r>
            <a:br>
              <a:rPr lang="en-US" sz="3700"/>
            </a:br>
            <a:endParaRPr lang="en-US" sz="3700"/>
          </a:p>
        </p:txBody>
      </p:sp>
      <p:sp>
        <p:nvSpPr>
          <p:cNvPr id="12" name="Rectangle 11">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4" name="Rectangle 13">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40479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463EB0A-3D7C-4AA5-BFA5-8EE5B4BA56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CE758CF-54EA-BCC1-DF01-7D75AF0EF2D9}"/>
              </a:ext>
            </a:extLst>
          </p:cNvPr>
          <p:cNvSpPr>
            <a:spLocks noGrp="1"/>
          </p:cNvSpPr>
          <p:nvPr>
            <p:ph type="title"/>
          </p:nvPr>
        </p:nvSpPr>
        <p:spPr>
          <a:xfrm>
            <a:off x="578651" y="1122363"/>
            <a:ext cx="11034695" cy="3174690"/>
          </a:xfrm>
        </p:spPr>
        <p:txBody>
          <a:bodyPr vert="horz" lIns="91440" tIns="45720" rIns="91440" bIns="45720" rtlCol="0" anchor="b">
            <a:normAutofit/>
          </a:bodyPr>
          <a:lstStyle/>
          <a:p>
            <a:r>
              <a:rPr lang="en-US" sz="8000" b="1" kern="1200" dirty="0">
                <a:solidFill>
                  <a:schemeClr val="tx1"/>
                </a:solidFill>
                <a:latin typeface="+mj-lt"/>
                <a:ea typeface="+mj-ea"/>
                <a:cs typeface="+mj-cs"/>
              </a:rPr>
              <a:t>Environmental Ethics</a:t>
            </a:r>
            <a:endParaRPr lang="en-US" sz="8000" kern="1200" dirty="0">
              <a:solidFill>
                <a:schemeClr val="tx1"/>
              </a:solidFill>
              <a:latin typeface="+mj-lt"/>
              <a:ea typeface="+mj-ea"/>
              <a:cs typeface="+mj-cs"/>
            </a:endParaRPr>
          </a:p>
        </p:txBody>
      </p:sp>
      <p:sp>
        <p:nvSpPr>
          <p:cNvPr id="3" name="Text Placeholder 2">
            <a:extLst>
              <a:ext uri="{FF2B5EF4-FFF2-40B4-BE49-F238E27FC236}">
                <a16:creationId xmlns:a16="http://schemas.microsoft.com/office/drawing/2014/main" id="{C54F1E5E-EBC1-AAE6-8271-421E29684452}"/>
              </a:ext>
            </a:extLst>
          </p:cNvPr>
          <p:cNvSpPr>
            <a:spLocks noGrp="1"/>
          </p:cNvSpPr>
          <p:nvPr>
            <p:ph type="body" idx="1"/>
          </p:nvPr>
        </p:nvSpPr>
        <p:spPr>
          <a:xfrm>
            <a:off x="578651" y="4723637"/>
            <a:ext cx="11034695" cy="1481396"/>
          </a:xfrm>
        </p:spPr>
        <p:txBody>
          <a:bodyPr vert="horz" lIns="91440" tIns="45720" rIns="91440" bIns="45720" rtlCol="0">
            <a:normAutofit/>
          </a:bodyPr>
          <a:lstStyle/>
          <a:p>
            <a:br>
              <a:rPr lang="en-US" sz="2800" kern="1200" dirty="0">
                <a:solidFill>
                  <a:schemeClr val="tx1"/>
                </a:solidFill>
                <a:latin typeface="+mn-lt"/>
                <a:ea typeface="+mn-ea"/>
                <a:cs typeface="+mn-cs"/>
              </a:rPr>
            </a:br>
            <a:r>
              <a:rPr lang="en-US" sz="2800" kern="1200" dirty="0">
                <a:solidFill>
                  <a:schemeClr val="tx1"/>
                </a:solidFill>
                <a:latin typeface="+mn-lt"/>
                <a:ea typeface="+mn-ea"/>
                <a:cs typeface="+mn-cs"/>
              </a:rPr>
              <a:t>What is the </a:t>
            </a:r>
            <a:r>
              <a:rPr lang="en-US" sz="2800" b="1" kern="1200" dirty="0">
                <a:solidFill>
                  <a:schemeClr val="tx1"/>
                </a:solidFill>
                <a:latin typeface="+mn-lt"/>
                <a:ea typeface="+mn-ea"/>
                <a:cs typeface="+mn-cs"/>
              </a:rPr>
              <a:t>right</a:t>
            </a:r>
            <a:r>
              <a:rPr lang="en-US" sz="2800" kern="1200" dirty="0">
                <a:solidFill>
                  <a:schemeClr val="tx1"/>
                </a:solidFill>
                <a:latin typeface="+mn-lt"/>
                <a:ea typeface="+mn-ea"/>
                <a:cs typeface="+mn-cs"/>
              </a:rPr>
              <a:t> thing to do for nature?</a:t>
            </a:r>
          </a:p>
          <a:p>
            <a:endParaRPr lang="en-US" sz="2800" kern="1200" dirty="0">
              <a:solidFill>
                <a:schemeClr val="tx1"/>
              </a:solidFill>
              <a:latin typeface="+mn-lt"/>
              <a:ea typeface="+mn-ea"/>
              <a:cs typeface="+mn-cs"/>
            </a:endParaRPr>
          </a:p>
        </p:txBody>
      </p:sp>
      <p:sp>
        <p:nvSpPr>
          <p:cNvPr id="10" name="Rectangle 9">
            <a:extLst>
              <a:ext uri="{FF2B5EF4-FFF2-40B4-BE49-F238E27FC236}">
                <a16:creationId xmlns:a16="http://schemas.microsoft.com/office/drawing/2014/main" id="{7945AD00-F967-454D-A4B2-39ABA5C88C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544"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E9BC5B79-B912-427C-8219-E3E50943FC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78652" y="4501201"/>
            <a:ext cx="1103469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Tree>
    <p:extLst>
      <p:ext uri="{BB962C8B-B14F-4D97-AF65-F5344CB8AC3E}">
        <p14:creationId xmlns:p14="http://schemas.microsoft.com/office/powerpoint/2010/main" val="39719235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2" name="Rectangle 31">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4" name="Rectangle 33">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29C661B-94C5-E0A4-402D-154722D3C197}"/>
              </a:ext>
            </a:extLst>
          </p:cNvPr>
          <p:cNvSpPr>
            <a:spLocks noGrp="1"/>
          </p:cNvSpPr>
          <p:nvPr>
            <p:ph type="title"/>
          </p:nvPr>
        </p:nvSpPr>
        <p:spPr>
          <a:xfrm>
            <a:off x="1115568" y="548640"/>
            <a:ext cx="10168128" cy="1179576"/>
          </a:xfrm>
        </p:spPr>
        <p:txBody>
          <a:bodyPr>
            <a:normAutofit/>
          </a:bodyPr>
          <a:lstStyle/>
          <a:p>
            <a:br>
              <a:rPr lang="en-US" sz="2500" b="1"/>
            </a:br>
            <a:r>
              <a:rPr lang="en-US" sz="2500" b="1"/>
              <a:t>Environmental Ethics</a:t>
            </a:r>
            <a:br>
              <a:rPr lang="en-US" sz="2500" b="1"/>
            </a:br>
            <a:endParaRPr lang="en-US" sz="2500"/>
          </a:p>
        </p:txBody>
      </p:sp>
      <p:sp>
        <p:nvSpPr>
          <p:cNvPr id="36" name="Rectangle 35">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CF07F92B-2547-791A-6C08-DB436CE5B8F0}"/>
              </a:ext>
            </a:extLst>
          </p:cNvPr>
          <p:cNvSpPr>
            <a:spLocks noGrp="1"/>
          </p:cNvSpPr>
          <p:nvPr>
            <p:ph idx="1"/>
          </p:nvPr>
        </p:nvSpPr>
        <p:spPr>
          <a:xfrm>
            <a:off x="1115568" y="2481943"/>
            <a:ext cx="10168128" cy="3695020"/>
          </a:xfrm>
        </p:spPr>
        <p:txBody>
          <a:bodyPr>
            <a:normAutofit/>
          </a:bodyPr>
          <a:lstStyle/>
          <a:p>
            <a:pPr marL="0" indent="0">
              <a:buNone/>
            </a:pPr>
            <a:r>
              <a:rPr lang="en-US" b="1" dirty="0"/>
              <a:t>Environmental ethics </a:t>
            </a:r>
            <a:r>
              <a:rPr lang="en-US" dirty="0"/>
              <a:t>is the branch of philosophy that studies the </a:t>
            </a:r>
            <a:r>
              <a:rPr lang="en-US" b="1" dirty="0"/>
              <a:t>moral relationship </a:t>
            </a:r>
            <a:r>
              <a:rPr lang="en-US" dirty="0"/>
              <a:t>of </a:t>
            </a:r>
            <a:r>
              <a:rPr lang="en-US" b="1" dirty="0"/>
              <a:t>human beings to the environment</a:t>
            </a:r>
            <a:r>
              <a:rPr lang="en-US" dirty="0"/>
              <a:t>. </a:t>
            </a:r>
          </a:p>
          <a:p>
            <a:pPr marL="0" indent="0">
              <a:buNone/>
            </a:pPr>
            <a:endParaRPr lang="en-US" sz="2200" dirty="0"/>
          </a:p>
          <a:p>
            <a:pPr marL="0" indent="0">
              <a:buNone/>
            </a:pPr>
            <a:r>
              <a:rPr lang="en-US" dirty="0"/>
              <a:t>It is the study of </a:t>
            </a:r>
            <a:r>
              <a:rPr lang="en-US" b="1" dirty="0"/>
              <a:t>how humans should treat the environment</a:t>
            </a:r>
            <a:r>
              <a:rPr lang="en-US" dirty="0"/>
              <a:t>.</a:t>
            </a:r>
          </a:p>
          <a:p>
            <a:pPr marL="0" indent="0">
              <a:buNone/>
            </a:pPr>
            <a:endParaRPr lang="en-US" sz="2200" dirty="0"/>
          </a:p>
          <a:p>
            <a:pPr marL="0" indent="0">
              <a:buNone/>
            </a:pPr>
            <a:endParaRPr lang="en-US" sz="2200" dirty="0"/>
          </a:p>
          <a:p>
            <a:endParaRPr lang="en-US" sz="2200" dirty="0"/>
          </a:p>
          <a:p>
            <a:endParaRPr lang="en-US" sz="2200" dirty="0"/>
          </a:p>
          <a:p>
            <a:pPr marL="0" indent="0">
              <a:buNone/>
            </a:pPr>
            <a:endParaRPr lang="en-US" sz="2200" b="1" dirty="0"/>
          </a:p>
          <a:p>
            <a:pPr marL="0" indent="0">
              <a:buNone/>
            </a:pPr>
            <a:endParaRPr lang="en-US" sz="2200" b="1" dirty="0"/>
          </a:p>
          <a:p>
            <a:endParaRPr lang="en-US" sz="2200" dirty="0"/>
          </a:p>
        </p:txBody>
      </p:sp>
    </p:spTree>
    <p:extLst>
      <p:ext uri="{BB962C8B-B14F-4D97-AF65-F5344CB8AC3E}">
        <p14:creationId xmlns:p14="http://schemas.microsoft.com/office/powerpoint/2010/main" val="19190253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E1DBFF6-CDF4-AD19-48EE-BD9CB0F8878B}"/>
              </a:ext>
            </a:extLst>
          </p:cNvPr>
          <p:cNvSpPr>
            <a:spLocks noGrp="1"/>
          </p:cNvSpPr>
          <p:nvPr>
            <p:ph type="title"/>
          </p:nvPr>
        </p:nvSpPr>
        <p:spPr>
          <a:xfrm>
            <a:off x="1115568" y="548640"/>
            <a:ext cx="10168128" cy="1179576"/>
          </a:xfrm>
        </p:spPr>
        <p:txBody>
          <a:bodyPr>
            <a:normAutofit/>
          </a:bodyPr>
          <a:lstStyle/>
          <a:p>
            <a:br>
              <a:rPr lang="en-US" sz="2500" b="1"/>
            </a:br>
            <a:r>
              <a:rPr lang="en-US" sz="2500" b="1"/>
              <a:t>Three Primary Worldviews</a:t>
            </a:r>
            <a:br>
              <a:rPr lang="en-US" sz="2500" b="1"/>
            </a:br>
            <a:endParaRPr lang="en-US" sz="2500"/>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994D6410-630A-D012-ABDB-0B2B704794FB}"/>
              </a:ext>
            </a:extLst>
          </p:cNvPr>
          <p:cNvSpPr>
            <a:spLocks noGrp="1"/>
          </p:cNvSpPr>
          <p:nvPr>
            <p:ph idx="1"/>
          </p:nvPr>
        </p:nvSpPr>
        <p:spPr>
          <a:xfrm>
            <a:off x="1115568" y="2481943"/>
            <a:ext cx="10168128" cy="3695020"/>
          </a:xfrm>
        </p:spPr>
        <p:txBody>
          <a:bodyPr>
            <a:normAutofit/>
          </a:bodyPr>
          <a:lstStyle/>
          <a:p>
            <a:pPr marL="0" indent="0">
              <a:buNone/>
            </a:pPr>
            <a:r>
              <a:rPr lang="en-US" b="1" dirty="0"/>
              <a:t>1. Anthropocentrism (Human-Centered)</a:t>
            </a:r>
          </a:p>
          <a:p>
            <a:pPr marL="0" indent="0">
              <a:buNone/>
            </a:pPr>
            <a:r>
              <a:rPr lang="en-US" b="1" dirty="0"/>
              <a:t>2. Biocentrism (Life-Centered)</a:t>
            </a:r>
          </a:p>
          <a:p>
            <a:pPr marL="0" indent="0">
              <a:buNone/>
            </a:pPr>
            <a:r>
              <a:rPr lang="en-US" b="1" dirty="0"/>
              <a:t>3. Ecocentrism (System-Centered)</a:t>
            </a:r>
          </a:p>
          <a:p>
            <a:endParaRPr lang="en-US" sz="2200" dirty="0"/>
          </a:p>
        </p:txBody>
      </p:sp>
    </p:spTree>
    <p:extLst>
      <p:ext uri="{BB962C8B-B14F-4D97-AF65-F5344CB8AC3E}">
        <p14:creationId xmlns:p14="http://schemas.microsoft.com/office/powerpoint/2010/main" val="13577226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1" name="Rectangle 20">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3" name="Rectangle 22">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FD8DEAC-3CC8-A19C-880B-BC82C34ABF6F}"/>
              </a:ext>
            </a:extLst>
          </p:cNvPr>
          <p:cNvSpPr>
            <a:spLocks noGrp="1"/>
          </p:cNvSpPr>
          <p:nvPr>
            <p:ph type="title"/>
          </p:nvPr>
        </p:nvSpPr>
        <p:spPr>
          <a:xfrm>
            <a:off x="1115568" y="548640"/>
            <a:ext cx="10168128" cy="1179576"/>
          </a:xfrm>
        </p:spPr>
        <p:txBody>
          <a:bodyPr>
            <a:normAutofit/>
          </a:bodyPr>
          <a:lstStyle/>
          <a:p>
            <a:br>
              <a:rPr lang="en-US" sz="2500" b="1"/>
            </a:br>
            <a:r>
              <a:rPr lang="en-US" sz="2500" b="1"/>
              <a:t>1. Anthropocentrism (Human-Centered)</a:t>
            </a:r>
            <a:br>
              <a:rPr lang="en-US" sz="2500" b="1"/>
            </a:br>
            <a:endParaRPr lang="en-US" sz="2500"/>
          </a:p>
        </p:txBody>
      </p:sp>
      <p:sp>
        <p:nvSpPr>
          <p:cNvPr id="25" name="Rectangle 24">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7A87894F-A012-605A-859D-ECE86F5B0179}"/>
              </a:ext>
            </a:extLst>
          </p:cNvPr>
          <p:cNvSpPr>
            <a:spLocks noGrp="1"/>
          </p:cNvSpPr>
          <p:nvPr>
            <p:ph idx="1"/>
          </p:nvPr>
        </p:nvSpPr>
        <p:spPr>
          <a:xfrm>
            <a:off x="1115568" y="2481943"/>
            <a:ext cx="10168128" cy="3695020"/>
          </a:xfrm>
        </p:spPr>
        <p:txBody>
          <a:bodyPr>
            <a:normAutofit/>
          </a:bodyPr>
          <a:lstStyle/>
          <a:p>
            <a:pPr marL="0" indent="0">
              <a:buNone/>
            </a:pPr>
            <a:r>
              <a:rPr lang="en-US" sz="2400" b="1" dirty="0"/>
              <a:t>Humans</a:t>
            </a:r>
            <a:r>
              <a:rPr lang="en-US" sz="2400" dirty="0"/>
              <a:t> are the most significant entity in the universe.</a:t>
            </a:r>
          </a:p>
          <a:p>
            <a:pPr marL="0" indent="0">
              <a:buNone/>
            </a:pPr>
            <a:r>
              <a:rPr lang="en-US" sz="2400" dirty="0"/>
              <a:t>Nature is used for human benefit.</a:t>
            </a:r>
          </a:p>
          <a:p>
            <a:pPr marL="0" indent="0">
              <a:buNone/>
            </a:pPr>
            <a:endParaRPr lang="en-US" sz="1000" dirty="0"/>
          </a:p>
          <a:p>
            <a:r>
              <a:rPr lang="en-US" sz="2000" b="1" dirty="0"/>
              <a:t>Perspective:</a:t>
            </a:r>
            <a:r>
              <a:rPr lang="en-US" sz="2000" dirty="0"/>
              <a:t> Nature has value only in how it serves human needs (economic, recreational, or medical).</a:t>
            </a:r>
          </a:p>
          <a:p>
            <a:endParaRPr lang="en-US" sz="1000" dirty="0"/>
          </a:p>
          <a:p>
            <a:pPr marL="0" indent="0">
              <a:buNone/>
            </a:pPr>
            <a:r>
              <a:rPr lang="en-US" sz="1800" b="1" dirty="0"/>
              <a:t>Example</a:t>
            </a:r>
            <a:r>
              <a:rPr lang="en-US" sz="1800" dirty="0"/>
              <a:t> </a:t>
            </a:r>
          </a:p>
          <a:p>
            <a:r>
              <a:rPr lang="en-US" sz="2000" dirty="0"/>
              <a:t>Protecting a forest only because it provides timber or clean water for a city.</a:t>
            </a:r>
          </a:p>
          <a:p>
            <a:r>
              <a:rPr lang="en-US" sz="2000" dirty="0"/>
              <a:t>Cutting forests for development.</a:t>
            </a:r>
          </a:p>
          <a:p>
            <a:endParaRPr lang="en-US" sz="1700" dirty="0"/>
          </a:p>
          <a:p>
            <a:endParaRPr lang="en-US" sz="1700" dirty="0"/>
          </a:p>
        </p:txBody>
      </p:sp>
    </p:spTree>
    <p:extLst>
      <p:ext uri="{BB962C8B-B14F-4D97-AF65-F5344CB8AC3E}">
        <p14:creationId xmlns:p14="http://schemas.microsoft.com/office/powerpoint/2010/main" val="29510375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2F7F5AC-F221-3CA8-66BB-50A964886A06}"/>
              </a:ext>
            </a:extLst>
          </p:cNvPr>
          <p:cNvSpPr>
            <a:spLocks noGrp="1"/>
          </p:cNvSpPr>
          <p:nvPr>
            <p:ph type="title"/>
          </p:nvPr>
        </p:nvSpPr>
        <p:spPr>
          <a:xfrm>
            <a:off x="1115568" y="548640"/>
            <a:ext cx="10168128" cy="1179576"/>
          </a:xfrm>
        </p:spPr>
        <p:txBody>
          <a:bodyPr>
            <a:normAutofit/>
          </a:bodyPr>
          <a:lstStyle/>
          <a:p>
            <a:br>
              <a:rPr lang="en-US" sz="2500" b="1"/>
            </a:br>
            <a:r>
              <a:rPr lang="en-US" sz="2500" b="1"/>
              <a:t>2. Biocentrism (Life-Centered)</a:t>
            </a:r>
            <a:br>
              <a:rPr lang="en-US" sz="2500" b="1"/>
            </a:br>
            <a:endParaRPr lang="en-US" sz="2500"/>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770CF1B7-B27F-C49D-E066-6BFA7619E167}"/>
              </a:ext>
            </a:extLst>
          </p:cNvPr>
          <p:cNvSpPr>
            <a:spLocks noGrp="1"/>
          </p:cNvSpPr>
          <p:nvPr>
            <p:ph idx="1"/>
          </p:nvPr>
        </p:nvSpPr>
        <p:spPr>
          <a:xfrm>
            <a:off x="1115568" y="2481943"/>
            <a:ext cx="10168128" cy="3695020"/>
          </a:xfrm>
        </p:spPr>
        <p:txBody>
          <a:bodyPr>
            <a:normAutofit lnSpcReduction="10000"/>
          </a:bodyPr>
          <a:lstStyle/>
          <a:p>
            <a:pPr marL="0" indent="0">
              <a:buNone/>
            </a:pPr>
            <a:r>
              <a:rPr lang="en-US" sz="2400" b="1" dirty="0"/>
              <a:t>All living things </a:t>
            </a:r>
            <a:r>
              <a:rPr lang="en-US" sz="2400" dirty="0"/>
              <a:t>have intrinsic value, regardless of their usefulness to humans.</a:t>
            </a:r>
          </a:p>
          <a:p>
            <a:pPr marL="0" indent="0">
              <a:buNone/>
            </a:pPr>
            <a:r>
              <a:rPr lang="en-US" sz="2400" dirty="0"/>
              <a:t>Humans are </a:t>
            </a:r>
            <a:r>
              <a:rPr lang="en-US" sz="2400" b="1" dirty="0"/>
              <a:t>not</a:t>
            </a:r>
            <a:r>
              <a:rPr lang="en-US" sz="2400" dirty="0"/>
              <a:t> superior.</a:t>
            </a:r>
          </a:p>
          <a:p>
            <a:pPr marL="0" indent="0">
              <a:buNone/>
            </a:pPr>
            <a:endParaRPr lang="en-US" sz="2200" dirty="0"/>
          </a:p>
          <a:p>
            <a:r>
              <a:rPr lang="en-US" sz="2200" b="1" dirty="0"/>
              <a:t>Perspective:</a:t>
            </a:r>
            <a:r>
              <a:rPr lang="en-US" sz="2200" dirty="0"/>
              <a:t> Every individual organism, from a whale to a blade of grass, has a "right to exist.“</a:t>
            </a:r>
          </a:p>
          <a:p>
            <a:endParaRPr lang="en-US" sz="2200" dirty="0"/>
          </a:p>
          <a:p>
            <a:pPr marL="0" indent="0">
              <a:buNone/>
            </a:pPr>
            <a:r>
              <a:rPr lang="en-US" sz="2200" b="1" dirty="0"/>
              <a:t>Example</a:t>
            </a:r>
          </a:p>
          <a:p>
            <a:r>
              <a:rPr lang="en-US" sz="2200" dirty="0"/>
              <a:t>Opposing a dam because it would destroy a unique species of fish, even if the dam provides electricity.</a:t>
            </a:r>
          </a:p>
          <a:p>
            <a:endParaRPr lang="en-US" sz="2200" dirty="0"/>
          </a:p>
        </p:txBody>
      </p:sp>
    </p:spTree>
    <p:extLst>
      <p:ext uri="{BB962C8B-B14F-4D97-AF65-F5344CB8AC3E}">
        <p14:creationId xmlns:p14="http://schemas.microsoft.com/office/powerpoint/2010/main" val="31739688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2" name="Rectangle 31">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4" name="Rectangle 33">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304E829-D052-1593-C712-AA3CA7F47D61}"/>
              </a:ext>
            </a:extLst>
          </p:cNvPr>
          <p:cNvSpPr>
            <a:spLocks noGrp="1"/>
          </p:cNvSpPr>
          <p:nvPr>
            <p:ph type="title"/>
          </p:nvPr>
        </p:nvSpPr>
        <p:spPr>
          <a:xfrm>
            <a:off x="1115568" y="548640"/>
            <a:ext cx="10168128" cy="1179576"/>
          </a:xfrm>
        </p:spPr>
        <p:txBody>
          <a:bodyPr>
            <a:normAutofit/>
          </a:bodyPr>
          <a:lstStyle/>
          <a:p>
            <a:br>
              <a:rPr lang="en-US" sz="2500" b="1"/>
            </a:br>
            <a:r>
              <a:rPr lang="en-US" sz="2500" b="1"/>
              <a:t>3. Ecocentrism (Nature-Centered)</a:t>
            </a:r>
            <a:br>
              <a:rPr lang="en-US" sz="2500" b="1"/>
            </a:br>
            <a:endParaRPr lang="en-US" sz="2500"/>
          </a:p>
        </p:txBody>
      </p:sp>
      <p:sp>
        <p:nvSpPr>
          <p:cNvPr id="36" name="Rectangle 35">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ABA5251C-5594-ED91-4098-115A01593F30}"/>
              </a:ext>
            </a:extLst>
          </p:cNvPr>
          <p:cNvSpPr>
            <a:spLocks noGrp="1"/>
          </p:cNvSpPr>
          <p:nvPr>
            <p:ph idx="1"/>
          </p:nvPr>
        </p:nvSpPr>
        <p:spPr>
          <a:xfrm>
            <a:off x="1115568" y="2481943"/>
            <a:ext cx="10168128" cy="3695020"/>
          </a:xfrm>
        </p:spPr>
        <p:txBody>
          <a:bodyPr>
            <a:normAutofit lnSpcReduction="10000"/>
          </a:bodyPr>
          <a:lstStyle/>
          <a:p>
            <a:pPr marL="0" indent="0">
              <a:buNone/>
            </a:pPr>
            <a:r>
              <a:rPr lang="en-US" sz="1800" b="1" dirty="0"/>
              <a:t>The entire ecosystem </a:t>
            </a:r>
            <a:r>
              <a:rPr lang="en-US" sz="1800" dirty="0"/>
              <a:t>(including non-living components like soil and water) is the focus of moral concern.</a:t>
            </a:r>
          </a:p>
          <a:p>
            <a:pPr marL="0" indent="0">
              <a:buNone/>
            </a:pPr>
            <a:r>
              <a:rPr lang="en-US" sz="1800" dirty="0"/>
              <a:t>Entire ecosystems are valuable.</a:t>
            </a:r>
          </a:p>
          <a:p>
            <a:pPr marL="0" indent="0">
              <a:buNone/>
            </a:pPr>
            <a:r>
              <a:rPr lang="en-US" sz="1800" dirty="0"/>
              <a:t>Focus on balance and sustainability.</a:t>
            </a:r>
          </a:p>
          <a:p>
            <a:pPr marL="0" indent="0">
              <a:buNone/>
            </a:pPr>
            <a:endParaRPr lang="en-US" sz="1000" dirty="0"/>
          </a:p>
          <a:p>
            <a:r>
              <a:rPr lang="en-US" sz="1800" b="1" dirty="0"/>
              <a:t>Perspective:</a:t>
            </a:r>
            <a:r>
              <a:rPr lang="en-US" sz="1800" dirty="0"/>
              <a:t> It is not just about individuals, but about the integrity of the whole system.</a:t>
            </a:r>
          </a:p>
          <a:p>
            <a:endParaRPr lang="en-US" sz="1050" dirty="0"/>
          </a:p>
          <a:p>
            <a:r>
              <a:rPr lang="en-US" sz="1700" b="1" dirty="0"/>
              <a:t>Example:</a:t>
            </a:r>
          </a:p>
          <a:p>
            <a:pPr lvl="1" fontAlgn="t"/>
            <a:r>
              <a:rPr lang="en-US" sz="1800" dirty="0"/>
              <a:t>A community stops building resorts near a coral reef to </a:t>
            </a:r>
            <a:r>
              <a:rPr lang="en-US" sz="1800" b="1" dirty="0"/>
              <a:t>preserve marine life and ecosystem health</a:t>
            </a:r>
            <a:r>
              <a:rPr lang="en-US" sz="1800" dirty="0"/>
              <a:t>.</a:t>
            </a:r>
          </a:p>
          <a:p>
            <a:pPr lvl="1" fontAlgn="t"/>
            <a:r>
              <a:rPr lang="en-US" sz="1800" dirty="0"/>
              <a:t>A government decides to </a:t>
            </a:r>
            <a:r>
              <a:rPr lang="en-US" sz="1800" b="1" dirty="0"/>
              <a:t>protect a forest from logging</a:t>
            </a:r>
            <a:r>
              <a:rPr lang="en-US" sz="1800" dirty="0"/>
              <a:t>, even if it could generate profit, because the forest is important for wildlife habitats, clean air and water, and ecological balance.</a:t>
            </a:r>
          </a:p>
          <a:p>
            <a:pPr lvl="1" fontAlgn="t"/>
            <a:endParaRPr lang="en-US" sz="1700" dirty="0"/>
          </a:p>
          <a:p>
            <a:pPr lvl="1" fontAlgn="t"/>
            <a:endParaRPr lang="en-US" sz="1700" dirty="0"/>
          </a:p>
          <a:p>
            <a:pPr lvl="1" fontAlgn="t"/>
            <a:endParaRPr lang="en-US" sz="1700" dirty="0"/>
          </a:p>
          <a:p>
            <a:pPr lvl="1" fontAlgn="t"/>
            <a:endParaRPr lang="en-US" sz="1700" dirty="0"/>
          </a:p>
          <a:p>
            <a:endParaRPr lang="en-US" sz="1700" dirty="0"/>
          </a:p>
        </p:txBody>
      </p:sp>
    </p:spTree>
    <p:extLst>
      <p:ext uri="{BB962C8B-B14F-4D97-AF65-F5344CB8AC3E}">
        <p14:creationId xmlns:p14="http://schemas.microsoft.com/office/powerpoint/2010/main" val="20045875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C052972-622D-F7CA-9126-2EEC630C0C1D}"/>
              </a:ext>
            </a:extLst>
          </p:cNvPr>
          <p:cNvSpPr>
            <a:spLocks noGrp="1"/>
          </p:cNvSpPr>
          <p:nvPr>
            <p:ph type="title"/>
          </p:nvPr>
        </p:nvSpPr>
        <p:spPr>
          <a:xfrm>
            <a:off x="1115568" y="548640"/>
            <a:ext cx="10168128" cy="1179576"/>
          </a:xfrm>
        </p:spPr>
        <p:txBody>
          <a:bodyPr>
            <a:normAutofit/>
          </a:bodyPr>
          <a:lstStyle/>
          <a:p>
            <a:br>
              <a:rPr lang="en-US" sz="2500" dirty="0"/>
            </a:br>
            <a:r>
              <a:rPr lang="en-US" sz="2500" b="1" dirty="0"/>
              <a:t>Core Ethical Principles</a:t>
            </a:r>
            <a:br>
              <a:rPr lang="en-US" sz="2500" dirty="0"/>
            </a:br>
            <a:endParaRPr lang="en-US" sz="2500" dirty="0"/>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30C733D7-B18E-79F0-989E-7E9FC41D53CB}"/>
              </a:ext>
            </a:extLst>
          </p:cNvPr>
          <p:cNvSpPr>
            <a:spLocks noGrp="1"/>
          </p:cNvSpPr>
          <p:nvPr>
            <p:ph idx="1"/>
          </p:nvPr>
        </p:nvSpPr>
        <p:spPr>
          <a:xfrm>
            <a:off x="1115568" y="2481943"/>
            <a:ext cx="10168128" cy="3695020"/>
          </a:xfrm>
        </p:spPr>
        <p:txBody>
          <a:bodyPr>
            <a:normAutofit/>
          </a:bodyPr>
          <a:lstStyle/>
          <a:p>
            <a:r>
              <a:rPr lang="en-US" sz="2200" b="1" dirty="0"/>
              <a:t>Stewardship</a:t>
            </a:r>
            <a:r>
              <a:rPr lang="en-US" sz="2200" dirty="0"/>
              <a:t> – Humans must care for the Earth. </a:t>
            </a:r>
          </a:p>
          <a:p>
            <a:r>
              <a:rPr lang="en-US" sz="2200" b="1" dirty="0"/>
              <a:t>Sustainability</a:t>
            </a:r>
            <a:r>
              <a:rPr lang="en-US" sz="2200" dirty="0"/>
              <a:t> – Use resources without harming future generations. </a:t>
            </a:r>
          </a:p>
          <a:p>
            <a:r>
              <a:rPr lang="en-US" sz="2200" b="1" dirty="0"/>
              <a:t>Responsibility</a:t>
            </a:r>
            <a:r>
              <a:rPr lang="en-US" sz="2200" dirty="0"/>
              <a:t> – Be accountable for environmental actions. </a:t>
            </a:r>
          </a:p>
          <a:p>
            <a:r>
              <a:rPr lang="en-US" sz="2200" b="1" dirty="0"/>
              <a:t>Justice</a:t>
            </a:r>
            <a:r>
              <a:rPr lang="en-US" sz="2200" dirty="0"/>
              <a:t> – Fair sharing of resources.</a:t>
            </a:r>
          </a:p>
          <a:p>
            <a:endParaRPr lang="en-US" sz="2200" dirty="0"/>
          </a:p>
        </p:txBody>
      </p:sp>
    </p:spTree>
    <p:extLst>
      <p:ext uri="{BB962C8B-B14F-4D97-AF65-F5344CB8AC3E}">
        <p14:creationId xmlns:p14="http://schemas.microsoft.com/office/powerpoint/2010/main" val="24580520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40D6278-105F-3EC5-8376-BC9020B48591}"/>
              </a:ext>
            </a:extLst>
          </p:cNvPr>
          <p:cNvSpPr>
            <a:spLocks noGrp="1"/>
          </p:cNvSpPr>
          <p:nvPr>
            <p:ph type="title"/>
          </p:nvPr>
        </p:nvSpPr>
        <p:spPr>
          <a:xfrm>
            <a:off x="1115568" y="548640"/>
            <a:ext cx="10168128" cy="1179576"/>
          </a:xfrm>
        </p:spPr>
        <p:txBody>
          <a:bodyPr>
            <a:normAutofit/>
          </a:bodyPr>
          <a:lstStyle/>
          <a:p>
            <a:br>
              <a:rPr lang="en-US" sz="2500" b="1"/>
            </a:br>
            <a:r>
              <a:rPr lang="en-US" sz="2500" b="1"/>
              <a:t>Preservation versus Conservation</a:t>
            </a:r>
            <a:br>
              <a:rPr lang="en-US" sz="2500" b="1"/>
            </a:br>
            <a:endParaRPr lang="en-US" sz="2500"/>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382CA72B-2377-EF6B-01D2-660861A7EBD5}"/>
              </a:ext>
            </a:extLst>
          </p:cNvPr>
          <p:cNvSpPr>
            <a:spLocks noGrp="1"/>
          </p:cNvSpPr>
          <p:nvPr>
            <p:ph idx="1"/>
          </p:nvPr>
        </p:nvSpPr>
        <p:spPr>
          <a:xfrm>
            <a:off x="1115568" y="2481943"/>
            <a:ext cx="10168128" cy="3695020"/>
          </a:xfrm>
        </p:spPr>
        <p:txBody>
          <a:bodyPr>
            <a:normAutofit/>
          </a:bodyPr>
          <a:lstStyle/>
          <a:p>
            <a:pPr marL="0" indent="0">
              <a:buNone/>
            </a:pPr>
            <a:r>
              <a:rPr lang="en-US" sz="2200" b="1" dirty="0"/>
              <a:t>Conservation (The Wise-Use Approach)</a:t>
            </a:r>
          </a:p>
          <a:p>
            <a:r>
              <a:rPr lang="en-US" sz="2200" dirty="0"/>
              <a:t>Championed by </a:t>
            </a:r>
            <a:r>
              <a:rPr lang="en-US" sz="2200" b="1" dirty="0"/>
              <a:t>Gifford Pinchot</a:t>
            </a:r>
            <a:r>
              <a:rPr lang="en-US" sz="2200" dirty="0"/>
              <a:t>. </a:t>
            </a:r>
          </a:p>
          <a:p>
            <a:r>
              <a:rPr lang="en-US" sz="2200" dirty="0"/>
              <a:t>It argues that we should </a:t>
            </a:r>
            <a:r>
              <a:rPr lang="en-US" sz="2200" dirty="0">
                <a:solidFill>
                  <a:srgbClr val="FF0000"/>
                </a:solidFill>
              </a:rPr>
              <a:t>use resources sustainably  </a:t>
            </a:r>
            <a:r>
              <a:rPr lang="en-US" sz="2200" dirty="0"/>
              <a:t>"</a:t>
            </a:r>
            <a:r>
              <a:rPr lang="en-US" sz="2200" b="1" dirty="0"/>
              <a:t>for the greatest good for the greatest number for the longest time.“</a:t>
            </a:r>
          </a:p>
          <a:p>
            <a:endParaRPr lang="en-US" sz="2200" dirty="0"/>
          </a:p>
          <a:p>
            <a:pPr marL="0" indent="0">
              <a:buNone/>
            </a:pPr>
            <a:r>
              <a:rPr lang="en-US" sz="2200" b="1" dirty="0"/>
              <a:t>Preservation (The Hands-Off Approach)</a:t>
            </a:r>
          </a:p>
          <a:p>
            <a:r>
              <a:rPr lang="en-US" sz="2200" dirty="0"/>
              <a:t>Championed by </a:t>
            </a:r>
            <a:r>
              <a:rPr lang="en-US" sz="2200" b="1" dirty="0"/>
              <a:t>John Muir.</a:t>
            </a:r>
          </a:p>
          <a:p>
            <a:r>
              <a:rPr lang="en-US" sz="2200" dirty="0"/>
              <a:t>It argues that nature should be </a:t>
            </a:r>
            <a:r>
              <a:rPr lang="en-US" sz="2200" dirty="0">
                <a:solidFill>
                  <a:srgbClr val="FF0000"/>
                </a:solidFill>
              </a:rPr>
              <a:t>protected in its pristine state</a:t>
            </a:r>
            <a:r>
              <a:rPr lang="en-US" sz="2200" dirty="0"/>
              <a:t>, untouched by human development.</a:t>
            </a:r>
          </a:p>
          <a:p>
            <a:endParaRPr lang="en-US" sz="2200" dirty="0"/>
          </a:p>
        </p:txBody>
      </p:sp>
    </p:spTree>
    <p:extLst>
      <p:ext uri="{BB962C8B-B14F-4D97-AF65-F5344CB8AC3E}">
        <p14:creationId xmlns:p14="http://schemas.microsoft.com/office/powerpoint/2010/main" val="10780226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8C42BD3-02BA-BFB0-651E-FD85A40A6D9F}"/>
              </a:ext>
            </a:extLst>
          </p:cNvPr>
          <p:cNvSpPr>
            <a:spLocks noGrp="1"/>
          </p:cNvSpPr>
          <p:nvPr>
            <p:ph type="title"/>
          </p:nvPr>
        </p:nvSpPr>
        <p:spPr>
          <a:xfrm>
            <a:off x="1115568" y="548640"/>
            <a:ext cx="10168128" cy="1179576"/>
          </a:xfrm>
        </p:spPr>
        <p:txBody>
          <a:bodyPr>
            <a:normAutofit/>
          </a:bodyPr>
          <a:lstStyle/>
          <a:p>
            <a:br>
              <a:rPr lang="en-US" sz="2500" b="1"/>
            </a:br>
            <a:r>
              <a:rPr lang="en-US" sz="2500" b="1"/>
              <a:t>Questions for Reflection</a:t>
            </a:r>
            <a:br>
              <a:rPr lang="en-US" sz="2500" b="1"/>
            </a:br>
            <a:endParaRPr lang="en-US" sz="2500"/>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DC5C7AC5-B4AF-CE25-687C-0E4870DF4E2C}"/>
              </a:ext>
            </a:extLst>
          </p:cNvPr>
          <p:cNvSpPr>
            <a:spLocks noGrp="1"/>
          </p:cNvSpPr>
          <p:nvPr>
            <p:ph idx="1"/>
          </p:nvPr>
        </p:nvSpPr>
        <p:spPr>
          <a:xfrm>
            <a:off x="1115568" y="2481943"/>
            <a:ext cx="10168128" cy="3695020"/>
          </a:xfrm>
        </p:spPr>
        <p:txBody>
          <a:bodyPr>
            <a:normAutofit/>
          </a:bodyPr>
          <a:lstStyle/>
          <a:p>
            <a:pPr marL="514350" indent="-514350">
              <a:buFont typeface="+mj-lt"/>
              <a:buAutoNum type="arabicPeriod"/>
            </a:pPr>
            <a:r>
              <a:rPr lang="en-US" sz="2400" dirty="0"/>
              <a:t>Which of the three worldviews (Anthropocentrism, Biocentrism, or Ecocentrism) best describes your own view?</a:t>
            </a:r>
          </a:p>
        </p:txBody>
      </p:sp>
    </p:spTree>
    <p:extLst>
      <p:ext uri="{BB962C8B-B14F-4D97-AF65-F5344CB8AC3E}">
        <p14:creationId xmlns:p14="http://schemas.microsoft.com/office/powerpoint/2010/main" val="41434410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6190F98-F355-D319-5325-6EFD461AA210}"/>
              </a:ext>
            </a:extLst>
          </p:cNvPr>
          <p:cNvSpPr>
            <a:spLocks noGrp="1"/>
          </p:cNvSpPr>
          <p:nvPr>
            <p:ph type="title"/>
          </p:nvPr>
        </p:nvSpPr>
        <p:spPr>
          <a:xfrm>
            <a:off x="761803" y="350196"/>
            <a:ext cx="4646904" cy="1624520"/>
          </a:xfrm>
        </p:spPr>
        <p:txBody>
          <a:bodyPr anchor="ctr">
            <a:normAutofit/>
          </a:bodyPr>
          <a:lstStyle/>
          <a:p>
            <a:br>
              <a:rPr lang="en-US" sz="3700" b="1"/>
            </a:br>
            <a:r>
              <a:rPr lang="en-US" sz="3700" b="1"/>
              <a:t>Case Study</a:t>
            </a:r>
            <a:br>
              <a:rPr lang="en-US" sz="3700" b="1"/>
            </a:br>
            <a:endParaRPr lang="en-US" sz="3700"/>
          </a:p>
        </p:txBody>
      </p:sp>
      <p:sp>
        <p:nvSpPr>
          <p:cNvPr id="3" name="Content Placeholder 2">
            <a:extLst>
              <a:ext uri="{FF2B5EF4-FFF2-40B4-BE49-F238E27FC236}">
                <a16:creationId xmlns:a16="http://schemas.microsoft.com/office/drawing/2014/main" id="{CE95A7EC-5AB2-08D2-F35D-99F23B78CD28}"/>
              </a:ext>
            </a:extLst>
          </p:cNvPr>
          <p:cNvSpPr>
            <a:spLocks noGrp="1"/>
          </p:cNvSpPr>
          <p:nvPr>
            <p:ph idx="1"/>
          </p:nvPr>
        </p:nvSpPr>
        <p:spPr>
          <a:xfrm>
            <a:off x="761802" y="2743200"/>
            <a:ext cx="4646905" cy="3613149"/>
          </a:xfrm>
        </p:spPr>
        <p:txBody>
          <a:bodyPr anchor="ctr">
            <a:normAutofit/>
          </a:bodyPr>
          <a:lstStyle/>
          <a:p>
            <a:pPr fontAlgn="t"/>
            <a:r>
              <a:rPr lang="en-US" sz="2000" dirty="0"/>
              <a:t>A company plans to build a factory near a river.</a:t>
            </a:r>
          </a:p>
          <a:p>
            <a:pPr fontAlgn="t"/>
            <a:endParaRPr lang="en-US" sz="2000" dirty="0"/>
          </a:p>
          <a:p>
            <a:pPr marL="514350" indent="-514350" fontAlgn="t">
              <a:buFont typeface="+mj-lt"/>
              <a:buAutoNum type="arabicPeriod"/>
            </a:pPr>
            <a:r>
              <a:rPr lang="en-US" sz="2000" dirty="0"/>
              <a:t>Is this ethical?</a:t>
            </a:r>
          </a:p>
          <a:p>
            <a:pPr marL="514350" indent="-514350" fontAlgn="t">
              <a:buFont typeface="+mj-lt"/>
              <a:buAutoNum type="arabicPeriod"/>
            </a:pPr>
            <a:r>
              <a:rPr lang="en-US" sz="2000" dirty="0"/>
              <a:t>What environmental impacts may occur?</a:t>
            </a:r>
          </a:p>
          <a:p>
            <a:pPr marL="514350" indent="-514350" fontAlgn="t">
              <a:buFont typeface="+mj-lt"/>
              <a:buAutoNum type="arabicPeriod"/>
            </a:pPr>
            <a:r>
              <a:rPr lang="en-US" sz="2000" dirty="0"/>
              <a:t>Which ethical view supports or opposes it?</a:t>
            </a:r>
          </a:p>
          <a:p>
            <a:endParaRPr lang="en-US" sz="2000" dirty="0"/>
          </a:p>
        </p:txBody>
      </p:sp>
      <p:pic>
        <p:nvPicPr>
          <p:cNvPr id="5" name="Picture 4" descr="Oil refinery against blue sky">
            <a:extLst>
              <a:ext uri="{FF2B5EF4-FFF2-40B4-BE49-F238E27FC236}">
                <a16:creationId xmlns:a16="http://schemas.microsoft.com/office/drawing/2014/main" id="{A53D3B9A-4210-ADAB-7633-4521EE5AE500}"/>
              </a:ext>
            </a:extLst>
          </p:cNvPr>
          <p:cNvPicPr>
            <a:picLocks noChangeAspect="1"/>
          </p:cNvPicPr>
          <p:nvPr/>
        </p:nvPicPr>
        <p:blipFill>
          <a:blip r:embed="rId2"/>
          <a:srcRect l="29111" r="20833"/>
          <a:stretch>
            <a:fillRect/>
          </a:stretch>
        </p:blipFill>
        <p:spPr>
          <a:xfrm>
            <a:off x="6096000" y="1"/>
            <a:ext cx="6102825" cy="6858000"/>
          </a:xfrm>
          <a:prstGeom prst="rect">
            <a:avLst/>
          </a:prstGeom>
        </p:spPr>
      </p:pic>
    </p:spTree>
    <p:extLst>
      <p:ext uri="{BB962C8B-B14F-4D97-AF65-F5344CB8AC3E}">
        <p14:creationId xmlns:p14="http://schemas.microsoft.com/office/powerpoint/2010/main" val="15061811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D117E8D-3091-D0E9-2558-109DB4C49400}"/>
              </a:ext>
            </a:extLst>
          </p:cNvPr>
          <p:cNvSpPr>
            <a:spLocks noGrp="1"/>
          </p:cNvSpPr>
          <p:nvPr>
            <p:ph type="title"/>
          </p:nvPr>
        </p:nvSpPr>
        <p:spPr>
          <a:xfrm>
            <a:off x="761800" y="762001"/>
            <a:ext cx="5334197" cy="1708242"/>
          </a:xfrm>
        </p:spPr>
        <p:txBody>
          <a:bodyPr anchor="ctr">
            <a:normAutofit/>
          </a:bodyPr>
          <a:lstStyle/>
          <a:p>
            <a:br>
              <a:rPr lang="en-US" sz="2800"/>
            </a:br>
            <a:r>
              <a:rPr lang="en-US" sz="2800"/>
              <a:t>Importance of Environmental Science</a:t>
            </a:r>
            <a:br>
              <a:rPr lang="en-US" sz="2800"/>
            </a:br>
            <a:endParaRPr lang="en-US" sz="2800"/>
          </a:p>
        </p:txBody>
      </p:sp>
      <p:sp>
        <p:nvSpPr>
          <p:cNvPr id="3" name="Content Placeholder 2">
            <a:extLst>
              <a:ext uri="{FF2B5EF4-FFF2-40B4-BE49-F238E27FC236}">
                <a16:creationId xmlns:a16="http://schemas.microsoft.com/office/drawing/2014/main" id="{72009B74-5238-2744-237A-5A20C9DF347F}"/>
              </a:ext>
            </a:extLst>
          </p:cNvPr>
          <p:cNvSpPr>
            <a:spLocks noGrp="1"/>
          </p:cNvSpPr>
          <p:nvPr>
            <p:ph idx="1"/>
          </p:nvPr>
        </p:nvSpPr>
        <p:spPr>
          <a:xfrm>
            <a:off x="761800" y="2470244"/>
            <a:ext cx="5334197" cy="3769835"/>
          </a:xfrm>
        </p:spPr>
        <p:txBody>
          <a:bodyPr anchor="ctr">
            <a:normAutofit/>
          </a:bodyPr>
          <a:lstStyle/>
          <a:p>
            <a:pPr marL="0" indent="0" fontAlgn="t">
              <a:buNone/>
            </a:pPr>
            <a:r>
              <a:rPr lang="en-US" sz="2400" dirty="0"/>
              <a:t>Environmental science helps:</a:t>
            </a:r>
          </a:p>
          <a:p>
            <a:pPr marL="514350" indent="-514350" fontAlgn="t">
              <a:buFont typeface="+mj-lt"/>
              <a:buAutoNum type="arabicPeriod"/>
            </a:pPr>
            <a:r>
              <a:rPr lang="en-US" sz="2400" dirty="0"/>
              <a:t>Protect natural resources.</a:t>
            </a:r>
          </a:p>
          <a:p>
            <a:pPr marL="514350" indent="-514350" fontAlgn="t">
              <a:buFont typeface="+mj-lt"/>
              <a:buAutoNum type="arabicPeriod"/>
            </a:pPr>
            <a:r>
              <a:rPr lang="en-US" sz="2400" dirty="0"/>
              <a:t>Prevent environmental damage.</a:t>
            </a:r>
          </a:p>
          <a:p>
            <a:pPr marL="514350" indent="-514350" fontAlgn="t">
              <a:buFont typeface="+mj-lt"/>
              <a:buAutoNum type="arabicPeriod"/>
            </a:pPr>
            <a:r>
              <a:rPr lang="en-US" sz="2400" dirty="0"/>
              <a:t>Promote sustainable living.</a:t>
            </a:r>
          </a:p>
          <a:p>
            <a:pPr marL="514350" indent="-514350" fontAlgn="t">
              <a:buFont typeface="+mj-lt"/>
              <a:buAutoNum type="arabicPeriod"/>
            </a:pPr>
            <a:r>
              <a:rPr lang="en-US" sz="2400" dirty="0"/>
              <a:t>Improve human health.</a:t>
            </a:r>
          </a:p>
          <a:p>
            <a:endParaRPr lang="en-US" sz="2000" dirty="0"/>
          </a:p>
        </p:txBody>
      </p:sp>
      <p:pic>
        <p:nvPicPr>
          <p:cNvPr id="5" name="Picture 4" descr="A hand touching a small plant">
            <a:extLst>
              <a:ext uri="{FF2B5EF4-FFF2-40B4-BE49-F238E27FC236}">
                <a16:creationId xmlns:a16="http://schemas.microsoft.com/office/drawing/2014/main" id="{5045F4BA-F84D-1C74-7481-7BFC059507DF}"/>
              </a:ext>
            </a:extLst>
          </p:cNvPr>
          <p:cNvPicPr>
            <a:picLocks noChangeAspect="1"/>
          </p:cNvPicPr>
          <p:nvPr/>
        </p:nvPicPr>
        <p:blipFill>
          <a:blip r:embed="rId2"/>
          <a:srcRect l="48164" r="-1" b="-1"/>
          <a:stretch>
            <a:fillRect/>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40213764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943CAA20-3569-4189-9E48-239A229A8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F4C4B05-DEEC-3365-41D5-1E6A17FD8C60}"/>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Ecological Concepts</a:t>
            </a:r>
          </a:p>
        </p:txBody>
      </p:sp>
      <p:sp>
        <p:nvSpPr>
          <p:cNvPr id="9" name="sketch line">
            <a:extLst>
              <a:ext uri="{FF2B5EF4-FFF2-40B4-BE49-F238E27FC236}">
                <a16:creationId xmlns:a16="http://schemas.microsoft.com/office/drawing/2014/main" id="{DA542B6D-E775-4832-91DC-2D20F8578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370912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919BC2A-0F82-3E36-21FB-02F546E066D9}"/>
              </a:ext>
            </a:extLst>
          </p:cNvPr>
          <p:cNvSpPr>
            <a:spLocks noGrp="1"/>
          </p:cNvSpPr>
          <p:nvPr>
            <p:ph type="title"/>
          </p:nvPr>
        </p:nvSpPr>
        <p:spPr>
          <a:xfrm>
            <a:off x="838200" y="365125"/>
            <a:ext cx="10515600" cy="1325563"/>
          </a:xfrm>
        </p:spPr>
        <p:txBody>
          <a:bodyPr>
            <a:normAutofit/>
          </a:bodyPr>
          <a:lstStyle/>
          <a:p>
            <a:br>
              <a:rPr lang="en-US" sz="2600" b="1"/>
            </a:br>
            <a:r>
              <a:rPr lang="en-US" sz="2600" b="1"/>
              <a:t>What is Ecology?</a:t>
            </a:r>
            <a:br>
              <a:rPr lang="en-US" sz="2600" b="1"/>
            </a:br>
            <a:endParaRPr lang="en-US" sz="260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A8FFB68-A58A-2CC5-2CAF-04D6E0C81B59}"/>
              </a:ext>
            </a:extLst>
          </p:cNvPr>
          <p:cNvSpPr>
            <a:spLocks noGrp="1"/>
          </p:cNvSpPr>
          <p:nvPr>
            <p:ph idx="1"/>
          </p:nvPr>
        </p:nvSpPr>
        <p:spPr>
          <a:xfrm>
            <a:off x="838200" y="1929384"/>
            <a:ext cx="10515600" cy="4251960"/>
          </a:xfrm>
        </p:spPr>
        <p:txBody>
          <a:bodyPr>
            <a:normAutofit/>
          </a:bodyPr>
          <a:lstStyle/>
          <a:p>
            <a:pPr fontAlgn="t"/>
            <a:r>
              <a:rPr lang="en-US" sz="2200" dirty="0"/>
              <a:t>Ecology is the </a:t>
            </a:r>
            <a:r>
              <a:rPr lang="en-US" sz="2200" b="1" dirty="0"/>
              <a:t>study of interactions</a:t>
            </a:r>
            <a:r>
              <a:rPr lang="en-US" sz="2200" dirty="0"/>
              <a:t> between </a:t>
            </a:r>
            <a:r>
              <a:rPr lang="en-US" sz="2200" dirty="0">
                <a:solidFill>
                  <a:srgbClr val="FF0000"/>
                </a:solidFill>
              </a:rPr>
              <a:t>organisms</a:t>
            </a:r>
            <a:r>
              <a:rPr lang="en-US" sz="2200" dirty="0"/>
              <a:t> and </a:t>
            </a:r>
            <a:r>
              <a:rPr lang="en-US" sz="2200" dirty="0">
                <a:solidFill>
                  <a:srgbClr val="FF0000"/>
                </a:solidFill>
              </a:rPr>
              <a:t>their environment</a:t>
            </a:r>
            <a:r>
              <a:rPr lang="en-US" sz="2200" dirty="0"/>
              <a:t>.</a:t>
            </a:r>
          </a:p>
          <a:p>
            <a:endParaRPr lang="en-US" sz="2200" dirty="0"/>
          </a:p>
        </p:txBody>
      </p:sp>
    </p:spTree>
    <p:extLst>
      <p:ext uri="{BB962C8B-B14F-4D97-AF65-F5344CB8AC3E}">
        <p14:creationId xmlns:p14="http://schemas.microsoft.com/office/powerpoint/2010/main" val="29754318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E18BFAB-2A30-674E-7D00-5FE535506B58}"/>
              </a:ext>
            </a:extLst>
          </p:cNvPr>
          <p:cNvSpPr>
            <a:spLocks noGrp="1"/>
          </p:cNvSpPr>
          <p:nvPr>
            <p:ph type="title"/>
          </p:nvPr>
        </p:nvSpPr>
        <p:spPr>
          <a:xfrm>
            <a:off x="838200" y="365125"/>
            <a:ext cx="10515600" cy="1325563"/>
          </a:xfrm>
        </p:spPr>
        <p:txBody>
          <a:bodyPr>
            <a:normAutofit/>
          </a:bodyPr>
          <a:lstStyle/>
          <a:p>
            <a:br>
              <a:rPr lang="en-US" sz="2600" dirty="0"/>
            </a:br>
            <a:r>
              <a:rPr lang="en-US" sz="2600" dirty="0"/>
              <a:t>Levels of Organization in Ecology</a:t>
            </a:r>
            <a:br>
              <a:rPr lang="en-US" sz="2600" dirty="0"/>
            </a:br>
            <a:endParaRPr lang="en-US" sz="2600" dirty="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E67A4CE-F0B3-94E4-068A-1D4DF3C81A44}"/>
              </a:ext>
            </a:extLst>
          </p:cNvPr>
          <p:cNvSpPr>
            <a:spLocks noGrp="1"/>
          </p:cNvSpPr>
          <p:nvPr>
            <p:ph idx="1"/>
          </p:nvPr>
        </p:nvSpPr>
        <p:spPr>
          <a:xfrm>
            <a:off x="838200" y="1929384"/>
            <a:ext cx="10515600" cy="4251960"/>
          </a:xfrm>
        </p:spPr>
        <p:txBody>
          <a:bodyPr>
            <a:normAutofit/>
          </a:bodyPr>
          <a:lstStyle/>
          <a:p>
            <a:pPr marL="0" indent="0" fontAlgn="t">
              <a:buNone/>
            </a:pPr>
            <a:r>
              <a:rPr lang="en-US" sz="2200" dirty="0"/>
              <a:t>From smallest to largest:</a:t>
            </a:r>
          </a:p>
          <a:p>
            <a:pPr fontAlgn="t"/>
            <a:r>
              <a:rPr lang="en-US" sz="2200" b="1" dirty="0"/>
              <a:t>Organism</a:t>
            </a:r>
            <a:r>
              <a:rPr lang="en-US" sz="2200" dirty="0"/>
              <a:t> – a </a:t>
            </a:r>
            <a:r>
              <a:rPr lang="en-US" sz="2200" b="1" dirty="0"/>
              <a:t>single</a:t>
            </a:r>
            <a:r>
              <a:rPr lang="en-US" sz="2200" dirty="0"/>
              <a:t> living individual.</a:t>
            </a:r>
          </a:p>
          <a:p>
            <a:pPr fontAlgn="t"/>
            <a:r>
              <a:rPr lang="en-US" sz="2200" b="1" dirty="0"/>
              <a:t>Population</a:t>
            </a:r>
            <a:r>
              <a:rPr lang="en-US" sz="2200" dirty="0"/>
              <a:t> – a group of the </a:t>
            </a:r>
            <a:r>
              <a:rPr lang="en-US" sz="2200" b="1" dirty="0"/>
              <a:t>same</a:t>
            </a:r>
            <a:r>
              <a:rPr lang="en-US" sz="2200" dirty="0"/>
              <a:t> species living in one area.</a:t>
            </a:r>
          </a:p>
          <a:p>
            <a:pPr fontAlgn="t"/>
            <a:r>
              <a:rPr lang="en-US" sz="2200" b="1" dirty="0"/>
              <a:t>Community</a:t>
            </a:r>
            <a:r>
              <a:rPr lang="en-US" sz="2200" dirty="0"/>
              <a:t> – </a:t>
            </a:r>
            <a:r>
              <a:rPr lang="en-US" sz="2200" b="1" dirty="0"/>
              <a:t>different</a:t>
            </a:r>
            <a:r>
              <a:rPr lang="en-US" sz="2200" dirty="0"/>
              <a:t> species living together</a:t>
            </a:r>
          </a:p>
          <a:p>
            <a:pPr fontAlgn="t"/>
            <a:r>
              <a:rPr lang="en-US" sz="2200" b="1" dirty="0"/>
              <a:t>Ecosystem</a:t>
            </a:r>
            <a:r>
              <a:rPr lang="en-US" sz="2200" dirty="0"/>
              <a:t> – living (biotic) + non-living (abiotic) components</a:t>
            </a:r>
          </a:p>
          <a:p>
            <a:pPr fontAlgn="t"/>
            <a:r>
              <a:rPr lang="en-US" sz="2200" b="1" dirty="0"/>
              <a:t>Biome</a:t>
            </a:r>
            <a:r>
              <a:rPr lang="en-US" sz="2200" dirty="0"/>
              <a:t> – large area with similar climate (e.g., desert, forest)</a:t>
            </a:r>
          </a:p>
          <a:p>
            <a:pPr fontAlgn="t"/>
            <a:r>
              <a:rPr lang="en-US" sz="2200" b="1" dirty="0"/>
              <a:t>Biosphere</a:t>
            </a:r>
            <a:r>
              <a:rPr lang="en-US" sz="2200" dirty="0"/>
              <a:t> – all ecosystems on Earth</a:t>
            </a:r>
          </a:p>
          <a:p>
            <a:endParaRPr lang="en-US" sz="2200" dirty="0"/>
          </a:p>
        </p:txBody>
      </p:sp>
    </p:spTree>
    <p:extLst>
      <p:ext uri="{BB962C8B-B14F-4D97-AF65-F5344CB8AC3E}">
        <p14:creationId xmlns:p14="http://schemas.microsoft.com/office/powerpoint/2010/main" val="11971734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E9B2383-F9EF-330F-152E-F336C8B8C771}"/>
              </a:ext>
            </a:extLst>
          </p:cNvPr>
          <p:cNvSpPr>
            <a:spLocks noGrp="1"/>
          </p:cNvSpPr>
          <p:nvPr>
            <p:ph type="title"/>
          </p:nvPr>
        </p:nvSpPr>
        <p:spPr>
          <a:xfrm>
            <a:off x="838200" y="365125"/>
            <a:ext cx="10515600" cy="1325563"/>
          </a:xfrm>
        </p:spPr>
        <p:txBody>
          <a:bodyPr>
            <a:normAutofit/>
          </a:bodyPr>
          <a:lstStyle/>
          <a:p>
            <a:br>
              <a:rPr lang="en-US" sz="2600"/>
            </a:br>
            <a:r>
              <a:rPr lang="en-US" sz="2600"/>
              <a:t>Biotic and Abiotic Factors</a:t>
            </a:r>
            <a:br>
              <a:rPr lang="en-US" sz="2600"/>
            </a:br>
            <a:endParaRPr lang="en-US" sz="260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57B1CA0-2683-6FC2-A173-777B51332C42}"/>
              </a:ext>
            </a:extLst>
          </p:cNvPr>
          <p:cNvSpPr>
            <a:spLocks noGrp="1"/>
          </p:cNvSpPr>
          <p:nvPr>
            <p:ph idx="1"/>
          </p:nvPr>
        </p:nvSpPr>
        <p:spPr>
          <a:xfrm>
            <a:off x="838200" y="1929384"/>
            <a:ext cx="10515600" cy="4251960"/>
          </a:xfrm>
        </p:spPr>
        <p:txBody>
          <a:bodyPr>
            <a:normAutofit fontScale="92500" lnSpcReduction="20000"/>
          </a:bodyPr>
          <a:lstStyle/>
          <a:p>
            <a:r>
              <a:rPr lang="en-US" sz="2200" b="1" dirty="0"/>
              <a:t>Biotic factors</a:t>
            </a:r>
            <a:r>
              <a:rPr lang="en-US" sz="2200" dirty="0"/>
              <a:t> – living components (plants, animals, bacteria) </a:t>
            </a:r>
          </a:p>
          <a:p>
            <a:r>
              <a:rPr lang="en-US" sz="2200" b="1" dirty="0"/>
              <a:t>Abiotic factors</a:t>
            </a:r>
            <a:r>
              <a:rPr lang="en-US" sz="2200" dirty="0"/>
              <a:t> – non-living components (sunlight, water, temperature, soil)</a:t>
            </a:r>
          </a:p>
          <a:p>
            <a:endParaRPr lang="en-US" sz="900" dirty="0"/>
          </a:p>
          <a:p>
            <a:endParaRPr lang="en-US" sz="200" dirty="0"/>
          </a:p>
          <a:p>
            <a:pPr fontAlgn="t"/>
            <a:r>
              <a:rPr lang="en-US" sz="2400" dirty="0"/>
              <a:t>Organisms depend on: </a:t>
            </a:r>
          </a:p>
          <a:p>
            <a:pPr lvl="1" fontAlgn="t"/>
            <a:r>
              <a:rPr lang="en-US" dirty="0"/>
              <a:t>Temperature</a:t>
            </a:r>
          </a:p>
          <a:p>
            <a:pPr lvl="1" fontAlgn="t"/>
            <a:r>
              <a:rPr lang="en-US" dirty="0"/>
              <a:t>Water</a:t>
            </a:r>
          </a:p>
          <a:p>
            <a:pPr lvl="1" fontAlgn="t"/>
            <a:r>
              <a:rPr lang="en-US" dirty="0"/>
              <a:t>Light</a:t>
            </a:r>
          </a:p>
          <a:p>
            <a:pPr lvl="1" fontAlgn="t"/>
            <a:r>
              <a:rPr lang="en-US" dirty="0"/>
              <a:t>Soil nutrients</a:t>
            </a:r>
          </a:p>
          <a:p>
            <a:pPr marL="0" indent="0" fontAlgn="t">
              <a:buNone/>
            </a:pPr>
            <a:r>
              <a:rPr lang="en-US" sz="2400" dirty="0"/>
              <a:t>If these change, organisms may:</a:t>
            </a:r>
          </a:p>
          <a:p>
            <a:pPr fontAlgn="t"/>
            <a:r>
              <a:rPr lang="en-US" sz="2400" dirty="0"/>
              <a:t>Adapt</a:t>
            </a:r>
          </a:p>
          <a:p>
            <a:pPr fontAlgn="t"/>
            <a:r>
              <a:rPr lang="en-US" sz="2400" dirty="0"/>
              <a:t>Migrate</a:t>
            </a:r>
          </a:p>
          <a:p>
            <a:pPr fontAlgn="t"/>
            <a:r>
              <a:rPr lang="en-US" sz="2400" dirty="0"/>
              <a:t>Become extinct</a:t>
            </a:r>
          </a:p>
          <a:p>
            <a:endParaRPr lang="en-US" sz="2200" dirty="0"/>
          </a:p>
          <a:p>
            <a:endParaRPr lang="en-US" sz="2200" dirty="0"/>
          </a:p>
        </p:txBody>
      </p:sp>
    </p:spTree>
    <p:extLst>
      <p:ext uri="{BB962C8B-B14F-4D97-AF65-F5344CB8AC3E}">
        <p14:creationId xmlns:p14="http://schemas.microsoft.com/office/powerpoint/2010/main" val="22081066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22D03D4-6450-D2AF-8375-8039833DEFA6}"/>
              </a:ext>
            </a:extLst>
          </p:cNvPr>
          <p:cNvSpPr>
            <a:spLocks noGrp="1"/>
          </p:cNvSpPr>
          <p:nvPr>
            <p:ph type="title"/>
          </p:nvPr>
        </p:nvSpPr>
        <p:spPr>
          <a:xfrm>
            <a:off x="838200" y="365125"/>
            <a:ext cx="10515600" cy="1325563"/>
          </a:xfrm>
        </p:spPr>
        <p:txBody>
          <a:bodyPr>
            <a:normAutofit/>
          </a:bodyPr>
          <a:lstStyle/>
          <a:p>
            <a:br>
              <a:rPr lang="en-US" sz="2600"/>
            </a:br>
            <a:r>
              <a:rPr lang="en-US" sz="2600"/>
              <a:t>Habitat versus Niche</a:t>
            </a:r>
            <a:br>
              <a:rPr lang="en-US" sz="2600"/>
            </a:br>
            <a:endParaRPr lang="en-US" sz="260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CDCFD70-88EB-7648-957E-98A64FC05FC9}"/>
              </a:ext>
            </a:extLst>
          </p:cNvPr>
          <p:cNvSpPr>
            <a:spLocks noGrp="1"/>
          </p:cNvSpPr>
          <p:nvPr>
            <p:ph idx="1"/>
          </p:nvPr>
        </p:nvSpPr>
        <p:spPr>
          <a:xfrm>
            <a:off x="838200" y="1929384"/>
            <a:ext cx="10515600" cy="4251960"/>
          </a:xfrm>
        </p:spPr>
        <p:txBody>
          <a:bodyPr>
            <a:normAutofit/>
          </a:bodyPr>
          <a:lstStyle/>
          <a:p>
            <a:pPr fontAlgn="t"/>
            <a:r>
              <a:rPr lang="en-US" sz="2200" b="1"/>
              <a:t>Habitat</a:t>
            </a:r>
            <a:r>
              <a:rPr lang="en-US" sz="2200"/>
              <a:t> – where an </a:t>
            </a:r>
            <a:r>
              <a:rPr lang="en-US" sz="2200" b="1"/>
              <a:t>organism lives.</a:t>
            </a:r>
          </a:p>
          <a:p>
            <a:pPr fontAlgn="t"/>
            <a:r>
              <a:rPr lang="en-US" sz="2200" b="1"/>
              <a:t>Niche</a:t>
            </a:r>
            <a:r>
              <a:rPr lang="en-US" sz="2200"/>
              <a:t> – the </a:t>
            </a:r>
            <a:r>
              <a:rPr lang="en-US" sz="2200" b="1"/>
              <a:t>role or function </a:t>
            </a:r>
            <a:r>
              <a:rPr lang="en-US" sz="2200"/>
              <a:t>of an organism in its environment.</a:t>
            </a:r>
          </a:p>
          <a:p>
            <a:pPr fontAlgn="t"/>
            <a:endParaRPr lang="en-US" sz="2200"/>
          </a:p>
          <a:p>
            <a:pPr marL="0" indent="0" fontAlgn="t">
              <a:buNone/>
            </a:pPr>
            <a:r>
              <a:rPr lang="en-US" sz="2200"/>
              <a:t>Example:</a:t>
            </a:r>
          </a:p>
          <a:p>
            <a:pPr fontAlgn="t"/>
            <a:r>
              <a:rPr lang="en-US" sz="2200"/>
              <a:t>A frog’s habitat = pond</a:t>
            </a:r>
          </a:p>
          <a:p>
            <a:pPr fontAlgn="t"/>
            <a:r>
              <a:rPr lang="en-US" sz="2200"/>
              <a:t>Its niche = predator of insects and prey for snakes</a:t>
            </a:r>
          </a:p>
          <a:p>
            <a:endParaRPr lang="en-US" sz="2200"/>
          </a:p>
        </p:txBody>
      </p:sp>
    </p:spTree>
    <p:extLst>
      <p:ext uri="{BB962C8B-B14F-4D97-AF65-F5344CB8AC3E}">
        <p14:creationId xmlns:p14="http://schemas.microsoft.com/office/powerpoint/2010/main" val="26769225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406A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DC4B3DD6-7608-139E-6A10-C3ED4C1733E9}"/>
              </a:ext>
            </a:extLst>
          </p:cNvPr>
          <p:cNvPicPr>
            <a:picLocks noChangeAspect="1"/>
          </p:cNvPicPr>
          <p:nvPr/>
        </p:nvPicPr>
        <p:blipFill>
          <a:blip r:embed="rId2"/>
          <a:stretch>
            <a:fillRect/>
          </a:stretch>
        </p:blipFill>
        <p:spPr>
          <a:xfrm>
            <a:off x="650533" y="643467"/>
            <a:ext cx="4860754" cy="5571066"/>
          </a:xfrm>
          <a:prstGeom prst="rect">
            <a:avLst/>
          </a:prstGeom>
        </p:spPr>
      </p:pic>
      <p:sp>
        <p:nvSpPr>
          <p:cNvPr id="5" name="TextBox 4">
            <a:extLst>
              <a:ext uri="{FF2B5EF4-FFF2-40B4-BE49-F238E27FC236}">
                <a16:creationId xmlns:a16="http://schemas.microsoft.com/office/drawing/2014/main" id="{23B7909B-28A3-B79E-B87F-5636B439C166}"/>
              </a:ext>
            </a:extLst>
          </p:cNvPr>
          <p:cNvSpPr txBox="1"/>
          <p:nvPr/>
        </p:nvSpPr>
        <p:spPr>
          <a:xfrm>
            <a:off x="5988299" y="2690336"/>
            <a:ext cx="5259804" cy="2031325"/>
          </a:xfrm>
          <a:prstGeom prst="rect">
            <a:avLst/>
          </a:prstGeom>
          <a:noFill/>
        </p:spPr>
        <p:txBody>
          <a:bodyPr wrap="square">
            <a:spAutoFit/>
          </a:bodyPr>
          <a:lstStyle/>
          <a:p>
            <a:r>
              <a:rPr lang="en-US" b="1" i="0" dirty="0">
                <a:solidFill>
                  <a:srgbClr val="000000"/>
                </a:solidFill>
                <a:effectLst/>
                <a:latin typeface="Tahoma" panose="020B0604030504040204" pitchFamily="34" charset="0"/>
              </a:rPr>
              <a:t>Bird Niches. </a:t>
            </a:r>
          </a:p>
          <a:p>
            <a:r>
              <a:rPr lang="en-US" b="0" i="0" dirty="0">
                <a:solidFill>
                  <a:srgbClr val="000000"/>
                </a:solidFill>
                <a:effectLst/>
                <a:latin typeface="Tahoma" panose="020B0604030504040204" pitchFamily="34" charset="0"/>
              </a:rPr>
              <a:t>Each of these species of birds has a beak that suits it for its niche. </a:t>
            </a:r>
          </a:p>
          <a:p>
            <a:pPr marL="285750" indent="-285750">
              <a:buFont typeface="Wingdings" panose="05000000000000000000" pitchFamily="2" charset="2"/>
              <a:buChar char="§"/>
            </a:pPr>
            <a:r>
              <a:rPr lang="en-US" b="0" i="0" dirty="0">
                <a:solidFill>
                  <a:srgbClr val="000000"/>
                </a:solidFill>
                <a:effectLst/>
                <a:latin typeface="Tahoma" panose="020B0604030504040204" pitchFamily="34" charset="0"/>
              </a:rPr>
              <a:t>The long, slender beak of the nectarivore allows it to sip liquid nectar from flowers. </a:t>
            </a:r>
          </a:p>
          <a:p>
            <a:pPr marL="285750" indent="-285750">
              <a:buFont typeface="Wingdings" panose="05000000000000000000" pitchFamily="2" charset="2"/>
              <a:buChar char="§"/>
            </a:pPr>
            <a:r>
              <a:rPr lang="en-US" b="0" i="0" dirty="0">
                <a:solidFill>
                  <a:srgbClr val="000000"/>
                </a:solidFill>
                <a:effectLst/>
                <a:latin typeface="Tahoma" panose="020B0604030504040204" pitchFamily="34" charset="0"/>
              </a:rPr>
              <a:t>The short, sturdy beak of the granivore allows it to crush hard, tough grains.</a:t>
            </a:r>
            <a:endParaRPr lang="en-US" dirty="0"/>
          </a:p>
        </p:txBody>
      </p:sp>
    </p:spTree>
    <p:extLst>
      <p:ext uri="{BB962C8B-B14F-4D97-AF65-F5344CB8AC3E}">
        <p14:creationId xmlns:p14="http://schemas.microsoft.com/office/powerpoint/2010/main" val="10994957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7C2D32-B680-33E4-0835-DA7DCA6ED28A}"/>
              </a:ext>
            </a:extLst>
          </p:cNvPr>
          <p:cNvSpPr>
            <a:spLocks noGrp="1"/>
          </p:cNvSpPr>
          <p:nvPr>
            <p:ph type="title"/>
          </p:nvPr>
        </p:nvSpPr>
        <p:spPr/>
        <p:txBody>
          <a:bodyPr/>
          <a:lstStyle/>
          <a:p>
            <a:r>
              <a:rPr lang="en-US" dirty="0"/>
              <a:t>Next Meeting</a:t>
            </a:r>
          </a:p>
        </p:txBody>
      </p:sp>
    </p:spTree>
    <p:extLst>
      <p:ext uri="{BB962C8B-B14F-4D97-AF65-F5344CB8AC3E}">
        <p14:creationId xmlns:p14="http://schemas.microsoft.com/office/powerpoint/2010/main" val="21144854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DCC231C8-C761-4B31-9B1C-C6D19248C6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DAEB08A-2118-A7E6-861D-87FAAD3A6FA4}"/>
              </a:ext>
            </a:extLst>
          </p:cNvPr>
          <p:cNvSpPr>
            <a:spLocks noGrp="1"/>
          </p:cNvSpPr>
          <p:nvPr>
            <p:ph type="title"/>
          </p:nvPr>
        </p:nvSpPr>
        <p:spPr>
          <a:xfrm>
            <a:off x="838200" y="557189"/>
            <a:ext cx="3374136" cy="5567891"/>
          </a:xfrm>
        </p:spPr>
        <p:txBody>
          <a:bodyPr>
            <a:normAutofit/>
          </a:bodyPr>
          <a:lstStyle/>
          <a:p>
            <a:r>
              <a:rPr lang="en-US" sz="5200"/>
              <a:t>Advance Study Task</a:t>
            </a:r>
          </a:p>
        </p:txBody>
      </p:sp>
      <p:graphicFrame>
        <p:nvGraphicFramePr>
          <p:cNvPr id="5" name="Content Placeholder 2">
            <a:extLst>
              <a:ext uri="{FF2B5EF4-FFF2-40B4-BE49-F238E27FC236}">
                <a16:creationId xmlns:a16="http://schemas.microsoft.com/office/drawing/2014/main" id="{3D668759-EC86-1479-9419-4633F45D0FA0}"/>
              </a:ext>
            </a:extLst>
          </p:cNvPr>
          <p:cNvGraphicFramePr>
            <a:graphicFrameLocks noGrp="1"/>
          </p:cNvGraphicFramePr>
          <p:nvPr>
            <p:ph idx="1"/>
            <p:extLst>
              <p:ext uri="{D42A27DB-BD31-4B8C-83A1-F6EECF244321}">
                <p14:modId xmlns:p14="http://schemas.microsoft.com/office/powerpoint/2010/main" val="1926065516"/>
              </p:ext>
            </p:extLst>
          </p:nvPr>
        </p:nvGraphicFramePr>
        <p:xfrm>
          <a:off x="5093208" y="620392"/>
          <a:ext cx="6263640" cy="55046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826240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1739CA5-F0F5-48E1-8E8C-F24B71827E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3">
            <a:extLst>
              <a:ext uri="{FF2B5EF4-FFF2-40B4-BE49-F238E27FC236}">
                <a16:creationId xmlns:a16="http://schemas.microsoft.com/office/drawing/2014/main" id="{3EAD2937-F230-41D4-B9C5-975B129BFC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6745" y="640080"/>
            <a:ext cx="10920415" cy="5577818"/>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CD444A3-C338-4886-B7F1-4BA2AF46EB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8024" y="960109"/>
            <a:ext cx="10277856" cy="49377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59093D2-48D6-2E5B-072B-A48110D368FA}"/>
              </a:ext>
            </a:extLst>
          </p:cNvPr>
          <p:cNvSpPr>
            <a:spLocks noGrp="1"/>
          </p:cNvSpPr>
          <p:nvPr>
            <p:ph type="title"/>
          </p:nvPr>
        </p:nvSpPr>
        <p:spPr>
          <a:xfrm>
            <a:off x="1452656" y="1444741"/>
            <a:ext cx="9357865" cy="1041901"/>
          </a:xfrm>
        </p:spPr>
        <p:txBody>
          <a:bodyPr vert="horz" lIns="91440" tIns="45720" rIns="91440" bIns="45720" rtlCol="0" anchor="ctr">
            <a:normAutofit/>
          </a:bodyPr>
          <a:lstStyle/>
          <a:p>
            <a:r>
              <a:rPr lang="en-US" sz="4000" kern="1200" dirty="0">
                <a:solidFill>
                  <a:schemeClr val="tx1"/>
                </a:solidFill>
                <a:latin typeface="+mj-lt"/>
                <a:ea typeface="+mj-ea"/>
                <a:cs typeface="+mj-cs"/>
              </a:rPr>
              <a:t>Organisms</a:t>
            </a:r>
          </a:p>
        </p:txBody>
      </p:sp>
      <p:sp>
        <p:nvSpPr>
          <p:cNvPr id="3" name="Content Placeholder 2">
            <a:extLst>
              <a:ext uri="{FF2B5EF4-FFF2-40B4-BE49-F238E27FC236}">
                <a16:creationId xmlns:a16="http://schemas.microsoft.com/office/drawing/2014/main" id="{C1C55FAA-41F5-4669-7506-C4D8138D3568}"/>
              </a:ext>
            </a:extLst>
          </p:cNvPr>
          <p:cNvSpPr>
            <a:spLocks noGrp="1"/>
          </p:cNvSpPr>
          <p:nvPr>
            <p:ph idx="1"/>
          </p:nvPr>
        </p:nvSpPr>
        <p:spPr>
          <a:xfrm>
            <a:off x="1452656" y="2701427"/>
            <a:ext cx="4483324" cy="2699968"/>
          </a:xfrm>
        </p:spPr>
        <p:txBody>
          <a:bodyPr vert="horz" lIns="91440" tIns="45720" rIns="91440" bIns="45720" rtlCol="0">
            <a:normAutofit fontScale="92500" lnSpcReduction="20000"/>
          </a:bodyPr>
          <a:lstStyle/>
          <a:p>
            <a:r>
              <a:rPr lang="en-US" sz="2600" dirty="0"/>
              <a:t>Wheat </a:t>
            </a:r>
          </a:p>
          <a:p>
            <a:r>
              <a:rPr lang="en-US" sz="2600" dirty="0"/>
              <a:t>Deer </a:t>
            </a:r>
          </a:p>
          <a:p>
            <a:r>
              <a:rPr lang="en-US" sz="2600" dirty="0"/>
              <a:t>Fly maggot </a:t>
            </a:r>
          </a:p>
          <a:p>
            <a:r>
              <a:rPr lang="en-US" sz="2600" dirty="0"/>
              <a:t>Pine tree </a:t>
            </a:r>
          </a:p>
          <a:p>
            <a:r>
              <a:rPr lang="en-US" sz="2600" dirty="0"/>
              <a:t>Algae </a:t>
            </a:r>
          </a:p>
          <a:p>
            <a:r>
              <a:rPr lang="en-US" sz="2600" dirty="0"/>
              <a:t>Bear </a:t>
            </a:r>
          </a:p>
          <a:p>
            <a:r>
              <a:rPr lang="en-US" sz="2600" dirty="0"/>
              <a:t>Hawk </a:t>
            </a:r>
          </a:p>
          <a:p>
            <a:endParaRPr lang="en-US" sz="1900" dirty="0"/>
          </a:p>
        </p:txBody>
      </p:sp>
      <p:sp>
        <p:nvSpPr>
          <p:cNvPr id="4" name="Content Placeholder 2">
            <a:extLst>
              <a:ext uri="{FF2B5EF4-FFF2-40B4-BE49-F238E27FC236}">
                <a16:creationId xmlns:a16="http://schemas.microsoft.com/office/drawing/2014/main" id="{0ABD45BA-3E37-1D45-3791-2CF96D49C8C2}"/>
              </a:ext>
            </a:extLst>
          </p:cNvPr>
          <p:cNvSpPr txBox="1">
            <a:spLocks/>
          </p:cNvSpPr>
          <p:nvPr/>
        </p:nvSpPr>
        <p:spPr>
          <a:xfrm>
            <a:off x="6256020" y="2701427"/>
            <a:ext cx="4554501" cy="2699968"/>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t>Rabbit </a:t>
            </a:r>
          </a:p>
          <a:p>
            <a:r>
              <a:rPr lang="en-US" sz="2400" dirty="0"/>
              <a:t>Millipede </a:t>
            </a:r>
          </a:p>
          <a:p>
            <a:r>
              <a:rPr lang="en-US" sz="2400" dirty="0"/>
              <a:t>Bacteria </a:t>
            </a:r>
          </a:p>
          <a:p>
            <a:r>
              <a:rPr lang="en-US" sz="2400" dirty="0"/>
              <a:t>Sparrow </a:t>
            </a:r>
          </a:p>
          <a:p>
            <a:r>
              <a:rPr lang="en-US" sz="2400" dirty="0"/>
              <a:t>Mouse </a:t>
            </a:r>
          </a:p>
          <a:p>
            <a:r>
              <a:rPr lang="en-US" sz="2400" dirty="0"/>
              <a:t>Frog </a:t>
            </a:r>
          </a:p>
          <a:p>
            <a:r>
              <a:rPr lang="en-US" sz="2400" dirty="0"/>
              <a:t>Snake</a:t>
            </a:r>
          </a:p>
          <a:p>
            <a:endParaRPr lang="en-US" sz="1900" dirty="0"/>
          </a:p>
        </p:txBody>
      </p:sp>
    </p:spTree>
    <p:extLst>
      <p:ext uri="{BB962C8B-B14F-4D97-AF65-F5344CB8AC3E}">
        <p14:creationId xmlns:p14="http://schemas.microsoft.com/office/powerpoint/2010/main" val="37849602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986836A-9DC5-C0CD-0403-00E36BA5CE25}"/>
              </a:ext>
            </a:extLst>
          </p:cNvPr>
          <p:cNvSpPr>
            <a:spLocks noGrp="1"/>
          </p:cNvSpPr>
          <p:nvPr>
            <p:ph type="title"/>
          </p:nvPr>
        </p:nvSpPr>
        <p:spPr>
          <a:xfrm>
            <a:off x="838200" y="1412488"/>
            <a:ext cx="2899189" cy="4363844"/>
          </a:xfrm>
        </p:spPr>
        <p:txBody>
          <a:bodyPr vert="horz" lIns="91440" tIns="45720" rIns="91440" bIns="45720" rtlCol="0" anchor="t">
            <a:normAutofit/>
          </a:bodyPr>
          <a:lstStyle/>
          <a:p>
            <a:r>
              <a:rPr lang="en-US" sz="4000" kern="1200">
                <a:solidFill>
                  <a:srgbClr val="FFFFFF"/>
                </a:solidFill>
                <a:latin typeface="+mj-lt"/>
                <a:ea typeface="+mj-ea"/>
                <a:cs typeface="+mj-cs"/>
              </a:rPr>
              <a:t>Organisms</a:t>
            </a:r>
          </a:p>
        </p:txBody>
      </p:sp>
      <p:sp>
        <p:nvSpPr>
          <p:cNvPr id="3" name="Content Placeholder 2">
            <a:extLst>
              <a:ext uri="{FF2B5EF4-FFF2-40B4-BE49-F238E27FC236}">
                <a16:creationId xmlns:a16="http://schemas.microsoft.com/office/drawing/2014/main" id="{A740DB65-7ACA-817C-4393-E7292AA88739}"/>
              </a:ext>
            </a:extLst>
          </p:cNvPr>
          <p:cNvSpPr>
            <a:spLocks noGrp="1"/>
          </p:cNvSpPr>
          <p:nvPr>
            <p:ph idx="1"/>
          </p:nvPr>
        </p:nvSpPr>
        <p:spPr>
          <a:xfrm>
            <a:off x="4380855" y="1412489"/>
            <a:ext cx="3427283" cy="4363844"/>
          </a:xfrm>
        </p:spPr>
        <p:txBody>
          <a:bodyPr vert="horz" lIns="91440" tIns="45720" rIns="91440" bIns="45720" rtlCol="0">
            <a:normAutofit/>
          </a:bodyPr>
          <a:lstStyle/>
          <a:p>
            <a:pPr fontAlgn="t"/>
            <a:r>
              <a:rPr lang="en-US" sz="2000"/>
              <a:t>Bacteria &amp; Human intestines</a:t>
            </a:r>
          </a:p>
          <a:p>
            <a:pPr fontAlgn="t"/>
            <a:r>
              <a:rPr lang="en-US" sz="2000"/>
              <a:t>Spanish moss &amp; Trees</a:t>
            </a:r>
          </a:p>
          <a:p>
            <a:pPr fontAlgn="t"/>
            <a:r>
              <a:rPr lang="en-US" sz="2000"/>
              <a:t>Dogs &amp; Fleas</a:t>
            </a:r>
          </a:p>
          <a:p>
            <a:pPr fontAlgn="t"/>
            <a:r>
              <a:rPr lang="en-US" sz="2000"/>
              <a:t>Squirrels &amp; Trees</a:t>
            </a:r>
          </a:p>
          <a:p>
            <a:pPr fontAlgn="t"/>
            <a:r>
              <a:rPr lang="en-US" sz="2000"/>
              <a:t>Whales &amp; Barnacles</a:t>
            </a:r>
          </a:p>
          <a:p>
            <a:pPr fontAlgn="t"/>
            <a:r>
              <a:rPr lang="en-US" sz="2000"/>
              <a:t>Butterfly &amp; Flower</a:t>
            </a:r>
            <a:endParaRPr lang="en-US" sz="2000" b="1"/>
          </a:p>
          <a:p>
            <a:pPr fontAlgn="t"/>
            <a:r>
              <a:rPr lang="en-US" sz="2000"/>
              <a:t> Figs &amp; Fig wasps</a:t>
            </a:r>
          </a:p>
          <a:p>
            <a:pPr fontAlgn="t"/>
            <a:r>
              <a:rPr lang="en-US" sz="2000"/>
              <a:t>Remora &amp; Sharks</a:t>
            </a:r>
          </a:p>
          <a:p>
            <a:pPr fontAlgn="t"/>
            <a:r>
              <a:rPr lang="en-US" sz="2000"/>
              <a:t>Tawny owl &amp; Mice</a:t>
            </a:r>
          </a:p>
          <a:p>
            <a:pPr fontAlgn="t"/>
            <a:r>
              <a:rPr lang="en-US" sz="2000"/>
              <a:t>Field digger wasp &amp; Fly</a:t>
            </a:r>
          </a:p>
          <a:p>
            <a:pPr fontAlgn="t"/>
            <a:endParaRPr lang="en-US" sz="2000"/>
          </a:p>
          <a:p>
            <a:pPr fontAlgn="t"/>
            <a:endParaRPr lang="en-US" sz="2000"/>
          </a:p>
          <a:p>
            <a:endParaRPr lang="en-US" sz="2000"/>
          </a:p>
        </p:txBody>
      </p:sp>
      <p:cxnSp>
        <p:nvCxnSpPr>
          <p:cNvPr id="20" name="Straight Connector 19">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2">
            <a:extLst>
              <a:ext uri="{FF2B5EF4-FFF2-40B4-BE49-F238E27FC236}">
                <a16:creationId xmlns:a16="http://schemas.microsoft.com/office/drawing/2014/main" id="{B39F7E56-92AB-54FD-5D2A-5CCE74C64871}"/>
              </a:ext>
            </a:extLst>
          </p:cNvPr>
          <p:cNvSpPr txBox="1">
            <a:spLocks/>
          </p:cNvSpPr>
          <p:nvPr/>
        </p:nvSpPr>
        <p:spPr>
          <a:xfrm>
            <a:off x="8451604" y="1412489"/>
            <a:ext cx="3197701" cy="436384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t"/>
            <a:r>
              <a:rPr lang="en-US" sz="1900" dirty="0"/>
              <a:t>Clown fish &amp; Sea anemone</a:t>
            </a:r>
          </a:p>
          <a:p>
            <a:pPr fontAlgn="t"/>
            <a:r>
              <a:rPr lang="en-US" sz="1900" dirty="0"/>
              <a:t>Venus fly trap &amp; Insects </a:t>
            </a:r>
          </a:p>
          <a:p>
            <a:pPr fontAlgn="t"/>
            <a:r>
              <a:rPr lang="en-US" sz="1900" dirty="0"/>
              <a:t>Rafflesia plant &amp; Vine </a:t>
            </a:r>
          </a:p>
          <a:p>
            <a:pPr fontAlgn="t"/>
            <a:r>
              <a:rPr lang="en-US" sz="1900" dirty="0"/>
              <a:t>Ants &amp; Acacia trees </a:t>
            </a:r>
          </a:p>
          <a:p>
            <a:pPr fontAlgn="t"/>
            <a:r>
              <a:rPr lang="en-US" sz="1900" dirty="0"/>
              <a:t>Tapeworm &amp; Mammal</a:t>
            </a:r>
            <a:endParaRPr lang="en-US" sz="1900" b="1" dirty="0"/>
          </a:p>
          <a:p>
            <a:pPr fontAlgn="t"/>
            <a:r>
              <a:rPr lang="en-US" sz="1900" dirty="0"/>
              <a:t>Trees &amp; Orchids</a:t>
            </a:r>
          </a:p>
          <a:p>
            <a:pPr fontAlgn="t"/>
            <a:r>
              <a:rPr lang="en-US" sz="1900" dirty="0"/>
              <a:t>Human head &amp; Lice</a:t>
            </a:r>
          </a:p>
          <a:p>
            <a:pPr fontAlgn="t"/>
            <a:r>
              <a:rPr lang="en-US" sz="1900" dirty="0"/>
              <a:t>Trees &amp; Mistletoe</a:t>
            </a:r>
          </a:p>
          <a:p>
            <a:pPr fontAlgn="t"/>
            <a:r>
              <a:rPr lang="en-US" sz="1900" dirty="0"/>
              <a:t>Yucca moth &amp; Yucca plant</a:t>
            </a:r>
            <a:endParaRPr lang="en-US" sz="1900" b="1" dirty="0"/>
          </a:p>
          <a:p>
            <a:pPr fontAlgn="t"/>
            <a:r>
              <a:rPr lang="en-US" sz="1900" dirty="0"/>
              <a:t> Eagle &amp; Rabbit</a:t>
            </a:r>
          </a:p>
          <a:p>
            <a:pPr fontAlgn="t"/>
            <a:endParaRPr lang="en-US" sz="1900" dirty="0"/>
          </a:p>
          <a:p>
            <a:endParaRPr lang="en-US" sz="1900" dirty="0"/>
          </a:p>
        </p:txBody>
      </p:sp>
    </p:spTree>
    <p:extLst>
      <p:ext uri="{BB962C8B-B14F-4D97-AF65-F5344CB8AC3E}">
        <p14:creationId xmlns:p14="http://schemas.microsoft.com/office/powerpoint/2010/main" val="27272392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753339E-CA8C-42C1-B74A-4E279A202E13}">
  <we:reference id="4b785c87-866c-4bad-85d8-5d1ae467ac9a" version="3.23.0.0" store="EXCatalog" storeType="EXCatalog"/>
  <we:alternateReferences>
    <we:reference id="WA104381909" version="3.23.0.0" store="en-US"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883</TotalTime>
  <Words>1418</Words>
  <Application>Microsoft Office PowerPoint</Application>
  <PresentationFormat>Widescreen</PresentationFormat>
  <Paragraphs>196</Paragraphs>
  <Slides>31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31</vt:i4>
      </vt:variant>
    </vt:vector>
  </HeadingPairs>
  <TitlesOfParts>
    <vt:vector size="38" baseType="lpstr">
      <vt:lpstr>Aptos</vt:lpstr>
      <vt:lpstr>Aptos Display</vt:lpstr>
      <vt:lpstr>Arial</vt:lpstr>
      <vt:lpstr>Calibri</vt:lpstr>
      <vt:lpstr>Tahoma</vt:lpstr>
      <vt:lpstr>Wingdings</vt:lpstr>
      <vt:lpstr>Office Theme</vt:lpstr>
      <vt:lpstr>Understanding the Nature of Environmental Science</vt:lpstr>
      <vt:lpstr>Understanding the Nature of Environmental Science</vt:lpstr>
      <vt:lpstr>Learning Objectives</vt:lpstr>
      <vt:lpstr> Environmental Science </vt:lpstr>
      <vt:lpstr>Environmental Principles</vt:lpstr>
      <vt:lpstr> Environmental Principles </vt:lpstr>
      <vt:lpstr>Environmental Principles</vt:lpstr>
      <vt:lpstr>Environmental Principles</vt:lpstr>
      <vt:lpstr>Environmental Principles</vt:lpstr>
      <vt:lpstr> How does throwing plastic affect the environment? </vt:lpstr>
      <vt:lpstr>Environmental Ethics</vt:lpstr>
      <vt:lpstr> Environmental Ethics </vt:lpstr>
      <vt:lpstr> Three Primary Worldviews </vt:lpstr>
      <vt:lpstr> 1. Anthropocentrism (Human-Centered) </vt:lpstr>
      <vt:lpstr> 2. Biocentrism (Life-Centered) </vt:lpstr>
      <vt:lpstr> 3. Ecocentrism (Nature-Centered) </vt:lpstr>
      <vt:lpstr> Core Ethical Principles </vt:lpstr>
      <vt:lpstr> Preservation versus Conservation </vt:lpstr>
      <vt:lpstr> Questions for Reflection </vt:lpstr>
      <vt:lpstr> Case Study </vt:lpstr>
      <vt:lpstr> Importance of Environmental Science </vt:lpstr>
      <vt:lpstr>Ecological Concepts</vt:lpstr>
      <vt:lpstr> What is Ecology? </vt:lpstr>
      <vt:lpstr> Levels of Organization in Ecology </vt:lpstr>
      <vt:lpstr> Biotic and Abiotic Factors </vt:lpstr>
      <vt:lpstr> Habitat versus Niche </vt:lpstr>
      <vt:lpstr>PowerPoint Presentation</vt:lpstr>
      <vt:lpstr>Next Meeting</vt:lpstr>
      <vt:lpstr>Advance Study Task</vt:lpstr>
      <vt:lpstr>Organisms</vt:lpstr>
      <vt:lpstr>Organisms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Darvin Evidor</dc:creator>
  <cp:lastModifiedBy>Darvin Evidor</cp:lastModifiedBy>
  <cp:revision>14</cp:revision>
  <dcterms:created xsi:type="dcterms:W3CDTF">2026-06-27T11:29:21Z</dcterms:created>
  <dcterms:modified xsi:type="dcterms:W3CDTF">2026-07-06T03:13:12Z</dcterms:modified>
</cp:coreProperties>
</file>