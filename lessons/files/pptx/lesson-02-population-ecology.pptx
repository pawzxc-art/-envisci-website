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257" r:id="rId3"/>
    <p:sldId id="258" r:id="rId4"/>
    <p:sldId id="259" r:id="rId5"/>
    <p:sldId id="326" r:id="rId6"/>
    <p:sldId id="260" r:id="rId7"/>
    <p:sldId id="317" r:id="rId8"/>
    <p:sldId id="325" r:id="rId9"/>
    <p:sldId id="321" r:id="rId10"/>
    <p:sldId id="319" r:id="rId11"/>
    <p:sldId id="261" r:id="rId12"/>
    <p:sldId id="324" r:id="rId13"/>
    <p:sldId id="323" r:id="rId14"/>
    <p:sldId id="318" r:id="rId15"/>
    <p:sldId id="262" r:id="rId16"/>
    <p:sldId id="263" r:id="rId17"/>
    <p:sldId id="264" r:id="rId18"/>
    <p:sldId id="265" r:id="rId19"/>
    <p:sldId id="271" r:id="rId20"/>
    <p:sldId id="272" r:id="rId21"/>
    <p:sldId id="273" r:id="rId22"/>
    <p:sldId id="274" r:id="rId23"/>
    <p:sldId id="275" r:id="rId24"/>
    <p:sldId id="266" r:id="rId25"/>
    <p:sldId id="328" r:id="rId26"/>
    <p:sldId id="267" r:id="rId27"/>
    <p:sldId id="329" r:id="rId28"/>
    <p:sldId id="278" r:id="rId29"/>
    <p:sldId id="279" r:id="rId30"/>
    <p:sldId id="331" r:id="rId31"/>
    <p:sldId id="280" r:id="rId32"/>
    <p:sldId id="281" r:id="rId33"/>
    <p:sldId id="282" r:id="rId34"/>
    <p:sldId id="286" r:id="rId35"/>
    <p:sldId id="283" r:id="rId36"/>
    <p:sldId id="284" r:id="rId37"/>
    <p:sldId id="269" r:id="rId38"/>
    <p:sldId id="298" r:id="rId39"/>
    <p:sldId id="299" r:id="rId40"/>
    <p:sldId id="288" r:id="rId41"/>
    <p:sldId id="289" r:id="rId42"/>
    <p:sldId id="333" r:id="rId43"/>
    <p:sldId id="291" r:id="rId44"/>
    <p:sldId id="292" r:id="rId45"/>
    <p:sldId id="301" r:id="rId46"/>
    <p:sldId id="293" r:id="rId47"/>
    <p:sldId id="305" r:id="rId48"/>
    <p:sldId id="294" r:id="rId49"/>
    <p:sldId id="303" r:id="rId50"/>
    <p:sldId id="295" r:id="rId51"/>
    <p:sldId id="296" r:id="rId52"/>
    <p:sldId id="297" r:id="rId53"/>
    <p:sldId id="306" r:id="rId54"/>
    <p:sldId id="307" r:id="rId55"/>
    <p:sldId id="308" r:id="rId56"/>
    <p:sldId id="335" r:id="rId57"/>
    <p:sldId id="309" r:id="rId58"/>
    <p:sldId id="314" r:id="rId59"/>
    <p:sldId id="313" r:id="rId60"/>
    <p:sldId id="300" r:id="rId61"/>
    <p:sldId id="310" r:id="rId62"/>
    <p:sldId id="311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4316A-3FF4-4749-93F9-7F7E8CDC395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F48B4D-B77F-49C0-B433-F5C531BA842F}">
      <dgm:prSet/>
      <dgm:spPr/>
      <dgm:t>
        <a:bodyPr/>
        <a:lstStyle/>
        <a:p>
          <a:r>
            <a:rPr lang="en-US" b="1"/>
            <a:t>Population Size (N)</a:t>
          </a:r>
          <a:endParaRPr lang="en-US"/>
        </a:p>
      </dgm:t>
    </dgm:pt>
    <dgm:pt modelId="{5883AD8E-7AAD-46D1-BD17-620D06B3EBCF}" type="parTrans" cxnId="{3CB4460C-5189-4D31-9D11-A614664B633F}">
      <dgm:prSet/>
      <dgm:spPr/>
      <dgm:t>
        <a:bodyPr/>
        <a:lstStyle/>
        <a:p>
          <a:endParaRPr lang="en-US"/>
        </a:p>
      </dgm:t>
    </dgm:pt>
    <dgm:pt modelId="{BAA11EE4-CABB-4902-A106-CFCD6EE2D901}" type="sibTrans" cxnId="{3CB4460C-5189-4D31-9D11-A614664B633F}">
      <dgm:prSet/>
      <dgm:spPr/>
      <dgm:t>
        <a:bodyPr/>
        <a:lstStyle/>
        <a:p>
          <a:endParaRPr lang="en-US"/>
        </a:p>
      </dgm:t>
    </dgm:pt>
    <dgm:pt modelId="{FD39D0DA-DDC1-4E8B-9DA2-F53F3A452EAA}">
      <dgm:prSet/>
      <dgm:spPr/>
      <dgm:t>
        <a:bodyPr/>
        <a:lstStyle/>
        <a:p>
          <a:r>
            <a:rPr lang="en-US" b="1"/>
            <a:t>Population Density</a:t>
          </a:r>
          <a:r>
            <a:rPr lang="en-US"/>
            <a:t> </a:t>
          </a:r>
        </a:p>
      </dgm:t>
    </dgm:pt>
    <dgm:pt modelId="{33E7497A-64FC-4142-9CD5-8E0334FADDE1}" type="parTrans" cxnId="{E2A3D3BB-C07A-404D-9364-437EA9204BE8}">
      <dgm:prSet/>
      <dgm:spPr/>
      <dgm:t>
        <a:bodyPr/>
        <a:lstStyle/>
        <a:p>
          <a:endParaRPr lang="en-US"/>
        </a:p>
      </dgm:t>
    </dgm:pt>
    <dgm:pt modelId="{D22D44D5-4C44-48EC-B78D-14CCC1ED3F61}" type="sibTrans" cxnId="{E2A3D3BB-C07A-404D-9364-437EA9204BE8}">
      <dgm:prSet/>
      <dgm:spPr/>
      <dgm:t>
        <a:bodyPr/>
        <a:lstStyle/>
        <a:p>
          <a:endParaRPr lang="en-US"/>
        </a:p>
      </dgm:t>
    </dgm:pt>
    <dgm:pt modelId="{5AE740E4-36E3-4111-9ABE-2A67735E05E1}">
      <dgm:prSet/>
      <dgm:spPr/>
      <dgm:t>
        <a:bodyPr/>
        <a:lstStyle/>
        <a:p>
          <a:r>
            <a:rPr lang="en-US" b="1"/>
            <a:t>Population Distribution</a:t>
          </a:r>
          <a:r>
            <a:rPr lang="en-US"/>
            <a:t> </a:t>
          </a:r>
        </a:p>
      </dgm:t>
    </dgm:pt>
    <dgm:pt modelId="{61C716BC-8D29-4406-800A-CCFBA842DE24}" type="parTrans" cxnId="{63A8493F-7CBC-4145-92B7-E7206A751A41}">
      <dgm:prSet/>
      <dgm:spPr/>
      <dgm:t>
        <a:bodyPr/>
        <a:lstStyle/>
        <a:p>
          <a:endParaRPr lang="en-US"/>
        </a:p>
      </dgm:t>
    </dgm:pt>
    <dgm:pt modelId="{7F289016-23EE-4FC9-A64B-6468D0D1FD24}" type="sibTrans" cxnId="{63A8493F-7CBC-4145-92B7-E7206A751A41}">
      <dgm:prSet/>
      <dgm:spPr/>
      <dgm:t>
        <a:bodyPr/>
        <a:lstStyle/>
        <a:p>
          <a:endParaRPr lang="en-US"/>
        </a:p>
      </dgm:t>
    </dgm:pt>
    <dgm:pt modelId="{9348B818-2290-49E8-A688-5B5DBF449B1D}">
      <dgm:prSet/>
      <dgm:spPr/>
      <dgm:t>
        <a:bodyPr/>
        <a:lstStyle/>
        <a:p>
          <a:r>
            <a:rPr lang="en-US"/>
            <a:t>Clumped</a:t>
          </a:r>
        </a:p>
      </dgm:t>
    </dgm:pt>
    <dgm:pt modelId="{3109EF39-41D6-4E3B-98CD-35A1015ED4FF}" type="parTrans" cxnId="{1F7B3C6D-63E0-4A2C-91DF-9A118B13234E}">
      <dgm:prSet/>
      <dgm:spPr/>
      <dgm:t>
        <a:bodyPr/>
        <a:lstStyle/>
        <a:p>
          <a:endParaRPr lang="en-US"/>
        </a:p>
      </dgm:t>
    </dgm:pt>
    <dgm:pt modelId="{B21ECB22-ACFA-44D1-A76F-82CA5DBBE5B6}" type="sibTrans" cxnId="{1F7B3C6D-63E0-4A2C-91DF-9A118B13234E}">
      <dgm:prSet/>
      <dgm:spPr/>
      <dgm:t>
        <a:bodyPr/>
        <a:lstStyle/>
        <a:p>
          <a:endParaRPr lang="en-US"/>
        </a:p>
      </dgm:t>
    </dgm:pt>
    <dgm:pt modelId="{E375496F-1E51-43B1-BDB0-7A2E951BDC7E}">
      <dgm:prSet/>
      <dgm:spPr/>
      <dgm:t>
        <a:bodyPr/>
        <a:lstStyle/>
        <a:p>
          <a:r>
            <a:rPr lang="en-US"/>
            <a:t>Uniform</a:t>
          </a:r>
        </a:p>
      </dgm:t>
    </dgm:pt>
    <dgm:pt modelId="{867C692C-88B3-4F05-A8AE-531A8D41DE93}" type="parTrans" cxnId="{00A6C406-8A18-4333-BD74-0B5239257D41}">
      <dgm:prSet/>
      <dgm:spPr/>
      <dgm:t>
        <a:bodyPr/>
        <a:lstStyle/>
        <a:p>
          <a:endParaRPr lang="en-US"/>
        </a:p>
      </dgm:t>
    </dgm:pt>
    <dgm:pt modelId="{994694E7-8F2E-4859-A38B-5C2FFB386081}" type="sibTrans" cxnId="{00A6C406-8A18-4333-BD74-0B5239257D41}">
      <dgm:prSet/>
      <dgm:spPr/>
      <dgm:t>
        <a:bodyPr/>
        <a:lstStyle/>
        <a:p>
          <a:endParaRPr lang="en-US"/>
        </a:p>
      </dgm:t>
    </dgm:pt>
    <dgm:pt modelId="{A9C3F6C1-2704-43AA-AB69-9889FC0DBAAC}">
      <dgm:prSet/>
      <dgm:spPr/>
      <dgm:t>
        <a:bodyPr/>
        <a:lstStyle/>
        <a:p>
          <a:r>
            <a:rPr lang="en-US"/>
            <a:t>Random</a:t>
          </a:r>
        </a:p>
      </dgm:t>
    </dgm:pt>
    <dgm:pt modelId="{27813012-B1BB-4A23-A6D4-5AE04E862575}" type="parTrans" cxnId="{E8E77388-DE38-498F-BFB8-337DA7C06A55}">
      <dgm:prSet/>
      <dgm:spPr/>
      <dgm:t>
        <a:bodyPr/>
        <a:lstStyle/>
        <a:p>
          <a:endParaRPr lang="en-US"/>
        </a:p>
      </dgm:t>
    </dgm:pt>
    <dgm:pt modelId="{15724746-E58F-4B95-8654-6E5D403D6CF6}" type="sibTrans" cxnId="{E8E77388-DE38-498F-BFB8-337DA7C06A55}">
      <dgm:prSet/>
      <dgm:spPr/>
      <dgm:t>
        <a:bodyPr/>
        <a:lstStyle/>
        <a:p>
          <a:endParaRPr lang="en-US"/>
        </a:p>
      </dgm:t>
    </dgm:pt>
    <dgm:pt modelId="{4BA9E755-D254-487F-A87D-05749504861D}" type="pres">
      <dgm:prSet presAssocID="{A564316A-3FF4-4749-93F9-7F7E8CDC395B}" presName="linear" presStyleCnt="0">
        <dgm:presLayoutVars>
          <dgm:dir/>
          <dgm:animLvl val="lvl"/>
          <dgm:resizeHandles val="exact"/>
        </dgm:presLayoutVars>
      </dgm:prSet>
      <dgm:spPr/>
    </dgm:pt>
    <dgm:pt modelId="{04A79A41-0459-440F-8226-6988F89074F4}" type="pres">
      <dgm:prSet presAssocID="{D8F48B4D-B77F-49C0-B433-F5C531BA842F}" presName="parentLin" presStyleCnt="0"/>
      <dgm:spPr/>
    </dgm:pt>
    <dgm:pt modelId="{5F459F7B-278D-4E22-A897-1741D6C8E31F}" type="pres">
      <dgm:prSet presAssocID="{D8F48B4D-B77F-49C0-B433-F5C531BA842F}" presName="parentLeftMargin" presStyleLbl="node1" presStyleIdx="0" presStyleCnt="3"/>
      <dgm:spPr/>
    </dgm:pt>
    <dgm:pt modelId="{798D7088-FD6F-4378-9095-CEFA9E502BB6}" type="pres">
      <dgm:prSet presAssocID="{D8F48B4D-B77F-49C0-B433-F5C531BA84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D643B3-44B6-4B6E-A158-4A502AFB03DF}" type="pres">
      <dgm:prSet presAssocID="{D8F48B4D-B77F-49C0-B433-F5C531BA842F}" presName="negativeSpace" presStyleCnt="0"/>
      <dgm:spPr/>
    </dgm:pt>
    <dgm:pt modelId="{616A21AA-BCB1-4DDF-948E-D1281660252C}" type="pres">
      <dgm:prSet presAssocID="{D8F48B4D-B77F-49C0-B433-F5C531BA842F}" presName="childText" presStyleLbl="conFgAcc1" presStyleIdx="0" presStyleCnt="3">
        <dgm:presLayoutVars>
          <dgm:bulletEnabled val="1"/>
        </dgm:presLayoutVars>
      </dgm:prSet>
      <dgm:spPr/>
    </dgm:pt>
    <dgm:pt modelId="{A9E8FC64-767D-4AAA-9CC0-02EEAC0C73D0}" type="pres">
      <dgm:prSet presAssocID="{BAA11EE4-CABB-4902-A106-CFCD6EE2D901}" presName="spaceBetweenRectangles" presStyleCnt="0"/>
      <dgm:spPr/>
    </dgm:pt>
    <dgm:pt modelId="{A1DC33B2-ABBF-4D22-83AF-03C829392750}" type="pres">
      <dgm:prSet presAssocID="{FD39D0DA-DDC1-4E8B-9DA2-F53F3A452EAA}" presName="parentLin" presStyleCnt="0"/>
      <dgm:spPr/>
    </dgm:pt>
    <dgm:pt modelId="{A00E0A2B-F844-4D7B-8935-654B369DB9D7}" type="pres">
      <dgm:prSet presAssocID="{FD39D0DA-DDC1-4E8B-9DA2-F53F3A452EAA}" presName="parentLeftMargin" presStyleLbl="node1" presStyleIdx="0" presStyleCnt="3"/>
      <dgm:spPr/>
    </dgm:pt>
    <dgm:pt modelId="{7A344C7F-9D8D-4E09-9458-43A6D6555C93}" type="pres">
      <dgm:prSet presAssocID="{FD39D0DA-DDC1-4E8B-9DA2-F53F3A452EA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CEA531D-2D27-4778-B4B7-E8D37CDA54B2}" type="pres">
      <dgm:prSet presAssocID="{FD39D0DA-DDC1-4E8B-9DA2-F53F3A452EAA}" presName="negativeSpace" presStyleCnt="0"/>
      <dgm:spPr/>
    </dgm:pt>
    <dgm:pt modelId="{C21CE58A-C447-487D-958F-D8E83E9DC069}" type="pres">
      <dgm:prSet presAssocID="{FD39D0DA-DDC1-4E8B-9DA2-F53F3A452EAA}" presName="childText" presStyleLbl="conFgAcc1" presStyleIdx="1" presStyleCnt="3">
        <dgm:presLayoutVars>
          <dgm:bulletEnabled val="1"/>
        </dgm:presLayoutVars>
      </dgm:prSet>
      <dgm:spPr/>
    </dgm:pt>
    <dgm:pt modelId="{C29EEDF4-35C3-497C-B17C-8ED359514CC5}" type="pres">
      <dgm:prSet presAssocID="{D22D44D5-4C44-48EC-B78D-14CCC1ED3F61}" presName="spaceBetweenRectangles" presStyleCnt="0"/>
      <dgm:spPr/>
    </dgm:pt>
    <dgm:pt modelId="{80C64DB5-2C4A-4CAC-9F0E-3439E5A7945E}" type="pres">
      <dgm:prSet presAssocID="{5AE740E4-36E3-4111-9ABE-2A67735E05E1}" presName="parentLin" presStyleCnt="0"/>
      <dgm:spPr/>
    </dgm:pt>
    <dgm:pt modelId="{9B49FE8F-3595-4B9C-A81A-7D99DA180088}" type="pres">
      <dgm:prSet presAssocID="{5AE740E4-36E3-4111-9ABE-2A67735E05E1}" presName="parentLeftMargin" presStyleLbl="node1" presStyleIdx="1" presStyleCnt="3"/>
      <dgm:spPr/>
    </dgm:pt>
    <dgm:pt modelId="{EA21C30E-F131-4EB9-8EAA-2F4BEA1F0923}" type="pres">
      <dgm:prSet presAssocID="{5AE740E4-36E3-4111-9ABE-2A67735E05E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CF6618A-A67B-409B-84ED-9638E11B69D9}" type="pres">
      <dgm:prSet presAssocID="{5AE740E4-36E3-4111-9ABE-2A67735E05E1}" presName="negativeSpace" presStyleCnt="0"/>
      <dgm:spPr/>
    </dgm:pt>
    <dgm:pt modelId="{3864A63D-EA2B-47E9-A13D-E22985620C6F}" type="pres">
      <dgm:prSet presAssocID="{5AE740E4-36E3-4111-9ABE-2A67735E05E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1BEC700-9328-4F8D-B25A-CD9780C46FE4}" type="presOf" srcId="{D8F48B4D-B77F-49C0-B433-F5C531BA842F}" destId="{5F459F7B-278D-4E22-A897-1741D6C8E31F}" srcOrd="0" destOrd="0" presId="urn:microsoft.com/office/officeart/2005/8/layout/list1"/>
    <dgm:cxn modelId="{00A6C406-8A18-4333-BD74-0B5239257D41}" srcId="{5AE740E4-36E3-4111-9ABE-2A67735E05E1}" destId="{E375496F-1E51-43B1-BDB0-7A2E951BDC7E}" srcOrd="1" destOrd="0" parTransId="{867C692C-88B3-4F05-A8AE-531A8D41DE93}" sibTransId="{994694E7-8F2E-4859-A38B-5C2FFB386081}"/>
    <dgm:cxn modelId="{AA49EB06-1A6F-410E-9762-15DD0D1DFD5C}" type="presOf" srcId="{E375496F-1E51-43B1-BDB0-7A2E951BDC7E}" destId="{3864A63D-EA2B-47E9-A13D-E22985620C6F}" srcOrd="0" destOrd="1" presId="urn:microsoft.com/office/officeart/2005/8/layout/list1"/>
    <dgm:cxn modelId="{3CB4460C-5189-4D31-9D11-A614664B633F}" srcId="{A564316A-3FF4-4749-93F9-7F7E8CDC395B}" destId="{D8F48B4D-B77F-49C0-B433-F5C531BA842F}" srcOrd="0" destOrd="0" parTransId="{5883AD8E-7AAD-46D1-BD17-620D06B3EBCF}" sibTransId="{BAA11EE4-CABB-4902-A106-CFCD6EE2D901}"/>
    <dgm:cxn modelId="{DA66EF1B-64A5-4923-8BA5-DF8289D0B587}" type="presOf" srcId="{FD39D0DA-DDC1-4E8B-9DA2-F53F3A452EAA}" destId="{7A344C7F-9D8D-4E09-9458-43A6D6555C93}" srcOrd="1" destOrd="0" presId="urn:microsoft.com/office/officeart/2005/8/layout/list1"/>
    <dgm:cxn modelId="{E00B2D3E-5217-4599-AACE-8FF363DDBA5A}" type="presOf" srcId="{5AE740E4-36E3-4111-9ABE-2A67735E05E1}" destId="{9B49FE8F-3595-4B9C-A81A-7D99DA180088}" srcOrd="0" destOrd="0" presId="urn:microsoft.com/office/officeart/2005/8/layout/list1"/>
    <dgm:cxn modelId="{63A8493F-7CBC-4145-92B7-E7206A751A41}" srcId="{A564316A-3FF4-4749-93F9-7F7E8CDC395B}" destId="{5AE740E4-36E3-4111-9ABE-2A67735E05E1}" srcOrd="2" destOrd="0" parTransId="{61C716BC-8D29-4406-800A-CCFBA842DE24}" sibTransId="{7F289016-23EE-4FC9-A64B-6468D0D1FD24}"/>
    <dgm:cxn modelId="{C5948047-ADC1-4E99-9876-CE0949888446}" type="presOf" srcId="{FD39D0DA-DDC1-4E8B-9DA2-F53F3A452EAA}" destId="{A00E0A2B-F844-4D7B-8935-654B369DB9D7}" srcOrd="0" destOrd="0" presId="urn:microsoft.com/office/officeart/2005/8/layout/list1"/>
    <dgm:cxn modelId="{1F7B3C6D-63E0-4A2C-91DF-9A118B13234E}" srcId="{5AE740E4-36E3-4111-9ABE-2A67735E05E1}" destId="{9348B818-2290-49E8-A688-5B5DBF449B1D}" srcOrd="0" destOrd="0" parTransId="{3109EF39-41D6-4E3B-98CD-35A1015ED4FF}" sibTransId="{B21ECB22-ACFA-44D1-A76F-82CA5DBBE5B6}"/>
    <dgm:cxn modelId="{E8E77388-DE38-498F-BFB8-337DA7C06A55}" srcId="{5AE740E4-36E3-4111-9ABE-2A67735E05E1}" destId="{A9C3F6C1-2704-43AA-AB69-9889FC0DBAAC}" srcOrd="2" destOrd="0" parTransId="{27813012-B1BB-4A23-A6D4-5AE04E862575}" sibTransId="{15724746-E58F-4B95-8654-6E5D403D6CF6}"/>
    <dgm:cxn modelId="{78CFC5A2-162F-4833-9FD5-83BB26FE1EF7}" type="presOf" srcId="{9348B818-2290-49E8-A688-5B5DBF449B1D}" destId="{3864A63D-EA2B-47E9-A13D-E22985620C6F}" srcOrd="0" destOrd="0" presId="urn:microsoft.com/office/officeart/2005/8/layout/list1"/>
    <dgm:cxn modelId="{838F71B7-756D-4E6E-9F1F-293E2E8A449F}" type="presOf" srcId="{5AE740E4-36E3-4111-9ABE-2A67735E05E1}" destId="{EA21C30E-F131-4EB9-8EAA-2F4BEA1F0923}" srcOrd="1" destOrd="0" presId="urn:microsoft.com/office/officeart/2005/8/layout/list1"/>
    <dgm:cxn modelId="{E2A3D3BB-C07A-404D-9364-437EA9204BE8}" srcId="{A564316A-3FF4-4749-93F9-7F7E8CDC395B}" destId="{FD39D0DA-DDC1-4E8B-9DA2-F53F3A452EAA}" srcOrd="1" destOrd="0" parTransId="{33E7497A-64FC-4142-9CD5-8E0334FADDE1}" sibTransId="{D22D44D5-4C44-48EC-B78D-14CCC1ED3F61}"/>
    <dgm:cxn modelId="{AFF093DA-DD74-446A-A420-7F34D0B76F95}" type="presOf" srcId="{A564316A-3FF4-4749-93F9-7F7E8CDC395B}" destId="{4BA9E755-D254-487F-A87D-05749504861D}" srcOrd="0" destOrd="0" presId="urn:microsoft.com/office/officeart/2005/8/layout/list1"/>
    <dgm:cxn modelId="{A9A3F9DE-A4A0-4039-BF97-A22D8F389874}" type="presOf" srcId="{D8F48B4D-B77F-49C0-B433-F5C531BA842F}" destId="{798D7088-FD6F-4378-9095-CEFA9E502BB6}" srcOrd="1" destOrd="0" presId="urn:microsoft.com/office/officeart/2005/8/layout/list1"/>
    <dgm:cxn modelId="{33CC76E6-83D8-4E33-A20F-21559625C4EA}" type="presOf" srcId="{A9C3F6C1-2704-43AA-AB69-9889FC0DBAAC}" destId="{3864A63D-EA2B-47E9-A13D-E22985620C6F}" srcOrd="0" destOrd="2" presId="urn:microsoft.com/office/officeart/2005/8/layout/list1"/>
    <dgm:cxn modelId="{34BD25B9-8F1B-45A8-BFC6-9F10B265C7FA}" type="presParOf" srcId="{4BA9E755-D254-487F-A87D-05749504861D}" destId="{04A79A41-0459-440F-8226-6988F89074F4}" srcOrd="0" destOrd="0" presId="urn:microsoft.com/office/officeart/2005/8/layout/list1"/>
    <dgm:cxn modelId="{36311ADA-73A7-46DB-83DF-75CE00200A76}" type="presParOf" srcId="{04A79A41-0459-440F-8226-6988F89074F4}" destId="{5F459F7B-278D-4E22-A897-1741D6C8E31F}" srcOrd="0" destOrd="0" presId="urn:microsoft.com/office/officeart/2005/8/layout/list1"/>
    <dgm:cxn modelId="{D49CB975-5439-436D-A694-3D80BD64539A}" type="presParOf" srcId="{04A79A41-0459-440F-8226-6988F89074F4}" destId="{798D7088-FD6F-4378-9095-CEFA9E502BB6}" srcOrd="1" destOrd="0" presId="urn:microsoft.com/office/officeart/2005/8/layout/list1"/>
    <dgm:cxn modelId="{E998E1B4-AC37-4190-9DAD-D77993A38DBA}" type="presParOf" srcId="{4BA9E755-D254-487F-A87D-05749504861D}" destId="{50D643B3-44B6-4B6E-A158-4A502AFB03DF}" srcOrd="1" destOrd="0" presId="urn:microsoft.com/office/officeart/2005/8/layout/list1"/>
    <dgm:cxn modelId="{25497836-1820-4F94-915B-C6687857FB32}" type="presParOf" srcId="{4BA9E755-D254-487F-A87D-05749504861D}" destId="{616A21AA-BCB1-4DDF-948E-D1281660252C}" srcOrd="2" destOrd="0" presId="urn:microsoft.com/office/officeart/2005/8/layout/list1"/>
    <dgm:cxn modelId="{D2A3F710-9247-4AE1-85D5-72C20A43963D}" type="presParOf" srcId="{4BA9E755-D254-487F-A87D-05749504861D}" destId="{A9E8FC64-767D-4AAA-9CC0-02EEAC0C73D0}" srcOrd="3" destOrd="0" presId="urn:microsoft.com/office/officeart/2005/8/layout/list1"/>
    <dgm:cxn modelId="{DAE9C846-AADA-428D-BF5E-115DA1BAFDA7}" type="presParOf" srcId="{4BA9E755-D254-487F-A87D-05749504861D}" destId="{A1DC33B2-ABBF-4D22-83AF-03C829392750}" srcOrd="4" destOrd="0" presId="urn:microsoft.com/office/officeart/2005/8/layout/list1"/>
    <dgm:cxn modelId="{B215D9FA-8182-4EB7-92F6-C25341E74009}" type="presParOf" srcId="{A1DC33B2-ABBF-4D22-83AF-03C829392750}" destId="{A00E0A2B-F844-4D7B-8935-654B369DB9D7}" srcOrd="0" destOrd="0" presId="urn:microsoft.com/office/officeart/2005/8/layout/list1"/>
    <dgm:cxn modelId="{9EA4580E-63CF-4E7F-B829-698066F6DAA8}" type="presParOf" srcId="{A1DC33B2-ABBF-4D22-83AF-03C829392750}" destId="{7A344C7F-9D8D-4E09-9458-43A6D6555C93}" srcOrd="1" destOrd="0" presId="urn:microsoft.com/office/officeart/2005/8/layout/list1"/>
    <dgm:cxn modelId="{B33C3DEB-DBF0-4E1D-B7D0-5EA9B816A3BB}" type="presParOf" srcId="{4BA9E755-D254-487F-A87D-05749504861D}" destId="{ACEA531D-2D27-4778-B4B7-E8D37CDA54B2}" srcOrd="5" destOrd="0" presId="urn:microsoft.com/office/officeart/2005/8/layout/list1"/>
    <dgm:cxn modelId="{9D8CEDD0-04D2-40A3-A208-570B492EEBAE}" type="presParOf" srcId="{4BA9E755-D254-487F-A87D-05749504861D}" destId="{C21CE58A-C447-487D-958F-D8E83E9DC069}" srcOrd="6" destOrd="0" presId="urn:microsoft.com/office/officeart/2005/8/layout/list1"/>
    <dgm:cxn modelId="{66310661-4A24-4372-8F0B-48599E7EAF65}" type="presParOf" srcId="{4BA9E755-D254-487F-A87D-05749504861D}" destId="{C29EEDF4-35C3-497C-B17C-8ED359514CC5}" srcOrd="7" destOrd="0" presId="urn:microsoft.com/office/officeart/2005/8/layout/list1"/>
    <dgm:cxn modelId="{C6A01367-BA8B-4260-B057-76830E7FB71A}" type="presParOf" srcId="{4BA9E755-D254-487F-A87D-05749504861D}" destId="{80C64DB5-2C4A-4CAC-9F0E-3439E5A7945E}" srcOrd="8" destOrd="0" presId="urn:microsoft.com/office/officeart/2005/8/layout/list1"/>
    <dgm:cxn modelId="{421B09DF-AEC1-4634-AFAE-443C788A79CE}" type="presParOf" srcId="{80C64DB5-2C4A-4CAC-9F0E-3439E5A7945E}" destId="{9B49FE8F-3595-4B9C-A81A-7D99DA180088}" srcOrd="0" destOrd="0" presId="urn:microsoft.com/office/officeart/2005/8/layout/list1"/>
    <dgm:cxn modelId="{1DA6BECD-1A5B-4EAC-B417-EAEE8FF4826C}" type="presParOf" srcId="{80C64DB5-2C4A-4CAC-9F0E-3439E5A7945E}" destId="{EA21C30E-F131-4EB9-8EAA-2F4BEA1F0923}" srcOrd="1" destOrd="0" presId="urn:microsoft.com/office/officeart/2005/8/layout/list1"/>
    <dgm:cxn modelId="{D39C9329-6951-4D45-A46D-D642715ACCFE}" type="presParOf" srcId="{4BA9E755-D254-487F-A87D-05749504861D}" destId="{4CF6618A-A67B-409B-84ED-9638E11B69D9}" srcOrd="9" destOrd="0" presId="urn:microsoft.com/office/officeart/2005/8/layout/list1"/>
    <dgm:cxn modelId="{41627CAB-8B11-4970-B2B6-88B8D45B649F}" type="presParOf" srcId="{4BA9E755-D254-487F-A87D-05749504861D}" destId="{3864A63D-EA2B-47E9-A13D-E22985620C6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A21AA-BCB1-4DDF-948E-D1281660252C}">
      <dsp:nvSpPr>
        <dsp:cNvPr id="0" name=""/>
        <dsp:cNvSpPr/>
      </dsp:nvSpPr>
      <dsp:spPr>
        <a:xfrm>
          <a:off x="0" y="4535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D7088-FD6F-4378-9095-CEFA9E502BB6}">
      <dsp:nvSpPr>
        <dsp:cNvPr id="0" name=""/>
        <dsp:cNvSpPr/>
      </dsp:nvSpPr>
      <dsp:spPr>
        <a:xfrm>
          <a:off x="333341" y="10759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Population Size (N)</a:t>
          </a:r>
          <a:endParaRPr lang="en-US" sz="3000" kern="1200"/>
        </a:p>
      </dsp:txBody>
      <dsp:txXfrm>
        <a:off x="376572" y="53990"/>
        <a:ext cx="4580321" cy="799138"/>
      </dsp:txXfrm>
    </dsp:sp>
    <dsp:sp modelId="{C21CE58A-C447-487D-958F-D8E83E9DC069}">
      <dsp:nvSpPr>
        <dsp:cNvPr id="0" name=""/>
        <dsp:cNvSpPr/>
      </dsp:nvSpPr>
      <dsp:spPr>
        <a:xfrm>
          <a:off x="0" y="18143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44C7F-9D8D-4E09-9458-43A6D6555C93}">
      <dsp:nvSpPr>
        <dsp:cNvPr id="0" name=""/>
        <dsp:cNvSpPr/>
      </dsp:nvSpPr>
      <dsp:spPr>
        <a:xfrm>
          <a:off x="333341" y="1371559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Population Density</a:t>
          </a:r>
          <a:r>
            <a:rPr lang="en-US" sz="3000" kern="1200"/>
            <a:t> </a:t>
          </a:r>
        </a:p>
      </dsp:txBody>
      <dsp:txXfrm>
        <a:off x="376572" y="1414790"/>
        <a:ext cx="4580321" cy="799138"/>
      </dsp:txXfrm>
    </dsp:sp>
    <dsp:sp modelId="{3864A63D-EA2B-47E9-A13D-E22985620C6F}">
      <dsp:nvSpPr>
        <dsp:cNvPr id="0" name=""/>
        <dsp:cNvSpPr/>
      </dsp:nvSpPr>
      <dsp:spPr>
        <a:xfrm>
          <a:off x="0" y="3175160"/>
          <a:ext cx="6666833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24840" rIns="51742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Clumped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Uniform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Random</a:t>
          </a:r>
        </a:p>
      </dsp:txBody>
      <dsp:txXfrm>
        <a:off x="0" y="3175160"/>
        <a:ext cx="6666833" cy="2268000"/>
      </dsp:txXfrm>
    </dsp:sp>
    <dsp:sp modelId="{EA21C30E-F131-4EB9-8EAA-2F4BEA1F0923}">
      <dsp:nvSpPr>
        <dsp:cNvPr id="0" name=""/>
        <dsp:cNvSpPr/>
      </dsp:nvSpPr>
      <dsp:spPr>
        <a:xfrm>
          <a:off x="333341" y="2732359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Population Distribution</a:t>
          </a:r>
          <a:r>
            <a:rPr lang="en-US" sz="3000" kern="1200"/>
            <a:t> </a:t>
          </a:r>
        </a:p>
      </dsp:txBody>
      <dsp:txXfrm>
        <a:off x="376572" y="2775590"/>
        <a:ext cx="4580321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EF130-5830-2EFD-D1E5-214625A87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8DD12-51A7-212E-1249-FA53236D2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F7C5A-D3C6-A209-E5F1-12403416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8D2F9-7B0C-90C1-3ACA-10F33B1E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2168-ED63-E06B-1D19-54625E07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5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3715-332A-D8C4-3D08-EF4B75D3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497F-6BB3-F41E-5EA8-959BC1426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6996-C261-E4F3-4B57-3E26CC0E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4911-DE0B-49E5-1977-553D64E1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6724-E295-B29B-624C-7F10C757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1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A86F-52A2-F36B-B786-0116C8EF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B2BF6-673E-62D7-2ACF-F9BF1D38D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3F074-8A8E-9C00-9E71-BE8FD0DA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B9AA9-8FF2-B32E-182D-4B2C0872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6070B-B715-B787-0648-6AACC583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7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4F0E-A11C-EE6F-599C-31E7D8FF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E5556-0262-1128-0864-402FD7783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1341-C5BF-83B0-CF15-5BEBCFD58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1B2F-313D-5D71-5A4A-ED906A02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A8000-C7D8-8AD1-206D-A1E95D49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2FF69-E745-C317-83C3-E495B920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1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8263-1CFB-8775-7575-76806F4D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2931A-92C7-7622-9950-6E6898806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2D8C3-AB30-87F1-3C9D-F57D77B4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0366A-F36C-8446-7237-09F0505C2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B30D1-9F57-9326-BB85-DF7F52D86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57134-7F1E-C6B7-4883-5D5C2472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FB0B57-B55B-FED2-2F17-B670DB92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6F832-9D99-4982-C13A-CA13EB6F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6D3A-BE88-AC8E-71F1-E7625510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A7CFF-11F0-1795-E757-DBF24D1A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0726E-4DBF-EB1B-3DB6-56AA1D93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B8DC-95F8-CD2D-E562-76C71592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EB48F-5961-0728-C6B0-97E9955C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A89A3-C209-DE4B-6EE8-E3F894C2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19C5C-ADB8-300D-6F4F-9264409F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49B1-D1B2-8867-052A-A46B266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A15AA-97D0-5765-9257-BC1246C5A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96D5C-BD60-3EA2-0E99-B7B24A87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26640-BCF7-B208-9B43-7F61C927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891F0-16AC-C4EF-D435-41C87E72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5886C-22A5-62F8-A728-BD3B6DB9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1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1C8B-55A7-C5CA-04EF-3397B219D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0DA61-4E61-B143-F766-2511FE0CE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E5697-5D8F-FF8F-9F47-7427D7E05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979A3-474D-46F5-AD4E-88880AF9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7F2DB-C9EC-5EB9-4DF1-4C82D411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300E-9729-A687-871B-9B4EF501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6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47A1-2815-DE4F-BE37-249D62D1F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D3948-9EA1-98D1-2F26-4EB2415D3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9C48F-C421-09F1-97ED-DF49B853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83715-7181-1C69-3F3F-475A80C3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CBFD7-8E72-907E-FA03-86CA63AD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5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A0F0C-543C-BA2C-B344-D9A956310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3447F-2DD0-E067-1669-ABC6B372D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7D1FD-C4AA-1040-4692-B1B8919B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ECFF0-8F60-95C5-B158-8A9FAC7A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31C75-5667-77C3-7857-E3B3F71B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0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9ED20-A06B-D9ED-FD73-2C246C73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3F742-F156-B8E4-978B-618196272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E4950-B6FC-D208-4E59-E8268F9DD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CAB14-7B42-4814-9798-C64240C5FC5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AFA7-B33D-B9BD-3090-4D708591D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03400-A05A-C919-51A6-E141CF7B2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FE1D3-7C07-4E51-B133-12B790DC2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3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oup of people forming a world map">
            <a:extLst>
              <a:ext uri="{FF2B5EF4-FFF2-40B4-BE49-F238E27FC236}">
                <a16:creationId xmlns:a16="http://schemas.microsoft.com/office/drawing/2014/main" id="{5CF4CEE0-69C8-42B1-A725-F642F0B4E3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F8F89C-4F7B-47E8-7629-868E2390C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PH" sz="5200" b="1">
                <a:solidFill>
                  <a:srgbClr val="FFFFFF"/>
                </a:solidFill>
              </a:rPr>
              <a:t>Population Ecology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EB898-00AF-77FA-722D-3A819746E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Lesson 2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93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59B8-D466-4934-D74B-1AA19DB4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PH" sz="4000" b="1" dirty="0">
                <a:solidFill>
                  <a:schemeClr val="bg1"/>
                </a:solidFill>
              </a:rPr>
              <a:t>Population Ecology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EC7C3-465B-3EF8-EFE3-A3675230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PH" sz="4800" dirty="0"/>
              <a:t>Population Dynamics</a:t>
            </a:r>
            <a:endParaRPr lang="en-US" sz="4800" dirty="0"/>
          </a:p>
          <a:p>
            <a:pPr marL="571500" indent="-571500">
              <a:buFont typeface="+mj-lt"/>
              <a:buAutoNum type="romanUcPeriod"/>
            </a:pPr>
            <a:r>
              <a:rPr lang="en-PH" sz="4800" dirty="0"/>
              <a:t>Human Populations    </a:t>
            </a:r>
            <a:endParaRPr lang="en-US" sz="4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230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8852-ABD7-0228-B74E-D4EDCD99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8FAA-13CE-3F22-6623-6205DE09D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10269536" cy="3959619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400" dirty="0"/>
              <a:t>At the end of this lesson, students should be able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Describe how ecologists measure population size and density.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Describe three different patterns of population distribution.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Explain how the carrying capacity of a habitat may change.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Describe human population patterns and trends.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999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7C46B-8FFC-2196-6297-0BD1B0C8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POPULATION ECOLOGY</a:t>
            </a:r>
            <a:br>
              <a:rPr lang="en-US" sz="1900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9F0F3-3DAB-8AD5-AC40-B29E681BE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sz="3600" b="1" dirty="0"/>
              <a:t>Population Ecology</a:t>
            </a:r>
            <a:r>
              <a:rPr lang="en-US" sz="3600" dirty="0"/>
              <a:t> is the study of how </a:t>
            </a:r>
            <a:r>
              <a:rPr lang="en-US" sz="3600" b="1" dirty="0"/>
              <a:t>populations</a:t>
            </a:r>
            <a:r>
              <a:rPr lang="en-US" sz="3600" dirty="0"/>
              <a:t> of organisms </a:t>
            </a:r>
            <a:r>
              <a:rPr lang="en-US" sz="3600" b="1" dirty="0"/>
              <a:t>interact </a:t>
            </a:r>
            <a:r>
              <a:rPr lang="en-US" sz="3600" dirty="0"/>
              <a:t>with their </a:t>
            </a:r>
            <a:r>
              <a:rPr lang="en-US" sz="3600" b="1" dirty="0"/>
              <a:t>environment</a:t>
            </a:r>
            <a:r>
              <a:rPr lang="en-US" sz="3600" dirty="0"/>
              <a:t> over time.</a:t>
            </a:r>
          </a:p>
          <a:p>
            <a:pPr fontAlgn="t"/>
            <a:endParaRPr lang="en-US" sz="16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97854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DFB91-F000-38E7-A85D-5FF53D4D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br>
              <a:rPr lang="en-US" sz="3400" b="1">
                <a:solidFill>
                  <a:srgbClr val="FFFFFF"/>
                </a:solidFill>
              </a:rPr>
            </a:br>
            <a:r>
              <a:rPr lang="en-US" sz="3400" b="1">
                <a:solidFill>
                  <a:srgbClr val="FFFFFF"/>
                </a:solidFill>
              </a:rPr>
              <a:t>Key Population Characteristics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63F474-B726-BC9A-25C1-D48C75F9C1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87269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15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C81A1-EAC7-5908-4A2D-56139DA3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  <a:solidFill>
            <a:schemeClr val="tx1"/>
          </a:solidFill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  <a:highlight>
                  <a:srgbClr val="FF0000"/>
                </a:highlight>
              </a:rPr>
              <a:t>POPULATION SIZE (N)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3D979-9139-1664-E38B-24963F932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dirty="0"/>
              <a:t>Population size refers to the </a:t>
            </a:r>
            <a:r>
              <a:rPr lang="en-US" b="1" dirty="0"/>
              <a:t>total number of individuals </a:t>
            </a:r>
            <a:r>
              <a:rPr lang="en-US" dirty="0"/>
              <a:t>of a species in each area at a specific time.</a:t>
            </a:r>
          </a:p>
          <a:p>
            <a:pPr fontAlgn="t"/>
            <a:r>
              <a:rPr lang="en-US" dirty="0"/>
              <a:t>It gives a basic idea of how large or small a population is.</a:t>
            </a:r>
          </a:p>
          <a:p>
            <a:pPr fontAlgn="t"/>
            <a:endParaRPr lang="en-US" sz="1600" b="1" dirty="0"/>
          </a:p>
          <a:p>
            <a:pPr marL="0" indent="0" fontAlgn="t">
              <a:buNone/>
            </a:pPr>
            <a:r>
              <a:rPr lang="en-US" sz="2400" b="1" dirty="0"/>
              <a:t>Examples:</a:t>
            </a:r>
          </a:p>
          <a:p>
            <a:pPr fontAlgn="t"/>
            <a:r>
              <a:rPr lang="en-US" sz="2400" dirty="0"/>
              <a:t>A forest has </a:t>
            </a:r>
            <a:r>
              <a:rPr lang="en-US" sz="2400" b="1" dirty="0"/>
              <a:t>200 deer</a:t>
            </a:r>
            <a:r>
              <a:rPr lang="en-US" sz="2400" dirty="0"/>
              <a:t> → Population size = 200</a:t>
            </a:r>
          </a:p>
          <a:p>
            <a:pPr fontAlgn="t"/>
            <a:r>
              <a:rPr lang="en-US" sz="2400" dirty="0"/>
              <a:t>A classroom has </a:t>
            </a:r>
            <a:r>
              <a:rPr lang="en-US" sz="2400" b="1" dirty="0"/>
              <a:t>40 students</a:t>
            </a:r>
            <a:r>
              <a:rPr lang="en-US" sz="2400" dirty="0"/>
              <a:t> → Population size = 40</a:t>
            </a:r>
          </a:p>
          <a:p>
            <a:pPr fontAlgn="t"/>
            <a:r>
              <a:rPr lang="en-US" sz="2400" dirty="0"/>
              <a:t>A city has </a:t>
            </a:r>
            <a:r>
              <a:rPr lang="en-US" sz="2400" b="1" dirty="0"/>
              <a:t>1 million people</a:t>
            </a:r>
            <a:r>
              <a:rPr lang="en-US" sz="2400" dirty="0"/>
              <a:t> → Population size = 1,000,000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4957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16110-2613-B255-0878-2130CC6B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Estimating population size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BE3EE-3937-7236-F002-5F26CE2C6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548" y="2217343"/>
                <a:ext cx="9880893" cy="3959619"/>
              </a:xfrm>
            </p:spPr>
            <p:txBody>
              <a:bodyPr>
                <a:normAutofit fontScale="92500"/>
              </a:bodyPr>
              <a:lstStyle/>
              <a:p>
                <a:pPr marL="514350" indent="-514350" fontAlgn="t">
                  <a:buFont typeface="+mj-lt"/>
                  <a:buAutoNum type="arabicPeriod"/>
                </a:pPr>
                <a:r>
                  <a:rPr lang="en-US" sz="3000" b="1" dirty="0">
                    <a:solidFill>
                      <a:srgbClr val="FF0000"/>
                    </a:solidFill>
                  </a:rPr>
                  <a:t>Quadrat method</a:t>
                </a:r>
                <a:endParaRPr lang="en-US" sz="3000" dirty="0">
                  <a:solidFill>
                    <a:srgbClr val="FF0000"/>
                  </a:solidFill>
                </a:endParaRPr>
              </a:p>
              <a:p>
                <a:pPr fontAlgn="t"/>
                <a:r>
                  <a:rPr lang="en-US" sz="3000" dirty="0"/>
                  <a:t>Used for </a:t>
                </a:r>
                <a:r>
                  <a:rPr lang="en-US" sz="3000" b="1" dirty="0"/>
                  <a:t>immobile or slow-moving organisms</a:t>
                </a:r>
                <a:r>
                  <a:rPr lang="en-US" sz="3000" dirty="0"/>
                  <a:t> (e.g., plants)</a:t>
                </a:r>
              </a:p>
              <a:p>
                <a:pPr fontAlgn="t"/>
                <a:r>
                  <a:rPr lang="en-US" sz="3000" dirty="0">
                    <a:solidFill>
                      <a:srgbClr val="FF0000"/>
                    </a:solidFill>
                  </a:rPr>
                  <a:t>Quadrat (square frame) </a:t>
                </a:r>
                <a:r>
                  <a:rPr lang="en-US" sz="3000" dirty="0"/>
                  <a:t>placed </a:t>
                </a:r>
                <a:r>
                  <a:rPr lang="en-US" sz="3000" b="1" dirty="0"/>
                  <a:t>randomly</a:t>
                </a:r>
                <a:r>
                  <a:rPr lang="en-US" sz="3000" dirty="0"/>
                  <a:t> in the habitat.</a:t>
                </a:r>
              </a:p>
              <a:p>
                <a:pPr fontAlgn="t"/>
                <a:r>
                  <a:rPr lang="en-US" sz="3000" dirty="0"/>
                  <a:t>Count individuals inside each quadrat.</a:t>
                </a:r>
              </a:p>
              <a:p>
                <a:pPr fontAlgn="t"/>
                <a:r>
                  <a:rPr lang="en-US" sz="3000" dirty="0"/>
                  <a:t>Repeat many times for </a:t>
                </a:r>
                <a:r>
                  <a:rPr lang="en-US" sz="3000" b="1" dirty="0"/>
                  <a:t>accuracy.</a:t>
                </a:r>
              </a:p>
              <a:p>
                <a:pPr fontAlgn="t"/>
                <a:endParaRPr lang="en-US" sz="2400" b="1" dirty="0"/>
              </a:p>
              <a:p>
                <a:pPr marL="0" indent="0" fontAlgn="t">
                  <a:buNone/>
                </a:pPr>
                <a:r>
                  <a:rPr lang="en-US" sz="2400" b="1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000"/>
                      <m:t>Population</m:t>
                    </m:r>
                    <m:r>
                      <a:rPr lang="en-US" sz="3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3000" i="1"/>
                      <m:t>Average</m:t>
                    </m:r>
                    <m:r>
                      <m:rPr>
                        <m:nor/>
                      </m:rPr>
                      <a:rPr lang="en-US" sz="3000" i="1"/>
                      <m:t> </m:t>
                    </m:r>
                    <m:r>
                      <m:rPr>
                        <m:nor/>
                      </m:rPr>
                      <a:rPr lang="en-US" sz="3000" i="1"/>
                      <m:t>per</m:t>
                    </m:r>
                    <m:r>
                      <m:rPr>
                        <m:nor/>
                      </m:rPr>
                      <a:rPr lang="en-US" sz="3000" i="1"/>
                      <m:t> </m:t>
                    </m:r>
                    <m:r>
                      <m:rPr>
                        <m:nor/>
                      </m:rPr>
                      <a:rPr lang="en-US" sz="3000" i="1"/>
                      <m:t>quadrat</m:t>
                    </m:r>
                    <m:r>
                      <a:rPr lang="en-US" sz="300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3000" i="1"/>
                      <m:t>Total</m:t>
                    </m:r>
                    <m:r>
                      <m:rPr>
                        <m:nor/>
                      </m:rPr>
                      <a:rPr lang="en-US" sz="3000" i="1"/>
                      <m:t> </m:t>
                    </m:r>
                    <m:r>
                      <m:rPr>
                        <m:nor/>
                      </m:rPr>
                      <a:rPr lang="en-US" sz="3000" i="1"/>
                      <m:t>number</m:t>
                    </m:r>
                    <m:r>
                      <m:rPr>
                        <m:nor/>
                      </m:rPr>
                      <a:rPr lang="en-US" sz="3000" i="1"/>
                      <m:t> </m:t>
                    </m:r>
                    <m:r>
                      <m:rPr>
                        <m:nor/>
                      </m:rPr>
                      <a:rPr lang="en-US" sz="3000" i="1"/>
                      <m:t>of</m:t>
                    </m:r>
                    <m:r>
                      <m:rPr>
                        <m:nor/>
                      </m:rPr>
                      <a:rPr lang="en-US" sz="3000" i="1"/>
                      <m:t> </m:t>
                    </m:r>
                    <m:r>
                      <m:rPr>
                        <m:nor/>
                      </m:rPr>
                      <a:rPr lang="en-US" sz="3000" i="1"/>
                      <m:t>quadrats</m:t>
                    </m:r>
                  </m:oMath>
                </a14:m>
                <a:endParaRPr lang="en-US" sz="3000" dirty="0"/>
              </a:p>
              <a:p>
                <a:pPr fontAlgn="t"/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BE3EE-3937-7236-F002-5F26CE2C6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548" y="2217343"/>
                <a:ext cx="9880893" cy="3959619"/>
              </a:xfrm>
              <a:blipFill>
                <a:blip r:embed="rId2"/>
                <a:stretch>
                  <a:fillRect l="-1296" t="-2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21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B1731-0E9B-735A-ABBD-A4174EB2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Quadrat method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GCSE Biology Surveying Methods using quadrats, examples of quadrat  calculations based on sampling data for ecology biodiversity surveys Doc  Brown's GCSE biology exam revision study notes">
            <a:extLst>
              <a:ext uri="{FF2B5EF4-FFF2-40B4-BE49-F238E27FC236}">
                <a16:creationId xmlns:a16="http://schemas.microsoft.com/office/drawing/2014/main" id="{D977BCDA-E891-1774-F43C-CB7F7BD14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" b="1292"/>
          <a:stretch>
            <a:fillRect/>
          </a:stretch>
        </p:blipFill>
        <p:spPr>
          <a:xfrm>
            <a:off x="5526809" y="643466"/>
            <a:ext cx="5281713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6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quadrat method. A quadrat is tossed within a sampling ...">
            <a:extLst>
              <a:ext uri="{FF2B5EF4-FFF2-40B4-BE49-F238E27FC236}">
                <a16:creationId xmlns:a16="http://schemas.microsoft.com/office/drawing/2014/main" id="{F5975A5E-233F-1310-732E-362DF2644C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7" r="-2" b="-2"/>
          <a:stretch>
            <a:fillRect/>
          </a:stretch>
        </p:blipFill>
        <p:spPr>
          <a:xfrm>
            <a:off x="643467" y="1982432"/>
            <a:ext cx="5294716" cy="289313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Quadrat Sampling | Census of Marine Life">
            <a:extLst>
              <a:ext uri="{FF2B5EF4-FFF2-40B4-BE49-F238E27FC236}">
                <a16:creationId xmlns:a16="http://schemas.microsoft.com/office/drawing/2014/main" id="{ACDF4845-8EC4-9DA4-7D3D-5C355DE0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03" r="2" b="9403"/>
          <a:stretch>
            <a:fillRect/>
          </a:stretch>
        </p:blipFill>
        <p:spPr>
          <a:xfrm>
            <a:off x="6253817" y="2154391"/>
            <a:ext cx="5294715" cy="254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2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52D88-1A1D-BE25-FF9B-7FE51E34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t"/>
            <a:r>
              <a:rPr lang="en-US" dirty="0">
                <a:solidFill>
                  <a:schemeClr val="bg1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4249-DB58-580B-E966-283B7C3B3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pPr fontAlgn="t"/>
            <a:r>
              <a:rPr lang="en-US" sz="2400" dirty="0">
                <a:solidFill>
                  <a:schemeClr val="tx1"/>
                </a:solidFill>
              </a:rPr>
              <a:t>A researcher wants to estimate the number of </a:t>
            </a:r>
            <a:r>
              <a:rPr lang="en-US" sz="2400" b="1" dirty="0">
                <a:solidFill>
                  <a:schemeClr val="tx1"/>
                </a:solidFill>
              </a:rPr>
              <a:t>grass plants</a:t>
            </a:r>
            <a:r>
              <a:rPr lang="en-US" sz="2400" dirty="0">
                <a:solidFill>
                  <a:schemeClr val="tx1"/>
                </a:solidFill>
              </a:rPr>
              <a:t> in a field.</a:t>
            </a:r>
          </a:p>
          <a:p>
            <a:pPr fontAlgn="t"/>
            <a:r>
              <a:rPr lang="en-US" sz="2400" dirty="0">
                <a:solidFill>
                  <a:schemeClr val="tx1"/>
                </a:solidFill>
              </a:rPr>
              <a:t>A </a:t>
            </a:r>
            <a:r>
              <a:rPr lang="en-US" sz="2400" b="1" dirty="0">
                <a:solidFill>
                  <a:schemeClr val="tx1"/>
                </a:solidFill>
              </a:rPr>
              <a:t>1 m × 1 m quadrat</a:t>
            </a:r>
            <a:r>
              <a:rPr lang="en-US" sz="2400" dirty="0">
                <a:solidFill>
                  <a:schemeClr val="tx1"/>
                </a:solidFill>
              </a:rPr>
              <a:t> is placed randomly on the ground </a:t>
            </a:r>
            <a:r>
              <a:rPr lang="en-US" sz="2400" b="1" dirty="0">
                <a:solidFill>
                  <a:schemeClr val="tx1"/>
                </a:solidFill>
              </a:rPr>
              <a:t>10 times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fontAlgn="t"/>
            <a:r>
              <a:rPr lang="en-US" sz="2400" dirty="0">
                <a:solidFill>
                  <a:schemeClr val="tx1"/>
                </a:solidFill>
              </a:rPr>
              <a:t>The number of plants counted in each quadrat:</a:t>
            </a:r>
          </a:p>
          <a:p>
            <a:pPr fontAlgn="t"/>
            <a:r>
              <a:rPr lang="en-US" sz="2400" dirty="0">
                <a:solidFill>
                  <a:schemeClr val="tx1"/>
                </a:solidFill>
              </a:rPr>
              <a:t>12, 15, 10, 13, 14, 11, 16, 12, 13, 14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3BADAB-0E46-9194-5F5D-0C81CBEB349D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583076" cy="43638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2400" b="1" dirty="0"/>
              <a:t>Step 1: Find the average</a:t>
            </a:r>
            <a:endParaRPr lang="en-US" sz="2400" dirty="0"/>
          </a:p>
          <a:p>
            <a:pPr fontAlgn="t"/>
            <a:r>
              <a:rPr lang="en-US" sz="2400" dirty="0"/>
              <a:t>Total = 130 plants</a:t>
            </a:r>
          </a:p>
          <a:p>
            <a:pPr fontAlgn="t"/>
            <a:r>
              <a:rPr lang="en-US" sz="2000" dirty="0"/>
              <a:t>Average = 130 ÷ 10 </a:t>
            </a:r>
          </a:p>
          <a:p>
            <a:pPr marL="0" indent="0" fontAlgn="t">
              <a:buNone/>
            </a:pPr>
            <a:r>
              <a:rPr lang="en-US" sz="2000" dirty="0"/>
              <a:t>                      = </a:t>
            </a:r>
            <a:r>
              <a:rPr lang="en-US" sz="2000" b="1" dirty="0"/>
              <a:t>13 plants per m²</a:t>
            </a:r>
          </a:p>
          <a:p>
            <a:pPr fontAlgn="t"/>
            <a:endParaRPr lang="en-US" sz="1400" dirty="0"/>
          </a:p>
          <a:p>
            <a:pPr marL="0" indent="0" fontAlgn="t">
              <a:buNone/>
            </a:pPr>
            <a:r>
              <a:rPr lang="en-US" sz="2600" b="1" dirty="0"/>
              <a:t>Step 2: Estimate total population</a:t>
            </a:r>
            <a:endParaRPr lang="en-US" sz="2600" dirty="0"/>
          </a:p>
          <a:p>
            <a:pPr fontAlgn="t"/>
            <a:r>
              <a:rPr lang="en-US" sz="2600" dirty="0"/>
              <a:t>If the field is </a:t>
            </a:r>
            <a:r>
              <a:rPr lang="en-US" sz="2600" b="1" dirty="0"/>
              <a:t>100 m²</a:t>
            </a:r>
            <a:r>
              <a:rPr lang="en-US" sz="2600" dirty="0"/>
              <a:t>:</a:t>
            </a:r>
          </a:p>
          <a:p>
            <a:pPr fontAlgn="t"/>
            <a:r>
              <a:rPr lang="en-US" sz="2600" dirty="0"/>
              <a:t>Estimated population = 13 × 100 = </a:t>
            </a:r>
            <a:r>
              <a:rPr lang="en-US" sz="2600" b="1" dirty="0"/>
              <a:t>1300 plants</a:t>
            </a:r>
            <a:endParaRPr lang="en-US" sz="2600" dirty="0"/>
          </a:p>
          <a:p>
            <a:pPr fontAlgn="t"/>
            <a:endParaRPr lang="en-US" sz="900" dirty="0"/>
          </a:p>
          <a:p>
            <a:pPr algn="just" fontAlgn="t"/>
            <a:r>
              <a:rPr lang="en-US" sz="2200" dirty="0"/>
              <a:t>About </a:t>
            </a:r>
            <a:r>
              <a:rPr lang="en-US" sz="2200" b="1" dirty="0"/>
              <a:t>1300 plants</a:t>
            </a:r>
            <a:r>
              <a:rPr lang="en-US" sz="2200" dirty="0"/>
              <a:t> are estimated in the whole field based on the sample.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17111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CAAE9-C7F8-E8ED-509D-FFBAB2294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Cont.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6DFDC-3E5C-C085-7CA0-6D5186DD1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6851" y="2125905"/>
                <a:ext cx="4939149" cy="3959619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 fontScale="85000" lnSpcReduction="10000"/>
              </a:bodyPr>
              <a:lstStyle/>
              <a:p>
                <a:pPr marL="0" indent="0" fontAlgn="t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2. Mark–recapture method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fontAlgn="t"/>
                <a:r>
                  <a:rPr lang="en-US" dirty="0"/>
                  <a:t>Used for </a:t>
                </a:r>
                <a:r>
                  <a:rPr lang="en-US" b="1" dirty="0"/>
                  <a:t>mobile organisms</a:t>
                </a:r>
                <a:r>
                  <a:rPr lang="en-US" dirty="0"/>
                  <a:t> (e.g., mammals)</a:t>
                </a:r>
              </a:p>
              <a:p>
                <a:pPr fontAlgn="t"/>
                <a:r>
                  <a:rPr lang="en-US" dirty="0"/>
                  <a:t>First sample: capture, </a:t>
                </a:r>
                <a:r>
                  <a:rPr lang="en-US" b="1" dirty="0"/>
                  <a:t>mark</a:t>
                </a:r>
                <a:r>
                  <a:rPr lang="en-US" dirty="0"/>
                  <a:t>, and release animals</a:t>
                </a:r>
              </a:p>
              <a:p>
                <a:pPr fontAlgn="t"/>
                <a:r>
                  <a:rPr lang="en-US" dirty="0"/>
                  <a:t>Second sample: capture again and count </a:t>
                </a:r>
                <a:r>
                  <a:rPr lang="en-US" b="1" dirty="0"/>
                  <a:t>marked individuals</a:t>
                </a:r>
                <a:endParaRPr lang="en-US" dirty="0"/>
              </a:p>
              <a:p>
                <a:pPr fontAlgn="t"/>
                <a:r>
                  <a:rPr lang="en-US" dirty="0"/>
                  <a:t>Population estimated using formula: </a:t>
                </a:r>
              </a:p>
              <a:p>
                <a:pPr fontAlgn="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𝑚𝑎𝑟𝑘𝑒𝑑𝑓𝑖𝑟𝑠𝑡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𝑐𝑎𝑡𝑐h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𝑐𝑎𝑡𝑐h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6DFDC-3E5C-C085-7CA0-6D5186DD1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6851" y="2125905"/>
                <a:ext cx="4939149" cy="3959619"/>
              </a:xfrm>
              <a:blipFill>
                <a:blip r:embed="rId2"/>
                <a:stretch>
                  <a:fillRect l="-1845" t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AD60529-660F-830B-84B9-8A94925B63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6051" y="2125905"/>
                <a:ext cx="4939149" cy="39596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t">
                  <a:buNone/>
                </a:pPr>
                <a:r>
                  <a:rPr lang="en-US" b="1" dirty="0"/>
                  <a:t>Key considerations</a:t>
                </a:r>
                <a:endParaRPr lang="en-US" dirty="0"/>
              </a:p>
              <a:p>
                <a:pPr fontAlgn="t"/>
                <a:r>
                  <a:rPr lang="en-US" dirty="0"/>
                  <a:t>Results are </a:t>
                </a:r>
                <a:r>
                  <a:rPr lang="en-US" b="1" dirty="0"/>
                  <a:t>estimates, not exact.</a:t>
                </a:r>
              </a:p>
              <a:p>
                <a:pPr fontAlgn="t"/>
                <a:r>
                  <a:rPr lang="en-US" dirty="0"/>
                  <a:t>Accuracy depends on: </a:t>
                </a:r>
              </a:p>
              <a:p>
                <a:pPr lvl="1" fontAlgn="t"/>
                <a:r>
                  <a:rPr lang="en-US" dirty="0"/>
                  <a:t>Random sampling.</a:t>
                </a:r>
              </a:p>
              <a:p>
                <a:pPr lvl="1" fontAlgn="t"/>
                <a:r>
                  <a:rPr lang="en-US" dirty="0"/>
                  <a:t>Proper mixing of marked animals.</a:t>
                </a:r>
              </a:p>
              <a:p>
                <a:pPr lvl="1" fontAlgn="t"/>
                <a:r>
                  <a:rPr lang="en-US" dirty="0"/>
                  <a:t>No loss of marks.</a:t>
                </a:r>
              </a:p>
              <a:p>
                <a:pPr lvl="1" fontAlgn="t"/>
                <a:r>
                  <a:rPr lang="en-US" dirty="0"/>
                  <a:t>Stable population (no births, deaths, migration).</a:t>
                </a:r>
              </a:p>
              <a:p>
                <a:pPr marL="0" indent="0" fontAlgn="t">
                  <a:buNone/>
                </a:pPr>
                <a:r>
                  <a:rPr lang="en-US" sz="2400" dirty="0"/>
                  <a:t>Formula</a:t>
                </a:r>
              </a:p>
              <a:p>
                <a:pPr fontAlgn="t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𝑚𝑎𝑟𝑘𝑒𝑑𝑓𝑖𝑟𝑠𝑡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𝑐𝑎𝑡𝑐h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𝑐𝑎𝑡𝑐h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AD60529-660F-830B-84B9-8A94925B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051" y="2125905"/>
                <a:ext cx="4939149" cy="3959619"/>
              </a:xfrm>
              <a:prstGeom prst="rect">
                <a:avLst/>
              </a:prstGeom>
              <a:blipFill>
                <a:blip r:embed="rId3"/>
                <a:stretch>
                  <a:fillRect l="-1845" t="-2454" r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83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CD9CE-DB86-F2E8-A7F5-455C7EF6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</a:rPr>
              <a:t>Mark–recapture method</a:t>
            </a:r>
            <a:endParaRPr lang="en-US" sz="3600">
              <a:solidFill>
                <a:srgbClr val="FFFFFF"/>
              </a:solidFill>
            </a:endParaRPr>
          </a:p>
        </p:txBody>
      </p:sp>
      <p:pic>
        <p:nvPicPr>
          <p:cNvPr id="3" name="Picture 2" descr="What is the Mark-Recapture Technique?">
            <a:extLst>
              <a:ext uri="{FF2B5EF4-FFF2-40B4-BE49-F238E27FC236}">
                <a16:creationId xmlns:a16="http://schemas.microsoft.com/office/drawing/2014/main" id="{C80D98BB-5593-1AA8-5BAD-77C3ED39B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732660"/>
            <a:ext cx="6780700" cy="339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60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B030D5-9FE1-9560-4B1D-86EEE3D175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025920" y="766917"/>
                <a:ext cx="4959603" cy="4689986"/>
              </a:xfrm>
            </p:spPr>
            <p:txBody>
              <a:bodyPr anchor="b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𝑚𝑎𝑟𝑘𝑒𝑑𝑓𝑖𝑟𝑠𝑡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𝑐𝑎𝑡𝑐h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𝑠𝑒𝑐𝑜𝑛𝑑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𝑐𝑎𝑡𝑐h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𝑚𝑎𝑟𝑘𝑒𝑑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𝑠𝑒𝑐𝑜𝑛𝑑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𝑐𝑎𝑡𝑐h</m:t>
                          </m:r>
                        </m:den>
                      </m:f>
                    </m:oMath>
                  </m:oMathPara>
                </a14:m>
                <a:br>
                  <a:rPr lang="en-US" sz="1800" dirty="0"/>
                </a:br>
                <a:br>
                  <a:rPr lang="en-US" sz="1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10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br>
                  <a:rPr lang="en-US" sz="2400" dirty="0"/>
                </a:b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br>
                  <a:rPr lang="en-US" sz="1800" dirty="0"/>
                </a:br>
                <a:br>
                  <a:rPr lang="en-US" sz="1800" dirty="0"/>
                </a:br>
                <a:br>
                  <a:rPr lang="en-US" sz="1800" dirty="0"/>
                </a:br>
                <a:br>
                  <a:rPr lang="en-US" sz="1800" dirty="0"/>
                </a:br>
                <a:br>
                  <a:rPr lang="en-US" sz="1800" dirty="0"/>
                </a:br>
                <a:br>
                  <a:rPr lang="en-US" sz="1800" dirty="0"/>
                </a:br>
                <a:endParaRPr lang="en-US" sz="1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B030D5-9FE1-9560-4B1D-86EEE3D17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025920" y="766917"/>
                <a:ext cx="4959603" cy="468998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One fish, two fish – Using mark-recapture to estimate ...">
            <a:extLst>
              <a:ext uri="{FF2B5EF4-FFF2-40B4-BE49-F238E27FC236}">
                <a16:creationId xmlns:a16="http://schemas.microsoft.com/office/drawing/2014/main" id="{998B453F-17B5-0E98-45C5-701B1B866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758"/>
          <a:stretch>
            <a:fillRect/>
          </a:stretch>
        </p:blipFill>
        <p:spPr>
          <a:xfrm>
            <a:off x="750739" y="389590"/>
            <a:ext cx="5679558" cy="531210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1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3877C-CE8B-CC19-9977-6AE4E2CD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Try this!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176D0-0D6E-501D-BAEA-8DBA4A9441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548" y="2217343"/>
                <a:ext cx="9880893" cy="3959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Example:</a:t>
                </a:r>
              </a:p>
              <a:p>
                <a:r>
                  <a:rPr lang="en-US" sz="2400" dirty="0"/>
                  <a:t>If 80 field mice are captured, marked, and released into the forest, then a second trapping of 100 field mice is captured, and 20 of them are marked. What is the population of the field mouse in that area?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𝑚𝑎𝑟𝑘𝑒𝑑𝑓𝑖𝑟𝑠𝑡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𝑐𝑎𝑡𝑐h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𝑐𝑎𝑡𝑐h</m:t>
                        </m:r>
                      </m:den>
                    </m:f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80 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100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176D0-0D6E-501D-BAEA-8DBA4A944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548" y="2217343"/>
                <a:ext cx="9880893" cy="3959619"/>
              </a:xfrm>
              <a:blipFill>
                <a:blip r:embed="rId2"/>
                <a:stretch>
                  <a:fillRect l="-988" t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431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42152-CD78-E0C9-26FC-F025D1C8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  <a:highlight>
                  <a:srgbClr val="00FF00"/>
                </a:highlight>
              </a:rPr>
              <a:t>POPULATION DENSITY</a:t>
            </a:r>
            <a:br>
              <a:rPr lang="en-US" sz="31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294856-C648-43F5-8DB6-7EF6CD482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548" y="2217343"/>
                <a:ext cx="9880893" cy="3959619"/>
              </a:xfrm>
            </p:spPr>
            <p:txBody>
              <a:bodyPr>
                <a:normAutofit fontScale="77500" lnSpcReduction="20000"/>
              </a:bodyPr>
              <a:lstStyle/>
              <a:p>
                <a:pPr fontAlgn="t"/>
                <a:r>
                  <a:rPr lang="en-US" dirty="0"/>
                  <a:t>Population density is the </a:t>
                </a:r>
                <a:r>
                  <a:rPr lang="en-US" b="1" dirty="0"/>
                  <a:t>number of individuals per unit area or volume</a:t>
                </a:r>
                <a:r>
                  <a:rPr lang="en-US" dirty="0"/>
                  <a:t>.</a:t>
                </a:r>
              </a:p>
              <a:p>
                <a:pPr fontAlgn="t"/>
                <a:endParaRPr lang="en-US" sz="1100" dirty="0"/>
              </a:p>
              <a:p>
                <a:pPr marL="0" indent="0" fontAlgn="t">
                  <a:buNone/>
                </a:pPr>
                <a:r>
                  <a:rPr lang="en-US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𝑃𝑜𝑝𝑢𝑙𝑎𝑡𝑖𝑜𝑛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𝐷𝑒𝑛𝑠𝑖𝑡𝑦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𝐼𝑛𝑑𝑖𝑣𝑖𝑑𝑢𝑎𝑙𝑠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𝑉𝑜𝑙𝑢𝑚𝑒</m:t>
                        </m:r>
                      </m:den>
                    </m:f>
                  </m:oMath>
                </a14:m>
                <a:endParaRPr lang="en-US" sz="1900" b="0" dirty="0"/>
              </a:p>
              <a:p>
                <a:endParaRPr lang="en-US" sz="1900" b="0" dirty="0"/>
              </a:p>
              <a:p>
                <a:pPr fontAlgn="t"/>
                <a:r>
                  <a:rPr lang="en-US" sz="3100" dirty="0"/>
                  <a:t>It shows </a:t>
                </a:r>
                <a:r>
                  <a:rPr lang="en-US" sz="3100" b="1" dirty="0"/>
                  <a:t>how crowded or spread-out </a:t>
                </a:r>
                <a:r>
                  <a:rPr lang="en-US" sz="3100" dirty="0"/>
                  <a:t>individuals are.</a:t>
                </a:r>
              </a:p>
              <a:p>
                <a:pPr lvl="1" fontAlgn="t"/>
                <a:r>
                  <a:rPr lang="en-US" sz="3100" dirty="0"/>
                  <a:t>High density → more competition for food, water, and space</a:t>
                </a:r>
              </a:p>
              <a:p>
                <a:pPr lvl="1" fontAlgn="t"/>
                <a:r>
                  <a:rPr lang="en-US" sz="3100" dirty="0"/>
                  <a:t>Low density → individuals are more spread out</a:t>
                </a:r>
              </a:p>
              <a:p>
                <a:pPr marL="0" indent="0" fontAlgn="t">
                  <a:buNone/>
                </a:pPr>
                <a:r>
                  <a:rPr lang="en-US" sz="3100" b="1" dirty="0"/>
                  <a:t>Examples:</a:t>
                </a:r>
              </a:p>
              <a:p>
                <a:pPr fontAlgn="t"/>
                <a:r>
                  <a:rPr lang="en-US" sz="3100" dirty="0"/>
                  <a:t>100 plants in 1 square meter → </a:t>
                </a:r>
                <a:r>
                  <a:rPr lang="en-US" sz="3100" b="1" dirty="0"/>
                  <a:t>High density</a:t>
                </a:r>
                <a:endParaRPr lang="en-US" sz="3100" dirty="0"/>
              </a:p>
              <a:p>
                <a:pPr fontAlgn="t"/>
                <a:r>
                  <a:rPr lang="en-US" sz="3100" dirty="0"/>
                  <a:t>100 plants in 1 hectare → </a:t>
                </a:r>
                <a:r>
                  <a:rPr lang="en-US" sz="3100" b="1" dirty="0"/>
                  <a:t>Low density</a:t>
                </a:r>
                <a:endParaRPr lang="en-US" sz="3100" dirty="0"/>
              </a:p>
              <a:p>
                <a:endParaRPr lang="en-US" sz="19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294856-C648-43F5-8DB6-7EF6CD482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548" y="2217343"/>
                <a:ext cx="9880893" cy="3959619"/>
              </a:xfrm>
              <a:blipFill>
                <a:blip r:embed="rId2"/>
                <a:stretch>
                  <a:fillRect l="-988" t="-2928" b="-3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94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25FF1-B4A2-5DD5-1CE5-509DE40B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Examples</a:t>
            </a:r>
            <a:r>
              <a:rPr lang="en-US" sz="4000" b="1" dirty="0"/>
              <a:t>: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037C0-8174-3B94-62D9-981A896DB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fontAlgn="t"/>
            <a:r>
              <a:rPr lang="en-US" sz="2600" b="1" dirty="0"/>
              <a:t>Urban areas (cities)</a:t>
            </a:r>
            <a:r>
              <a:rPr lang="en-US" sz="2600" dirty="0"/>
              <a:t> → high population density.</a:t>
            </a:r>
            <a:br>
              <a:rPr lang="en-US" sz="2600" dirty="0"/>
            </a:br>
            <a:endParaRPr lang="en-US" sz="2600" dirty="0"/>
          </a:p>
          <a:p>
            <a:pPr fontAlgn="t"/>
            <a:r>
              <a:rPr lang="en-US" sz="2600" b="1" dirty="0"/>
              <a:t>Deserts</a:t>
            </a:r>
            <a:r>
              <a:rPr lang="en-US" sz="2600" dirty="0"/>
              <a:t> → low population density</a:t>
            </a:r>
            <a:br>
              <a:rPr lang="en-US" sz="2600" dirty="0"/>
            </a:br>
            <a:endParaRPr lang="en-US" sz="2600" dirty="0"/>
          </a:p>
          <a:p>
            <a:pPr marL="0" indent="0" fontAlgn="t">
              <a:buNone/>
            </a:pPr>
            <a:r>
              <a:rPr lang="en-US" sz="2400" b="1" dirty="0"/>
              <a:t>Why it matters:</a:t>
            </a:r>
            <a:endParaRPr lang="en-US" sz="2400" dirty="0"/>
          </a:p>
          <a:p>
            <a:pPr fontAlgn="t"/>
            <a:r>
              <a:rPr lang="en-US" sz="2400" dirty="0"/>
              <a:t>High density can lead to </a:t>
            </a:r>
          </a:p>
          <a:p>
            <a:pPr lvl="1" fontAlgn="t"/>
            <a:r>
              <a:rPr lang="en-US" dirty="0"/>
              <a:t>Disease spread</a:t>
            </a:r>
          </a:p>
          <a:p>
            <a:pPr lvl="1" fontAlgn="t"/>
            <a:r>
              <a:rPr lang="en-US" dirty="0"/>
              <a:t>Competition</a:t>
            </a:r>
          </a:p>
          <a:p>
            <a:pPr fontAlgn="t"/>
            <a:r>
              <a:rPr lang="en-US" sz="2400" dirty="0"/>
              <a:t>Low density can make </a:t>
            </a:r>
          </a:p>
          <a:p>
            <a:pPr lvl="1" fontAlgn="t"/>
            <a:r>
              <a:rPr lang="en-US" dirty="0"/>
              <a:t>Finding mates difficult.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49451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EA000-5FBF-1E6D-9BB4-9A932639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  <a:highlight>
                  <a:srgbClr val="008000"/>
                </a:highlight>
              </a:rPr>
              <a:t>POPULATION DISTRIBUTION (DISPERSION)</a:t>
            </a:r>
            <a:br>
              <a:rPr lang="en-US" sz="3600" b="1" dirty="0">
                <a:solidFill>
                  <a:schemeClr val="bg1"/>
                </a:solidFill>
                <a:highlight>
                  <a:srgbClr val="008000"/>
                </a:highlight>
              </a:rPr>
            </a:br>
            <a:endParaRPr lang="en-US" sz="1900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8665-7FDB-252D-94BF-F9B84C018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sz="3200" dirty="0"/>
              <a:t>Population distribution refers to </a:t>
            </a:r>
            <a:r>
              <a:rPr lang="en-US" sz="3200" b="1" dirty="0"/>
              <a:t>how individuals are </a:t>
            </a:r>
            <a:r>
              <a:rPr lang="en-US" sz="3200" b="1" dirty="0">
                <a:solidFill>
                  <a:srgbClr val="00B050"/>
                </a:solidFill>
              </a:rPr>
              <a:t>spaced</a:t>
            </a:r>
            <a:r>
              <a:rPr lang="en-US" sz="3200" b="1" dirty="0"/>
              <a:t> within a given area</a:t>
            </a:r>
            <a:r>
              <a:rPr lang="en-US" sz="3200" dirty="0"/>
              <a:t>.</a:t>
            </a:r>
          </a:p>
          <a:p>
            <a:pPr fontAlgn="t"/>
            <a:endParaRPr lang="en-US" sz="2400" dirty="0"/>
          </a:p>
          <a:p>
            <a:pPr marL="0" indent="0" fontAlgn="t">
              <a:buNone/>
            </a:pPr>
            <a:r>
              <a:rPr lang="en-US" dirty="0"/>
              <a:t>Three main types: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b="1" dirty="0"/>
              <a:t>Clumped Distribution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b="1" dirty="0"/>
              <a:t>Uniform Distribution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b="1" dirty="0"/>
              <a:t>Random Distribution</a:t>
            </a:r>
          </a:p>
          <a:p>
            <a:pPr fontAlgn="t"/>
            <a:endParaRPr lang="en-US" sz="2400" b="1" dirty="0"/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150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9FE73-B252-BC1F-4858-E2DCEB39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84" y="402719"/>
            <a:ext cx="5323715" cy="1012723"/>
          </a:xfrm>
        </p:spPr>
        <p:txBody>
          <a:bodyPr anchor="b">
            <a:normAutofit fontScale="90000"/>
          </a:bodyPr>
          <a:lstStyle/>
          <a:p>
            <a:r>
              <a:rPr lang="en-US" sz="3700" b="1" dirty="0"/>
              <a:t>1. Clumped Distribution</a:t>
            </a:r>
            <a:br>
              <a:rPr lang="en-US" sz="3700" b="1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146A-B39A-8292-0C52-864CEE58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811" y="1297859"/>
            <a:ext cx="5973950" cy="4964857"/>
          </a:xfrm>
        </p:spPr>
        <p:txBody>
          <a:bodyPr anchor="t"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Individuals are grouped in patches</a:t>
            </a:r>
            <a:r>
              <a:rPr lang="en-US" dirty="0"/>
              <a:t>.</a:t>
            </a:r>
          </a:p>
          <a:p>
            <a:pPr marL="0" indent="0" fontAlgn="t">
              <a:buNone/>
            </a:pPr>
            <a:endParaRPr lang="en-US" sz="1050" dirty="0"/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b="1" dirty="0"/>
              <a:t>Why did it happen?</a:t>
            </a:r>
          </a:p>
          <a:p>
            <a:pPr lvl="1" fontAlgn="t"/>
            <a:r>
              <a:rPr lang="en-US" sz="2800" dirty="0"/>
              <a:t>Resources are concentrated in certain areas.</a:t>
            </a:r>
          </a:p>
          <a:p>
            <a:pPr lvl="1" fontAlgn="t"/>
            <a:r>
              <a:rPr lang="en-US" sz="2800" dirty="0"/>
              <a:t>Protection from predators.</a:t>
            </a:r>
          </a:p>
          <a:p>
            <a:pPr lvl="1" fontAlgn="t"/>
            <a:r>
              <a:rPr lang="en-US" sz="2800" dirty="0"/>
              <a:t>Social behavior (living in groups).</a:t>
            </a:r>
          </a:p>
          <a:p>
            <a:pPr fontAlgn="t"/>
            <a:endParaRPr lang="en-US" dirty="0"/>
          </a:p>
          <a:p>
            <a:pPr marL="0" indent="0" fontAlgn="t">
              <a:buNone/>
            </a:pPr>
            <a:r>
              <a:rPr lang="en-US" dirty="0"/>
              <a:t>The </a:t>
            </a:r>
            <a:r>
              <a:rPr lang="en-US" b="1" dirty="0"/>
              <a:t>most common </a:t>
            </a:r>
            <a:r>
              <a:rPr lang="en-US" dirty="0"/>
              <a:t>type of distribution in nature.</a:t>
            </a:r>
          </a:p>
          <a:p>
            <a:pPr fontAlgn="t"/>
            <a:endParaRPr lang="en-US" sz="1100" dirty="0"/>
          </a:p>
          <a:p>
            <a:pPr fontAlgn="t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2297C-7311-1B85-9F5A-5CEEB0DB5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297" y="909081"/>
            <a:ext cx="4087869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14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ECCC9-DCEC-DA01-3A0D-3199DBE8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CEFA1-7D67-80D2-7F48-DBA31BCD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106" y="817592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fontAlgn="t">
              <a:buNone/>
            </a:pPr>
            <a:r>
              <a:rPr lang="en-US" sz="2400" b="1" dirty="0"/>
              <a:t>1. African Elephants</a:t>
            </a:r>
          </a:p>
          <a:p>
            <a:pPr fontAlgn="t"/>
            <a:r>
              <a:rPr lang="en-US" sz="2400" dirty="0"/>
              <a:t>Elephants gather in groups around </a:t>
            </a:r>
            <a:r>
              <a:rPr lang="en-US" sz="2400" b="1" dirty="0"/>
              <a:t>rivers and watering holes</a:t>
            </a:r>
            <a:r>
              <a:rPr lang="en-US" sz="2400" dirty="0"/>
              <a:t>, especially during dry seasons.</a:t>
            </a:r>
          </a:p>
          <a:p>
            <a:pPr marL="0" indent="0" fontAlgn="t">
              <a:buNone/>
            </a:pPr>
            <a:r>
              <a:rPr lang="en-US" sz="2400" b="1" dirty="0"/>
              <a:t>Reason:</a:t>
            </a:r>
            <a:r>
              <a:rPr lang="en-US" sz="2400" dirty="0"/>
              <a:t> </a:t>
            </a:r>
          </a:p>
          <a:p>
            <a:pPr lvl="1" fontAlgn="t"/>
            <a:r>
              <a:rPr lang="en-US" sz="2000" dirty="0"/>
              <a:t>Water is limited and found only in certain places.</a:t>
            </a:r>
          </a:p>
          <a:p>
            <a:pPr fontAlgn="t"/>
            <a:endParaRPr lang="en-US" sz="2000" dirty="0"/>
          </a:p>
          <a:p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E0BAC3-93C0-E921-662D-2AA00F3C7D08}"/>
              </a:ext>
            </a:extLst>
          </p:cNvPr>
          <p:cNvSpPr txBox="1">
            <a:spLocks/>
          </p:cNvSpPr>
          <p:nvPr/>
        </p:nvSpPr>
        <p:spPr>
          <a:xfrm>
            <a:off x="8450100" y="817592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2400" b="1" dirty="0"/>
              <a:t>2. Schools of Fish</a:t>
            </a:r>
          </a:p>
          <a:p>
            <a:pPr fontAlgn="t"/>
            <a:r>
              <a:rPr lang="en-US" sz="2400" dirty="0"/>
              <a:t>Fish such as </a:t>
            </a:r>
            <a:r>
              <a:rPr lang="en-US" sz="2400" b="1" dirty="0"/>
              <a:t>sardines or tuna</a:t>
            </a:r>
            <a:r>
              <a:rPr lang="en-US" sz="2400" dirty="0"/>
              <a:t> move in large groups in the ocean.</a:t>
            </a:r>
          </a:p>
          <a:p>
            <a:pPr marL="0" indent="0" fontAlgn="t">
              <a:buNone/>
            </a:pPr>
            <a:r>
              <a:rPr lang="en-US" sz="2400" b="1" dirty="0"/>
              <a:t>Reason:</a:t>
            </a:r>
            <a:r>
              <a:rPr lang="en-US" sz="2400" dirty="0"/>
              <a:t> </a:t>
            </a:r>
          </a:p>
          <a:p>
            <a:pPr lvl="1" fontAlgn="t"/>
            <a:r>
              <a:rPr lang="en-US" sz="2000" dirty="0"/>
              <a:t>Protection from predators.</a:t>
            </a:r>
          </a:p>
          <a:p>
            <a:pPr lvl="1" fontAlgn="t"/>
            <a:r>
              <a:rPr lang="en-US" sz="2000" dirty="0"/>
              <a:t>Easier to find food.</a:t>
            </a:r>
          </a:p>
          <a:p>
            <a:pPr marL="0" fontAlgn="t"/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Amazing African elephant facts (Infographic)">
            <a:extLst>
              <a:ext uri="{FF2B5EF4-FFF2-40B4-BE49-F238E27FC236}">
                <a16:creationId xmlns:a16="http://schemas.microsoft.com/office/drawing/2014/main" id="{A4D51CD3-C691-4212-662E-806C5E53E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278" y="4542220"/>
            <a:ext cx="2910960" cy="1940640"/>
          </a:xfrm>
          <a:prstGeom prst="rect">
            <a:avLst/>
          </a:prstGeom>
        </p:spPr>
      </p:pic>
      <p:pic>
        <p:nvPicPr>
          <p:cNvPr id="6" name="Picture 5" descr="Sardine run South Africa | The best spots &amp; when to go">
            <a:extLst>
              <a:ext uri="{FF2B5EF4-FFF2-40B4-BE49-F238E27FC236}">
                <a16:creationId xmlns:a16="http://schemas.microsoft.com/office/drawing/2014/main" id="{25DE7F66-B028-F60D-825A-AB0C5A7F3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559" y="4542220"/>
            <a:ext cx="2912781" cy="194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73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916AF-3EAE-887C-10BF-F09312C3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ED284-968D-9AB7-B0F7-F37FB941B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1242" y="39187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fontAlgn="t">
              <a:buNone/>
            </a:pPr>
            <a:r>
              <a:rPr lang="en-US" sz="2400" b="1" dirty="0"/>
              <a:t>3. Human Populations (Cities)</a:t>
            </a:r>
          </a:p>
          <a:p>
            <a:pPr fontAlgn="t"/>
            <a:r>
              <a:rPr lang="en-US" sz="2400" dirty="0"/>
              <a:t>People live </a:t>
            </a:r>
            <a:r>
              <a:rPr lang="en-US" sz="2400" b="1" dirty="0"/>
              <a:t>close together in cities</a:t>
            </a:r>
            <a:r>
              <a:rPr lang="en-US" sz="2400" dirty="0"/>
              <a:t> like Manila, Tokyo, or New York.</a:t>
            </a:r>
          </a:p>
          <a:p>
            <a:pPr marL="0" indent="0" fontAlgn="t">
              <a:buNone/>
            </a:pPr>
            <a:r>
              <a:rPr lang="en-US" sz="2400" b="1" dirty="0"/>
              <a:t>Reason:</a:t>
            </a:r>
            <a:r>
              <a:rPr lang="en-US" sz="2400" dirty="0"/>
              <a:t> </a:t>
            </a:r>
          </a:p>
          <a:p>
            <a:pPr lvl="1" fontAlgn="t"/>
            <a:r>
              <a:rPr lang="en-US" sz="2000" dirty="0"/>
              <a:t>Jobs</a:t>
            </a:r>
          </a:p>
          <a:p>
            <a:pPr lvl="1" fontAlgn="t"/>
            <a:r>
              <a:rPr lang="en-US" sz="2000" dirty="0"/>
              <a:t>Access to services (schools, hospitals)</a:t>
            </a:r>
          </a:p>
          <a:p>
            <a:pPr lvl="1" fontAlgn="t"/>
            <a:r>
              <a:rPr lang="en-US" sz="2000" dirty="0"/>
              <a:t>Transportation</a:t>
            </a:r>
          </a:p>
          <a:p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FA7BD3-B5DD-FB47-41DE-E573ACA5E90F}"/>
              </a:ext>
            </a:extLst>
          </p:cNvPr>
          <p:cNvSpPr txBox="1">
            <a:spLocks/>
          </p:cNvSpPr>
          <p:nvPr/>
        </p:nvSpPr>
        <p:spPr>
          <a:xfrm>
            <a:off x="8442204" y="313221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2600" b="1" dirty="0"/>
              <a:t>4. Trees in Fertile Areas</a:t>
            </a:r>
          </a:p>
          <a:p>
            <a:pPr fontAlgn="t"/>
            <a:r>
              <a:rPr lang="en-US" sz="2600" dirty="0"/>
              <a:t>Trees often grow in </a:t>
            </a:r>
            <a:r>
              <a:rPr lang="en-US" sz="2600" b="1" dirty="0"/>
              <a:t>clusters where soil and water are favorable</a:t>
            </a:r>
            <a:r>
              <a:rPr lang="en-US" sz="2600" dirty="0"/>
              <a:t>.</a:t>
            </a:r>
          </a:p>
          <a:p>
            <a:pPr fontAlgn="t"/>
            <a:r>
              <a:rPr lang="en-US" sz="2600" b="1" dirty="0"/>
              <a:t>Example:</a:t>
            </a:r>
            <a:r>
              <a:rPr lang="en-US" sz="2600" dirty="0"/>
              <a:t> Mangrove forests along coastal areas.</a:t>
            </a:r>
          </a:p>
          <a:p>
            <a:pPr marL="0" indent="0" fontAlgn="t">
              <a:buNone/>
            </a:pPr>
            <a:r>
              <a:rPr lang="en-US" sz="2600" b="1" dirty="0"/>
              <a:t>Reason:</a:t>
            </a:r>
            <a:r>
              <a:rPr lang="en-US" sz="2600" dirty="0"/>
              <a:t> </a:t>
            </a:r>
          </a:p>
          <a:p>
            <a:pPr lvl="1" fontAlgn="t"/>
            <a:r>
              <a:rPr lang="en-US" sz="2200" dirty="0"/>
              <a:t>Suitable environmental conditions exist only in certain places.</a:t>
            </a:r>
          </a:p>
          <a:p>
            <a:endParaRPr lang="en-US" sz="2000" dirty="0"/>
          </a:p>
        </p:txBody>
      </p:sp>
      <p:pic>
        <p:nvPicPr>
          <p:cNvPr id="5" name="Picture 4" descr="9,664 Coastal Mangrove Stock Photos - Free &amp; Royalty-Free ...">
            <a:extLst>
              <a:ext uri="{FF2B5EF4-FFF2-40B4-BE49-F238E27FC236}">
                <a16:creationId xmlns:a16="http://schemas.microsoft.com/office/drawing/2014/main" id="{6A03B758-73D3-4971-C23F-683333D51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860" y="4500084"/>
            <a:ext cx="2634028" cy="1754921"/>
          </a:xfrm>
          <a:prstGeom prst="rect">
            <a:avLst/>
          </a:prstGeom>
        </p:spPr>
      </p:pic>
      <p:pic>
        <p:nvPicPr>
          <p:cNvPr id="6" name="Picture 5" descr="Colliers | Bonifacio Global City: Former military camp has ...">
            <a:extLst>
              <a:ext uri="{FF2B5EF4-FFF2-40B4-BE49-F238E27FC236}">
                <a16:creationId xmlns:a16="http://schemas.microsoft.com/office/drawing/2014/main" id="{49D12896-4570-9C96-399C-B588FB4B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855" y="4471548"/>
            <a:ext cx="2634028" cy="178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39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D6D4D-86E7-A7E0-60AB-C3B8EB91D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619E-E0CC-5250-BC0D-F1E58EA2C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782" y="311276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fontAlgn="t">
              <a:buNone/>
            </a:pPr>
            <a:r>
              <a:rPr lang="en-US" sz="2400" b="1" dirty="0"/>
              <a:t>5. Ant Colonies</a:t>
            </a:r>
          </a:p>
          <a:p>
            <a:pPr fontAlgn="t"/>
            <a:r>
              <a:rPr lang="en-US" sz="2400" dirty="0"/>
              <a:t>Ants live together in </a:t>
            </a:r>
            <a:r>
              <a:rPr lang="en-US" sz="2400" b="1" dirty="0"/>
              <a:t>colonies or nests</a:t>
            </a:r>
            <a:r>
              <a:rPr lang="en-US" sz="2400" dirty="0"/>
              <a:t>.</a:t>
            </a:r>
          </a:p>
          <a:p>
            <a:pPr marL="0" indent="0" fontAlgn="t">
              <a:buNone/>
            </a:pPr>
            <a:r>
              <a:rPr lang="en-US" b="1" dirty="0"/>
              <a:t>Reason:</a:t>
            </a:r>
            <a:r>
              <a:rPr lang="en-US" dirty="0"/>
              <a:t> </a:t>
            </a:r>
          </a:p>
          <a:p>
            <a:pPr lvl="1" fontAlgn="t"/>
            <a:r>
              <a:rPr lang="en-US" sz="2000" dirty="0"/>
              <a:t>Social behavior and cooperation</a:t>
            </a:r>
          </a:p>
          <a:p>
            <a:pPr fontAlgn="t"/>
            <a:r>
              <a:rPr lang="en-US" sz="2400" dirty="0"/>
              <a:t>Example: Anthills found in yards or forests.</a:t>
            </a:r>
          </a:p>
          <a:p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12EA3E-CA38-CC6A-5620-210E6D89653B}"/>
              </a:ext>
            </a:extLst>
          </p:cNvPr>
          <p:cNvSpPr txBox="1">
            <a:spLocks/>
          </p:cNvSpPr>
          <p:nvPr/>
        </p:nvSpPr>
        <p:spPr>
          <a:xfrm>
            <a:off x="8451678" y="311276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2400" b="1" dirty="0"/>
              <a:t>6. Penguin Colonies</a:t>
            </a:r>
          </a:p>
          <a:p>
            <a:pPr fontAlgn="t"/>
            <a:r>
              <a:rPr lang="en-US" sz="2400" dirty="0"/>
              <a:t>Penguins gather in large groups during breeding season.</a:t>
            </a:r>
          </a:p>
          <a:p>
            <a:pPr fontAlgn="t"/>
            <a:r>
              <a:rPr lang="en-US" sz="2400" b="1" dirty="0"/>
              <a:t>Reason:</a:t>
            </a:r>
            <a:r>
              <a:rPr lang="en-US" sz="2400" dirty="0"/>
              <a:t> </a:t>
            </a:r>
          </a:p>
          <a:p>
            <a:pPr lvl="1" fontAlgn="t"/>
            <a:r>
              <a:rPr lang="en-US" sz="2000" dirty="0"/>
              <a:t>Protection against predators.</a:t>
            </a:r>
          </a:p>
          <a:p>
            <a:pPr lvl="1" fontAlgn="t"/>
            <a:r>
              <a:rPr lang="en-US" sz="2000" dirty="0"/>
              <a:t>Warmth in cold environments.</a:t>
            </a:r>
          </a:p>
          <a:p>
            <a:pPr fontAlgn="t"/>
            <a:r>
              <a:rPr lang="en-US" sz="2000" dirty="0"/>
              <a:t>Example: Emperor penguins in Antarctica.</a:t>
            </a:r>
          </a:p>
          <a:p>
            <a:endParaRPr lang="en-US" sz="2000" dirty="0"/>
          </a:p>
        </p:txBody>
      </p:sp>
      <p:pic>
        <p:nvPicPr>
          <p:cNvPr id="6" name="Picture 5" descr="close up view of an ant hill or ant colony made of mud. Home for ants in  their natural habitat. 47572494 Stock Photo at Vecteezy">
            <a:extLst>
              <a:ext uri="{FF2B5EF4-FFF2-40B4-BE49-F238E27FC236}">
                <a16:creationId xmlns:a16="http://schemas.microsoft.com/office/drawing/2014/main" id="{CD5774E3-A731-F14A-675E-261F1DD2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05" y="4675120"/>
            <a:ext cx="3328636" cy="1869913"/>
          </a:xfrm>
          <a:prstGeom prst="rect">
            <a:avLst/>
          </a:prstGeom>
        </p:spPr>
      </p:pic>
      <p:pic>
        <p:nvPicPr>
          <p:cNvPr id="7" name="Picture 6" descr="The Penguins of Antarctica | Antarctica | EYOS Expeditions">
            <a:extLst>
              <a:ext uri="{FF2B5EF4-FFF2-40B4-BE49-F238E27FC236}">
                <a16:creationId xmlns:a16="http://schemas.microsoft.com/office/drawing/2014/main" id="{DEC205D1-9DC1-D59E-5187-515CFF947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382" y="4675120"/>
            <a:ext cx="3324291" cy="186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4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4753E-1069-F282-54D8-80ED5202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D080F-AC22-3534-BBF3-778D01D1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2358" y="429263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fontAlgn="t">
              <a:buNone/>
            </a:pPr>
            <a:r>
              <a:rPr lang="en-US" sz="2400" b="1" dirty="0"/>
              <a:t>7. Grazing Animals (Cows, Zebras, Wildebeest)</a:t>
            </a:r>
          </a:p>
          <a:p>
            <a:pPr fontAlgn="t"/>
            <a:r>
              <a:rPr lang="en-US" sz="2400" dirty="0"/>
              <a:t>Herbivores gather in </a:t>
            </a:r>
            <a:r>
              <a:rPr lang="en-US" sz="2400" b="1" dirty="0"/>
              <a:t>herds</a:t>
            </a:r>
            <a:r>
              <a:rPr lang="en-US" sz="2400" dirty="0"/>
              <a:t> in grasslands.</a:t>
            </a:r>
          </a:p>
          <a:p>
            <a:pPr fontAlgn="t"/>
            <a:r>
              <a:rPr lang="en-US" sz="2400" b="1" dirty="0"/>
              <a:t>Reason:</a:t>
            </a:r>
            <a:r>
              <a:rPr lang="en-US" sz="2400" dirty="0"/>
              <a:t> </a:t>
            </a:r>
          </a:p>
          <a:p>
            <a:pPr lvl="1" fontAlgn="t"/>
            <a:r>
              <a:rPr lang="en-US" dirty="0"/>
              <a:t>Safety in numbers</a:t>
            </a:r>
          </a:p>
          <a:p>
            <a:pPr lvl="1" fontAlgn="t"/>
            <a:r>
              <a:rPr lang="en-US" dirty="0"/>
              <a:t>Availability of grass</a:t>
            </a:r>
          </a:p>
          <a:p>
            <a:pPr fontAlgn="t"/>
            <a:r>
              <a:rPr lang="en-US" sz="2400" dirty="0"/>
              <a:t>Example: Wildebeest migration in Africa</a:t>
            </a:r>
          </a:p>
          <a:p>
            <a:endParaRPr lang="en-US" sz="1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840F50-AA65-D9B3-ADDD-925FA04C0447}"/>
              </a:ext>
            </a:extLst>
          </p:cNvPr>
          <p:cNvSpPr txBox="1">
            <a:spLocks/>
          </p:cNvSpPr>
          <p:nvPr/>
        </p:nvSpPr>
        <p:spPr>
          <a:xfrm>
            <a:off x="8450102" y="429263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2400" b="1" dirty="0"/>
              <a:t>8. Bird Nesting Colonies</a:t>
            </a:r>
          </a:p>
          <a:p>
            <a:pPr fontAlgn="t"/>
            <a:r>
              <a:rPr lang="en-US" sz="2400" dirty="0"/>
              <a:t>Birds like </a:t>
            </a:r>
            <a:r>
              <a:rPr lang="en-US" sz="2400" b="1" dirty="0"/>
              <a:t>herons or seagulls</a:t>
            </a:r>
            <a:r>
              <a:rPr lang="en-US" sz="2400" dirty="0"/>
              <a:t> nest close together.</a:t>
            </a:r>
          </a:p>
          <a:p>
            <a:pPr fontAlgn="t"/>
            <a:r>
              <a:rPr lang="en-US" sz="2400" b="1" dirty="0"/>
              <a:t>Reason:</a:t>
            </a:r>
            <a:r>
              <a:rPr lang="en-US" sz="2400" dirty="0"/>
              <a:t> </a:t>
            </a:r>
          </a:p>
          <a:p>
            <a:pPr lvl="1" fontAlgn="t"/>
            <a:r>
              <a:rPr lang="en-US" sz="2000" dirty="0"/>
              <a:t>Protection and breeding advantage</a:t>
            </a:r>
          </a:p>
          <a:p>
            <a:pPr fontAlgn="t"/>
            <a:r>
              <a:rPr lang="en-US" sz="2400" dirty="0"/>
              <a:t>Example: Seagulls nesting on cliffs</a:t>
            </a:r>
          </a:p>
          <a:p>
            <a:endParaRPr lang="en-US" sz="1400" dirty="0"/>
          </a:p>
        </p:txBody>
      </p:sp>
      <p:pic>
        <p:nvPicPr>
          <p:cNvPr id="5" name="Picture 4" descr="Great Wildebeest Migration- When is the best time to see it?">
            <a:extLst>
              <a:ext uri="{FF2B5EF4-FFF2-40B4-BE49-F238E27FC236}">
                <a16:creationId xmlns:a16="http://schemas.microsoft.com/office/drawing/2014/main" id="{36240337-D1A3-0808-5130-6C95CB9F3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174" y="4481052"/>
            <a:ext cx="2750573" cy="2062930"/>
          </a:xfrm>
          <a:prstGeom prst="rect">
            <a:avLst/>
          </a:prstGeom>
        </p:spPr>
      </p:pic>
      <p:pic>
        <p:nvPicPr>
          <p:cNvPr id="6" name="Picture 5" descr="Seagulls Nesting on Cliffs of Mykines, Faroe Islands Stock ...">
            <a:extLst>
              <a:ext uri="{FF2B5EF4-FFF2-40B4-BE49-F238E27FC236}">
                <a16:creationId xmlns:a16="http://schemas.microsoft.com/office/drawing/2014/main" id="{F61C54E4-A47E-9AA1-6A9C-ADB4C7642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102" y="4481053"/>
            <a:ext cx="3090530" cy="20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17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72618-237B-F693-F469-179F7438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Example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FF540-9A6E-1A53-DAC7-E255CF2F1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400" b="1" dirty="0"/>
              <a:t>9. Mushrooms After Rain</a:t>
            </a:r>
          </a:p>
          <a:p>
            <a:pPr fontAlgn="t"/>
            <a:r>
              <a:rPr lang="en-US" sz="2400" dirty="0"/>
              <a:t>Mushrooms often grow in </a:t>
            </a:r>
            <a:r>
              <a:rPr lang="en-US" sz="2400" b="1" dirty="0"/>
              <a:t>clusters in moist areas</a:t>
            </a:r>
            <a:r>
              <a:rPr lang="en-US" sz="2400" dirty="0"/>
              <a:t>.</a:t>
            </a:r>
          </a:p>
          <a:p>
            <a:pPr marL="0" indent="0" fontAlgn="t">
              <a:buNone/>
            </a:pPr>
            <a:r>
              <a:rPr lang="en-US" sz="2400" b="1" dirty="0"/>
              <a:t>Reason:</a:t>
            </a:r>
          </a:p>
          <a:p>
            <a:pPr lvl="1" fontAlgn="t"/>
            <a:r>
              <a:rPr lang="en-US" sz="2000" dirty="0"/>
              <a:t> Favorable conditions (moisture, organic matter)</a:t>
            </a:r>
          </a:p>
          <a:p>
            <a:endParaRPr lang="en-US" sz="2400" dirty="0"/>
          </a:p>
        </p:txBody>
      </p:sp>
      <p:pic>
        <p:nvPicPr>
          <p:cNvPr id="4" name="Picture 3" descr="Mushrooms after the rain stock image. Image of vegetation ...">
            <a:extLst>
              <a:ext uri="{FF2B5EF4-FFF2-40B4-BE49-F238E27FC236}">
                <a16:creationId xmlns:a16="http://schemas.microsoft.com/office/drawing/2014/main" id="{762EA1BA-027B-D413-8AAA-63C5F6CE0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029" y="3305703"/>
            <a:ext cx="4660760" cy="311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29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149BF-17BF-F369-EE3F-C47CE6A8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346445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2. Uniform Distribution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5EBD3-6957-272C-1D5C-F7F367F2D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1933945"/>
            <a:ext cx="5315189" cy="4162055"/>
          </a:xfrm>
        </p:spPr>
        <p:txBody>
          <a:bodyPr anchor="t">
            <a:normAutofit/>
          </a:bodyPr>
          <a:lstStyle/>
          <a:p>
            <a:pPr fontAlgn="t"/>
            <a:r>
              <a:rPr lang="en-US" dirty="0"/>
              <a:t>Individuals are </a:t>
            </a:r>
            <a:r>
              <a:rPr lang="en-US" b="1" dirty="0"/>
              <a:t>evenly spaced </a:t>
            </a:r>
            <a:r>
              <a:rPr lang="en-US" dirty="0"/>
              <a:t>from each other.</a:t>
            </a:r>
          </a:p>
          <a:p>
            <a:pPr fontAlgn="t"/>
            <a:endParaRPr lang="en-US" sz="1400" dirty="0"/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b="1" dirty="0"/>
              <a:t>Why did it happen?</a:t>
            </a:r>
          </a:p>
          <a:p>
            <a:pPr lvl="1" fontAlgn="t"/>
            <a:r>
              <a:rPr lang="en-US" sz="2800" dirty="0"/>
              <a:t>Competition for resources.</a:t>
            </a:r>
          </a:p>
          <a:p>
            <a:pPr lvl="1" fontAlgn="t"/>
            <a:r>
              <a:rPr lang="en-US" sz="2800" dirty="0"/>
              <a:t>Territorial behavior.</a:t>
            </a:r>
          </a:p>
          <a:p>
            <a:pPr fontAlgn="t"/>
            <a:endParaRPr lang="en-US" sz="1600" dirty="0"/>
          </a:p>
          <a:p>
            <a:pPr marL="0" indent="0" fontAlgn="t">
              <a:buNone/>
            </a:pPr>
            <a:r>
              <a:rPr lang="en-US" dirty="0"/>
              <a:t>Spacing is regular because individuals repel each other.</a:t>
            </a:r>
          </a:p>
          <a:p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4ACF3-2566-EF04-A7E1-F72AF782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48" y="909081"/>
            <a:ext cx="3958767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74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C63567-9A18-430B-817B-152D609F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CA418-B968-82C0-7052-B9962ED16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092" y="763487"/>
            <a:ext cx="4766564" cy="1079802"/>
          </a:xfrm>
        </p:spPr>
        <p:txBody>
          <a:bodyPr anchor="b"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Examples:</a:t>
            </a:r>
            <a:br>
              <a:rPr lang="en-US" sz="4000" b="1" dirty="0"/>
            </a:br>
            <a:endParaRPr lang="en-US" sz="4000" dirty="0"/>
          </a:p>
        </p:txBody>
      </p:sp>
      <p:pic>
        <p:nvPicPr>
          <p:cNvPr id="4" name="Picture 3" descr="Group Penguins 3d Render Stock Illustration 2701764 | Shutterstock">
            <a:extLst>
              <a:ext uri="{FF2B5EF4-FFF2-40B4-BE49-F238E27FC236}">
                <a16:creationId xmlns:a16="http://schemas.microsoft.com/office/drawing/2014/main" id="{E14B88D2-7E64-5ADE-AAD1-55F689EE5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77"/>
          <a:stretch>
            <a:fillRect/>
          </a:stretch>
        </p:blipFill>
        <p:spPr>
          <a:xfrm>
            <a:off x="189569" y="170173"/>
            <a:ext cx="2805577" cy="3172964"/>
          </a:xfrm>
          <a:prstGeom prst="rect">
            <a:avLst/>
          </a:prstGeom>
        </p:spPr>
      </p:pic>
      <p:pic>
        <p:nvPicPr>
          <p:cNvPr id="7" name="Picture 6" descr="1 hectare combined fruit orchard layout plan A 1 hectare ...">
            <a:extLst>
              <a:ext uri="{FF2B5EF4-FFF2-40B4-BE49-F238E27FC236}">
                <a16:creationId xmlns:a16="http://schemas.microsoft.com/office/drawing/2014/main" id="{9A8CAC78-5608-25FF-F4FF-1DA431B0B7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49" r="7066" b="2"/>
          <a:stretch>
            <a:fillRect/>
          </a:stretch>
        </p:blipFill>
        <p:spPr>
          <a:xfrm>
            <a:off x="3184713" y="170176"/>
            <a:ext cx="3004886" cy="2618960"/>
          </a:xfrm>
          <a:prstGeom prst="rect">
            <a:avLst/>
          </a:prstGeom>
        </p:spPr>
      </p:pic>
      <p:pic>
        <p:nvPicPr>
          <p:cNvPr id="5" name="Picture 4" descr="Seabird City Spectacular - 10,000 Birds">
            <a:extLst>
              <a:ext uri="{FF2B5EF4-FFF2-40B4-BE49-F238E27FC236}">
                <a16:creationId xmlns:a16="http://schemas.microsoft.com/office/drawing/2014/main" id="{3F54D2E1-DA88-E9C4-DD5D-E0D1E84D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58" r="10070" b="-4"/>
          <a:stretch>
            <a:fillRect/>
          </a:stretch>
        </p:blipFill>
        <p:spPr>
          <a:xfrm>
            <a:off x="189570" y="3510992"/>
            <a:ext cx="2805577" cy="2614912"/>
          </a:xfrm>
          <a:prstGeom prst="rect">
            <a:avLst/>
          </a:prstGeom>
        </p:spPr>
      </p:pic>
      <p:pic>
        <p:nvPicPr>
          <p:cNvPr id="6" name="Picture 5" descr="Saguaro Cactus Photo Spots in Phoenix | Desert Guide">
            <a:extLst>
              <a:ext uri="{FF2B5EF4-FFF2-40B4-BE49-F238E27FC236}">
                <a16:creationId xmlns:a16="http://schemas.microsoft.com/office/drawing/2014/main" id="{B4825017-7636-EF52-377F-F05DEC18A4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58" r="17821" b="1"/>
          <a:stretch>
            <a:fillRect/>
          </a:stretch>
        </p:blipFill>
        <p:spPr>
          <a:xfrm>
            <a:off x="3184715" y="2957667"/>
            <a:ext cx="3004885" cy="316823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B2EBF-A323-92B9-3562-FCE0C7F15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020" y="1843289"/>
            <a:ext cx="5340088" cy="3171422"/>
          </a:xfrm>
        </p:spPr>
        <p:txBody>
          <a:bodyPr>
            <a:normAutofit/>
          </a:bodyPr>
          <a:lstStyle/>
          <a:p>
            <a:pPr fontAlgn="t"/>
            <a:r>
              <a:rPr lang="en-US" sz="2400" b="1" dirty="0"/>
              <a:t>Penguins</a:t>
            </a:r>
            <a:r>
              <a:rPr lang="en-US" sz="2400" dirty="0"/>
              <a:t> nesting at equal distances.</a:t>
            </a:r>
          </a:p>
          <a:p>
            <a:pPr fontAlgn="t"/>
            <a:r>
              <a:rPr lang="en-US" sz="2400" b="1" dirty="0"/>
              <a:t>Birds</a:t>
            </a:r>
            <a:r>
              <a:rPr lang="en-US" sz="2400" dirty="0"/>
              <a:t> defending territories.</a:t>
            </a:r>
          </a:p>
          <a:p>
            <a:pPr fontAlgn="t"/>
            <a:r>
              <a:rPr lang="en-US" sz="2400" dirty="0"/>
              <a:t>Trees in an </a:t>
            </a:r>
            <a:r>
              <a:rPr lang="en-US" sz="2400" b="1" dirty="0"/>
              <a:t>orchard plantation</a:t>
            </a:r>
            <a:r>
              <a:rPr lang="en-US" sz="2400" dirty="0"/>
              <a:t> (planted by humans in rows).</a:t>
            </a:r>
          </a:p>
          <a:p>
            <a:pPr fontAlgn="t"/>
            <a:r>
              <a:rPr lang="en-US" sz="2400" b="1" dirty="0"/>
              <a:t>Desert plants</a:t>
            </a:r>
            <a:r>
              <a:rPr lang="en-US" sz="2400" dirty="0"/>
              <a:t> (like cacti) are spaced apart to avoid competition for water.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9814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E19F2-BD24-DE9C-1C9A-1AF96A9C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316948"/>
          </a:xfrm>
        </p:spPr>
        <p:txBody>
          <a:bodyPr anchor="b">
            <a:normAutofit fontScale="90000"/>
          </a:bodyPr>
          <a:lstStyle/>
          <a:p>
            <a:br>
              <a:rPr lang="en-US" sz="3700" b="1" dirty="0"/>
            </a:br>
            <a:r>
              <a:rPr lang="en-US" sz="3700" b="1" dirty="0"/>
              <a:t>3. Random Distribution</a:t>
            </a:r>
            <a:br>
              <a:rPr lang="en-US" sz="3700" b="1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7D649-B043-9293-F0D4-8E21BF315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1818968"/>
            <a:ext cx="5315189" cy="4122009"/>
          </a:xfrm>
        </p:spPr>
        <p:txBody>
          <a:bodyPr anchor="t">
            <a:normAutofit fontScale="92500"/>
          </a:bodyPr>
          <a:lstStyle/>
          <a:p>
            <a:pPr fontAlgn="t"/>
            <a:r>
              <a:rPr lang="en-US" dirty="0"/>
              <a:t>Individuals are spread </a:t>
            </a:r>
            <a:r>
              <a:rPr lang="en-US" b="1" dirty="0"/>
              <a:t>randomly</a:t>
            </a:r>
            <a:r>
              <a:rPr lang="en-US" dirty="0"/>
              <a:t> with no predictable pattern.</a:t>
            </a:r>
          </a:p>
          <a:p>
            <a:pPr fontAlgn="t"/>
            <a:endParaRPr lang="en-US" dirty="0"/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b="1" dirty="0"/>
              <a:t>Why did it happen?</a:t>
            </a:r>
          </a:p>
          <a:p>
            <a:pPr lvl="1" fontAlgn="t"/>
            <a:r>
              <a:rPr lang="en-US" sz="2800" dirty="0"/>
              <a:t>Environment is uniform.</a:t>
            </a:r>
          </a:p>
          <a:p>
            <a:pPr lvl="1" fontAlgn="t"/>
            <a:r>
              <a:rPr lang="en-US" sz="2800" dirty="0"/>
              <a:t>Individuals do not strongly attract or repel each other.</a:t>
            </a:r>
          </a:p>
          <a:p>
            <a:pPr lvl="1" fontAlgn="t"/>
            <a:endParaRPr lang="en-US" sz="2800" dirty="0"/>
          </a:p>
          <a:p>
            <a:pPr marL="0" indent="0" fontAlgn="t">
              <a:buNone/>
            </a:pPr>
            <a:r>
              <a:rPr lang="en-US" dirty="0"/>
              <a:t>The </a:t>
            </a:r>
            <a:r>
              <a:rPr lang="en-US" b="1" dirty="0"/>
              <a:t>least </a:t>
            </a:r>
            <a:r>
              <a:rPr lang="en-US" dirty="0"/>
              <a:t>common type in nature.</a:t>
            </a:r>
          </a:p>
          <a:p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199A63-0672-09CD-6102-FACF8E933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522" y="909081"/>
            <a:ext cx="4161420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87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BE1108-6423-4E53-85A1-81768304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25E83-D741-2E0D-346E-2D6B42F6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366" y="543070"/>
            <a:ext cx="6870954" cy="1675626"/>
          </a:xfrm>
        </p:spPr>
        <p:txBody>
          <a:bodyPr>
            <a:normAutofit/>
          </a:bodyPr>
          <a:lstStyle/>
          <a:p>
            <a:br>
              <a:rPr lang="en-US" sz="3700" b="1"/>
            </a:br>
            <a:r>
              <a:rPr lang="en-US" sz="3700" b="1"/>
              <a:t>Examples</a:t>
            </a:r>
            <a:br>
              <a:rPr lang="en-US" sz="3700" b="1"/>
            </a:br>
            <a:endParaRPr lang="en-US" sz="3700"/>
          </a:p>
        </p:txBody>
      </p:sp>
      <p:pic>
        <p:nvPicPr>
          <p:cNvPr id="5" name="Picture 4" descr="Wildflowers on highway in New Braunfels, Texas">
            <a:extLst>
              <a:ext uri="{FF2B5EF4-FFF2-40B4-BE49-F238E27FC236}">
                <a16:creationId xmlns:a16="http://schemas.microsoft.com/office/drawing/2014/main" id="{4EFD3A29-08E4-FDDA-3011-2FFB5F90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86" b="24146"/>
          <a:stretch>
            <a:fillRect/>
          </a:stretch>
        </p:blipFill>
        <p:spPr>
          <a:xfrm>
            <a:off x="20" y="1"/>
            <a:ext cx="4187091" cy="2164321"/>
          </a:xfrm>
          <a:prstGeom prst="rect">
            <a:avLst/>
          </a:prstGeom>
        </p:spPr>
      </p:pic>
      <p:pic>
        <p:nvPicPr>
          <p:cNvPr id="6" name="Picture 5" descr="A group of insects on a tiled surface with food crumbs ...">
            <a:extLst>
              <a:ext uri="{FF2B5EF4-FFF2-40B4-BE49-F238E27FC236}">
                <a16:creationId xmlns:a16="http://schemas.microsoft.com/office/drawing/2014/main" id="{D9B8EF42-F720-3458-3BBB-0FEEC7165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55" r="3" b="3"/>
          <a:stretch>
            <a:fillRect/>
          </a:stretch>
        </p:blipFill>
        <p:spPr>
          <a:xfrm>
            <a:off x="20" y="2342320"/>
            <a:ext cx="4187091" cy="2164321"/>
          </a:xfrm>
          <a:prstGeom prst="rect">
            <a:avLst/>
          </a:prstGeom>
        </p:spPr>
      </p:pic>
      <p:pic>
        <p:nvPicPr>
          <p:cNvPr id="4" name="Picture 3" descr="I know, many will totally disagree with me, but I love ...">
            <a:extLst>
              <a:ext uri="{FF2B5EF4-FFF2-40B4-BE49-F238E27FC236}">
                <a16:creationId xmlns:a16="http://schemas.microsoft.com/office/drawing/2014/main" id="{10738686-9B59-5511-52BB-B69EB25FE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012" r="3" b="10551"/>
          <a:stretch>
            <a:fillRect/>
          </a:stretch>
        </p:blipFill>
        <p:spPr>
          <a:xfrm>
            <a:off x="20" y="4693680"/>
            <a:ext cx="4187091" cy="21643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77073-73B4-4934-58FB-7743D044F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366" y="2399720"/>
            <a:ext cx="6870954" cy="3736507"/>
          </a:xfrm>
        </p:spPr>
        <p:txBody>
          <a:bodyPr>
            <a:normAutofit/>
          </a:bodyPr>
          <a:lstStyle/>
          <a:p>
            <a:pPr fontAlgn="t"/>
            <a:r>
              <a:rPr lang="en-US" b="1" dirty="0"/>
              <a:t>Dandelions</a:t>
            </a:r>
            <a:r>
              <a:rPr lang="en-US" dirty="0"/>
              <a:t> scattered by the wind.</a:t>
            </a:r>
          </a:p>
          <a:p>
            <a:pPr fontAlgn="t"/>
            <a:r>
              <a:rPr lang="en-US" dirty="0"/>
              <a:t>Some insects are in a habitat with evenly distributed resources.</a:t>
            </a:r>
          </a:p>
          <a:p>
            <a:pPr fontAlgn="t"/>
            <a:r>
              <a:rPr lang="en-US" b="1" dirty="0"/>
              <a:t>Wildflowers</a:t>
            </a:r>
            <a:r>
              <a:rPr lang="en-US" dirty="0"/>
              <a:t> growing randomly in a field.</a:t>
            </a:r>
          </a:p>
          <a:p>
            <a:pPr fontAlgn="t"/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2017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91B16-9323-F7FD-107A-CA24A03D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Population Dynamics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A4E53-9EE8-9BC3-6070-226D74088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2556" y="2217343"/>
                <a:ext cx="10373032" cy="3959619"/>
              </a:xfrm>
            </p:spPr>
            <p:txBody>
              <a:bodyPr>
                <a:normAutofit fontScale="92500" lnSpcReduction="10000"/>
              </a:bodyPr>
              <a:lstStyle/>
              <a:p>
                <a:pPr fontAlgn="t"/>
                <a:r>
                  <a:rPr lang="en-US" sz="2600" dirty="0"/>
                  <a:t>Population dynamics refer to </a:t>
                </a:r>
                <a:r>
                  <a:rPr lang="en-US" sz="2600" b="1" dirty="0"/>
                  <a:t>how and why populations change over time.</a:t>
                </a:r>
              </a:p>
              <a:p>
                <a:pPr fontAlgn="t"/>
                <a:endParaRPr lang="en-US" sz="1800" b="1" dirty="0"/>
              </a:p>
              <a:p>
                <a:pPr marL="0" indent="0" fontAlgn="t">
                  <a:buNone/>
                </a:pPr>
                <a:r>
                  <a:rPr lang="en-US" sz="2400" b="1" dirty="0"/>
                  <a:t>Factors Affecting Population Change</a:t>
                </a:r>
              </a:p>
              <a:p>
                <a:pPr marL="457200" indent="-457200" fontAlgn="t">
                  <a:buFont typeface="+mj-lt"/>
                  <a:buAutoNum type="arabicPeriod"/>
                </a:pPr>
                <a:r>
                  <a:rPr lang="en-US" sz="2400" b="1" dirty="0"/>
                  <a:t>Birth Rate (Natality)</a:t>
                </a:r>
                <a:r>
                  <a:rPr lang="en-US" sz="2400" dirty="0"/>
                  <a:t> – number of individuals </a:t>
                </a:r>
                <a:r>
                  <a:rPr lang="en-US" sz="2400" b="1" dirty="0"/>
                  <a:t>born.</a:t>
                </a:r>
              </a:p>
              <a:p>
                <a:pPr marL="457200" indent="-457200" fontAlgn="t">
                  <a:buFont typeface="+mj-lt"/>
                  <a:buAutoNum type="arabicPeriod"/>
                </a:pPr>
                <a:r>
                  <a:rPr lang="en-US" sz="2400" b="1" dirty="0"/>
                  <a:t>Death Rate (Mortality)</a:t>
                </a:r>
                <a:r>
                  <a:rPr lang="en-US" sz="2400" dirty="0"/>
                  <a:t> – number of individuals that </a:t>
                </a:r>
                <a:r>
                  <a:rPr lang="en-US" sz="2400" b="1" dirty="0"/>
                  <a:t>die.</a:t>
                </a:r>
              </a:p>
              <a:p>
                <a:pPr marL="457200" indent="-457200" fontAlgn="t">
                  <a:buFont typeface="+mj-lt"/>
                  <a:buAutoNum type="arabicPeriod"/>
                </a:pPr>
                <a:r>
                  <a:rPr lang="en-US" sz="2400" b="1" dirty="0"/>
                  <a:t>Immigration</a:t>
                </a:r>
                <a:r>
                  <a:rPr lang="en-US" sz="2400" dirty="0"/>
                  <a:t> – individuals </a:t>
                </a:r>
                <a:r>
                  <a:rPr lang="en-US" sz="2400" b="1" dirty="0"/>
                  <a:t>entering </a:t>
                </a:r>
                <a:r>
                  <a:rPr lang="en-US" sz="2400" dirty="0"/>
                  <a:t>a population.</a:t>
                </a:r>
              </a:p>
              <a:p>
                <a:pPr marL="457200" indent="-457200" fontAlgn="t">
                  <a:buFont typeface="+mj-lt"/>
                  <a:buAutoNum type="arabicPeriod"/>
                </a:pPr>
                <a:r>
                  <a:rPr lang="en-US" sz="2400" b="1" dirty="0"/>
                  <a:t>Emigration</a:t>
                </a:r>
                <a:r>
                  <a:rPr lang="en-US" sz="2400" dirty="0"/>
                  <a:t> – individuals </a:t>
                </a:r>
                <a:r>
                  <a:rPr lang="en-US" sz="2400" b="1" dirty="0"/>
                  <a:t>leaving</a:t>
                </a:r>
                <a:r>
                  <a:rPr lang="en-US" sz="2400" dirty="0"/>
                  <a:t> a population</a:t>
                </a:r>
              </a:p>
              <a:p>
                <a:pPr fontAlgn="t"/>
                <a:endParaRPr lang="en-US" sz="2400" dirty="0"/>
              </a:p>
              <a:p>
                <a:pPr marL="0" indent="0" fontAlgn="t">
                  <a:buNone/>
                </a:pPr>
                <a:r>
                  <a:rPr lang="en-US" sz="2400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𝑃𝑜𝑝𝑢𝑙𝑎𝑡𝑖𝑜𝑛</m:t>
                    </m:r>
                    <m:r>
                      <m:rPr>
                        <m:nor/>
                      </m:rPr>
                      <a:rPr lang="en-US" sz="2400" i="1"/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𝐶h𝑎𝑛𝑔𝑒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𝐵𝑖𝑟𝑡h𝑠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𝐼𝑚𝑚𝑖𝑔𝑟𝑎𝑡𝑖𝑜𝑛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𝐷𝑒𝑎𝑡h𝑠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𝐸𝑚𝑖𝑔𝑟𝑎𝑡𝑖𝑜𝑛</m:t>
                        </m:r>
                      </m:e>
                    </m:d>
                  </m:oMath>
                </a14:m>
                <a:endParaRPr lang="en-US" sz="2400" b="0" dirty="0"/>
              </a:p>
              <a:p>
                <a:endParaRPr lang="en-US" sz="19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A4E53-9EE8-9BC3-6070-226D74088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2556" y="2217343"/>
                <a:ext cx="10373032" cy="3959619"/>
              </a:xfrm>
              <a:blipFill>
                <a:blip r:embed="rId2"/>
                <a:stretch>
                  <a:fillRect l="-823" t="-2619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920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F6672-B041-B95B-7E86-7455C0FA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4900" b="1" dirty="0">
                <a:solidFill>
                  <a:schemeClr val="bg1"/>
                </a:solidFill>
              </a:rPr>
              <a:t>Patterns of Population Growth</a:t>
            </a:r>
            <a:br>
              <a:rPr lang="en-US" sz="1900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462A3-12B8-60B0-AAD4-E8CE853C2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9" y="2217343"/>
            <a:ext cx="5402568" cy="4419431"/>
          </a:xfrm>
        </p:spPr>
        <p:txBody>
          <a:bodyPr>
            <a:normAutofit fontScale="92500"/>
          </a:bodyPr>
          <a:lstStyle/>
          <a:p>
            <a:pPr marL="0" indent="0" fontAlgn="t">
              <a:buNone/>
            </a:pPr>
            <a:r>
              <a:rPr lang="en-US" b="1" dirty="0">
                <a:solidFill>
                  <a:srgbClr val="00B0F0"/>
                </a:solidFill>
              </a:rPr>
              <a:t>1. Exponential Growth</a:t>
            </a:r>
          </a:p>
          <a:p>
            <a:pPr fontAlgn="t"/>
            <a:r>
              <a:rPr lang="en-US" dirty="0"/>
              <a:t>Occurs when </a:t>
            </a:r>
            <a:r>
              <a:rPr lang="en-US" b="1" dirty="0"/>
              <a:t>resources are unlimited.</a:t>
            </a:r>
          </a:p>
          <a:p>
            <a:pPr fontAlgn="t"/>
            <a:r>
              <a:rPr lang="en-US" dirty="0"/>
              <a:t>Population grows rapidly.</a:t>
            </a:r>
          </a:p>
          <a:p>
            <a:pPr fontAlgn="t"/>
            <a:r>
              <a:rPr lang="en-US" dirty="0"/>
              <a:t>Graph: </a:t>
            </a:r>
            <a:r>
              <a:rPr lang="en-US" b="1" dirty="0"/>
              <a:t>J-shaped curve.</a:t>
            </a:r>
          </a:p>
          <a:p>
            <a:pPr fontAlgn="t"/>
            <a:r>
              <a:rPr lang="en-US" b="1" dirty="0"/>
              <a:t>Example: Bacterial reproduction</a:t>
            </a:r>
          </a:p>
          <a:p>
            <a:pPr lvl="1" fontAlgn="t"/>
            <a:r>
              <a:rPr lang="en-US" dirty="0"/>
              <a:t>A bacterial population doubles every hour under ideal conditions.</a:t>
            </a:r>
          </a:p>
          <a:p>
            <a:pPr fontAlgn="t"/>
            <a:endParaRPr lang="en-US" b="1" dirty="0"/>
          </a:p>
          <a:p>
            <a:pPr marL="0" indent="0" fontAlgn="t">
              <a:buNone/>
            </a:pPr>
            <a:r>
              <a:rPr lang="en-US" dirty="0">
                <a:latin typeface="Segoe UI" panose="020B0502040204020203" pitchFamily="34" charset="0"/>
              </a:rPr>
              <a:t>                    </a:t>
            </a:r>
            <a:endParaRPr lang="en-US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DAE0F-BB4B-F46F-A2B8-B18903076A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50397"/>
          <a:stretch>
            <a:fillRect/>
          </a:stretch>
        </p:blipFill>
        <p:spPr>
          <a:xfrm>
            <a:off x="6558117" y="1807788"/>
            <a:ext cx="5409368" cy="498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3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97632-CAAC-219A-9687-ED6A27A7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Patterns of Population Growth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819FB-E1BC-40C8-A0B1-A67ECDA17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9" y="2217343"/>
            <a:ext cx="5776194" cy="4360438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200" b="1" dirty="0">
                <a:solidFill>
                  <a:srgbClr val="00B0F0"/>
                </a:solidFill>
              </a:rPr>
              <a:t>2. Logistic Growth</a:t>
            </a:r>
          </a:p>
          <a:p>
            <a:pPr fontAlgn="t"/>
            <a:r>
              <a:rPr lang="en-US" sz="2200" dirty="0"/>
              <a:t>Growth slows as </a:t>
            </a:r>
            <a:r>
              <a:rPr lang="en-US" sz="2200" b="1" dirty="0"/>
              <a:t>resources become limited.</a:t>
            </a:r>
          </a:p>
          <a:p>
            <a:pPr lvl="1" fontAlgn="t"/>
            <a:r>
              <a:rPr lang="en-US" sz="2200" dirty="0"/>
              <a:t>When a population is </a:t>
            </a:r>
            <a:r>
              <a:rPr lang="en-US" sz="2200" b="1" dirty="0"/>
              <a:t>small</a:t>
            </a:r>
            <a:r>
              <a:rPr lang="en-US" sz="2200" dirty="0"/>
              <a:t>, resources are abundant → rapid growth.</a:t>
            </a:r>
          </a:p>
          <a:p>
            <a:pPr lvl="1" fontAlgn="t"/>
            <a:r>
              <a:rPr lang="en-US" sz="2200" dirty="0"/>
              <a:t>As population </a:t>
            </a:r>
            <a:r>
              <a:rPr lang="en-US" sz="2200" b="1" dirty="0"/>
              <a:t>increases</a:t>
            </a:r>
            <a:r>
              <a:rPr lang="en-US" sz="2200" dirty="0"/>
              <a:t>, resources become scarce → growth slows.</a:t>
            </a:r>
          </a:p>
          <a:p>
            <a:pPr lvl="1" fontAlgn="t"/>
            <a:r>
              <a:rPr lang="en-US" sz="2200" dirty="0"/>
              <a:t>Eventually, the population </a:t>
            </a:r>
            <a:r>
              <a:rPr lang="en-US" sz="2200" b="1" dirty="0"/>
              <a:t>stabilizes </a:t>
            </a:r>
            <a:r>
              <a:rPr lang="en-US" sz="2200" dirty="0"/>
              <a:t>at </a:t>
            </a:r>
            <a:r>
              <a:rPr lang="en-US" sz="2200" b="1" dirty="0"/>
              <a:t>carrying capacity (K).</a:t>
            </a:r>
          </a:p>
          <a:p>
            <a:pPr fontAlgn="t"/>
            <a:r>
              <a:rPr lang="en-US" sz="2200" dirty="0"/>
              <a:t>Graph: </a:t>
            </a:r>
            <a:r>
              <a:rPr lang="en-US" sz="2200" b="1" dirty="0"/>
              <a:t>S-shaped curve.</a:t>
            </a:r>
          </a:p>
          <a:p>
            <a:pPr fontAlgn="t">
              <a:lnSpc>
                <a:spcPts val="1500"/>
              </a:lnSpc>
            </a:pPr>
            <a:r>
              <a:rPr lang="en-US" sz="2200" b="1" dirty="0"/>
              <a:t>Example</a:t>
            </a:r>
            <a:r>
              <a:rPr lang="en-US" sz="2200" dirty="0"/>
              <a:t>: Deer population in a forest</a:t>
            </a:r>
          </a:p>
          <a:p>
            <a:pPr lvl="1" fontAlgn="t">
              <a:lnSpc>
                <a:spcPts val="1500"/>
              </a:lnSpc>
            </a:pPr>
            <a:r>
              <a:rPr lang="en-US" sz="2200" dirty="0"/>
              <a:t>Growth slows when food, water, and space become scarce.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2E397-D90A-A81C-5C82-D2B80DFF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4089" r="2422" b="2558"/>
          <a:stretch>
            <a:fillRect/>
          </a:stretch>
        </p:blipFill>
        <p:spPr>
          <a:xfrm>
            <a:off x="7062099" y="2217343"/>
            <a:ext cx="4999534" cy="448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86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724E5-CF2B-7B47-5F2B-2C1EF8C0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Carrying Capacity (K)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20891-C28A-64D9-5802-099E4C74E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fontScale="92500"/>
          </a:bodyPr>
          <a:lstStyle/>
          <a:p>
            <a:pPr marL="0" indent="0" fontAlgn="t">
              <a:buNone/>
            </a:pPr>
            <a:r>
              <a:rPr lang="en-US" b="1" dirty="0"/>
              <a:t>Carrying capacity </a:t>
            </a:r>
            <a:r>
              <a:rPr lang="en-US" dirty="0"/>
              <a:t>refers to the </a:t>
            </a:r>
            <a:r>
              <a:rPr lang="en-US" b="1" dirty="0"/>
              <a:t>maximum number of individuals </a:t>
            </a:r>
            <a:r>
              <a:rPr lang="en-US" dirty="0"/>
              <a:t>of a species that </a:t>
            </a:r>
            <a:r>
              <a:rPr lang="en-US" b="1" dirty="0"/>
              <a:t>an environment can sustainably suppor</a:t>
            </a:r>
            <a:r>
              <a:rPr lang="en-US" dirty="0"/>
              <a:t>t over time.</a:t>
            </a:r>
          </a:p>
          <a:p>
            <a:pPr marL="0" indent="0" fontAlgn="t">
              <a:buNone/>
            </a:pPr>
            <a:r>
              <a:rPr lang="en-US" dirty="0"/>
              <a:t>It depends on the availability of:</a:t>
            </a:r>
          </a:p>
          <a:p>
            <a:pPr lvl="1" fontAlgn="t"/>
            <a:r>
              <a:rPr lang="en-US" sz="2800" dirty="0"/>
              <a:t>Food</a:t>
            </a:r>
          </a:p>
          <a:p>
            <a:pPr lvl="1" fontAlgn="t"/>
            <a:r>
              <a:rPr lang="en-US" sz="2800" dirty="0"/>
              <a:t>Water</a:t>
            </a:r>
          </a:p>
          <a:p>
            <a:pPr lvl="1" fontAlgn="t"/>
            <a:r>
              <a:rPr lang="en-US" sz="2800" dirty="0"/>
              <a:t>Shelter</a:t>
            </a:r>
          </a:p>
          <a:p>
            <a:pPr lvl="1" fontAlgn="t"/>
            <a:r>
              <a:rPr lang="en-US" sz="2800" dirty="0"/>
              <a:t>Space</a:t>
            </a:r>
          </a:p>
          <a:p>
            <a:pPr fontAlgn="t"/>
            <a:endParaRPr lang="en-US" sz="1700" dirty="0"/>
          </a:p>
          <a:p>
            <a:pPr fontAlgn="t"/>
            <a:endParaRPr lang="en-US" sz="200" dirty="0"/>
          </a:p>
          <a:p>
            <a:pPr marL="0" indent="0" fontAlgn="t">
              <a:buNone/>
            </a:pPr>
            <a:r>
              <a:rPr lang="en-US" sz="2600" dirty="0"/>
              <a:t>stable level = </a:t>
            </a:r>
            <a:r>
              <a:rPr lang="en-US" sz="2600" b="1" dirty="0"/>
              <a:t>Carrying Capacity (K)</a:t>
            </a:r>
            <a:endParaRPr lang="en-US" sz="2600" dirty="0"/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40A5F-63EC-5A86-D852-69BCF8DCA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04" y="3232239"/>
            <a:ext cx="3344994" cy="241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29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EB546-799B-4F59-07E2-6FA48537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Examples</a:t>
            </a:r>
            <a:br>
              <a:rPr lang="en-US" sz="27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E27C-9CF1-D400-D832-5DDDFFE7B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marL="0" indent="0" fontAlgn="t">
              <a:buNone/>
            </a:pPr>
            <a:r>
              <a:rPr lang="en-US" sz="2400" b="1" dirty="0"/>
              <a:t>1. Elephants in a Safari Park</a:t>
            </a:r>
          </a:p>
          <a:p>
            <a:pPr fontAlgn="t"/>
            <a:r>
              <a:rPr lang="en-US" sz="2400" dirty="0"/>
              <a:t>A park can only support </a:t>
            </a:r>
            <a:r>
              <a:rPr lang="en-US" sz="2400" b="1" dirty="0"/>
              <a:t>200 elephants</a:t>
            </a:r>
            <a:r>
              <a:rPr lang="en-US" sz="2400" dirty="0"/>
              <a:t> due to food and water.</a:t>
            </a:r>
          </a:p>
          <a:p>
            <a:pPr fontAlgn="t"/>
            <a:r>
              <a:rPr lang="en-US" sz="2400" dirty="0"/>
              <a:t>If elephants increase to 300 → food shortage occurs → some die or migrate.</a:t>
            </a:r>
          </a:p>
          <a:p>
            <a:pPr marL="0" indent="0" fontAlgn="t">
              <a:buNone/>
            </a:pPr>
            <a:r>
              <a:rPr lang="en-US" sz="2400" dirty="0"/>
              <a:t>Carrying Capacity = 200</a:t>
            </a:r>
          </a:p>
          <a:p>
            <a:pPr marL="0" indent="0" fontAlgn="t">
              <a:buNone/>
            </a:pPr>
            <a:endParaRPr lang="en-US" sz="1050" dirty="0"/>
          </a:p>
          <a:p>
            <a:pPr marL="0" indent="0" fontAlgn="t">
              <a:buNone/>
            </a:pPr>
            <a:r>
              <a:rPr lang="en-US" sz="2400" b="1" dirty="0"/>
              <a:t>2. Fish in a Pond</a:t>
            </a:r>
          </a:p>
          <a:p>
            <a:pPr fontAlgn="t"/>
            <a:r>
              <a:rPr lang="en-US" sz="2400" dirty="0"/>
              <a:t>A pond can support </a:t>
            </a:r>
            <a:r>
              <a:rPr lang="en-US" sz="2400" b="1" dirty="0"/>
              <a:t>500 fish</a:t>
            </a:r>
            <a:r>
              <a:rPr lang="en-US" sz="2400" dirty="0"/>
              <a:t>.</a:t>
            </a:r>
          </a:p>
          <a:p>
            <a:pPr fontAlgn="t"/>
            <a:r>
              <a:rPr lang="en-US" sz="2400" dirty="0"/>
              <a:t>If fish exceed this number → oxygen decreases → fish die.</a:t>
            </a:r>
          </a:p>
          <a:p>
            <a:pPr marL="0" indent="0" fontAlgn="t">
              <a:buNone/>
            </a:pPr>
            <a:r>
              <a:rPr lang="en-US" sz="2400" dirty="0"/>
              <a:t>Carrying Capacity = 500</a:t>
            </a:r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6543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53596-6C30-0258-F011-F091ACAC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What Happens When K is Exceeded?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E571-C73A-094D-CB28-841BF91D3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dirty="0"/>
              <a:t>If a population goes </a:t>
            </a:r>
            <a:r>
              <a:rPr lang="en-US" b="1" dirty="0"/>
              <a:t>beyond its carrying capacity</a:t>
            </a:r>
            <a:r>
              <a:rPr lang="en-US" dirty="0"/>
              <a:t>:</a:t>
            </a:r>
          </a:p>
          <a:p>
            <a:pPr marL="0" indent="0" fontAlgn="t">
              <a:buNone/>
            </a:pPr>
            <a:r>
              <a:rPr lang="en-US" b="1" dirty="0"/>
              <a:t>1. Resource depletion occurs</a:t>
            </a:r>
          </a:p>
          <a:p>
            <a:pPr lvl="1" fontAlgn="t"/>
            <a:r>
              <a:rPr lang="en-US" sz="2800" dirty="0"/>
              <a:t>Food and water become insufficient.</a:t>
            </a:r>
          </a:p>
          <a:p>
            <a:pPr marL="0" indent="0" fontAlgn="t">
              <a:buNone/>
            </a:pPr>
            <a:r>
              <a:rPr lang="en-US" b="1" dirty="0"/>
              <a:t>2. Increased competition</a:t>
            </a:r>
          </a:p>
          <a:p>
            <a:pPr lvl="1" fontAlgn="t"/>
            <a:r>
              <a:rPr lang="en-US" sz="2800" dirty="0"/>
              <a:t>Organisms fight for limited resources.</a:t>
            </a:r>
          </a:p>
          <a:p>
            <a:pPr marL="0" indent="0" fontAlgn="t">
              <a:buNone/>
            </a:pPr>
            <a:r>
              <a:rPr lang="en-US" b="1" dirty="0"/>
              <a:t>3. Population crash</a:t>
            </a:r>
          </a:p>
          <a:p>
            <a:pPr lvl="1" fontAlgn="t"/>
            <a:r>
              <a:rPr lang="en-US" sz="2800" dirty="0"/>
              <a:t>Sudden decrease due to death, disease, or migration.</a:t>
            </a:r>
          </a:p>
          <a:p>
            <a:pPr lvl="1" fontAlgn="t"/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6113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B164F-D279-0FCB-CA3B-43D007F7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Limiting factors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0E0A-9977-ADF2-9AB1-A88DDC9EF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sz="2400" b="1" dirty="0"/>
              <a:t>Limiting factors</a:t>
            </a:r>
            <a:r>
              <a:rPr lang="en-US" sz="2400" dirty="0"/>
              <a:t> are </a:t>
            </a:r>
            <a:r>
              <a:rPr lang="en-US" sz="2400" b="1" dirty="0"/>
              <a:t>conditions or resources </a:t>
            </a:r>
            <a:r>
              <a:rPr lang="en-US" sz="2400" dirty="0"/>
              <a:t>that</a:t>
            </a:r>
            <a:r>
              <a:rPr lang="en-US" sz="2400" b="1" dirty="0"/>
              <a:t> restrict the growth, size, or distribution </a:t>
            </a:r>
            <a:r>
              <a:rPr lang="en-US" sz="2400" dirty="0"/>
              <a:t>of a population.</a:t>
            </a:r>
          </a:p>
          <a:p>
            <a:pPr marL="0" indent="0" fontAlgn="t">
              <a:buNone/>
            </a:pPr>
            <a:r>
              <a:rPr lang="en-US" sz="2400" dirty="0"/>
              <a:t>They </a:t>
            </a:r>
            <a:r>
              <a:rPr lang="en-US" sz="2400" b="1" dirty="0"/>
              <a:t>prevent populations from growing indefinitely</a:t>
            </a:r>
            <a:r>
              <a:rPr lang="en-US" sz="2400" dirty="0"/>
              <a:t> and help </a:t>
            </a:r>
            <a:r>
              <a:rPr lang="en-US" sz="2400" b="1" dirty="0"/>
              <a:t>maintain balance in ecosystems.</a:t>
            </a:r>
          </a:p>
          <a:p>
            <a:pPr marL="0" indent="0" fontAlgn="t">
              <a:buNone/>
            </a:pPr>
            <a:endParaRPr lang="en-US" sz="900" dirty="0"/>
          </a:p>
          <a:p>
            <a:pPr marL="0" indent="0" fontAlgn="t">
              <a:buNone/>
            </a:pPr>
            <a:r>
              <a:rPr lang="en-US" sz="2400" dirty="0"/>
              <a:t>No population can grow forever because:</a:t>
            </a:r>
          </a:p>
          <a:p>
            <a:pPr fontAlgn="t"/>
            <a:r>
              <a:rPr lang="en-US" sz="2400" dirty="0"/>
              <a:t>Resources are </a:t>
            </a:r>
            <a:r>
              <a:rPr lang="en-US" sz="2400" b="1" dirty="0"/>
              <a:t>limited</a:t>
            </a:r>
            <a:endParaRPr lang="en-US" sz="2400" dirty="0"/>
          </a:p>
          <a:p>
            <a:pPr fontAlgn="t"/>
            <a:r>
              <a:rPr lang="en-US" sz="2400" dirty="0"/>
              <a:t>The environment can only support a certain number of individuals.</a:t>
            </a:r>
          </a:p>
          <a:p>
            <a:pPr fontAlgn="t"/>
            <a:endParaRPr lang="en-US" sz="2000" dirty="0"/>
          </a:p>
          <a:p>
            <a:pPr marL="0" indent="0" fontAlgn="t">
              <a:buNone/>
            </a:pPr>
            <a:r>
              <a:rPr lang="en-US" sz="2000" dirty="0"/>
              <a:t>Limiting factors are what </a:t>
            </a:r>
            <a:r>
              <a:rPr lang="en-US" sz="2000" b="1" dirty="0"/>
              <a:t>control population size</a:t>
            </a:r>
            <a:r>
              <a:rPr lang="en-US" sz="2000" dirty="0"/>
              <a:t> and lead to the </a:t>
            </a:r>
            <a:r>
              <a:rPr lang="en-US" sz="2000" b="1" dirty="0"/>
              <a:t>carrying capacity (K)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332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F001E-ADD6-1FD9-9B12-238893C0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Types of Limiting Factors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021D-0CFF-5A6D-7B5B-FC4EC33E8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24551"/>
          </a:xfrm>
        </p:spPr>
        <p:txBody>
          <a:bodyPr>
            <a:normAutofit fontScale="92500" lnSpcReduction="10000"/>
          </a:bodyPr>
          <a:lstStyle/>
          <a:p>
            <a:pPr marL="514350" indent="-514350" fontAlgn="t"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Density-Dependent Factors</a:t>
            </a:r>
          </a:p>
          <a:p>
            <a:pPr marL="0" indent="0" fontAlgn="t">
              <a:buNone/>
            </a:pPr>
            <a:r>
              <a:rPr lang="en-US" dirty="0"/>
              <a:t>These factors </a:t>
            </a:r>
            <a:r>
              <a:rPr lang="en-US" b="1" dirty="0"/>
              <a:t>depend on population density.</a:t>
            </a:r>
            <a:endParaRPr lang="en-US" dirty="0"/>
          </a:p>
          <a:p>
            <a:pPr fontAlgn="t"/>
            <a:r>
              <a:rPr lang="en-US" dirty="0"/>
              <a:t>The </a:t>
            </a:r>
            <a:r>
              <a:rPr lang="en-US" b="1" dirty="0"/>
              <a:t>more crowded </a:t>
            </a:r>
            <a:r>
              <a:rPr lang="en-US" dirty="0"/>
              <a:t>the population → the </a:t>
            </a:r>
            <a:r>
              <a:rPr lang="en-US" b="1" dirty="0"/>
              <a:t>stronger the effect</a:t>
            </a:r>
            <a:r>
              <a:rPr lang="en-US" dirty="0"/>
              <a:t>.</a:t>
            </a:r>
          </a:p>
          <a:p>
            <a:pPr fontAlgn="t"/>
            <a:endParaRPr lang="en-US" sz="1100" dirty="0"/>
          </a:p>
          <a:p>
            <a:pPr marL="0" indent="0" fontAlgn="t">
              <a:buNone/>
            </a:pPr>
            <a:r>
              <a:rPr lang="en-US" dirty="0"/>
              <a:t>As the population increases:</a:t>
            </a:r>
          </a:p>
          <a:p>
            <a:pPr lvl="1" fontAlgn="t"/>
            <a:r>
              <a:rPr lang="en-US" sz="2800" b="1" dirty="0"/>
              <a:t>Disease</a:t>
            </a:r>
            <a:r>
              <a:rPr lang="en-US" sz="2800" dirty="0"/>
              <a:t> spreads faster.</a:t>
            </a:r>
          </a:p>
          <a:p>
            <a:pPr lvl="2" fontAlgn="t"/>
            <a:r>
              <a:rPr lang="en-US" sz="2400" dirty="0"/>
              <a:t>Flu spreading in crowded classrooms.</a:t>
            </a:r>
          </a:p>
          <a:p>
            <a:pPr lvl="1" fontAlgn="t"/>
            <a:r>
              <a:rPr lang="en-US" sz="2800" b="1" dirty="0"/>
              <a:t>Competition</a:t>
            </a:r>
            <a:r>
              <a:rPr lang="en-US" sz="2800" dirty="0"/>
              <a:t> increases.</a:t>
            </a:r>
          </a:p>
          <a:p>
            <a:pPr lvl="2" fontAlgn="t"/>
            <a:r>
              <a:rPr lang="en-US" sz="2400" dirty="0"/>
              <a:t>Plants competing for sunlight in a forest.</a:t>
            </a:r>
          </a:p>
          <a:p>
            <a:pPr lvl="1" fontAlgn="t"/>
            <a:r>
              <a:rPr lang="en-US" sz="2800" b="1" dirty="0"/>
              <a:t>Predators</a:t>
            </a:r>
            <a:r>
              <a:rPr lang="en-US" sz="2800" dirty="0"/>
              <a:t> find prey more easily.</a:t>
            </a:r>
          </a:p>
          <a:p>
            <a:pPr lvl="2" fontAlgn="t"/>
            <a:r>
              <a:rPr lang="en-US" sz="2400" dirty="0"/>
              <a:t>Wolves hunting large herds of deer.</a:t>
            </a:r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3958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58397-09FD-BCA3-39C1-C9F9B57E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Types of Limiting Factors</a:t>
            </a:r>
            <a:br>
              <a:rPr lang="en-US" sz="2800" b="1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4BFB5-329E-3915-D824-9A0D8DE00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13041"/>
          </a:xfrm>
        </p:spPr>
        <p:txBody>
          <a:bodyPr>
            <a:normAutofit lnSpcReduction="10000"/>
          </a:bodyPr>
          <a:lstStyle/>
          <a:p>
            <a:pPr marL="0" indent="0" fontAlgn="t">
              <a:buNone/>
            </a:pPr>
            <a:r>
              <a:rPr lang="en-US" sz="2600" b="1" dirty="0">
                <a:solidFill>
                  <a:srgbClr val="00B050"/>
                </a:solidFill>
              </a:rPr>
              <a:t>2. Density-Independent Factors</a:t>
            </a:r>
          </a:p>
          <a:p>
            <a:pPr fontAlgn="t"/>
            <a:r>
              <a:rPr lang="en-US" sz="2600" dirty="0"/>
              <a:t>Affect populations </a:t>
            </a:r>
            <a:r>
              <a:rPr lang="en-US" sz="2600" b="1" dirty="0"/>
              <a:t>regardless of density.</a:t>
            </a:r>
          </a:p>
          <a:p>
            <a:pPr fontAlgn="t"/>
            <a:r>
              <a:rPr lang="en-US" sz="2600" dirty="0"/>
              <a:t>They can impact </a:t>
            </a:r>
            <a:r>
              <a:rPr lang="en-US" sz="2600" b="1" dirty="0"/>
              <a:t>small or large populations equally.</a:t>
            </a:r>
          </a:p>
          <a:p>
            <a:pPr fontAlgn="t"/>
            <a:endParaRPr lang="en-US" sz="1100" dirty="0"/>
          </a:p>
          <a:p>
            <a:pPr marL="0" indent="0" fontAlgn="t">
              <a:buNone/>
            </a:pPr>
            <a:r>
              <a:rPr lang="en-US" sz="2600" b="1" dirty="0"/>
              <a:t>Examples:</a:t>
            </a:r>
          </a:p>
          <a:p>
            <a:pPr marL="0" indent="0" fontAlgn="t">
              <a:buNone/>
            </a:pPr>
            <a:r>
              <a:rPr lang="en-US" sz="2600" b="1" dirty="0"/>
              <a:t>a. Natural Disasters</a:t>
            </a:r>
          </a:p>
          <a:p>
            <a:pPr lvl="1" fontAlgn="t"/>
            <a:r>
              <a:rPr lang="en-US" sz="1900" dirty="0"/>
              <a:t>Typhoons, earthquakes, floods, and volcanic eruptions</a:t>
            </a:r>
          </a:p>
          <a:p>
            <a:pPr marL="0" indent="0" fontAlgn="t">
              <a:buNone/>
            </a:pPr>
            <a:r>
              <a:rPr lang="en-US" sz="2600" b="1" dirty="0"/>
              <a:t>b. Climate / Weather</a:t>
            </a:r>
          </a:p>
          <a:p>
            <a:pPr lvl="1" fontAlgn="t"/>
            <a:r>
              <a:rPr lang="en-US" sz="1900" dirty="0"/>
              <a:t>Extreme heat, drought, cold temperatures</a:t>
            </a:r>
          </a:p>
          <a:p>
            <a:pPr marL="0" indent="0" fontAlgn="t">
              <a:buNone/>
            </a:pPr>
            <a:r>
              <a:rPr lang="en-US" sz="2600" b="1" dirty="0"/>
              <a:t>c. Human Activities</a:t>
            </a:r>
          </a:p>
          <a:p>
            <a:pPr lvl="1" fontAlgn="t"/>
            <a:r>
              <a:rPr lang="en-US" sz="1900" dirty="0"/>
              <a:t>Pollution, deforestation, urbanization</a:t>
            </a:r>
          </a:p>
          <a:p>
            <a:pPr fontAlgn="t"/>
            <a:endParaRPr lang="en-US" sz="1700" dirty="0"/>
          </a:p>
          <a:p>
            <a:pPr fontAlgn="t"/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79571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5C918-0925-96C7-71BA-A1D0E591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SUMMARY TABLE</a:t>
            </a:r>
            <a:br>
              <a:rPr lang="en-US" sz="1500">
                <a:solidFill>
                  <a:schemeClr val="bg1"/>
                </a:solidFill>
              </a:rPr>
            </a:br>
            <a:endParaRPr lang="en-US" sz="150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FCF884-CB24-A5A1-0720-32501818C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021725"/>
              </p:ext>
            </p:extLst>
          </p:nvPr>
        </p:nvGraphicFramePr>
        <p:xfrm>
          <a:off x="556532" y="1515306"/>
          <a:ext cx="10905067" cy="4894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71628">
                  <a:extLst>
                    <a:ext uri="{9D8B030D-6E8A-4147-A177-3AD203B41FA5}">
                      <a16:colId xmlns:a16="http://schemas.microsoft.com/office/drawing/2014/main" val="1825799665"/>
                    </a:ext>
                  </a:extLst>
                </a:gridCol>
                <a:gridCol w="3799847">
                  <a:extLst>
                    <a:ext uri="{9D8B030D-6E8A-4147-A177-3AD203B41FA5}">
                      <a16:colId xmlns:a16="http://schemas.microsoft.com/office/drawing/2014/main" val="4046090987"/>
                    </a:ext>
                  </a:extLst>
                </a:gridCol>
                <a:gridCol w="3533592">
                  <a:extLst>
                    <a:ext uri="{9D8B030D-6E8A-4147-A177-3AD203B41FA5}">
                      <a16:colId xmlns:a16="http://schemas.microsoft.com/office/drawing/2014/main" val="3655534762"/>
                    </a:ext>
                  </a:extLst>
                </a:gridCol>
              </a:tblGrid>
              <a:tr h="602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>
                        <a:effectLst/>
                      </a:endParaRP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Meaning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Example</a:t>
                      </a: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179254298"/>
                  </a:ext>
                </a:extLst>
              </a:tr>
              <a:tr h="1013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Population Size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Total number of individuals.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500 fish in a pond</a:t>
                      </a: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1870748578"/>
                  </a:ext>
                </a:extLst>
              </a:tr>
              <a:tr h="6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Population Density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Number per unit area.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50 trees per hectare</a:t>
                      </a: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1922009025"/>
                  </a:ext>
                </a:extLst>
              </a:tr>
              <a:tr h="6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</a:rPr>
                        <a:t>Population Distribution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How individuals are spaced.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>
                        <a:effectLst/>
                      </a:endParaRP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3218833893"/>
                  </a:ext>
                </a:extLst>
              </a:tr>
              <a:tr h="60249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b="1" dirty="0">
                          <a:effectLst/>
                        </a:rPr>
                        <a:t>Clumped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Grouped together.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Herds of animals</a:t>
                      </a: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930542263"/>
                  </a:ext>
                </a:extLst>
              </a:tr>
              <a:tr h="60249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b="1" dirty="0">
                          <a:effectLst/>
                        </a:rPr>
                        <a:t>Uniform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Evenly spaced.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Penguins nesting</a:t>
                      </a: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3615878196"/>
                  </a:ext>
                </a:extLst>
              </a:tr>
              <a:tr h="60249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b="1" dirty="0">
                          <a:effectLst/>
                        </a:rPr>
                        <a:t>Random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 pattern.</a:t>
                      </a:r>
                    </a:p>
                  </a:txBody>
                  <a:tcPr marL="136931" marR="136931" marT="68466" marB="684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Wildflowers</a:t>
                      </a:r>
                    </a:p>
                  </a:txBody>
                  <a:tcPr marL="136931" marR="136931" marT="68466" marB="68466" anchor="ctr"/>
                </a:tc>
                <a:extLst>
                  <a:ext uri="{0D108BD9-81ED-4DB2-BD59-A6C34878D82A}">
                    <a16:rowId xmlns:a16="http://schemas.microsoft.com/office/drawing/2014/main" val="95721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161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11126-9756-FE39-D14B-C90AB938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10879-616E-5068-C634-857A4665E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3" y="2260619"/>
            <a:ext cx="9880893" cy="4336826"/>
          </a:xfrm>
        </p:spPr>
        <p:txBody>
          <a:bodyPr>
            <a:normAutofit fontScale="70000" lnSpcReduction="20000"/>
          </a:bodyPr>
          <a:lstStyle/>
          <a:p>
            <a:pPr fontAlgn="t">
              <a:lnSpc>
                <a:spcPts val="1500"/>
              </a:lnSpc>
            </a:pPr>
            <a:r>
              <a:rPr lang="en-US" sz="3200" b="1" dirty="0"/>
              <a:t>Exponential Growth</a:t>
            </a:r>
            <a:r>
              <a:rPr lang="en-US" sz="3200" dirty="0"/>
              <a:t>: Rapid growth that increases continuously because </a:t>
            </a:r>
            <a:r>
              <a:rPr lang="en-US" sz="3200" b="1" dirty="0"/>
              <a:t>resources are unlimited</a:t>
            </a:r>
            <a:r>
              <a:rPr lang="en-US" sz="3200" dirty="0"/>
              <a:t>.</a:t>
            </a:r>
          </a:p>
          <a:p>
            <a:pPr fontAlgn="t">
              <a:lnSpc>
                <a:spcPts val="1500"/>
              </a:lnSpc>
            </a:pPr>
            <a:r>
              <a:rPr lang="en-US" sz="3200" b="1" dirty="0"/>
              <a:t>Logistic Growth</a:t>
            </a:r>
            <a:r>
              <a:rPr lang="en-US" sz="3200" dirty="0"/>
              <a:t>: Growth that starts rapidly but slows and stabilizes as </a:t>
            </a:r>
            <a:r>
              <a:rPr lang="en-US" sz="3200" b="1" dirty="0"/>
              <a:t>resources become limited.</a:t>
            </a:r>
          </a:p>
          <a:p>
            <a:pPr fontAlgn="t"/>
            <a:r>
              <a:rPr lang="en-US" sz="3200" dirty="0"/>
              <a:t>Carrying Capacity (K) : </a:t>
            </a:r>
            <a:r>
              <a:rPr lang="en-US" sz="3200" b="1" dirty="0"/>
              <a:t>maximum sustainable population.</a:t>
            </a:r>
          </a:p>
          <a:p>
            <a:pPr lvl="1" fontAlgn="t"/>
            <a:r>
              <a:rPr lang="en-US" sz="3200" dirty="0"/>
              <a:t>Determined by </a:t>
            </a:r>
            <a:r>
              <a:rPr lang="en-US" sz="3200" b="1" dirty="0"/>
              <a:t>limited resources.</a:t>
            </a:r>
          </a:p>
          <a:p>
            <a:pPr lvl="1" fontAlgn="t"/>
            <a:r>
              <a:rPr lang="en-US" sz="3200" dirty="0"/>
              <a:t>Leads to a </a:t>
            </a:r>
            <a:r>
              <a:rPr lang="en-US" sz="3200" b="1" dirty="0"/>
              <a:t>stable population size.</a:t>
            </a:r>
            <a:r>
              <a:rPr lang="en-US" sz="3200" dirty="0"/>
              <a:t> </a:t>
            </a:r>
          </a:p>
          <a:p>
            <a:pPr lvl="1" fontAlgn="t"/>
            <a:r>
              <a:rPr lang="en-US" sz="3200" dirty="0"/>
              <a:t>Can </a:t>
            </a:r>
            <a:r>
              <a:rPr lang="en-US" sz="3200" b="1" dirty="0"/>
              <a:t>change over time.</a:t>
            </a:r>
          </a:p>
          <a:p>
            <a:pPr lvl="1" fontAlgn="t"/>
            <a:r>
              <a:rPr lang="en-US" sz="3200" dirty="0"/>
              <a:t>Exceeding K causes </a:t>
            </a:r>
            <a:r>
              <a:rPr lang="en-US" sz="3200" b="1" dirty="0"/>
              <a:t>population decline.</a:t>
            </a:r>
            <a:endParaRPr lang="en-US" sz="3200" dirty="0"/>
          </a:p>
          <a:p>
            <a:pPr fontAlgn="t"/>
            <a:r>
              <a:rPr lang="en-US" sz="3200" dirty="0"/>
              <a:t>Limiting factors: </a:t>
            </a:r>
            <a:r>
              <a:rPr lang="en-US" sz="3200" b="1" dirty="0"/>
              <a:t>anything that slows or stops population growth</a:t>
            </a:r>
            <a:r>
              <a:rPr lang="en-US" sz="3200" dirty="0"/>
              <a:t> </a:t>
            </a:r>
          </a:p>
          <a:p>
            <a:pPr marL="457200" lvl="1" indent="0" fontAlgn="t">
              <a:buNone/>
            </a:pPr>
            <a:r>
              <a:rPr lang="en-US" sz="3200" dirty="0"/>
              <a:t>Two types: </a:t>
            </a:r>
          </a:p>
          <a:p>
            <a:pPr lvl="1" fontAlgn="t"/>
            <a:r>
              <a:rPr lang="en-US" sz="3200" b="1" dirty="0"/>
              <a:t>Density-dependent</a:t>
            </a:r>
            <a:r>
              <a:rPr lang="en-US" sz="3200" dirty="0"/>
              <a:t> (depends on crowding)</a:t>
            </a:r>
          </a:p>
          <a:p>
            <a:pPr lvl="1" fontAlgn="t"/>
            <a:r>
              <a:rPr lang="en-US" sz="3200" b="1" dirty="0"/>
              <a:t>Density-independent</a:t>
            </a:r>
            <a:r>
              <a:rPr lang="en-US" sz="3200" dirty="0"/>
              <a:t> (does not depend on crowding)</a:t>
            </a:r>
          </a:p>
          <a:p>
            <a:pPr lvl="1" fontAlgn="t"/>
            <a:r>
              <a:rPr lang="en-US" sz="3200" dirty="0"/>
              <a:t>They help determine </a:t>
            </a:r>
            <a:r>
              <a:rPr lang="en-US" sz="3200" b="1" dirty="0"/>
              <a:t>carrying capacity (K)</a:t>
            </a:r>
            <a:endParaRPr lang="en-US" sz="3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56945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carved figures of humans">
            <a:extLst>
              <a:ext uri="{FF2B5EF4-FFF2-40B4-BE49-F238E27FC236}">
                <a16:creationId xmlns:a16="http://schemas.microsoft.com/office/drawing/2014/main" id="{C6805EB8-F50D-FEB1-6B8A-0717A19C8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5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1F962-B572-60A6-DD43-1196DAC3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br>
              <a:rPr lang="en-US" sz="5200">
                <a:solidFill>
                  <a:srgbClr val="FFFFFF"/>
                </a:solidFill>
              </a:rPr>
            </a:br>
            <a:r>
              <a:rPr lang="en-US" sz="5200">
                <a:solidFill>
                  <a:srgbClr val="FFFFFF"/>
                </a:solidFill>
              </a:rPr>
              <a:t>HUMAN POPULATIONS</a:t>
            </a:r>
          </a:p>
        </p:txBody>
      </p:sp>
    </p:spTree>
    <p:extLst>
      <p:ext uri="{BB962C8B-B14F-4D97-AF65-F5344CB8AC3E}">
        <p14:creationId xmlns:p14="http://schemas.microsoft.com/office/powerpoint/2010/main" val="20667877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70D5A-89A0-4274-2D20-90AD9FF7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Human Population Growth</a:t>
            </a:r>
            <a:br>
              <a:rPr lang="en-US" sz="4000" b="1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BE7F-E198-AB5C-FB88-F4DD7CCCB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dirty="0"/>
              <a:t>The human population has grown rapidly due to:</a:t>
            </a:r>
          </a:p>
          <a:p>
            <a:pPr fontAlgn="t"/>
            <a:r>
              <a:rPr lang="en-US" dirty="0"/>
              <a:t>Advances in medicine.</a:t>
            </a:r>
          </a:p>
          <a:p>
            <a:pPr fontAlgn="t"/>
            <a:r>
              <a:rPr lang="en-US" dirty="0"/>
              <a:t>Improved sanitation.</a:t>
            </a:r>
          </a:p>
          <a:p>
            <a:pPr fontAlgn="t"/>
            <a:r>
              <a:rPr lang="en-US" dirty="0"/>
              <a:t>Increased food production.</a:t>
            </a:r>
          </a:p>
          <a:p>
            <a:pPr fontAlgn="t"/>
            <a:endParaRPr lang="en-US" dirty="0"/>
          </a:p>
          <a:p>
            <a:pPr marL="0" indent="0" fontAlgn="t">
              <a:buNone/>
            </a:pPr>
            <a:r>
              <a:rPr lang="en-US" dirty="0"/>
              <a:t>Result: </a:t>
            </a:r>
            <a:r>
              <a:rPr lang="en-US" b="1" dirty="0"/>
              <a:t>Population explosion</a:t>
            </a:r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72480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08AA9-0065-3B15-D0D5-9B5EF9537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808000"/>
                </a:highlight>
              </a:rPr>
              <a:t>AGE STRUCTURE</a:t>
            </a:r>
            <a:br>
              <a:rPr lang="en-US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2ED81-8564-FDF9-A136-9714696E1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b="1" dirty="0"/>
              <a:t>Age structure</a:t>
            </a:r>
            <a:r>
              <a:rPr lang="en-US" dirty="0"/>
              <a:t> refers to the </a:t>
            </a:r>
            <a:r>
              <a:rPr lang="en-US" b="1" dirty="0"/>
              <a:t>distribution of individuals in a population according to different age groups</a:t>
            </a:r>
            <a:r>
              <a:rPr lang="en-US" dirty="0"/>
              <a:t>.</a:t>
            </a:r>
          </a:p>
          <a:p>
            <a:pPr fontAlgn="t"/>
            <a:r>
              <a:rPr lang="en-US" dirty="0"/>
              <a:t>It shows how many people fall into each </a:t>
            </a:r>
            <a:r>
              <a:rPr lang="en-US" b="1" dirty="0"/>
              <a:t>age category.</a:t>
            </a:r>
          </a:p>
          <a:p>
            <a:pPr fontAlgn="t"/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924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EE76E-6953-306E-AF4D-B4C886E6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Age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14D5-B341-9C23-D97F-AF5DAD3B5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98089"/>
          </a:xfrm>
        </p:spPr>
        <p:txBody>
          <a:bodyPr>
            <a:normAutofit fontScale="92500" lnSpcReduction="10000"/>
          </a:bodyPr>
          <a:lstStyle/>
          <a:p>
            <a:pPr marL="0" indent="0" fontAlgn="t">
              <a:buNone/>
            </a:pPr>
            <a:r>
              <a:rPr lang="en-US" sz="2400" b="1" dirty="0">
                <a:solidFill>
                  <a:srgbClr val="FFC000"/>
                </a:solidFill>
              </a:rPr>
              <a:t>1. Pre-reproductive (0–14 years)</a:t>
            </a:r>
          </a:p>
          <a:p>
            <a:pPr fontAlgn="t"/>
            <a:r>
              <a:rPr lang="en-US" sz="2400" dirty="0"/>
              <a:t>Too young to reproduce.</a:t>
            </a:r>
          </a:p>
          <a:p>
            <a:pPr fontAlgn="t"/>
            <a:r>
              <a:rPr lang="en-US" sz="2400" dirty="0"/>
              <a:t>Future potential parents.</a:t>
            </a:r>
          </a:p>
          <a:p>
            <a:pPr marL="0" indent="0" fontAlgn="t">
              <a:buNone/>
            </a:pPr>
            <a:r>
              <a:rPr lang="en-US" sz="2400" dirty="0"/>
              <a:t>Example: children and teenagers.</a:t>
            </a:r>
          </a:p>
          <a:p>
            <a:pPr marL="0" indent="0" fontAlgn="t">
              <a:buNone/>
            </a:pPr>
            <a:r>
              <a:rPr lang="en-US" sz="2400" b="1" dirty="0">
                <a:solidFill>
                  <a:srgbClr val="FFC000"/>
                </a:solidFill>
              </a:rPr>
              <a:t>2. Reproductive (15–44 years)</a:t>
            </a:r>
          </a:p>
          <a:p>
            <a:pPr fontAlgn="t"/>
            <a:r>
              <a:rPr lang="en-US" sz="2400" dirty="0"/>
              <a:t>Capable of having offspring.</a:t>
            </a:r>
          </a:p>
          <a:p>
            <a:pPr fontAlgn="t"/>
            <a:r>
              <a:rPr lang="en-US" sz="2400" dirty="0"/>
              <a:t>Main contributors to population growth.</a:t>
            </a:r>
          </a:p>
          <a:p>
            <a:pPr marL="0" indent="0" fontAlgn="t">
              <a:buNone/>
            </a:pPr>
            <a:r>
              <a:rPr lang="en-US" sz="2400" dirty="0"/>
              <a:t>Example: young adults and middle-aged individuals.</a:t>
            </a:r>
          </a:p>
          <a:p>
            <a:pPr marL="0" indent="0" fontAlgn="t">
              <a:buNone/>
            </a:pPr>
            <a:r>
              <a:rPr lang="en-US" sz="2400" b="1" dirty="0">
                <a:solidFill>
                  <a:srgbClr val="FFC000"/>
                </a:solidFill>
              </a:rPr>
              <a:t>3. Post-reproductive (45+ years)</a:t>
            </a:r>
          </a:p>
          <a:p>
            <a:pPr fontAlgn="t"/>
            <a:r>
              <a:rPr lang="en-US" sz="2400" dirty="0"/>
              <a:t>Older individuals, typically past reproductive age.</a:t>
            </a:r>
          </a:p>
          <a:p>
            <a:pPr marL="0" indent="0" fontAlgn="t">
              <a:buNone/>
            </a:pPr>
            <a:r>
              <a:rPr lang="en-US" sz="2400" dirty="0"/>
              <a:t>Example: senior citizens.</a:t>
            </a:r>
          </a:p>
          <a:p>
            <a:pPr marL="0" indent="0" fontAlgn="t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16456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378B8-C017-C71F-A8FC-3D7674ED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Age structure diagrams</a:t>
            </a:r>
            <a:br>
              <a:rPr lang="en-US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96E12-8C6D-4282-1046-86DEFB5B4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Age structure is often shown using </a:t>
            </a:r>
            <a:r>
              <a:rPr lang="en-US" b="1" dirty="0"/>
              <a:t>population pyramids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Expanding Population </a:t>
            </a:r>
            <a:r>
              <a:rPr lang="en-US" b="1" dirty="0"/>
              <a:t>(Pyramid Shape)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Stable Population </a:t>
            </a:r>
            <a:r>
              <a:rPr lang="en-US" b="1" dirty="0"/>
              <a:t>(Rectangular Shape)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Declining Population </a:t>
            </a:r>
            <a:r>
              <a:rPr lang="en-US" b="1" dirty="0"/>
              <a:t>(Inverted Pyramid)</a:t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marL="0" indent="0" fontAlgn="t">
              <a:buNone/>
            </a:pPr>
            <a:endParaRPr lang="en-US" dirty="0"/>
          </a:p>
          <a:p>
            <a:pPr marL="0" indent="0" fontAlgn="t">
              <a:buNone/>
            </a:pPr>
            <a:endParaRPr lang="en-US" b="1" dirty="0"/>
          </a:p>
          <a:p>
            <a:pPr fontAlgn="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71998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10F2F-9A78-77A4-020B-8F3D4F40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Expanding Population (Pyramid Shape)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15AE-6B51-4FC3-72CB-5390560A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marL="0" indent="0" fontAlgn="t">
              <a:buNone/>
            </a:pPr>
            <a:r>
              <a:rPr lang="en-US" dirty="0"/>
              <a:t>The population </a:t>
            </a:r>
            <a:r>
              <a:rPr lang="en-US" b="1" dirty="0"/>
              <a:t>will continue to grow quickly.</a:t>
            </a:r>
          </a:p>
          <a:p>
            <a:pPr marL="0" indent="0" fontAlgn="t">
              <a:buNone/>
            </a:pPr>
            <a:endParaRPr lang="en-US" dirty="0"/>
          </a:p>
          <a:p>
            <a:pPr marL="0" indent="0" fontAlgn="t">
              <a:buNone/>
            </a:pPr>
            <a:r>
              <a:rPr lang="en-US" b="1" dirty="0"/>
              <a:t>Characteristics:</a:t>
            </a:r>
          </a:p>
          <a:p>
            <a:pPr fontAlgn="t"/>
            <a:r>
              <a:rPr lang="en-US" dirty="0"/>
              <a:t>Wide base (many young people)</a:t>
            </a:r>
          </a:p>
          <a:p>
            <a:pPr fontAlgn="t"/>
            <a:r>
              <a:rPr lang="en-US" dirty="0"/>
              <a:t>High birth rate</a:t>
            </a:r>
          </a:p>
          <a:p>
            <a:pPr fontAlgn="t"/>
            <a:r>
              <a:rPr lang="en-US" dirty="0"/>
              <a:t>Rapid population growth</a:t>
            </a:r>
          </a:p>
          <a:p>
            <a:pPr fontAlgn="t"/>
            <a:endParaRPr lang="en-US" sz="2400" dirty="0"/>
          </a:p>
          <a:p>
            <a:pPr marL="0" indent="0" fontAlgn="t">
              <a:buNone/>
            </a:pPr>
            <a:r>
              <a:rPr lang="en-US" b="1" dirty="0"/>
              <a:t>Examples: </a:t>
            </a:r>
            <a:r>
              <a:rPr lang="en-US" dirty="0"/>
              <a:t>Philippines, Many developing countries</a:t>
            </a:r>
          </a:p>
          <a:p>
            <a:pPr marL="0" indent="0" fontAlgn="t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0185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Population of Philippines 2025 - PopulationPyramid.net">
            <a:extLst>
              <a:ext uri="{FF2B5EF4-FFF2-40B4-BE49-F238E27FC236}">
                <a16:creationId xmlns:a16="http://schemas.microsoft.com/office/drawing/2014/main" id="{7FFA03EB-EDEA-8DE9-5AB7-0F5183D8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64" y="643467"/>
            <a:ext cx="5515354" cy="557106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21B9E3-C122-A7DB-356C-C73955FA246A}"/>
              </a:ext>
            </a:extLst>
          </p:cNvPr>
          <p:cNvSpPr txBox="1">
            <a:spLocks/>
          </p:cNvSpPr>
          <p:nvPr/>
        </p:nvSpPr>
        <p:spPr>
          <a:xfrm>
            <a:off x="6499123" y="1737136"/>
            <a:ext cx="4630995" cy="27070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Font typeface="Arial" panose="020B0604020202020204" pitchFamily="34" charset="0"/>
              <a:buNone/>
            </a:pPr>
            <a:r>
              <a:rPr lang="en-US" sz="2400" b="1" dirty="0"/>
              <a:t>Philippines</a:t>
            </a:r>
          </a:p>
          <a:p>
            <a:pPr fontAlgn="t"/>
            <a:r>
              <a:rPr lang="en-US" sz="2400" dirty="0"/>
              <a:t>Wide base population pyramid.</a:t>
            </a:r>
          </a:p>
          <a:p>
            <a:pPr fontAlgn="t"/>
            <a:r>
              <a:rPr lang="en-US" sz="2400" dirty="0"/>
              <a:t>Many young people</a:t>
            </a:r>
            <a:br>
              <a:rPr lang="en-US" sz="2400" dirty="0"/>
            </a:br>
            <a:endParaRPr lang="en-US" sz="2400" dirty="0"/>
          </a:p>
          <a:p>
            <a:pPr fontAlgn="t"/>
            <a:r>
              <a:rPr lang="en-US" sz="2400" dirty="0"/>
              <a:t>Result: Rapid population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3884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7D345-E6A4-2821-4B01-28DD1197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2. Stable Population (Rectangular Shape)</a:t>
            </a:r>
            <a:br>
              <a:rPr lang="en-US" dirty="0">
                <a:solidFill>
                  <a:schemeClr val="bg1"/>
                </a:solidFill>
              </a:rPr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8671-CAC9-AE56-AD5E-3471CFF7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fontAlgn="t"/>
            <a:r>
              <a:rPr lang="en-US" dirty="0"/>
              <a:t>Population </a:t>
            </a:r>
            <a:r>
              <a:rPr lang="en-US" b="1" dirty="0"/>
              <a:t>remains steady.</a:t>
            </a:r>
          </a:p>
          <a:p>
            <a:pPr fontAlgn="t"/>
            <a:endParaRPr lang="en-US" dirty="0"/>
          </a:p>
          <a:p>
            <a:pPr marL="0" indent="0" fontAlgn="t">
              <a:buNone/>
            </a:pPr>
            <a:r>
              <a:rPr lang="en-US" b="1" dirty="0"/>
              <a:t>Characteristics:</a:t>
            </a:r>
          </a:p>
          <a:p>
            <a:pPr fontAlgn="t"/>
            <a:r>
              <a:rPr lang="en-US" dirty="0"/>
              <a:t>Nearly equal numbers in all age groups</a:t>
            </a:r>
          </a:p>
          <a:p>
            <a:pPr fontAlgn="t"/>
            <a:r>
              <a:rPr lang="en-US" dirty="0"/>
              <a:t>Low birth and death rates</a:t>
            </a:r>
          </a:p>
          <a:p>
            <a:pPr fontAlgn="t"/>
            <a:r>
              <a:rPr lang="en-US" dirty="0"/>
              <a:t>Slow or no growth</a:t>
            </a:r>
          </a:p>
          <a:p>
            <a:pPr fontAlgn="t"/>
            <a:endParaRPr lang="en-US" dirty="0"/>
          </a:p>
          <a:p>
            <a:pPr marL="0" indent="0" fontAlgn="t">
              <a:buNone/>
            </a:pPr>
            <a:r>
              <a:rPr lang="en-US" b="1" dirty="0"/>
              <a:t>Examples: </a:t>
            </a:r>
            <a:r>
              <a:rPr lang="en-US" dirty="0"/>
              <a:t>USA, France</a:t>
            </a:r>
          </a:p>
          <a:p>
            <a:pPr fontAlgn="t"/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4982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Population of United States of America 2025 - PopulationPyramid.net">
            <a:extLst>
              <a:ext uri="{FF2B5EF4-FFF2-40B4-BE49-F238E27FC236}">
                <a16:creationId xmlns:a16="http://schemas.microsoft.com/office/drawing/2014/main" id="{0BDD2D10-F57A-E1E7-5F54-09753E6DC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62" y="643467"/>
            <a:ext cx="5515354" cy="55710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D372C-8E4E-4C5F-15E3-3DC3436CDA39}"/>
              </a:ext>
            </a:extLst>
          </p:cNvPr>
          <p:cNvSpPr txBox="1">
            <a:spLocks/>
          </p:cNvSpPr>
          <p:nvPr/>
        </p:nvSpPr>
        <p:spPr>
          <a:xfrm>
            <a:off x="5975407" y="1147199"/>
            <a:ext cx="5739581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Font typeface="Arial" panose="020B0604020202020204" pitchFamily="34" charset="0"/>
              <a:buNone/>
            </a:pPr>
            <a:r>
              <a:rPr lang="en-US" sz="2400" b="1" dirty="0"/>
              <a:t>United States (USA)</a:t>
            </a:r>
          </a:p>
          <a:p>
            <a:pPr fontAlgn="t"/>
            <a:r>
              <a:rPr lang="en-US" sz="2400" b="1" dirty="0"/>
              <a:t>Nearly rectangular population pyramid.</a:t>
            </a:r>
          </a:p>
          <a:p>
            <a:pPr fontAlgn="t"/>
            <a:r>
              <a:rPr lang="en-US" sz="2400" dirty="0"/>
              <a:t>A moderate number of young people and adults.</a:t>
            </a:r>
          </a:p>
          <a:p>
            <a:pPr fontAlgn="t"/>
            <a:r>
              <a:rPr lang="en-US" sz="2400" b="1" dirty="0"/>
              <a:t>Result:</a:t>
            </a:r>
            <a:endParaRPr lang="en-US" sz="2400" dirty="0"/>
          </a:p>
          <a:p>
            <a:pPr lvl="1" fontAlgn="t"/>
            <a:r>
              <a:rPr lang="en-US" sz="2000" dirty="0"/>
              <a:t>Relatively </a:t>
            </a:r>
            <a:r>
              <a:rPr lang="en-US" sz="2000" b="1" dirty="0"/>
              <a:t>stable population growth.</a:t>
            </a:r>
            <a:endParaRPr lang="en-US" sz="2000" dirty="0"/>
          </a:p>
          <a:p>
            <a:pPr lvl="1" fontAlgn="t"/>
            <a:r>
              <a:rPr lang="en-US" sz="2000" dirty="0"/>
              <a:t>Balanced working-age population.</a:t>
            </a:r>
          </a:p>
          <a:p>
            <a:pPr lvl="1" fontAlgn="t"/>
            <a:r>
              <a:rPr lang="en-US" sz="2000" dirty="0"/>
              <a:t>Gradual aging trend (increasing elderly population).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914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CA97E-3E24-0BA0-5C26-61A77E29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3. Declining Population (Inverted Pyramid)</a:t>
            </a:r>
            <a:br>
              <a:rPr lang="en-US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22CA2-EFD0-9D6A-3687-776E54C8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Population may </a:t>
            </a:r>
            <a:r>
              <a:rPr lang="en-US" b="1" dirty="0"/>
              <a:t>shrink</a:t>
            </a:r>
            <a:r>
              <a:rPr lang="en-US" dirty="0"/>
              <a:t> over time.</a:t>
            </a:r>
          </a:p>
          <a:p>
            <a:endParaRPr lang="en-US" dirty="0"/>
          </a:p>
          <a:p>
            <a:pPr marL="0" indent="0" fontAlgn="t">
              <a:buNone/>
            </a:pPr>
            <a:r>
              <a:rPr lang="en-US" b="1" dirty="0"/>
              <a:t>Characteristics:</a:t>
            </a:r>
          </a:p>
          <a:p>
            <a:pPr fontAlgn="t"/>
            <a:r>
              <a:rPr lang="en-US" dirty="0"/>
              <a:t>Narrow base (few young people)</a:t>
            </a:r>
          </a:p>
          <a:p>
            <a:pPr fontAlgn="t"/>
            <a:r>
              <a:rPr lang="en-US" dirty="0"/>
              <a:t>Low birth rate</a:t>
            </a:r>
          </a:p>
          <a:p>
            <a:pPr fontAlgn="t"/>
            <a:r>
              <a:rPr lang="en-US" dirty="0"/>
              <a:t>Aging population</a:t>
            </a:r>
          </a:p>
          <a:p>
            <a:endParaRPr lang="en-US" sz="2400" dirty="0"/>
          </a:p>
          <a:p>
            <a:pPr marL="0" indent="0" fontAlgn="t">
              <a:buNone/>
            </a:pPr>
            <a:r>
              <a:rPr lang="en-US" b="1" dirty="0"/>
              <a:t>Examples: </a:t>
            </a:r>
            <a:r>
              <a:rPr lang="en-US" dirty="0"/>
              <a:t>Japan, Germany</a:t>
            </a:r>
          </a:p>
          <a:p>
            <a:pPr fontAlgn="t"/>
            <a:endParaRPr lang="en-US" dirty="0"/>
          </a:p>
          <a:p>
            <a:pPr fontAlgn="t"/>
            <a:endParaRPr lang="en-US" b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7506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Population of Japan 2025 - PopulationPyramid.net">
            <a:extLst>
              <a:ext uri="{FF2B5EF4-FFF2-40B4-BE49-F238E27FC236}">
                <a16:creationId xmlns:a16="http://schemas.microsoft.com/office/drawing/2014/main" id="{461FBCDD-7259-5152-8F16-160B06023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82" y="643467"/>
            <a:ext cx="5515354" cy="55710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315D5-3B54-10BA-26A5-E07EF5D6EE1F}"/>
              </a:ext>
            </a:extLst>
          </p:cNvPr>
          <p:cNvSpPr txBox="1">
            <a:spLocks/>
          </p:cNvSpPr>
          <p:nvPr/>
        </p:nvSpPr>
        <p:spPr>
          <a:xfrm>
            <a:off x="7027453" y="1825625"/>
            <a:ext cx="4604108" cy="24549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Font typeface="Arial" panose="020B0604020202020204" pitchFamily="34" charset="0"/>
              <a:buNone/>
            </a:pPr>
            <a:r>
              <a:rPr lang="en-US" b="1" dirty="0"/>
              <a:t>Japan</a:t>
            </a:r>
          </a:p>
          <a:p>
            <a:pPr fontAlgn="t"/>
            <a:r>
              <a:rPr lang="en-US" dirty="0"/>
              <a:t>Narrow base, more elderly</a:t>
            </a:r>
          </a:p>
          <a:p>
            <a:pPr fontAlgn="t"/>
            <a:r>
              <a:rPr lang="en-US" dirty="0"/>
              <a:t>Result:</a:t>
            </a:r>
          </a:p>
          <a:p>
            <a:pPr lvl="1" fontAlgn="t"/>
            <a:r>
              <a:rPr lang="en-US" dirty="0"/>
              <a:t>Aging society</a:t>
            </a:r>
          </a:p>
          <a:p>
            <a:pPr lvl="1" fontAlgn="t"/>
            <a:r>
              <a:rPr lang="en-US" dirty="0"/>
              <a:t>Labor shortage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5983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18FF5-D80A-5348-026D-F1E3F591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Why age structure is important?</a:t>
            </a:r>
            <a:br>
              <a:rPr lang="en-US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A1006-7C21-8911-3D52-3C03D5C99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14719"/>
          </a:xfrm>
        </p:spPr>
        <p:txBody>
          <a:bodyPr>
            <a:normAutofit fontScale="92500" lnSpcReduction="10000"/>
          </a:bodyPr>
          <a:lstStyle/>
          <a:p>
            <a:pPr marL="0" indent="0" fontAlgn="t">
              <a:buNone/>
            </a:pPr>
            <a:r>
              <a:rPr lang="en-US" sz="3200" b="1" dirty="0"/>
              <a:t>1. </a:t>
            </a:r>
            <a:r>
              <a:rPr lang="en-US" sz="3600" b="1" dirty="0"/>
              <a:t>Predicts Future Growth</a:t>
            </a:r>
          </a:p>
          <a:p>
            <a:pPr lvl="1" fontAlgn="t"/>
            <a:r>
              <a:rPr lang="en-US" sz="3200" dirty="0"/>
              <a:t>Many young people → population will grow</a:t>
            </a:r>
          </a:p>
          <a:p>
            <a:pPr lvl="1" fontAlgn="t"/>
            <a:r>
              <a:rPr lang="en-US" sz="3200" dirty="0"/>
              <a:t>Few young people → population may decline</a:t>
            </a:r>
          </a:p>
          <a:p>
            <a:pPr marL="0" indent="0" fontAlgn="t">
              <a:buNone/>
            </a:pPr>
            <a:r>
              <a:rPr lang="en-US" sz="3600" b="1" dirty="0"/>
              <a:t>2. Helps Government Planning</a:t>
            </a:r>
          </a:p>
          <a:p>
            <a:pPr lvl="1" fontAlgn="t"/>
            <a:r>
              <a:rPr lang="en-US" sz="3200" dirty="0"/>
              <a:t>More children → need more schools</a:t>
            </a:r>
          </a:p>
          <a:p>
            <a:pPr lvl="1" fontAlgn="t"/>
            <a:r>
              <a:rPr lang="en-US" sz="3200" dirty="0"/>
              <a:t>More elderly → need more healthcare services</a:t>
            </a:r>
          </a:p>
          <a:p>
            <a:pPr marL="0" indent="0" fontAlgn="t">
              <a:buNone/>
            </a:pPr>
            <a:r>
              <a:rPr lang="en-US" sz="3600" b="1" dirty="0"/>
              <a:t>3. Shows Economic Impact</a:t>
            </a:r>
          </a:p>
          <a:p>
            <a:pPr lvl="1" fontAlgn="t"/>
            <a:r>
              <a:rPr lang="en-US" sz="3200" dirty="0"/>
              <a:t>Large working population → strong economy</a:t>
            </a:r>
          </a:p>
          <a:p>
            <a:pPr lvl="1" fontAlgn="t"/>
            <a:r>
              <a:rPr lang="en-US" sz="3200" dirty="0"/>
              <a:t>Aging population → fewer workers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9807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5AF27-4BC1-3388-095D-C6B67CC1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Factors affecting age structure</a:t>
            </a:r>
            <a:br>
              <a:rPr lang="en-US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5253A-AE61-4BE4-BDC9-FBFE6E26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4000" dirty="0"/>
              <a:t>Birth rate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000" dirty="0"/>
              <a:t>Death rate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000" dirty="0"/>
              <a:t>Health care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000" dirty="0"/>
              <a:t>Culture and traditions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000" dirty="0"/>
              <a:t>Government policies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9006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2D346-E0B1-474B-E684-CBCDC16F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highlight>
                  <a:srgbClr val="00FF00"/>
                </a:highlight>
              </a:rPr>
              <a:t>LIFE EXPECTANCY</a:t>
            </a:r>
            <a:br>
              <a:rPr lang="en-US" sz="4000" b="1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F6106-4E27-1A5F-7B83-43C6D1C64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851" y="2260619"/>
            <a:ext cx="4380013" cy="43859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fontAlgn="t"/>
            <a:r>
              <a:rPr lang="en-US" sz="2400" b="1" dirty="0"/>
              <a:t>Life expectancy</a:t>
            </a:r>
            <a:r>
              <a:rPr lang="en-US" sz="2400" dirty="0"/>
              <a:t> is the </a:t>
            </a:r>
            <a:r>
              <a:rPr lang="en-US" sz="2400" b="1" dirty="0"/>
              <a:t>average number of years a person is expected to live</a:t>
            </a:r>
            <a:r>
              <a:rPr lang="en-US" sz="2400" dirty="0"/>
              <a:t> in a population.</a:t>
            </a:r>
          </a:p>
          <a:p>
            <a:pPr fontAlgn="t"/>
            <a:r>
              <a:rPr lang="en-US" sz="2400" dirty="0"/>
              <a:t>It reflects the </a:t>
            </a:r>
            <a:r>
              <a:rPr lang="en-US" sz="2400" b="1" dirty="0"/>
              <a:t>overall health and living conditions</a:t>
            </a:r>
            <a:r>
              <a:rPr lang="en-US" sz="2400" dirty="0"/>
              <a:t> of a country. </a:t>
            </a:r>
          </a:p>
          <a:p>
            <a:pPr fontAlgn="t"/>
            <a:r>
              <a:rPr lang="en-US" sz="2400" dirty="0"/>
              <a:t>It is influenced by: </a:t>
            </a:r>
          </a:p>
          <a:p>
            <a:pPr lvl="1" fontAlgn="t"/>
            <a:r>
              <a:rPr lang="en-US" dirty="0"/>
              <a:t>Healthcare quality</a:t>
            </a:r>
          </a:p>
          <a:p>
            <a:pPr lvl="1" fontAlgn="t"/>
            <a:r>
              <a:rPr lang="en-US" dirty="0"/>
              <a:t>Nutrition</a:t>
            </a:r>
          </a:p>
          <a:p>
            <a:pPr lvl="1" fontAlgn="t"/>
            <a:r>
              <a:rPr lang="en-US" dirty="0"/>
              <a:t>Sanitation</a:t>
            </a:r>
          </a:p>
          <a:p>
            <a:pPr lvl="1" fontAlgn="t"/>
            <a:r>
              <a:rPr lang="en-US" dirty="0"/>
              <a:t>Lifestyle</a:t>
            </a:r>
          </a:p>
          <a:p>
            <a:r>
              <a:rPr lang="en-US" sz="2400" b="1" dirty="0"/>
              <a:t>High</a:t>
            </a:r>
            <a:r>
              <a:rPr lang="en-US" sz="2400" dirty="0"/>
              <a:t> life expectancy → better quality of life. </a:t>
            </a:r>
          </a:p>
          <a:p>
            <a:r>
              <a:rPr lang="en-US" sz="2400" b="1" dirty="0"/>
              <a:t>Low</a:t>
            </a:r>
            <a:r>
              <a:rPr lang="en-US" sz="2400" dirty="0"/>
              <a:t> life expectancy → possible health or economic problems.</a:t>
            </a:r>
          </a:p>
          <a:p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4725F8-9AFF-3708-14DF-C6EE0D269F45}"/>
              </a:ext>
            </a:extLst>
          </p:cNvPr>
          <p:cNvSpPr txBox="1">
            <a:spLocks/>
          </p:cNvSpPr>
          <p:nvPr/>
        </p:nvSpPr>
        <p:spPr>
          <a:xfrm>
            <a:off x="6095995" y="2181361"/>
            <a:ext cx="5742044" cy="44652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6400" b="1" dirty="0"/>
              <a:t>Philippines</a:t>
            </a:r>
          </a:p>
          <a:p>
            <a:pPr fontAlgn="t"/>
            <a:r>
              <a:rPr lang="en-US" sz="6400" dirty="0"/>
              <a:t>Around </a:t>
            </a:r>
            <a:r>
              <a:rPr lang="en-US" sz="6400" b="1" dirty="0"/>
              <a:t>low to moderate life expectancy.</a:t>
            </a:r>
          </a:p>
          <a:p>
            <a:pPr fontAlgn="t"/>
            <a:r>
              <a:rPr lang="en-US" sz="6400" dirty="0"/>
              <a:t>roughly </a:t>
            </a:r>
            <a:r>
              <a:rPr lang="en-US" sz="6400" b="1" dirty="0">
                <a:highlight>
                  <a:srgbClr val="00FF00"/>
                </a:highlight>
              </a:rPr>
              <a:t>72.04 years</a:t>
            </a:r>
            <a:r>
              <a:rPr lang="en-US" sz="6400" dirty="0"/>
              <a:t>.  about 66.89 years for men and 72.82 years for women. </a:t>
            </a:r>
          </a:p>
          <a:p>
            <a:pPr marL="0" indent="0" fontAlgn="t">
              <a:buNone/>
            </a:pPr>
            <a:r>
              <a:rPr lang="en-US" sz="6400" dirty="0"/>
              <a:t>Reason: Improving healthcare but still limited in some areas.</a:t>
            </a:r>
          </a:p>
          <a:p>
            <a:pPr marL="0" indent="0" fontAlgn="t">
              <a:buNone/>
            </a:pPr>
            <a:r>
              <a:rPr lang="en-US" sz="6400" b="1" dirty="0"/>
              <a:t>Japan</a:t>
            </a:r>
          </a:p>
          <a:p>
            <a:pPr fontAlgn="t"/>
            <a:r>
              <a:rPr lang="en-US" sz="6400" dirty="0"/>
              <a:t>Very </a:t>
            </a:r>
            <a:r>
              <a:rPr lang="en-US" sz="6400" b="1" dirty="0"/>
              <a:t>high life expectancy</a:t>
            </a:r>
            <a:r>
              <a:rPr lang="en-US" sz="6400" dirty="0"/>
              <a:t> (among the highest in the world).</a:t>
            </a:r>
          </a:p>
          <a:p>
            <a:pPr fontAlgn="t"/>
            <a:r>
              <a:rPr lang="en-US" sz="6400" b="1" dirty="0">
                <a:highlight>
                  <a:srgbClr val="00FF00"/>
                </a:highlight>
              </a:rPr>
              <a:t>85.0 years</a:t>
            </a:r>
          </a:p>
          <a:p>
            <a:pPr marL="0" indent="0" fontAlgn="t">
              <a:buNone/>
            </a:pPr>
            <a:r>
              <a:rPr lang="en-US" sz="6400" dirty="0"/>
              <a:t>Reason: </a:t>
            </a:r>
          </a:p>
          <a:p>
            <a:pPr fontAlgn="t"/>
            <a:r>
              <a:rPr lang="en-US" sz="6400" dirty="0"/>
              <a:t>Healthy diet (fish, vegetables)</a:t>
            </a:r>
          </a:p>
          <a:p>
            <a:pPr fontAlgn="t"/>
            <a:r>
              <a:rPr lang="en-US" sz="6400" dirty="0"/>
              <a:t>Strong healthcare system</a:t>
            </a:r>
          </a:p>
          <a:p>
            <a:pPr marL="0" indent="0" fontAlgn="t">
              <a:buNone/>
            </a:pPr>
            <a:r>
              <a:rPr lang="en-US" sz="6400" b="1" dirty="0"/>
              <a:t>USA</a:t>
            </a:r>
          </a:p>
          <a:p>
            <a:pPr fontAlgn="t"/>
            <a:r>
              <a:rPr lang="en-US" sz="6400" dirty="0"/>
              <a:t>High but slightly lower than Japan</a:t>
            </a:r>
          </a:p>
          <a:p>
            <a:pPr fontAlgn="t"/>
            <a:r>
              <a:rPr lang="en-US" sz="6400" b="1" dirty="0">
                <a:highlight>
                  <a:srgbClr val="00FF00"/>
                </a:highlight>
              </a:rPr>
              <a:t>79.4 years</a:t>
            </a:r>
          </a:p>
          <a:p>
            <a:pPr fontAlgn="t"/>
            <a:r>
              <a:rPr lang="en-US" sz="6400" dirty="0"/>
              <a:t>Reason:  Advanced healthcare, but lifestyle diseases affect longevity.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9401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237B5-B9F9-AD55-76B6-5141065CD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  <a:highlight>
                  <a:srgbClr val="FF00FF"/>
                </a:highlight>
              </a:rPr>
              <a:t>SEX RATIO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21DFE-987F-154A-F571-0EF7DFD1B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548" y="2217343"/>
                <a:ext cx="9880893" cy="423261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b="1" dirty="0"/>
                  <a:t>Sex ratio</a:t>
                </a:r>
                <a:r>
                  <a:rPr lang="en-US" sz="2400" dirty="0"/>
                  <a:t> is the </a:t>
                </a:r>
                <a:r>
                  <a:rPr lang="en-US" sz="2400" b="1" dirty="0"/>
                  <a:t>number of males compared to females in a population</a:t>
                </a:r>
                <a:r>
                  <a:rPr lang="en-US" sz="2400" dirty="0"/>
                  <a:t>.</a:t>
                </a:r>
              </a:p>
              <a:p>
                <a:pPr fontAlgn="t"/>
                <a:r>
                  <a:rPr lang="en-US" sz="2400" dirty="0"/>
                  <a:t>Usually expressed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𝑆𝑒𝑥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𝑅𝑎𝑡𝑖𝑜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𝑀𝑎𝑙𝑒𝑠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𝐹𝑒𝑚𝑎𝑙𝑒𝑠</m:t>
                        </m:r>
                      </m:den>
                    </m:f>
                  </m:oMath>
                </a14:m>
                <a:endParaRPr lang="en-US" b="0" dirty="0"/>
              </a:p>
              <a:p>
                <a:pPr fontAlgn="t"/>
                <a:r>
                  <a:rPr lang="en-US" sz="2400" b="1" dirty="0"/>
                  <a:t>Shows gender balance </a:t>
                </a:r>
                <a:r>
                  <a:rPr lang="en-US" sz="2400" dirty="0"/>
                  <a:t>in a population. Important for predicting:</a:t>
                </a:r>
              </a:p>
              <a:p>
                <a:pPr lvl="1" fontAlgn="t"/>
                <a:r>
                  <a:rPr lang="en-US" dirty="0"/>
                  <a:t>Marriage patterns</a:t>
                </a:r>
              </a:p>
              <a:p>
                <a:pPr lvl="1" fontAlgn="t"/>
                <a:r>
                  <a:rPr lang="en-US" dirty="0"/>
                  <a:t> Workforce distribution</a:t>
                </a:r>
              </a:p>
              <a:p>
                <a:pPr lvl="1" fontAlgn="t"/>
                <a:r>
                  <a:rPr lang="en-US" dirty="0"/>
                  <a:t>Social dynamics</a:t>
                </a:r>
              </a:p>
              <a:p>
                <a:pPr marL="0" indent="0" fontAlgn="t">
                  <a:buNone/>
                </a:pPr>
                <a:r>
                  <a:rPr lang="en-US" sz="2400" dirty="0"/>
                  <a:t>Imbalance may lead to: </a:t>
                </a:r>
              </a:p>
              <a:p>
                <a:pPr lvl="1" fontAlgn="t"/>
                <a:r>
                  <a:rPr lang="en-US" sz="2000" dirty="0"/>
                  <a:t>Social issues</a:t>
                </a:r>
              </a:p>
              <a:p>
                <a:pPr lvl="1" fontAlgn="t"/>
                <a:r>
                  <a:rPr lang="en-US" sz="2000" dirty="0"/>
                  <a:t>Marriage imbalance</a:t>
                </a:r>
              </a:p>
              <a:p>
                <a:pPr lvl="1" fontAlgn="t"/>
                <a:r>
                  <a:rPr lang="en-US" sz="2000" dirty="0"/>
                  <a:t>Labor shortages/surpluses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21DFE-987F-154A-F571-0EF7DFD1B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548" y="2217343"/>
                <a:ext cx="9880893" cy="4232618"/>
              </a:xfrm>
              <a:blipFill>
                <a:blip r:embed="rId2"/>
                <a:stretch>
                  <a:fillRect l="-802" t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4797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DB0EC-7166-ECCB-0D10-FF72A412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FB1E-A246-D51E-7D15-6ACB8F885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58760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Global Average</a:t>
            </a:r>
          </a:p>
          <a:p>
            <a:pPr lvl="1" fontAlgn="t"/>
            <a:r>
              <a:rPr lang="en-US" dirty="0"/>
              <a:t>About </a:t>
            </a:r>
            <a:r>
              <a:rPr lang="en-US" b="1" dirty="0"/>
              <a:t>105 males for every 100 females at birth.</a:t>
            </a:r>
            <a:endParaRPr lang="en-US" dirty="0"/>
          </a:p>
          <a:p>
            <a:pPr marL="0" indent="0" fontAlgn="t">
              <a:buNone/>
            </a:pPr>
            <a:r>
              <a:rPr lang="en-US" b="1" dirty="0"/>
              <a:t>Philippines</a:t>
            </a:r>
          </a:p>
          <a:p>
            <a:pPr lvl="1" fontAlgn="t"/>
            <a:r>
              <a:rPr lang="en-US" dirty="0"/>
              <a:t>Almost balanced sex ratio (99 to 102 males per 100 females).</a:t>
            </a:r>
          </a:p>
          <a:p>
            <a:pPr marL="0" indent="0" fontAlgn="t">
              <a:buNone/>
            </a:pPr>
            <a:r>
              <a:rPr lang="en-US" b="1" dirty="0"/>
              <a:t>USA</a:t>
            </a:r>
          </a:p>
          <a:p>
            <a:pPr lvl="1" fontAlgn="t"/>
            <a:r>
              <a:rPr lang="en-US" dirty="0"/>
              <a:t>Slightly </a:t>
            </a:r>
            <a:r>
              <a:rPr lang="en-US" b="1" dirty="0"/>
              <a:t>more females than males.</a:t>
            </a:r>
            <a:endParaRPr lang="en-US" dirty="0"/>
          </a:p>
          <a:p>
            <a:pPr lvl="1" fontAlgn="t"/>
            <a:r>
              <a:rPr lang="en-US" dirty="0"/>
              <a:t>Reason: Females generally live longer.</a:t>
            </a:r>
          </a:p>
          <a:p>
            <a:pPr marL="0" indent="0" fontAlgn="t">
              <a:buNone/>
            </a:pPr>
            <a:r>
              <a:rPr lang="en-US" b="1" dirty="0"/>
              <a:t>India / China (some regions)</a:t>
            </a:r>
          </a:p>
          <a:p>
            <a:pPr lvl="1" fontAlgn="t"/>
            <a:r>
              <a:rPr lang="en-US" dirty="0"/>
              <a:t>More males than females.</a:t>
            </a:r>
          </a:p>
          <a:p>
            <a:pPr lvl="1" fontAlgn="t"/>
            <a:r>
              <a:rPr lang="en-US" dirty="0"/>
              <a:t>Reason: cultural preferences (historically).</a:t>
            </a:r>
          </a:p>
          <a:p>
            <a:pPr fontAlgn="t"/>
            <a:endParaRPr lang="en-US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563716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98897-87DA-4B05-1D11-9A9DAF59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  <a:highlight>
                  <a:srgbClr val="0000FF"/>
                </a:highlight>
              </a:rPr>
              <a:t>FERTILITY RATE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5EB3-F05A-73F8-8A6F-F5CD029FA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163792"/>
          </a:xfrm>
        </p:spPr>
        <p:txBody>
          <a:bodyPr>
            <a:normAutofit/>
          </a:bodyPr>
          <a:lstStyle/>
          <a:p>
            <a:r>
              <a:rPr lang="en-US" sz="2400" b="1" dirty="0"/>
              <a:t>Total Fertility Rate</a:t>
            </a:r>
            <a:r>
              <a:rPr lang="en-US" sz="2400" dirty="0"/>
              <a:t> </a:t>
            </a:r>
            <a:r>
              <a:rPr lang="en-US" sz="2400" b="1" dirty="0"/>
              <a:t>(TFR) </a:t>
            </a:r>
            <a:r>
              <a:rPr lang="en-US" sz="2400" dirty="0"/>
              <a:t>is the average number of children a woman would have by the end of her childbearing years if she were to bear children at the current age-speciﬁc fertility rates.</a:t>
            </a:r>
          </a:p>
          <a:p>
            <a:endParaRPr lang="en-US" sz="1100" dirty="0"/>
          </a:p>
          <a:p>
            <a:pPr fontAlgn="t">
              <a:lnSpc>
                <a:spcPts val="1500"/>
              </a:lnSpc>
            </a:pPr>
            <a:r>
              <a:rPr lang="en-US" sz="2400" b="1" dirty="0"/>
              <a:t>Replacement level </a:t>
            </a:r>
            <a:r>
              <a:rPr lang="en-US" sz="2400" dirty="0"/>
              <a:t>= about </a:t>
            </a:r>
            <a:r>
              <a:rPr lang="en-US" sz="2400" b="1" dirty="0"/>
              <a:t>2.1 children per woman.</a:t>
            </a:r>
            <a:endParaRPr lang="en-US" sz="2400" dirty="0"/>
          </a:p>
          <a:p>
            <a:pPr lvl="1" fontAlgn="t">
              <a:lnSpc>
                <a:spcPts val="1500"/>
              </a:lnSpc>
            </a:pPr>
            <a:r>
              <a:rPr lang="en-US" dirty="0"/>
              <a:t>meaning the population can replace itself from one generation to the next.</a:t>
            </a:r>
          </a:p>
          <a:p>
            <a:pPr lvl="1" fontAlgn="t">
              <a:lnSpc>
                <a:spcPts val="1500"/>
              </a:lnSpc>
            </a:pPr>
            <a:endParaRPr lang="en-US" dirty="0"/>
          </a:p>
          <a:p>
            <a:pPr lvl="1" fontAlgn="t"/>
            <a:r>
              <a:rPr lang="en-US" b="1" dirty="0"/>
              <a:t>Above 2.1 </a:t>
            </a:r>
            <a:r>
              <a:rPr lang="en-US" dirty="0"/>
              <a:t>→ population grows</a:t>
            </a:r>
          </a:p>
          <a:p>
            <a:pPr lvl="1" fontAlgn="t"/>
            <a:r>
              <a:rPr lang="en-US" b="1" dirty="0"/>
              <a:t>Below 2.1 </a:t>
            </a:r>
            <a:r>
              <a:rPr lang="en-US" dirty="0"/>
              <a:t>→ population declines</a:t>
            </a:r>
          </a:p>
          <a:p>
            <a:endParaRPr lang="en-US" sz="2400" dirty="0"/>
          </a:p>
          <a:p>
            <a:r>
              <a:rPr lang="en-US" sz="2400" dirty="0"/>
              <a:t>The Philippines’ </a:t>
            </a:r>
            <a:r>
              <a:rPr lang="en-US" sz="2400" b="1" dirty="0"/>
              <a:t>TFR </a:t>
            </a:r>
            <a:r>
              <a:rPr lang="en-US" sz="2400" dirty="0"/>
              <a:t>dropped to </a:t>
            </a:r>
            <a:r>
              <a:rPr lang="en-US" sz="2400" b="1" dirty="0"/>
              <a:t>1.7</a:t>
            </a:r>
            <a:r>
              <a:rPr lang="en-US" sz="2400" dirty="0"/>
              <a:t> children per woman in 2025.</a:t>
            </a:r>
          </a:p>
        </p:txBody>
      </p:sp>
    </p:spTree>
    <p:extLst>
      <p:ext uri="{BB962C8B-B14F-4D97-AF65-F5344CB8AC3E}">
        <p14:creationId xmlns:p14="http://schemas.microsoft.com/office/powerpoint/2010/main" val="25842284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6DA292-CC35-F5A1-2B62-71981182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33" y="643467"/>
            <a:ext cx="816273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645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7A1BC-6A20-8247-CD59-1DC3A5C7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Factors Affecting Fertility Rate</a:t>
            </a:r>
            <a:br>
              <a:rPr lang="en-US" sz="3100" b="1" dirty="0">
                <a:solidFill>
                  <a:schemeClr val="bg1"/>
                </a:solidFill>
              </a:rPr>
            </a:b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B7053-0E34-EC5C-089D-132DD98F4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3600" dirty="0"/>
              <a:t>Education (especially of women). </a:t>
            </a:r>
          </a:p>
          <a:p>
            <a:r>
              <a:rPr lang="en-US" sz="3600" dirty="0"/>
              <a:t>Access to family planning.</a:t>
            </a:r>
          </a:p>
          <a:p>
            <a:r>
              <a:rPr lang="en-US" sz="3600" dirty="0"/>
              <a:t>Economic status.</a:t>
            </a:r>
          </a:p>
          <a:p>
            <a:r>
              <a:rPr lang="en-US" sz="3600" dirty="0"/>
              <a:t>Cultural beliefs. </a:t>
            </a:r>
          </a:p>
          <a:p>
            <a:r>
              <a:rPr lang="en-US" sz="3600" dirty="0"/>
              <a:t>Government policies.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57120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AA0AF-0024-7715-7FF5-B9CCB3B4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Impacts of Human Population Growth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A510-B7EC-5F85-8CCB-B597C93AA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527586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Positive Effects</a:t>
            </a:r>
          </a:p>
          <a:p>
            <a:pPr fontAlgn="t"/>
            <a:r>
              <a:rPr lang="en-US" dirty="0"/>
              <a:t>Economic development.</a:t>
            </a:r>
          </a:p>
          <a:p>
            <a:pPr fontAlgn="t"/>
            <a:r>
              <a:rPr lang="en-US" dirty="0"/>
              <a:t>Technological advancement.</a:t>
            </a:r>
          </a:p>
          <a:p>
            <a:pPr fontAlgn="t"/>
            <a:endParaRPr lang="en-US" sz="1050" dirty="0"/>
          </a:p>
          <a:p>
            <a:pPr marL="0" indent="0" fontAlgn="t">
              <a:buNone/>
            </a:pPr>
            <a:r>
              <a:rPr lang="en-US" b="1" dirty="0"/>
              <a:t>Negative Effects</a:t>
            </a:r>
          </a:p>
          <a:p>
            <a:pPr fontAlgn="t"/>
            <a:r>
              <a:rPr lang="en-US" dirty="0"/>
              <a:t>Environmental degradation</a:t>
            </a:r>
          </a:p>
          <a:p>
            <a:pPr fontAlgn="t"/>
            <a:r>
              <a:rPr lang="en-US" dirty="0"/>
              <a:t>Resource depletion</a:t>
            </a:r>
          </a:p>
          <a:p>
            <a:pPr fontAlgn="t"/>
            <a:r>
              <a:rPr lang="en-US" dirty="0"/>
              <a:t>Pollution</a:t>
            </a:r>
          </a:p>
          <a:p>
            <a:pPr fontAlgn="t"/>
            <a:r>
              <a:rPr lang="en-US" dirty="0"/>
              <a:t>Climate change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05022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FA686-B14F-FB26-994C-129F943A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4900" b="1" dirty="0">
                <a:solidFill>
                  <a:schemeClr val="bg1"/>
                </a:solidFill>
              </a:rPr>
              <a:t>Population and the Environment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3F38-F546-D60D-97C9-2B53B1136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3600" dirty="0"/>
              <a:t>Population growth affects ecosystems through:</a:t>
            </a:r>
          </a:p>
          <a:p>
            <a:pPr fontAlgn="t"/>
            <a:r>
              <a:rPr lang="en-US" sz="3600" dirty="0"/>
              <a:t>Overuse of natural resources</a:t>
            </a:r>
          </a:p>
          <a:p>
            <a:pPr fontAlgn="t"/>
            <a:r>
              <a:rPr lang="en-US" sz="3600" dirty="0"/>
              <a:t>Habitat destruction</a:t>
            </a:r>
          </a:p>
          <a:p>
            <a:pPr fontAlgn="t"/>
            <a:r>
              <a:rPr lang="en-US" sz="3600" dirty="0"/>
              <a:t>Loss of biodiversity</a:t>
            </a:r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4854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7FC94-FCE4-D050-A57C-CCCC7D42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Summary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7C9D3-C5A5-1F30-96A5-405E38563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400" dirty="0"/>
              <a:t>Age structure = </a:t>
            </a:r>
            <a:r>
              <a:rPr lang="en-US" sz="2400" b="1" dirty="0"/>
              <a:t>age distribution of a population.</a:t>
            </a:r>
            <a:r>
              <a:rPr lang="en-US" sz="2400" dirty="0"/>
              <a:t> </a:t>
            </a:r>
          </a:p>
          <a:p>
            <a:pPr fontAlgn="t"/>
            <a:r>
              <a:rPr lang="en-US" sz="2400" dirty="0"/>
              <a:t>Three groups: </a:t>
            </a:r>
          </a:p>
          <a:p>
            <a:pPr lvl="1" fontAlgn="t"/>
            <a:r>
              <a:rPr lang="en-US" dirty="0"/>
              <a:t>Pre-reproductive</a:t>
            </a:r>
          </a:p>
          <a:p>
            <a:pPr lvl="1" fontAlgn="t"/>
            <a:r>
              <a:rPr lang="en-US" dirty="0"/>
              <a:t>Reproductive</a:t>
            </a:r>
          </a:p>
          <a:p>
            <a:pPr lvl="1" fontAlgn="t"/>
            <a:r>
              <a:rPr lang="en-US" dirty="0"/>
              <a:t>Post-reproductive</a:t>
            </a:r>
          </a:p>
          <a:p>
            <a:pPr fontAlgn="t"/>
            <a:r>
              <a:rPr lang="en-US" sz="2400" dirty="0"/>
              <a:t>Shapes tell: </a:t>
            </a:r>
          </a:p>
          <a:p>
            <a:pPr lvl="1" fontAlgn="t"/>
            <a:r>
              <a:rPr lang="en-US" dirty="0"/>
              <a:t>Growing population → pyramid</a:t>
            </a:r>
          </a:p>
          <a:p>
            <a:pPr lvl="1" fontAlgn="t"/>
            <a:r>
              <a:rPr lang="en-US" dirty="0"/>
              <a:t>Stable population → rectangular</a:t>
            </a:r>
          </a:p>
          <a:p>
            <a:pPr lvl="1" fontAlgn="t"/>
            <a:r>
              <a:rPr lang="en-US" dirty="0"/>
              <a:t>Declining population → inverted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95661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28CE1-FBDE-B00A-ADD9-997D64F7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Summary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864F2F-B7F5-E3E6-12F8-FE1C0CAC38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714238"/>
              </p:ext>
            </p:extLst>
          </p:nvPr>
        </p:nvGraphicFramePr>
        <p:xfrm>
          <a:off x="570994" y="1968898"/>
          <a:ext cx="11050001" cy="42513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3524">
                  <a:extLst>
                    <a:ext uri="{9D8B030D-6E8A-4147-A177-3AD203B41FA5}">
                      <a16:colId xmlns:a16="http://schemas.microsoft.com/office/drawing/2014/main" val="1942904915"/>
                    </a:ext>
                  </a:extLst>
                </a:gridCol>
                <a:gridCol w="2795570">
                  <a:extLst>
                    <a:ext uri="{9D8B030D-6E8A-4147-A177-3AD203B41FA5}">
                      <a16:colId xmlns:a16="http://schemas.microsoft.com/office/drawing/2014/main" val="3306933187"/>
                    </a:ext>
                  </a:extLst>
                </a:gridCol>
                <a:gridCol w="2905807">
                  <a:extLst>
                    <a:ext uri="{9D8B030D-6E8A-4147-A177-3AD203B41FA5}">
                      <a16:colId xmlns:a16="http://schemas.microsoft.com/office/drawing/2014/main" val="2020702057"/>
                    </a:ext>
                  </a:extLst>
                </a:gridCol>
                <a:gridCol w="2575100">
                  <a:extLst>
                    <a:ext uri="{9D8B030D-6E8A-4147-A177-3AD203B41FA5}">
                      <a16:colId xmlns:a16="http://schemas.microsoft.com/office/drawing/2014/main" val="2210180216"/>
                    </a:ext>
                  </a:extLst>
                </a:gridCol>
              </a:tblGrid>
              <a:tr h="9768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600" dirty="0">
                        <a:effectLst/>
                      </a:endParaRP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>
                          <a:effectLst/>
                        </a:rPr>
                        <a:t>Meaning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>
                          <a:effectLst/>
                        </a:rPr>
                        <a:t>High Value Means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>
                          <a:effectLst/>
                        </a:rPr>
                        <a:t>Low Value Means</a:t>
                      </a:r>
                    </a:p>
                  </a:txBody>
                  <a:tcPr marL="132009" marR="132009" marT="66005" marB="66005" anchor="ctr"/>
                </a:tc>
                <a:extLst>
                  <a:ext uri="{0D108BD9-81ED-4DB2-BD59-A6C34878D82A}">
                    <a16:rowId xmlns:a16="http://schemas.microsoft.com/office/drawing/2014/main" val="2060784147"/>
                  </a:ext>
                </a:extLst>
              </a:tr>
              <a:tr h="976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>
                          <a:effectLst/>
                        </a:rPr>
                        <a:t>Life Expectancy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Average lifespan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Better health, longer life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Poor health conditions</a:t>
                      </a:r>
                    </a:p>
                  </a:txBody>
                  <a:tcPr marL="132009" marR="132009" marT="66005" marB="66005" anchor="ctr"/>
                </a:tc>
                <a:extLst>
                  <a:ext uri="{0D108BD9-81ED-4DB2-BD59-A6C34878D82A}">
                    <a16:rowId xmlns:a16="http://schemas.microsoft.com/office/drawing/2014/main" val="1979460739"/>
                  </a:ext>
                </a:extLst>
              </a:tr>
              <a:tr h="976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>
                          <a:effectLst/>
                        </a:rPr>
                        <a:t>Sex Ratio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Males vs females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effectLst/>
                        </a:rPr>
                        <a:t>Possible imbalance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Balanced population</a:t>
                      </a:r>
                    </a:p>
                  </a:txBody>
                  <a:tcPr marL="132009" marR="132009" marT="66005" marB="66005" anchor="ctr"/>
                </a:tc>
                <a:extLst>
                  <a:ext uri="{0D108BD9-81ED-4DB2-BD59-A6C34878D82A}">
                    <a16:rowId xmlns:a16="http://schemas.microsoft.com/office/drawing/2014/main" val="154835301"/>
                  </a:ext>
                </a:extLst>
              </a:tr>
              <a:tr h="976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>
                          <a:effectLst/>
                        </a:rPr>
                        <a:t>Fertility Rate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Average number of children per woman.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effectLst/>
                        </a:rPr>
                        <a:t>Population growth</a:t>
                      </a:r>
                    </a:p>
                  </a:txBody>
                  <a:tcPr marL="132009" marR="132009" marT="66005" marB="66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effectLst/>
                        </a:rPr>
                        <a:t>Population decline</a:t>
                      </a:r>
                    </a:p>
                  </a:txBody>
                  <a:tcPr marL="132009" marR="132009" marT="66005" marB="66005" anchor="ctr"/>
                </a:tc>
                <a:extLst>
                  <a:ext uri="{0D108BD9-81ED-4DB2-BD59-A6C34878D82A}">
                    <a16:rowId xmlns:a16="http://schemas.microsoft.com/office/drawing/2014/main" val="949789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3396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79D4E9-586B-E9D6-E96C-6439502F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Summary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4B3E-AFA9-F068-4229-0C72C6BA9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fontAlgn="t"/>
            <a:r>
              <a:rPr lang="en-US" sz="2400" b="1" dirty="0"/>
              <a:t>Age structure </a:t>
            </a:r>
          </a:p>
          <a:p>
            <a:pPr fontAlgn="t"/>
            <a:r>
              <a:rPr lang="en-US" sz="2400" b="1" dirty="0"/>
              <a:t>Life expectancy</a:t>
            </a:r>
            <a:endParaRPr lang="en-US" sz="2400" dirty="0"/>
          </a:p>
          <a:p>
            <a:pPr fontAlgn="t"/>
            <a:r>
              <a:rPr lang="en-US" sz="2400" b="1" dirty="0"/>
              <a:t>Sex ratio</a:t>
            </a:r>
            <a:endParaRPr lang="en-US" sz="2400" dirty="0"/>
          </a:p>
          <a:p>
            <a:pPr fontAlgn="t"/>
            <a:r>
              <a:rPr lang="en-US" sz="2400" b="1" dirty="0"/>
              <a:t>Fertility rate</a:t>
            </a:r>
            <a:r>
              <a:rPr lang="en-US" sz="2400" dirty="0"/>
              <a:t> </a:t>
            </a:r>
          </a:p>
          <a:p>
            <a:pPr fontAlgn="t"/>
            <a:endParaRPr lang="en-US" sz="2400" dirty="0"/>
          </a:p>
          <a:p>
            <a:pPr marL="0" indent="0" fontAlgn="t">
              <a:buNone/>
            </a:pPr>
            <a:r>
              <a:rPr lang="en-US" sz="2400" dirty="0"/>
              <a:t>These help us understand:</a:t>
            </a:r>
          </a:p>
          <a:p>
            <a:pPr fontAlgn="t"/>
            <a:r>
              <a:rPr lang="en-US" sz="2400" dirty="0"/>
              <a:t>Population growth</a:t>
            </a:r>
          </a:p>
          <a:p>
            <a:pPr fontAlgn="t"/>
            <a:r>
              <a:rPr lang="en-US" sz="2400" dirty="0"/>
              <a:t>Aging society</a:t>
            </a:r>
          </a:p>
          <a:p>
            <a:pPr fontAlgn="t"/>
            <a:r>
              <a:rPr lang="en-US" sz="2400" dirty="0"/>
              <a:t>Future population trends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475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2744</Words>
  <Application>Microsoft Office PowerPoint</Application>
  <PresentationFormat>Widescreen</PresentationFormat>
  <Paragraphs>524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Aptos</vt:lpstr>
      <vt:lpstr>Aptos Display</vt:lpstr>
      <vt:lpstr>Arial</vt:lpstr>
      <vt:lpstr>Calibri</vt:lpstr>
      <vt:lpstr>Cambria Math</vt:lpstr>
      <vt:lpstr>Segoe UI</vt:lpstr>
      <vt:lpstr>Wingdings</vt:lpstr>
      <vt:lpstr>Office Theme</vt:lpstr>
      <vt:lpstr>Population Ecology</vt:lpstr>
      <vt:lpstr>Population Ecology</vt:lpstr>
      <vt:lpstr>Learning objectives</vt:lpstr>
      <vt:lpstr> POPULATION ECOLOGY </vt:lpstr>
      <vt:lpstr> Key Population Characteristics </vt:lpstr>
      <vt:lpstr> POPULATION SIZE (N) </vt:lpstr>
      <vt:lpstr>Estimating population size</vt:lpstr>
      <vt:lpstr> Quadrat method </vt:lpstr>
      <vt:lpstr>PowerPoint Presentation</vt:lpstr>
      <vt:lpstr>Example:</vt:lpstr>
      <vt:lpstr>Cont. </vt:lpstr>
      <vt:lpstr>Mark–recapture method</vt:lpstr>
      <vt:lpstr>N=(markedfirst catch x total second catch)/(marked second catch)  N=(10 x 10)/5  N=20      </vt:lpstr>
      <vt:lpstr>Try this!</vt:lpstr>
      <vt:lpstr> POPULATION DENSITY </vt:lpstr>
      <vt:lpstr>Examples:</vt:lpstr>
      <vt:lpstr> POPULATION DISTRIBUTION (DISPERSION) </vt:lpstr>
      <vt:lpstr>1. Clumped Distribution </vt:lpstr>
      <vt:lpstr> Examples </vt:lpstr>
      <vt:lpstr>Examples</vt:lpstr>
      <vt:lpstr>Examples </vt:lpstr>
      <vt:lpstr>Examples</vt:lpstr>
      <vt:lpstr>Example</vt:lpstr>
      <vt:lpstr>2. Uniform Distribution </vt:lpstr>
      <vt:lpstr> Examples: </vt:lpstr>
      <vt:lpstr> 3. Random Distribution </vt:lpstr>
      <vt:lpstr> Examples </vt:lpstr>
      <vt:lpstr>Population Dynamics</vt:lpstr>
      <vt:lpstr> Patterns of Population Growth </vt:lpstr>
      <vt:lpstr>Patterns of Population Growth </vt:lpstr>
      <vt:lpstr> Carrying Capacity (K) </vt:lpstr>
      <vt:lpstr> Examples </vt:lpstr>
      <vt:lpstr> What Happens When K is Exceeded? </vt:lpstr>
      <vt:lpstr>Limiting factors</vt:lpstr>
      <vt:lpstr> Types of Limiting Factors </vt:lpstr>
      <vt:lpstr>Types of Limiting Factors </vt:lpstr>
      <vt:lpstr> SUMMARY TABLE </vt:lpstr>
      <vt:lpstr>Summary</vt:lpstr>
      <vt:lpstr> HUMAN POPULATIONS</vt:lpstr>
      <vt:lpstr>Human Population Growth </vt:lpstr>
      <vt:lpstr>AGE STRUCTURE </vt:lpstr>
      <vt:lpstr>Age Groups</vt:lpstr>
      <vt:lpstr>Age structure diagrams </vt:lpstr>
      <vt:lpstr>Expanding Population (Pyramid Shape) </vt:lpstr>
      <vt:lpstr>PowerPoint Presentation</vt:lpstr>
      <vt:lpstr>2. Stable Population (Rectangular Shape) </vt:lpstr>
      <vt:lpstr>PowerPoint Presentation</vt:lpstr>
      <vt:lpstr>3. Declining Population (Inverted Pyramid) </vt:lpstr>
      <vt:lpstr>PowerPoint Presentation</vt:lpstr>
      <vt:lpstr>Why age structure is important? </vt:lpstr>
      <vt:lpstr>Factors affecting age structure </vt:lpstr>
      <vt:lpstr>LIFE EXPECTANCY </vt:lpstr>
      <vt:lpstr> SEX RATIO </vt:lpstr>
      <vt:lpstr>Cont.</vt:lpstr>
      <vt:lpstr> FERTILITY RATE </vt:lpstr>
      <vt:lpstr>PowerPoint Presentation</vt:lpstr>
      <vt:lpstr> Factors Affecting Fertility Rate </vt:lpstr>
      <vt:lpstr> Impacts of Human Population Growth </vt:lpstr>
      <vt:lpstr> Population and the Environment </vt:lpstr>
      <vt:lpstr>Summary </vt:lpstr>
      <vt:lpstr>Summary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Darvin Evidor</dc:creator>
  <cp:lastModifiedBy>Darvin Evidor</cp:lastModifiedBy>
  <cp:revision>69</cp:revision>
  <dcterms:created xsi:type="dcterms:W3CDTF">2026-06-28T01:01:36Z</dcterms:created>
  <dcterms:modified xsi:type="dcterms:W3CDTF">2026-07-13T06:50:48Z</dcterms:modified>
</cp:coreProperties>
</file>