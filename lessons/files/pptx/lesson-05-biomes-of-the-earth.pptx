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5" r:id="rId14"/>
    <p:sldId id="270" r:id="rId15"/>
    <p:sldId id="274" r:id="rId16"/>
    <p:sldId id="271" r:id="rId17"/>
    <p:sldId id="273" r:id="rId18"/>
    <p:sldId id="276" r:id="rId19"/>
    <p:sldId id="272" r:id="rId20"/>
    <p:sldId id="277" r:id="rId21"/>
    <p:sldId id="279" r:id="rId22"/>
    <p:sldId id="280" r:id="rId23"/>
    <p:sldId id="278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20D750-E49E-4A23-B0D4-F9A1A72AE17B}" v="3" dt="2026-08-16T14:41:44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ttinaangel20@outlook.com" userId="fa9ded72177516ae" providerId="LiveId" clId="{F697C409-150F-4EA1-99A5-AF676A2956D1}"/>
    <pc:docChg chg="custSel modSld">
      <pc:chgData name="bettinaangel20@outlook.com" userId="fa9ded72177516ae" providerId="LiveId" clId="{F697C409-150F-4EA1-99A5-AF676A2956D1}" dt="2026-08-17T06:39:00.272" v="34" actId="20577"/>
      <pc:docMkLst>
        <pc:docMk/>
      </pc:docMkLst>
      <pc:sldChg chg="addSp modSp mod">
        <pc:chgData name="bettinaangel20@outlook.com" userId="fa9ded72177516ae" providerId="LiveId" clId="{F697C409-150F-4EA1-99A5-AF676A2956D1}" dt="2026-08-17T06:39:00.272" v="34" actId="20577"/>
        <pc:sldMkLst>
          <pc:docMk/>
          <pc:sldMk cId="0" sldId="261"/>
        </pc:sldMkLst>
        <pc:spChg chg="mod">
          <ac:chgData name="bettinaangel20@outlook.com" userId="fa9ded72177516ae" providerId="LiveId" clId="{F697C409-150F-4EA1-99A5-AF676A2956D1}" dt="2026-08-16T14:39:17.915" v="14" actId="14100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bettinaangel20@outlook.com" userId="fa9ded72177516ae" providerId="LiveId" clId="{F697C409-150F-4EA1-99A5-AF676A2956D1}" dt="2026-08-17T06:39:00.272" v="34" actId="20577"/>
          <ac:spMkLst>
            <pc:docMk/>
            <pc:sldMk cId="0" sldId="261"/>
            <ac:spMk id="5" creationId="{A4EB85B6-C03B-4FF6-4929-AB0C4815C624}"/>
          </ac:spMkLst>
        </pc:spChg>
      </pc:sldChg>
      <pc:sldChg chg="addSp delSp modSp mod">
        <pc:chgData name="bettinaangel20@outlook.com" userId="fa9ded72177516ae" providerId="LiveId" clId="{F697C409-150F-4EA1-99A5-AF676A2956D1}" dt="2026-08-16T14:43:41.252" v="33" actId="14100"/>
        <pc:sldMkLst>
          <pc:docMk/>
          <pc:sldMk cId="0" sldId="263"/>
        </pc:sldMkLst>
        <pc:spChg chg="add mod">
          <ac:chgData name="bettinaangel20@outlook.com" userId="fa9ded72177516ae" providerId="LiveId" clId="{F697C409-150F-4EA1-99A5-AF676A2956D1}" dt="2026-08-16T14:42:27.421" v="26" actId="14100"/>
          <ac:spMkLst>
            <pc:docMk/>
            <pc:sldMk cId="0" sldId="263"/>
            <ac:spMk id="5" creationId="{B1D85A8C-E7BD-84D6-0227-5907B3D058D4}"/>
          </ac:spMkLst>
        </pc:spChg>
        <pc:spChg chg="add mod">
          <ac:chgData name="bettinaangel20@outlook.com" userId="fa9ded72177516ae" providerId="LiveId" clId="{F697C409-150F-4EA1-99A5-AF676A2956D1}" dt="2026-08-16T14:43:19.968" v="27" actId="478"/>
          <ac:spMkLst>
            <pc:docMk/>
            <pc:sldMk cId="0" sldId="263"/>
            <ac:spMk id="7" creationId="{BF07449C-5041-5271-4B63-8F798C000A61}"/>
          </ac:spMkLst>
        </pc:spChg>
        <pc:picChg chg="del">
          <ac:chgData name="bettinaangel20@outlook.com" userId="fa9ded72177516ae" providerId="LiveId" clId="{F697C409-150F-4EA1-99A5-AF676A2956D1}" dt="2026-08-16T14:43:19.968" v="27" actId="478"/>
          <ac:picMkLst>
            <pc:docMk/>
            <pc:sldMk cId="0" sldId="263"/>
            <ac:picMk id="4" creationId="{00000000-0000-0000-0000-000000000000}"/>
          </ac:picMkLst>
        </pc:picChg>
        <pc:picChg chg="add mod">
          <ac:chgData name="bettinaangel20@outlook.com" userId="fa9ded72177516ae" providerId="LiveId" clId="{F697C409-150F-4EA1-99A5-AF676A2956D1}" dt="2026-08-16T14:43:41.252" v="33" actId="14100"/>
          <ac:picMkLst>
            <pc:docMk/>
            <pc:sldMk cId="0" sldId="263"/>
            <ac:picMk id="8" creationId="{E0C6AA75-A8F6-3A4E-C8F8-4914E48E69D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B3AE35-CC2E-4C7A-BBD1-80113E7482C6}" type="doc">
      <dgm:prSet loTypeId="urn:microsoft.com/office/officeart/2005/8/layout/process4" loCatId="process" qsTypeId="urn:microsoft.com/office/officeart/2005/8/quickstyle/simple2#1" qsCatId="simple" csTypeId="urn:microsoft.com/office/officeart/2005/8/colors/accent2_2#1" csCatId="accent2"/>
      <dgm:spPr/>
      <dgm:t>
        <a:bodyPr/>
        <a:lstStyle/>
        <a:p>
          <a:endParaRPr lang="en-US"/>
        </a:p>
      </dgm:t>
    </dgm:pt>
    <dgm:pt modelId="{8B7E91D5-AB77-4E45-8935-2ED942A4E2A2}">
      <dgm:prSet/>
      <dgm:spPr/>
      <dgm:t>
        <a:bodyPr/>
        <a:lstStyle/>
        <a:p>
          <a:r>
            <a:rPr lang="en-PH" b="1" dirty="0"/>
            <a:t>Biomes:</a:t>
          </a:r>
          <a:r>
            <a:rPr lang="en-PH" dirty="0"/>
            <a:t> Large ecological areas with </a:t>
          </a:r>
          <a:r>
            <a:rPr lang="en-PH" b="1" dirty="0"/>
            <a:t>distinct climate, flora, and fauna</a:t>
          </a:r>
          <a:r>
            <a:rPr lang="en-PH" dirty="0"/>
            <a:t>.</a:t>
          </a:r>
          <a:endParaRPr lang="en-US" dirty="0"/>
        </a:p>
      </dgm:t>
    </dgm:pt>
    <dgm:pt modelId="{1F0D1D10-6EE4-4824-B964-1E2803F47471}" type="parTrans" cxnId="{7F7C1D10-ACDB-4884-A218-F274B45E4CB3}">
      <dgm:prSet/>
      <dgm:spPr/>
      <dgm:t>
        <a:bodyPr/>
        <a:lstStyle/>
        <a:p>
          <a:endParaRPr lang="en-US"/>
        </a:p>
      </dgm:t>
    </dgm:pt>
    <dgm:pt modelId="{1D632F43-A1CB-4705-BF05-B38D1AC8AE43}" type="sibTrans" cxnId="{7F7C1D10-ACDB-4884-A218-F274B45E4CB3}">
      <dgm:prSet/>
      <dgm:spPr/>
      <dgm:t>
        <a:bodyPr/>
        <a:lstStyle/>
        <a:p>
          <a:endParaRPr lang="en-US"/>
        </a:p>
      </dgm:t>
    </dgm:pt>
    <dgm:pt modelId="{76F4D2E9-905B-43BE-A302-333A8C17FED0}">
      <dgm:prSet/>
      <dgm:spPr/>
      <dgm:t>
        <a:bodyPr/>
        <a:lstStyle/>
        <a:p>
          <a:r>
            <a:rPr lang="en-PH" b="1"/>
            <a:t>Two Main Types:</a:t>
          </a:r>
          <a:endParaRPr lang="en-US"/>
        </a:p>
      </dgm:t>
    </dgm:pt>
    <dgm:pt modelId="{925A54C6-BB17-485F-BE49-4B995F863374}" type="parTrans" cxnId="{A56C3D91-39B3-482D-ADCE-92D97FDEB669}">
      <dgm:prSet/>
      <dgm:spPr/>
      <dgm:t>
        <a:bodyPr/>
        <a:lstStyle/>
        <a:p>
          <a:endParaRPr lang="en-US"/>
        </a:p>
      </dgm:t>
    </dgm:pt>
    <dgm:pt modelId="{43B8C655-BAC1-4C70-B29F-96FF5AEB04CC}" type="sibTrans" cxnId="{A56C3D91-39B3-482D-ADCE-92D97FDEB669}">
      <dgm:prSet/>
      <dgm:spPr/>
      <dgm:t>
        <a:bodyPr/>
        <a:lstStyle/>
        <a:p>
          <a:endParaRPr lang="en-US"/>
        </a:p>
      </dgm:t>
    </dgm:pt>
    <dgm:pt modelId="{7473D894-E974-4A38-B76F-158598274058}">
      <dgm:prSet/>
      <dgm:spPr/>
      <dgm:t>
        <a:bodyPr/>
        <a:lstStyle/>
        <a:p>
          <a:r>
            <a:rPr lang="en-PH"/>
            <a:t>Terrestrial Biomes (land-based)</a:t>
          </a:r>
          <a:endParaRPr lang="en-US"/>
        </a:p>
      </dgm:t>
    </dgm:pt>
    <dgm:pt modelId="{74E82C7C-A004-4FE0-9528-64E4ECF231FF}" type="parTrans" cxnId="{45B24120-5F79-42AB-B105-404371E1DDCD}">
      <dgm:prSet/>
      <dgm:spPr/>
      <dgm:t>
        <a:bodyPr/>
        <a:lstStyle/>
        <a:p>
          <a:endParaRPr lang="en-US"/>
        </a:p>
      </dgm:t>
    </dgm:pt>
    <dgm:pt modelId="{E649DC30-142C-495E-A0D4-41334CAB1CB7}" type="sibTrans" cxnId="{45B24120-5F79-42AB-B105-404371E1DDCD}">
      <dgm:prSet/>
      <dgm:spPr/>
      <dgm:t>
        <a:bodyPr/>
        <a:lstStyle/>
        <a:p>
          <a:endParaRPr lang="en-US"/>
        </a:p>
      </dgm:t>
    </dgm:pt>
    <dgm:pt modelId="{61FAD327-7EBB-4131-A091-C99CE7003703}">
      <dgm:prSet/>
      <dgm:spPr/>
      <dgm:t>
        <a:bodyPr/>
        <a:lstStyle/>
        <a:p>
          <a:r>
            <a:rPr lang="en-PH"/>
            <a:t>Aquatic Biomes (water-based)</a:t>
          </a:r>
          <a:endParaRPr lang="en-US"/>
        </a:p>
      </dgm:t>
    </dgm:pt>
    <dgm:pt modelId="{3F91EADB-FC99-4EB1-97B0-E24C4F8B07B0}" type="parTrans" cxnId="{F1B28D26-DC30-49FC-B94F-10409A6C17DC}">
      <dgm:prSet/>
      <dgm:spPr/>
      <dgm:t>
        <a:bodyPr/>
        <a:lstStyle/>
        <a:p>
          <a:endParaRPr lang="en-US"/>
        </a:p>
      </dgm:t>
    </dgm:pt>
    <dgm:pt modelId="{D419F22C-1A61-4CC4-B77B-4AB2159B3C77}" type="sibTrans" cxnId="{F1B28D26-DC30-49FC-B94F-10409A6C17DC}">
      <dgm:prSet/>
      <dgm:spPr/>
      <dgm:t>
        <a:bodyPr/>
        <a:lstStyle/>
        <a:p>
          <a:endParaRPr lang="en-US"/>
        </a:p>
      </dgm:t>
    </dgm:pt>
    <dgm:pt modelId="{092CE1D0-C451-4750-8D23-39CC14C69CA3}" type="pres">
      <dgm:prSet presAssocID="{ADB3AE35-CC2E-4C7A-BBD1-80113E7482C6}" presName="Name0" presStyleCnt="0">
        <dgm:presLayoutVars>
          <dgm:dir/>
          <dgm:animLvl val="lvl"/>
          <dgm:resizeHandles val="exact"/>
        </dgm:presLayoutVars>
      </dgm:prSet>
      <dgm:spPr/>
    </dgm:pt>
    <dgm:pt modelId="{AB515A4C-8851-4276-98A4-917BD16434B7}" type="pres">
      <dgm:prSet presAssocID="{76F4D2E9-905B-43BE-A302-333A8C17FED0}" presName="boxAndChildren" presStyleCnt="0"/>
      <dgm:spPr/>
    </dgm:pt>
    <dgm:pt modelId="{9A1D1908-92AE-4012-9B00-77907AC73FE3}" type="pres">
      <dgm:prSet presAssocID="{76F4D2E9-905B-43BE-A302-333A8C17FED0}" presName="parentTextBox" presStyleLbl="node1" presStyleIdx="0" presStyleCnt="2"/>
      <dgm:spPr/>
    </dgm:pt>
    <dgm:pt modelId="{6D5CA6B6-E44E-4A4C-8CE1-4E329994F3EF}" type="pres">
      <dgm:prSet presAssocID="{76F4D2E9-905B-43BE-A302-333A8C17FED0}" presName="entireBox" presStyleLbl="node1" presStyleIdx="0" presStyleCnt="2"/>
      <dgm:spPr/>
    </dgm:pt>
    <dgm:pt modelId="{0479020F-055E-479B-9AB2-5F2B03D1EBA5}" type="pres">
      <dgm:prSet presAssocID="{76F4D2E9-905B-43BE-A302-333A8C17FED0}" presName="descendantBox" presStyleCnt="0"/>
      <dgm:spPr/>
    </dgm:pt>
    <dgm:pt modelId="{03090A99-02FC-4331-BD71-18008D8D0A7D}" type="pres">
      <dgm:prSet presAssocID="{7473D894-E974-4A38-B76F-158598274058}" presName="childTextBox" presStyleLbl="fgAccFollowNode1" presStyleIdx="0" presStyleCnt="2">
        <dgm:presLayoutVars>
          <dgm:bulletEnabled val="1"/>
        </dgm:presLayoutVars>
      </dgm:prSet>
      <dgm:spPr/>
    </dgm:pt>
    <dgm:pt modelId="{C0D07BCB-1F0D-4BC4-A433-52F55C713813}" type="pres">
      <dgm:prSet presAssocID="{61FAD327-7EBB-4131-A091-C99CE7003703}" presName="childTextBox" presStyleLbl="fgAccFollowNode1" presStyleIdx="1" presStyleCnt="2">
        <dgm:presLayoutVars>
          <dgm:bulletEnabled val="1"/>
        </dgm:presLayoutVars>
      </dgm:prSet>
      <dgm:spPr/>
    </dgm:pt>
    <dgm:pt modelId="{36F91999-6828-4297-93A4-B62238410C4A}" type="pres">
      <dgm:prSet presAssocID="{1D632F43-A1CB-4705-BF05-B38D1AC8AE43}" presName="sp" presStyleCnt="0"/>
      <dgm:spPr/>
    </dgm:pt>
    <dgm:pt modelId="{32D4C039-BC4E-4FED-A4C3-390815263A51}" type="pres">
      <dgm:prSet presAssocID="{8B7E91D5-AB77-4E45-8935-2ED942A4E2A2}" presName="arrowAndChildren" presStyleCnt="0"/>
      <dgm:spPr/>
    </dgm:pt>
    <dgm:pt modelId="{F7201CBF-7C50-4D82-934B-2945BED934F4}" type="pres">
      <dgm:prSet presAssocID="{8B7E91D5-AB77-4E45-8935-2ED942A4E2A2}" presName="parentTextArrow" presStyleLbl="node1" presStyleIdx="1" presStyleCnt="2"/>
      <dgm:spPr/>
    </dgm:pt>
  </dgm:ptLst>
  <dgm:cxnLst>
    <dgm:cxn modelId="{7F7C1D10-ACDB-4884-A218-F274B45E4CB3}" srcId="{ADB3AE35-CC2E-4C7A-BBD1-80113E7482C6}" destId="{8B7E91D5-AB77-4E45-8935-2ED942A4E2A2}" srcOrd="0" destOrd="0" parTransId="{1F0D1D10-6EE4-4824-B964-1E2803F47471}" sibTransId="{1D632F43-A1CB-4705-BF05-B38D1AC8AE43}"/>
    <dgm:cxn modelId="{D5840C13-630D-49F9-A015-A3195E65915A}" type="presOf" srcId="{8B7E91D5-AB77-4E45-8935-2ED942A4E2A2}" destId="{F7201CBF-7C50-4D82-934B-2945BED934F4}" srcOrd="0" destOrd="0" presId="urn:microsoft.com/office/officeart/2005/8/layout/process4"/>
    <dgm:cxn modelId="{45B24120-5F79-42AB-B105-404371E1DDCD}" srcId="{76F4D2E9-905B-43BE-A302-333A8C17FED0}" destId="{7473D894-E974-4A38-B76F-158598274058}" srcOrd="0" destOrd="0" parTransId="{74E82C7C-A004-4FE0-9528-64E4ECF231FF}" sibTransId="{E649DC30-142C-495E-A0D4-41334CAB1CB7}"/>
    <dgm:cxn modelId="{F1B28D26-DC30-49FC-B94F-10409A6C17DC}" srcId="{76F4D2E9-905B-43BE-A302-333A8C17FED0}" destId="{61FAD327-7EBB-4131-A091-C99CE7003703}" srcOrd="1" destOrd="0" parTransId="{3F91EADB-FC99-4EB1-97B0-E24C4F8B07B0}" sibTransId="{D419F22C-1A61-4CC4-B77B-4AB2159B3C77}"/>
    <dgm:cxn modelId="{0558C726-416E-4A37-BA63-2249DB941BE3}" type="presOf" srcId="{ADB3AE35-CC2E-4C7A-BBD1-80113E7482C6}" destId="{092CE1D0-C451-4750-8D23-39CC14C69CA3}" srcOrd="0" destOrd="0" presId="urn:microsoft.com/office/officeart/2005/8/layout/process4"/>
    <dgm:cxn modelId="{6DE68363-8560-47D1-A1A6-4EED35FAC1D1}" type="presOf" srcId="{76F4D2E9-905B-43BE-A302-333A8C17FED0}" destId="{6D5CA6B6-E44E-4A4C-8CE1-4E329994F3EF}" srcOrd="1" destOrd="0" presId="urn:microsoft.com/office/officeart/2005/8/layout/process4"/>
    <dgm:cxn modelId="{2B82B666-381B-47AF-AE74-1A2CD9D03137}" type="presOf" srcId="{61FAD327-7EBB-4131-A091-C99CE7003703}" destId="{C0D07BCB-1F0D-4BC4-A433-52F55C713813}" srcOrd="0" destOrd="0" presId="urn:microsoft.com/office/officeart/2005/8/layout/process4"/>
    <dgm:cxn modelId="{8261E456-1215-4FF6-8DFC-625FCF503BBA}" type="presOf" srcId="{76F4D2E9-905B-43BE-A302-333A8C17FED0}" destId="{9A1D1908-92AE-4012-9B00-77907AC73FE3}" srcOrd="0" destOrd="0" presId="urn:microsoft.com/office/officeart/2005/8/layout/process4"/>
    <dgm:cxn modelId="{A56C3D91-39B3-482D-ADCE-92D97FDEB669}" srcId="{ADB3AE35-CC2E-4C7A-BBD1-80113E7482C6}" destId="{76F4D2E9-905B-43BE-A302-333A8C17FED0}" srcOrd="1" destOrd="0" parTransId="{925A54C6-BB17-485F-BE49-4B995F863374}" sibTransId="{43B8C655-BAC1-4C70-B29F-96FF5AEB04CC}"/>
    <dgm:cxn modelId="{FE554DE8-90B0-40E5-BC19-4EC40AE39854}" type="presOf" srcId="{7473D894-E974-4A38-B76F-158598274058}" destId="{03090A99-02FC-4331-BD71-18008D8D0A7D}" srcOrd="0" destOrd="0" presId="urn:microsoft.com/office/officeart/2005/8/layout/process4"/>
    <dgm:cxn modelId="{0AC854BE-F568-4BAD-936C-9C722BF7861B}" type="presParOf" srcId="{092CE1D0-C451-4750-8D23-39CC14C69CA3}" destId="{AB515A4C-8851-4276-98A4-917BD16434B7}" srcOrd="0" destOrd="0" presId="urn:microsoft.com/office/officeart/2005/8/layout/process4"/>
    <dgm:cxn modelId="{3708FFC7-43DD-4150-99C6-2BAC8086C677}" type="presParOf" srcId="{AB515A4C-8851-4276-98A4-917BD16434B7}" destId="{9A1D1908-92AE-4012-9B00-77907AC73FE3}" srcOrd="0" destOrd="0" presId="urn:microsoft.com/office/officeart/2005/8/layout/process4"/>
    <dgm:cxn modelId="{6945C09F-CB18-4172-BE6C-DD99B828EC89}" type="presParOf" srcId="{AB515A4C-8851-4276-98A4-917BD16434B7}" destId="{6D5CA6B6-E44E-4A4C-8CE1-4E329994F3EF}" srcOrd="1" destOrd="0" presId="urn:microsoft.com/office/officeart/2005/8/layout/process4"/>
    <dgm:cxn modelId="{26331C6E-FA52-41A7-B26A-786D098ED0DA}" type="presParOf" srcId="{AB515A4C-8851-4276-98A4-917BD16434B7}" destId="{0479020F-055E-479B-9AB2-5F2B03D1EBA5}" srcOrd="2" destOrd="0" presId="urn:microsoft.com/office/officeart/2005/8/layout/process4"/>
    <dgm:cxn modelId="{4E761980-9982-4E30-B6B3-75B685B261CF}" type="presParOf" srcId="{0479020F-055E-479B-9AB2-5F2B03D1EBA5}" destId="{03090A99-02FC-4331-BD71-18008D8D0A7D}" srcOrd="0" destOrd="0" presId="urn:microsoft.com/office/officeart/2005/8/layout/process4"/>
    <dgm:cxn modelId="{00E9FEEA-4448-4EF2-ABD6-4C252A0B70E3}" type="presParOf" srcId="{0479020F-055E-479B-9AB2-5F2B03D1EBA5}" destId="{C0D07BCB-1F0D-4BC4-A433-52F55C713813}" srcOrd="1" destOrd="0" presId="urn:microsoft.com/office/officeart/2005/8/layout/process4"/>
    <dgm:cxn modelId="{E1678EF8-40FE-426F-8186-60391DBD0D1C}" type="presParOf" srcId="{092CE1D0-C451-4750-8D23-39CC14C69CA3}" destId="{36F91999-6828-4297-93A4-B62238410C4A}" srcOrd="1" destOrd="0" presId="urn:microsoft.com/office/officeart/2005/8/layout/process4"/>
    <dgm:cxn modelId="{1711A5E4-4CF1-4C25-83B3-7177F4181D66}" type="presParOf" srcId="{092CE1D0-C451-4750-8D23-39CC14C69CA3}" destId="{32D4C039-BC4E-4FED-A4C3-390815263A51}" srcOrd="2" destOrd="0" presId="urn:microsoft.com/office/officeart/2005/8/layout/process4"/>
    <dgm:cxn modelId="{6BB7B36F-6452-41F2-8046-1F48A0C24915}" type="presParOf" srcId="{32D4C039-BC4E-4FED-A4C3-390815263A51}" destId="{F7201CBF-7C50-4D82-934B-2945BED934F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5CA6B6-E44E-4A4C-8CE1-4E329994F3EF}">
      <dsp:nvSpPr>
        <dsp:cNvPr id="0" name=""/>
        <dsp:cNvSpPr/>
      </dsp:nvSpPr>
      <dsp:spPr>
        <a:xfrm>
          <a:off x="0" y="2464656"/>
          <a:ext cx="6696073" cy="16170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3000" b="1" kern="1200"/>
            <a:t>Two Main Types:</a:t>
          </a:r>
          <a:endParaRPr lang="en-US" sz="3000" kern="1200"/>
        </a:p>
      </dsp:txBody>
      <dsp:txXfrm>
        <a:off x="0" y="2464656"/>
        <a:ext cx="6696073" cy="873223"/>
      </dsp:txXfrm>
    </dsp:sp>
    <dsp:sp modelId="{03090A99-02FC-4331-BD71-18008D8D0A7D}">
      <dsp:nvSpPr>
        <dsp:cNvPr id="0" name=""/>
        <dsp:cNvSpPr/>
      </dsp:nvSpPr>
      <dsp:spPr>
        <a:xfrm>
          <a:off x="0" y="3305538"/>
          <a:ext cx="3348036" cy="74385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17780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500" kern="1200"/>
            <a:t>Terrestrial Biomes (land-based)</a:t>
          </a:r>
          <a:endParaRPr lang="en-US" sz="2500" kern="1200"/>
        </a:p>
      </dsp:txBody>
      <dsp:txXfrm>
        <a:off x="0" y="3305538"/>
        <a:ext cx="3348036" cy="743857"/>
      </dsp:txXfrm>
    </dsp:sp>
    <dsp:sp modelId="{C0D07BCB-1F0D-4BC4-A433-52F55C713813}">
      <dsp:nvSpPr>
        <dsp:cNvPr id="0" name=""/>
        <dsp:cNvSpPr/>
      </dsp:nvSpPr>
      <dsp:spPr>
        <a:xfrm>
          <a:off x="3348036" y="3305538"/>
          <a:ext cx="3348036" cy="74385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17780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2500" kern="1200"/>
            <a:t>Aquatic Biomes (water-based)</a:t>
          </a:r>
          <a:endParaRPr lang="en-US" sz="2500" kern="1200"/>
        </a:p>
      </dsp:txBody>
      <dsp:txXfrm>
        <a:off x="3348036" y="3305538"/>
        <a:ext cx="3348036" cy="743857"/>
      </dsp:txXfrm>
    </dsp:sp>
    <dsp:sp modelId="{F7201CBF-7C50-4D82-934B-2945BED934F4}">
      <dsp:nvSpPr>
        <dsp:cNvPr id="0" name=""/>
        <dsp:cNvSpPr/>
      </dsp:nvSpPr>
      <dsp:spPr>
        <a:xfrm rot="10800000">
          <a:off x="0" y="1841"/>
          <a:ext cx="6696073" cy="2487071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3000" b="1" kern="1200" dirty="0"/>
            <a:t>Biomes:</a:t>
          </a:r>
          <a:r>
            <a:rPr lang="en-PH" sz="3000" kern="1200" dirty="0"/>
            <a:t> Large ecological areas with </a:t>
          </a:r>
          <a:r>
            <a:rPr lang="en-PH" sz="3000" b="1" kern="1200" dirty="0"/>
            <a:t>distinct climate, flora, and fauna</a:t>
          </a:r>
          <a:r>
            <a:rPr lang="en-PH" sz="3000" kern="1200" dirty="0"/>
            <a:t>.</a:t>
          </a:r>
          <a:endParaRPr lang="en-US" sz="3000" kern="1200" dirty="0"/>
        </a:p>
      </dsp:txBody>
      <dsp:txXfrm rot="10800000">
        <a:off x="0" y="1841"/>
        <a:ext cx="6696073" cy="16160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/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/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/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6" name="Picture Placeholder 11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465" indent="-164465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8" name="Content Placeholder 11"/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15BF18-0007-481C-AA29-413124BC3EE7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DA38F49-B3E2-4BF0-BEC7-C30D34ABBB8D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 descr="Binary Code Globe"/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2810107"/>
            <a:ext cx="4761571" cy="2981093"/>
          </a:xfrm>
        </p:spPr>
        <p:txBody>
          <a:bodyPr anchor="b">
            <a:normAutofit/>
          </a:bodyPr>
          <a:lstStyle/>
          <a:p>
            <a:r>
              <a:rPr lang="en-PH">
                <a:solidFill>
                  <a:srgbClr val="FFFFFF"/>
                </a:solidFill>
              </a:rPr>
              <a:t>Biomes of the Earth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1420093"/>
            <a:ext cx="4761571" cy="1253490"/>
          </a:xfrm>
        </p:spPr>
        <p:txBody>
          <a:bodyPr anchor="t">
            <a:normAutofit/>
          </a:bodyPr>
          <a:lstStyle/>
          <a:p>
            <a:r>
              <a:rPr lang="en-PH" dirty="0">
                <a:solidFill>
                  <a:srgbClr val="FFFFFF"/>
                </a:solidFill>
              </a:rPr>
              <a:t>Lesson 5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Learning Objectives</a:t>
            </a:r>
            <a:br>
              <a:rPr lang="en-PH" dirty="0"/>
            </a:b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3200" dirty="0"/>
              <a:t>By the end of this lesson, students should be able to: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3200" dirty="0"/>
              <a:t>Explain what a biome is and describe its key characteristics.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3200" dirty="0"/>
              <a:t>Explain how climate, soil, sunlight, and water influence the distribution and characteristics of biomes.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3200" dirty="0"/>
              <a:t>Discuss how human activities  affect both terrestrial and aquatic ecosystems.</a:t>
            </a:r>
          </a:p>
          <a:p>
            <a:endParaRPr lang="en-PH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</p:spPr>
        <p:txBody>
          <a:bodyPr anchor="t">
            <a:normAutofit/>
          </a:bodyPr>
          <a:lstStyle/>
          <a:p>
            <a:r>
              <a:rPr lang="en-PH" sz="3300" b="1" dirty="0"/>
              <a:t>Biomes</a:t>
            </a:r>
            <a:br>
              <a:rPr lang="en-PH" sz="3300" b="1" dirty="0"/>
            </a:br>
            <a:endParaRPr lang="en-PH" sz="3300" dirty="0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sz="quarter" idx="13"/>
          </p:nvPr>
        </p:nvGraphicFramePr>
        <p:xfrm>
          <a:off x="4962526" y="1016955"/>
          <a:ext cx="6696073" cy="4083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</p:spPr>
        <p:txBody>
          <a:bodyPr anchor="b">
            <a:normAutofit/>
          </a:bodyPr>
          <a:lstStyle/>
          <a:p>
            <a:r>
              <a:rPr lang="en-PH" b="1" dirty="0"/>
              <a:t>Terrestrial Biomes</a:t>
            </a:r>
            <a:endParaRPr lang="en-PH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</p:spPr>
        <p:txBody>
          <a:bodyPr anchor="t">
            <a:normAutofit/>
          </a:bodyPr>
          <a:lstStyle/>
          <a:p>
            <a:r>
              <a:rPr lang="en-PH" sz="2800" b="1" dirty="0"/>
              <a:t>Tundra</a:t>
            </a:r>
            <a:endParaRPr lang="en-PH" sz="2800" dirty="0"/>
          </a:p>
        </p:txBody>
      </p:sp>
      <p:pic>
        <p:nvPicPr>
          <p:cNvPr id="5" name="Picture 4" descr="Tundra 2026 Trd Pro The Tundra Biome: Facts, Pictures &amp; Information; A ..."/>
          <p:cNvPicPr>
            <a:picLocks noChangeAspect="1"/>
          </p:cNvPicPr>
          <p:nvPr/>
        </p:nvPicPr>
        <p:blipFill>
          <a:blip r:embed="rId2"/>
          <a:srcRect r="18958" b="-1"/>
          <a:stretch>
            <a:fillRect/>
          </a:stretch>
        </p:blipFill>
        <p:spPr>
          <a:xfrm>
            <a:off x="20" y="10"/>
            <a:ext cx="8326303" cy="685799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10" name="Content Placeholder 3"/>
          <p:cNvSpPr>
            <a:spLocks noGrp="1"/>
          </p:cNvSpPr>
          <p:nvPr>
            <p:ph sz="quarter" idx="14"/>
          </p:nvPr>
        </p:nvSpPr>
        <p:spPr>
          <a:xfrm>
            <a:off x="8888060" y="2140478"/>
            <a:ext cx="2769544" cy="284495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sz="2800" dirty="0"/>
              <a:t>Cold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sz="2800" dirty="0"/>
              <a:t>Treeless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sz="2800" dirty="0"/>
              <a:t>Permafrost soil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8060" y="1016955"/>
            <a:ext cx="2988254" cy="1875475"/>
          </a:xfrm>
        </p:spPr>
        <p:txBody>
          <a:bodyPr anchor="t">
            <a:normAutofit/>
          </a:bodyPr>
          <a:lstStyle/>
          <a:p>
            <a:r>
              <a:rPr lang="en-PH" sz="2800" b="1" dirty="0"/>
              <a:t>Taiga/boreal forest</a:t>
            </a:r>
            <a:endParaRPr lang="en-PH" sz="2800" dirty="0"/>
          </a:p>
        </p:txBody>
      </p:sp>
      <p:pic>
        <p:nvPicPr>
          <p:cNvPr id="4" name="Content Placeholder 3" descr="Lv Brazza Wallet Taiga Biome | semashow.com"/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3754" r="5509"/>
          <a:stretch>
            <a:fillRect/>
          </a:stretch>
        </p:blipFill>
        <p:spPr>
          <a:xfrm>
            <a:off x="20" y="10"/>
            <a:ext cx="8326303" cy="6857990"/>
          </a:xfrm>
          <a:prstGeom prst="rect">
            <a:avLst/>
          </a:prstGeom>
          <a:noFill/>
        </p:spPr>
      </p:pic>
      <p:sp>
        <p:nvSpPr>
          <p:cNvPr id="9" name="Content Placeholder 3"/>
          <p:cNvSpPr>
            <a:spLocks noGrp="1"/>
          </p:cNvSpPr>
          <p:nvPr>
            <p:ph sz="quarter" idx="14"/>
          </p:nvPr>
        </p:nvSpPr>
        <p:spPr>
          <a:xfrm>
            <a:off x="8888060" y="1835678"/>
            <a:ext cx="2769544" cy="284495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PH" sz="2800" dirty="0"/>
              <a:t>Coniferous forests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PH" sz="2800" dirty="0"/>
              <a:t>Long winters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B85B6-C03B-4FF6-4929-AB0C4815C624}"/>
              </a:ext>
            </a:extLst>
          </p:cNvPr>
          <p:cNvSpPr txBox="1"/>
          <p:nvPr/>
        </p:nvSpPr>
        <p:spPr>
          <a:xfrm>
            <a:off x="8675914" y="3859963"/>
            <a:ext cx="31350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Coniferous trees:</a:t>
            </a:r>
            <a:r>
              <a:rPr lang="en-PH" dirty="0"/>
              <a:t> cone-bearing trees with needle-like leaves, staying green throughout the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</p:spPr>
        <p:txBody>
          <a:bodyPr anchor="t">
            <a:normAutofit/>
          </a:bodyPr>
          <a:lstStyle/>
          <a:p>
            <a:r>
              <a:rPr lang="en-PH" sz="2800" b="1" dirty="0"/>
              <a:t>Temperate Forest</a:t>
            </a:r>
            <a:endParaRPr lang="en-PH" sz="2800" dirty="0"/>
          </a:p>
        </p:txBody>
      </p:sp>
      <p:sp>
        <p:nvSpPr>
          <p:cNvPr id="9" name="Content Placeholder 3"/>
          <p:cNvSpPr>
            <a:spLocks noGrp="1"/>
          </p:cNvSpPr>
          <p:nvPr>
            <p:ph sz="quarter" idx="14"/>
          </p:nvPr>
        </p:nvSpPr>
        <p:spPr>
          <a:xfrm>
            <a:off x="8801969" y="2173135"/>
            <a:ext cx="2769544" cy="284495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sz="2400" dirty="0"/>
              <a:t>Four seasons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sz="2400" dirty="0"/>
              <a:t>Deciduous trees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85A8C-E7BD-84D6-0227-5907B3D058D4}"/>
              </a:ext>
            </a:extLst>
          </p:cNvPr>
          <p:cNvSpPr txBox="1"/>
          <p:nvPr/>
        </p:nvSpPr>
        <p:spPr>
          <a:xfrm>
            <a:off x="8610599" y="3965571"/>
            <a:ext cx="35813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Deciduous trees:</a:t>
            </a:r>
            <a:r>
              <a:rPr lang="en-PH" dirty="0"/>
              <a:t> Trees with broad leaves that change color and fall off in autumn, regrowing in spring.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07449C-5041-5271-4B63-8F798C000A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8" name="Picture 7" descr="Temperate Forest Tree Types">
            <a:extLst>
              <a:ext uri="{FF2B5EF4-FFF2-40B4-BE49-F238E27FC236}">
                <a16:creationId xmlns:a16="http://schemas.microsoft.com/office/drawing/2014/main" id="{E0C6AA75-A8F6-3A4E-C8F8-4914E48E6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26323" cy="6934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</p:spPr>
        <p:txBody>
          <a:bodyPr anchor="t">
            <a:normAutofit/>
          </a:bodyPr>
          <a:lstStyle/>
          <a:p>
            <a:r>
              <a:rPr lang="en-PH" sz="2800" b="1" dirty="0"/>
              <a:t>Grassland</a:t>
            </a:r>
            <a:endParaRPr lang="en-PH" sz="2800" dirty="0"/>
          </a:p>
        </p:txBody>
      </p:sp>
      <p:pic>
        <p:nvPicPr>
          <p:cNvPr id="4" name="Content Placeholder 3" descr="Grassland Biome Pictures Grassland Plants 2 Guide – Field Studies"/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0698" r="8564"/>
          <a:stretch>
            <a:fillRect/>
          </a:stretch>
        </p:blipFill>
        <p:spPr>
          <a:xfrm>
            <a:off x="20" y="10"/>
            <a:ext cx="8326303" cy="6857990"/>
          </a:xfrm>
          <a:prstGeom prst="rect">
            <a:avLst/>
          </a:prstGeom>
          <a:noFill/>
        </p:spPr>
      </p:pic>
      <p:sp>
        <p:nvSpPr>
          <p:cNvPr id="9" name="Content Placeholder 3"/>
          <p:cNvSpPr>
            <a:spLocks noGrp="1"/>
          </p:cNvSpPr>
          <p:nvPr>
            <p:ph sz="quarter" idx="14"/>
          </p:nvPr>
        </p:nvSpPr>
        <p:spPr>
          <a:xfrm>
            <a:off x="8889055" y="2006525"/>
            <a:ext cx="2769544" cy="284495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sz="2800" dirty="0"/>
              <a:t>Dominated by grasses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sz="2800" dirty="0"/>
              <a:t>Few trees.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</p:spPr>
        <p:txBody>
          <a:bodyPr anchor="t">
            <a:normAutofit/>
          </a:bodyPr>
          <a:lstStyle/>
          <a:p>
            <a:r>
              <a:rPr lang="en-PH" sz="2800" b="1" dirty="0"/>
              <a:t>Desert</a:t>
            </a:r>
            <a:endParaRPr lang="en-PH" sz="28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501" r="17457" b="-1"/>
          <a:stretch>
            <a:fillRect/>
          </a:stretch>
        </p:blipFill>
        <p:spPr>
          <a:xfrm>
            <a:off x="20" y="10"/>
            <a:ext cx="8326303" cy="6857990"/>
          </a:xfrm>
          <a:prstGeom prst="rect">
            <a:avLst/>
          </a:prstGeom>
          <a:noFill/>
        </p:spPr>
      </p:pic>
      <p:sp>
        <p:nvSpPr>
          <p:cNvPr id="10" name="Content Placeholder 3"/>
          <p:cNvSpPr>
            <a:spLocks noGrp="1"/>
          </p:cNvSpPr>
          <p:nvPr>
            <p:ph sz="quarter" idx="14"/>
          </p:nvPr>
        </p:nvSpPr>
        <p:spPr>
          <a:xfrm>
            <a:off x="8801969" y="2086050"/>
            <a:ext cx="2769544" cy="284495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sz="2800" dirty="0"/>
              <a:t>Very dry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sz="2800" dirty="0"/>
              <a:t>Extreme temperatures.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</p:spPr>
        <p:txBody>
          <a:bodyPr anchor="t">
            <a:normAutofit/>
          </a:bodyPr>
          <a:lstStyle/>
          <a:p>
            <a:r>
              <a:rPr lang="en-PH" sz="2800" b="1" dirty="0"/>
              <a:t>Tropical Rainforest</a:t>
            </a:r>
            <a:endParaRPr lang="en-PH" sz="2800" dirty="0"/>
          </a:p>
        </p:txBody>
      </p:sp>
      <p:pic>
        <p:nvPicPr>
          <p:cNvPr id="4" name="Content Placeholder 3" descr="Explore the Enchanting Beauty of the Jungle | Tropical rainforest ..."/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8392" r="3315"/>
          <a:stretch>
            <a:fillRect/>
          </a:stretch>
        </p:blipFill>
        <p:spPr>
          <a:xfrm>
            <a:off x="20" y="10"/>
            <a:ext cx="8326303" cy="6857990"/>
          </a:xfrm>
          <a:prstGeom prst="rect">
            <a:avLst/>
          </a:prstGeom>
          <a:noFill/>
        </p:spPr>
      </p:pic>
      <p:sp>
        <p:nvSpPr>
          <p:cNvPr id="9" name="Content Placeholder 3"/>
          <p:cNvSpPr>
            <a:spLocks noGrp="1"/>
          </p:cNvSpPr>
          <p:nvPr>
            <p:ph sz="quarter" idx="14"/>
          </p:nvPr>
        </p:nvSpPr>
        <p:spPr>
          <a:xfrm>
            <a:off x="8916144" y="2292878"/>
            <a:ext cx="2769544" cy="284495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sz="2800" dirty="0"/>
              <a:t>Warm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sz="2800" dirty="0"/>
              <a:t>Wet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sz="2800" dirty="0"/>
              <a:t>High biodiversity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</p:spPr>
        <p:txBody>
          <a:bodyPr anchor="t">
            <a:normAutofit/>
          </a:bodyPr>
          <a:lstStyle/>
          <a:p>
            <a:r>
              <a:rPr lang="en-PH" dirty="0"/>
              <a:t>Terrestrial Biomes: Flora &amp; Fauna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398" y="1898786"/>
          <a:ext cx="11125203" cy="4427901"/>
        </p:xfrm>
        <a:graphic>
          <a:graphicData uri="http://schemas.openxmlformats.org/drawingml/2006/table">
            <a:tbl>
              <a:tblPr/>
              <a:tblGrid>
                <a:gridCol w="367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9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5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 b="1"/>
                        <a:t>Terrestrial Biome</a:t>
                      </a:r>
                      <a:endParaRPr lang="en-PH" sz="1800"/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 b="1"/>
                        <a:t>Flora (Plants)</a:t>
                      </a:r>
                      <a:endParaRPr lang="en-PH" sz="1800"/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 b="1"/>
                        <a:t>Fauna (Animals)</a:t>
                      </a:r>
                      <a:endParaRPr lang="en-PH" sz="1800"/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 b="1"/>
                        <a:t>Tundra</a:t>
                      </a:r>
                      <a:endParaRPr lang="en-PH" sz="1800"/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/>
                        <a:t>Mosses, lichens, grasses</a:t>
                      </a:r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/>
                        <a:t>Arctic fox, caribou, polar bear, snowy owl</a:t>
                      </a:r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 b="1"/>
                        <a:t>Taiga/Boreal Forest</a:t>
                      </a:r>
                      <a:endParaRPr lang="en-PH" sz="1800"/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/>
                        <a:t>Conifers (pine, spruce, fir), mosses</a:t>
                      </a:r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/>
                        <a:t>Moose, lynx, bears, wolves, squirrels</a:t>
                      </a:r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 b="1"/>
                        <a:t>Temperate Forest</a:t>
                      </a:r>
                      <a:endParaRPr lang="en-PH" sz="1800"/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/>
                        <a:t>Deciduous trees (oak, maple, beech), shrubs, ferns</a:t>
                      </a:r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/>
                        <a:t>Deer, foxes, raccoons, black bears, songbirds</a:t>
                      </a:r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 b="1"/>
                        <a:t>Grassland</a:t>
                      </a:r>
                      <a:endParaRPr lang="en-PH" sz="1800"/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/>
                        <a:t>Grasses, wildflowers, few trees</a:t>
                      </a:r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/>
                        <a:t>Bison, antelope, zebras, lions, prairie dogs</a:t>
                      </a:r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1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 b="1"/>
                        <a:t>Desert</a:t>
                      </a:r>
                      <a:endParaRPr lang="en-PH" sz="1800"/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/>
                        <a:t>Cacti, succulents, drought-resistant shrubs</a:t>
                      </a:r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/>
                        <a:t>Camels, lizards, snakes, scorpions, fennec fox</a:t>
                      </a:r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1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 b="1"/>
                        <a:t>Tropical Rainforest</a:t>
                      </a:r>
                      <a:endParaRPr lang="en-PH" sz="1800"/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/>
                        <a:t>Orchids, ferns, broadleaf trees, vines</a:t>
                      </a:r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800"/>
                        <a:t>Jaguars, toucans, monkeys, frogs, insects</a:t>
                      </a:r>
                    </a:p>
                  </a:txBody>
                  <a:tcPr marL="90736" marR="90736" marT="45368" marB="45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</p:spPr>
        <p:txBody>
          <a:bodyPr anchor="t">
            <a:normAutofit fontScale="90000"/>
          </a:bodyPr>
          <a:lstStyle/>
          <a:p>
            <a:pPr marL="857250" indent="-857250">
              <a:buFont typeface="Wingdings" panose="05000000000000000000" pitchFamily="2" charset="2"/>
              <a:buChar char="§"/>
            </a:pPr>
            <a:r>
              <a:rPr lang="en-PH" dirty="0"/>
              <a:t>Aquatic Biomes</a:t>
            </a:r>
            <a:br>
              <a:rPr lang="en-PH" dirty="0"/>
            </a:br>
            <a:br>
              <a:rPr lang="en-PH" dirty="0"/>
            </a:br>
            <a:r>
              <a:rPr lang="en-PH" cap="none" dirty="0"/>
              <a:t>Freshwater</a:t>
            </a:r>
            <a:br>
              <a:rPr lang="en-PH" cap="none" dirty="0"/>
            </a:br>
            <a:br>
              <a:rPr lang="en-PH" dirty="0"/>
            </a:br>
            <a:r>
              <a:rPr lang="en-PH" cap="none" dirty="0"/>
              <a:t>Marine</a:t>
            </a:r>
            <a:br>
              <a:rPr lang="en-PH" dirty="0"/>
            </a:br>
            <a:endParaRPr lang="en-PH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Freshwater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PH" sz="3200" b="1" dirty="0">
                <a:solidFill>
                  <a:srgbClr val="FF0000"/>
                </a:solidFill>
              </a:rPr>
              <a:t>Low salinity</a:t>
            </a:r>
            <a:r>
              <a:rPr lang="en-PH" sz="3200" dirty="0"/>
              <a:t>, supporting diverse plants and animals adapted to non-salty environments.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3200" b="1" dirty="0"/>
              <a:t>Rivers</a:t>
            </a:r>
            <a:r>
              <a:rPr lang="en-PH" sz="3200" dirty="0"/>
              <a:t>: </a:t>
            </a:r>
            <a:r>
              <a:rPr lang="en-PH" sz="3200" b="1" dirty="0"/>
              <a:t>Flowing</a:t>
            </a:r>
            <a:r>
              <a:rPr lang="en-PH" sz="3200" dirty="0"/>
              <a:t> bodies of freshwater.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3200" b="1" dirty="0"/>
              <a:t>Lakes: </a:t>
            </a:r>
            <a:r>
              <a:rPr lang="en-PH" sz="3200" dirty="0"/>
              <a:t>Large, </a:t>
            </a:r>
            <a:r>
              <a:rPr lang="en-PH" sz="3200" b="1" dirty="0"/>
              <a:t>still</a:t>
            </a:r>
            <a:r>
              <a:rPr lang="en-PH" sz="3200" dirty="0"/>
              <a:t> freshwater basins.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3200" b="1" dirty="0"/>
              <a:t>Wetlands: Water-saturated</a:t>
            </a:r>
            <a:r>
              <a:rPr lang="en-PH" sz="3200" dirty="0"/>
              <a:t> ecosystems with high biodiversity.</a:t>
            </a:r>
          </a:p>
          <a:p>
            <a:endParaRPr lang="en-PH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</p:spPr>
        <p:txBody>
          <a:bodyPr anchor="t">
            <a:normAutofit/>
          </a:bodyPr>
          <a:lstStyle/>
          <a:p>
            <a:r>
              <a:rPr lang="en-PH" dirty="0"/>
              <a:t>Freshwater : Flora &amp; Fauna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398" y="2086607"/>
          <a:ext cx="11125203" cy="4052259"/>
        </p:xfrm>
        <a:graphic>
          <a:graphicData uri="http://schemas.openxmlformats.org/drawingml/2006/table">
            <a:tbl>
              <a:tblPr/>
              <a:tblGrid>
                <a:gridCol w="2279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8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6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700" b="1"/>
                        <a:t>Ecosystem</a:t>
                      </a:r>
                      <a:endParaRPr lang="en-PH" sz="2700"/>
                    </a:p>
                  </a:txBody>
                  <a:tcPr marL="138672" marR="138672" marT="69337" marB="69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700" b="1"/>
                        <a:t>Flora (Plants)</a:t>
                      </a:r>
                      <a:endParaRPr lang="en-PH" sz="2700"/>
                    </a:p>
                  </a:txBody>
                  <a:tcPr marL="138672" marR="138672" marT="69337" marB="69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700" b="1"/>
                        <a:t>Fauna (Animals)</a:t>
                      </a:r>
                      <a:endParaRPr lang="en-PH" sz="2700"/>
                    </a:p>
                  </a:txBody>
                  <a:tcPr marL="138672" marR="138672" marT="69337" marB="69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700" b="1"/>
                        <a:t>Rivers</a:t>
                      </a:r>
                      <a:endParaRPr lang="en-PH" sz="2700"/>
                    </a:p>
                  </a:txBody>
                  <a:tcPr marL="138672" marR="138672" marT="69337" marB="69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700"/>
                        <a:t>Algae, water grasses, willow trees along banks</a:t>
                      </a:r>
                    </a:p>
                  </a:txBody>
                  <a:tcPr marL="138672" marR="138672" marT="69337" marB="69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700"/>
                        <a:t>Trout, salmon, otters, frogs, kingfishers</a:t>
                      </a:r>
                    </a:p>
                  </a:txBody>
                  <a:tcPr marL="138672" marR="138672" marT="69337" marB="69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700" b="1"/>
                        <a:t>Lakes</a:t>
                      </a:r>
                      <a:endParaRPr lang="en-PH" sz="2700"/>
                    </a:p>
                  </a:txBody>
                  <a:tcPr marL="138672" marR="138672" marT="69337" marB="69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700" dirty="0"/>
                        <a:t>Water lilies, cattails, reeds, phytoplankton</a:t>
                      </a:r>
                    </a:p>
                  </a:txBody>
                  <a:tcPr marL="138672" marR="138672" marT="69337" marB="69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700"/>
                        <a:t>Ducks, turtles, fish (bass, perch), snails</a:t>
                      </a:r>
                    </a:p>
                  </a:txBody>
                  <a:tcPr marL="138672" marR="138672" marT="69337" marB="69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5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700" b="1"/>
                        <a:t>Wetlands</a:t>
                      </a:r>
                      <a:endParaRPr lang="en-PH" sz="2700"/>
                    </a:p>
                  </a:txBody>
                  <a:tcPr marL="138672" marR="138672" marT="69337" marB="69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700"/>
                        <a:t>Mangroves, sedges, bulrushes, mosses</a:t>
                      </a:r>
                    </a:p>
                  </a:txBody>
                  <a:tcPr marL="138672" marR="138672" marT="69337" marB="69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700"/>
                        <a:t>Frogs, herons, dragonflies, beavers, alligators</a:t>
                      </a:r>
                    </a:p>
                  </a:txBody>
                  <a:tcPr marL="138672" marR="138672" marT="69337" marB="69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gusan Marsh natural landscape"/>
          <p:cNvPicPr>
            <a:picLocks noChangeAspect="1"/>
          </p:cNvPicPr>
          <p:nvPr/>
        </p:nvPicPr>
        <p:blipFill>
          <a:blip r:embed="rId2"/>
          <a:srcRect t="8848" b="11831"/>
          <a:stretch>
            <a:fillRect/>
          </a:stretch>
        </p:blipFill>
        <p:spPr>
          <a:xfrm>
            <a:off x="20" y="-391886"/>
            <a:ext cx="12191980" cy="72498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Marine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PH" sz="3200" b="1" dirty="0"/>
              <a:t>Oceans:</a:t>
            </a:r>
            <a:r>
              <a:rPr lang="en-PH" sz="3200" dirty="0"/>
              <a:t> Vast </a:t>
            </a:r>
            <a:r>
              <a:rPr lang="en-PH" sz="3200" b="1" dirty="0"/>
              <a:t>saltwater </a:t>
            </a:r>
            <a:r>
              <a:rPr lang="en-PH" sz="3200" dirty="0"/>
              <a:t>ecosystem covering most of Earth’s surface, </a:t>
            </a:r>
            <a:r>
              <a:rPr lang="en-PH" sz="3200" b="1" dirty="0"/>
              <a:t>regulating climate </a:t>
            </a:r>
            <a:r>
              <a:rPr lang="en-PH" sz="3200" dirty="0"/>
              <a:t>and supporting diverse life from plankton to whales.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3200" b="1" dirty="0"/>
              <a:t>Coral Reefs:</a:t>
            </a:r>
            <a:r>
              <a:rPr lang="en-PH" sz="3200" dirty="0"/>
              <a:t> </a:t>
            </a:r>
            <a:r>
              <a:rPr lang="en-PH" sz="3200" b="1" dirty="0"/>
              <a:t>High biodiversity </a:t>
            </a:r>
            <a:r>
              <a:rPr lang="en-PH" sz="3200" dirty="0"/>
              <a:t>ecosystems in </a:t>
            </a:r>
            <a:r>
              <a:rPr lang="en-PH" sz="3200" b="1" dirty="0"/>
              <a:t>shallow, warm waters,</a:t>
            </a:r>
            <a:r>
              <a:rPr lang="en-PH" sz="3200" dirty="0"/>
              <a:t> built by corals and </a:t>
            </a:r>
            <a:r>
              <a:rPr lang="en-PH" sz="3200" b="1" dirty="0"/>
              <a:t>home</a:t>
            </a:r>
            <a:r>
              <a:rPr lang="en-PH" sz="3200" dirty="0"/>
              <a:t> to countless fish and invertebrates.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3200" b="1" dirty="0"/>
              <a:t>Estuaries:</a:t>
            </a:r>
            <a:r>
              <a:rPr lang="en-PH" sz="3200" dirty="0"/>
              <a:t> </a:t>
            </a:r>
            <a:r>
              <a:rPr lang="en-PH" sz="3200" b="1" dirty="0"/>
              <a:t>Transition zones </a:t>
            </a:r>
            <a:r>
              <a:rPr lang="en-PH" sz="3200" dirty="0"/>
              <a:t>between </a:t>
            </a:r>
            <a:r>
              <a:rPr lang="en-PH" sz="3200" b="1" dirty="0"/>
              <a:t>rivers and seas</a:t>
            </a:r>
            <a:r>
              <a:rPr lang="en-PH" sz="3200" dirty="0"/>
              <a:t>, mixing freshwater and saltwater, serving as </a:t>
            </a:r>
            <a:r>
              <a:rPr lang="en-PH" sz="3200" b="1" dirty="0"/>
              <a:t>nurseries</a:t>
            </a:r>
            <a:r>
              <a:rPr lang="en-PH" sz="3200" dirty="0"/>
              <a:t> for many marine species.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PH" sz="3200" dirty="0"/>
              <a:t>Water is </a:t>
            </a:r>
            <a:r>
              <a:rPr lang="en-PH" sz="3200" b="1" dirty="0"/>
              <a:t>brackish</a:t>
            </a:r>
            <a:r>
              <a:rPr lang="en-PH" sz="3200" dirty="0"/>
              <a:t> — a mix of salt and fresh water.</a:t>
            </a:r>
          </a:p>
          <a:p>
            <a:endParaRPr lang="en-PH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</p:spPr>
        <p:txBody>
          <a:bodyPr anchor="t">
            <a:normAutofit/>
          </a:bodyPr>
          <a:lstStyle/>
          <a:p>
            <a:r>
              <a:rPr lang="en-PH" dirty="0"/>
              <a:t>marine: Flora &amp; Fauna</a:t>
            </a:r>
          </a:p>
        </p:txBody>
      </p:sp>
      <p:graphicFrame>
        <p:nvGraphicFramePr>
          <p:cNvPr id="7" name="Content Placeholder 3"/>
          <p:cNvGraphicFramePr/>
          <p:nvPr/>
        </p:nvGraphicFramePr>
        <p:xfrm>
          <a:off x="1073474" y="1748474"/>
          <a:ext cx="10045052" cy="4728526"/>
        </p:xfrm>
        <a:graphic>
          <a:graphicData uri="http://schemas.openxmlformats.org/drawingml/2006/table">
            <a:tbl>
              <a:tblPr/>
              <a:tblGrid>
                <a:gridCol w="2123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1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6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 b="1" dirty="0"/>
                        <a:t>Biome</a:t>
                      </a:r>
                      <a:endParaRPr lang="en-PH" sz="2400" dirty="0"/>
                    </a:p>
                  </a:txBody>
                  <a:tcPr marL="122501" marR="122501" marT="61250" marB="61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 b="1"/>
                        <a:t>Flora (Plants &amp; Producers)</a:t>
                      </a:r>
                      <a:endParaRPr lang="en-PH" sz="2400"/>
                    </a:p>
                  </a:txBody>
                  <a:tcPr marL="122501" marR="122501" marT="61250" marB="61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 b="1"/>
                        <a:t>Fauna (Animals)</a:t>
                      </a:r>
                      <a:endParaRPr lang="en-PH" sz="2400"/>
                    </a:p>
                  </a:txBody>
                  <a:tcPr marL="122501" marR="122501" marT="61250" marB="61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4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 b="1"/>
                        <a:t>Ocean</a:t>
                      </a:r>
                      <a:endParaRPr lang="en-PH" sz="2400"/>
                    </a:p>
                  </a:txBody>
                  <a:tcPr marL="122501" marR="122501" marT="61250" marB="61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Phytoplankton, seaweed, kelp forests, algae</a:t>
                      </a:r>
                    </a:p>
                  </a:txBody>
                  <a:tcPr marL="122501" marR="122501" marT="61250" marB="61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Whales, dolphins, sharks, jellyfish, sea turtles, plankton</a:t>
                      </a:r>
                    </a:p>
                  </a:txBody>
                  <a:tcPr marL="122501" marR="122501" marT="61250" marB="61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4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 b="1"/>
                        <a:t>Coral Reefs</a:t>
                      </a:r>
                      <a:endParaRPr lang="en-PH" sz="2400"/>
                    </a:p>
                  </a:txBody>
                  <a:tcPr marL="122501" marR="122501" marT="61250" marB="61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Zooxanthellae (symbiotic algae), sea grasses, algae</a:t>
                      </a:r>
                    </a:p>
                  </a:txBody>
                  <a:tcPr marL="122501" marR="122501" marT="61250" marB="61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Clownfish, parrotfish, sea stars, reef sharks, sea urchins, corals (animals)</a:t>
                      </a:r>
                    </a:p>
                  </a:txBody>
                  <a:tcPr marL="122501" marR="122501" marT="61250" marB="61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4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 b="1"/>
                        <a:t>Estuaries</a:t>
                      </a:r>
                      <a:endParaRPr lang="en-PH" sz="2400"/>
                    </a:p>
                  </a:txBody>
                  <a:tcPr marL="122501" marR="122501" marT="61250" marB="61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Mangroves, salt marsh grasses, algae</a:t>
                      </a:r>
                    </a:p>
                  </a:txBody>
                  <a:tcPr marL="122501" marR="122501" marT="61250" marB="61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 dirty="0"/>
                        <a:t>Crabs, oysters, shrimps, herons, egrets, fish fry (young fish)</a:t>
                      </a:r>
                    </a:p>
                  </a:txBody>
                  <a:tcPr marL="122501" marR="122501" marT="61250" marB="61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Ocean, Coral Reefs, Estuaries"/>
          <p:cNvPicPr>
            <a:picLocks noGrp="1" noChangeAspect="1"/>
          </p:cNvPicPr>
          <p:nvPr>
            <p:ph idx="1"/>
          </p:nvPr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Environmental Factors Shaping Biomes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0" indent="-742950">
              <a:buFont typeface="+mj-lt"/>
              <a:buAutoNum type="arabicPeriod"/>
            </a:pPr>
            <a:r>
              <a:rPr lang="en-PH" sz="3600" b="1" dirty="0"/>
              <a:t>Climate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PH" sz="3600" dirty="0"/>
              <a:t>Temperature and rainfall determine vegetation.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PH" sz="3600" b="1" dirty="0"/>
              <a:t>Soil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PH" sz="3600" dirty="0"/>
              <a:t>Nutrient availability affects plant growth.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PH" sz="3600" b="1" dirty="0"/>
              <a:t>Sunlight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PH" sz="3600" dirty="0"/>
              <a:t>Energy source for photosynthesis.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PH" sz="3600" b="1" dirty="0"/>
              <a:t>Water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PH" sz="3600" dirty="0"/>
              <a:t>Availability and salinity.</a:t>
            </a:r>
          </a:p>
          <a:p>
            <a:endParaRPr lang="en-PH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b="1" dirty="0"/>
              <a:t>Summary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PH" sz="3200" dirty="0"/>
              <a:t>Biomes are shaped by </a:t>
            </a:r>
            <a:r>
              <a:rPr lang="en-PH" sz="3200" b="1" dirty="0"/>
              <a:t>environmental factors</a:t>
            </a:r>
            <a:r>
              <a:rPr lang="en-PH" sz="3200" dirty="0"/>
              <a:t>.</a:t>
            </a:r>
          </a:p>
          <a:p>
            <a:pPr lvl="0"/>
            <a:r>
              <a:rPr lang="en-PH" sz="3200" dirty="0"/>
              <a:t>Terrestrial biomes depend on </a:t>
            </a:r>
            <a:r>
              <a:rPr lang="en-PH" sz="3200" b="1" dirty="0"/>
              <a:t>climate and soil</a:t>
            </a:r>
            <a:r>
              <a:rPr lang="en-PH" sz="3200" dirty="0"/>
              <a:t>.</a:t>
            </a:r>
          </a:p>
          <a:p>
            <a:pPr lvl="0"/>
            <a:r>
              <a:rPr lang="en-PH" sz="3200" dirty="0"/>
              <a:t>Aquatic biomes depend on </a:t>
            </a:r>
            <a:r>
              <a:rPr lang="en-PH" sz="3200" b="1" dirty="0"/>
              <a:t>water properties</a:t>
            </a:r>
            <a:r>
              <a:rPr lang="en-PH" sz="3200" dirty="0"/>
              <a:t>.</a:t>
            </a:r>
          </a:p>
          <a:p>
            <a:pPr lvl="0"/>
            <a:r>
              <a:rPr lang="en-PH" sz="3200" dirty="0"/>
              <a:t>Understanding biomes helps us protect biodiversity.</a:t>
            </a:r>
          </a:p>
          <a:p>
            <a:endParaRPr lang="en-PH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b="1" dirty="0"/>
              <a:t>Terrestrial Biomes</a:t>
            </a:r>
            <a:br>
              <a:rPr lang="en-PH" b="1" dirty="0"/>
            </a:b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PH" sz="3200" b="1" dirty="0"/>
              <a:t>Tundra:</a:t>
            </a:r>
            <a:r>
              <a:rPr lang="en-PH" sz="3200" dirty="0"/>
              <a:t> Cold, treeless, permafrost soil.</a:t>
            </a:r>
          </a:p>
          <a:p>
            <a:pPr lvl="0"/>
            <a:r>
              <a:rPr lang="en-PH" sz="3200" b="1" dirty="0"/>
              <a:t>Taiga:</a:t>
            </a:r>
            <a:r>
              <a:rPr lang="en-PH" sz="3200" dirty="0"/>
              <a:t> Coniferous forests, long winters.</a:t>
            </a:r>
          </a:p>
          <a:p>
            <a:pPr lvl="0"/>
            <a:r>
              <a:rPr lang="en-PH" sz="3200" b="1" dirty="0"/>
              <a:t>Temperate Forest:</a:t>
            </a:r>
            <a:r>
              <a:rPr lang="en-PH" sz="3200" dirty="0"/>
              <a:t> Four seasons, deciduous trees.</a:t>
            </a:r>
          </a:p>
          <a:p>
            <a:pPr lvl="0"/>
            <a:r>
              <a:rPr lang="en-PH" sz="3200" b="1" dirty="0"/>
              <a:t>Grassland:</a:t>
            </a:r>
            <a:r>
              <a:rPr lang="en-PH" sz="3200" dirty="0"/>
              <a:t> Dominated by grasses, few trees.</a:t>
            </a:r>
          </a:p>
          <a:p>
            <a:pPr lvl="0"/>
            <a:r>
              <a:rPr lang="en-PH" sz="3200" b="1" dirty="0"/>
              <a:t>Desert:</a:t>
            </a:r>
            <a:r>
              <a:rPr lang="en-PH" sz="3200" dirty="0"/>
              <a:t> Very dry, extreme temperatures.</a:t>
            </a:r>
          </a:p>
          <a:p>
            <a:pPr lvl="0"/>
            <a:r>
              <a:rPr lang="en-PH" sz="3200" b="1" dirty="0"/>
              <a:t>Tropical Rainforest:</a:t>
            </a:r>
            <a:r>
              <a:rPr lang="en-PH" sz="3200" dirty="0"/>
              <a:t> Warm, wet, high biodiversity.</a:t>
            </a:r>
          </a:p>
          <a:p>
            <a:endParaRPr lang="en-PH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Aquatic biome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sz="2000" b="1" dirty="0"/>
              <a:t>Freshwater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PH" sz="2000" b="1" dirty="0">
                <a:solidFill>
                  <a:srgbClr val="FF0000"/>
                </a:solidFill>
              </a:rPr>
              <a:t>Low salinity</a:t>
            </a:r>
            <a:r>
              <a:rPr lang="en-PH" sz="2000" dirty="0"/>
              <a:t>, supporting diverse plants and animals adapted to non-salty environments.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2000" b="1" dirty="0"/>
              <a:t>Rivers</a:t>
            </a:r>
            <a:r>
              <a:rPr lang="en-PH" sz="2000" dirty="0"/>
              <a:t>: </a:t>
            </a:r>
            <a:r>
              <a:rPr lang="en-PH" sz="2000" b="1" dirty="0"/>
              <a:t>Flowing</a:t>
            </a:r>
            <a:r>
              <a:rPr lang="en-PH" sz="2000" dirty="0"/>
              <a:t> bodies of freshwater.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2000" b="1" dirty="0"/>
              <a:t>Lakes: </a:t>
            </a:r>
            <a:r>
              <a:rPr lang="en-PH" sz="2000" dirty="0"/>
              <a:t>Large, </a:t>
            </a:r>
            <a:r>
              <a:rPr lang="en-PH" sz="2000" b="1" dirty="0"/>
              <a:t>still</a:t>
            </a:r>
            <a:r>
              <a:rPr lang="en-PH" sz="2000" dirty="0"/>
              <a:t> freshwater basins.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2000" b="1" dirty="0"/>
              <a:t>Wetlands: Water-saturated</a:t>
            </a:r>
            <a:r>
              <a:rPr lang="en-PH" sz="2000" dirty="0"/>
              <a:t> ecosystems with high biodiversity.</a:t>
            </a:r>
          </a:p>
          <a:p>
            <a:pPr marL="0" lvl="0" indent="0">
              <a:buNone/>
            </a:pPr>
            <a:r>
              <a:rPr lang="en-PH" sz="2000" b="1" dirty="0"/>
              <a:t>Marine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2000" b="1" dirty="0"/>
              <a:t>Oceans:</a:t>
            </a:r>
            <a:r>
              <a:rPr lang="en-PH" sz="2000" dirty="0"/>
              <a:t> Vast </a:t>
            </a:r>
            <a:r>
              <a:rPr lang="en-PH" sz="2000" b="1" dirty="0"/>
              <a:t>saltwater </a:t>
            </a:r>
            <a:r>
              <a:rPr lang="en-PH" sz="2000" dirty="0"/>
              <a:t>ecosystem covering most of Earth’s surface, </a:t>
            </a:r>
            <a:r>
              <a:rPr lang="en-PH" sz="2000" b="1" dirty="0"/>
              <a:t>regulating climate </a:t>
            </a:r>
            <a:r>
              <a:rPr lang="en-PH" sz="2000" dirty="0"/>
              <a:t>and supporting diverse life from plankton to whales.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2000" b="1" dirty="0"/>
              <a:t>Coral Reefs:</a:t>
            </a:r>
            <a:r>
              <a:rPr lang="en-PH" sz="2000" dirty="0"/>
              <a:t> </a:t>
            </a:r>
            <a:r>
              <a:rPr lang="en-PH" sz="2000" b="1" dirty="0"/>
              <a:t>High biodiversity </a:t>
            </a:r>
            <a:r>
              <a:rPr lang="en-PH" sz="2000" dirty="0"/>
              <a:t>ecosystems in </a:t>
            </a:r>
            <a:r>
              <a:rPr lang="en-PH" sz="2000" b="1" dirty="0"/>
              <a:t>shallow, warm waters,</a:t>
            </a:r>
            <a:r>
              <a:rPr lang="en-PH" sz="2000" dirty="0"/>
              <a:t> built by corals and </a:t>
            </a:r>
            <a:r>
              <a:rPr lang="en-PH" sz="2000" b="1" dirty="0"/>
              <a:t>home</a:t>
            </a:r>
            <a:r>
              <a:rPr lang="en-PH" sz="2000" dirty="0"/>
              <a:t> to countless fish and invertebrates.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PH" sz="2000" b="1" dirty="0"/>
              <a:t>Estuaries:</a:t>
            </a:r>
            <a:r>
              <a:rPr lang="en-PH" sz="2000" dirty="0"/>
              <a:t> </a:t>
            </a:r>
            <a:r>
              <a:rPr lang="en-PH" sz="2000" b="1" dirty="0"/>
              <a:t>Transition zones </a:t>
            </a:r>
            <a:r>
              <a:rPr lang="en-PH" sz="2000" dirty="0"/>
              <a:t>between </a:t>
            </a:r>
            <a:r>
              <a:rPr lang="en-PH" sz="2000" b="1" dirty="0"/>
              <a:t>rivers and seas</a:t>
            </a:r>
            <a:r>
              <a:rPr lang="en-PH" sz="2000" dirty="0"/>
              <a:t>, mixing freshwater and saltwater, serving as </a:t>
            </a:r>
            <a:r>
              <a:rPr lang="en-PH" sz="2000" b="1" dirty="0"/>
              <a:t>nurseries</a:t>
            </a:r>
            <a:r>
              <a:rPr lang="en-PH" sz="2000" dirty="0"/>
              <a:t> for many marine species.</a:t>
            </a:r>
          </a:p>
          <a:p>
            <a:pPr marL="0" lvl="0" indent="0">
              <a:buNone/>
            </a:pPr>
            <a:endParaRPr lang="en-PH" dirty="0"/>
          </a:p>
          <a:p>
            <a:endParaRPr lang="en-PH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Discussion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sz="3200" dirty="0"/>
              <a:t>How do human activities (deforestation, pollution, climate change) impact both terrestrial and aquatic biomes?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PH" b="1" dirty="0"/>
              <a:t>Title: </a:t>
            </a:r>
            <a:r>
              <a:rPr lang="en-PH" b="1" i="1" dirty="0"/>
              <a:t>Biomes of the World – Digital Infographic</a:t>
            </a:r>
            <a:endParaRPr lang="en-PH" b="1" dirty="0"/>
          </a:p>
          <a:p>
            <a:r>
              <a:rPr lang="en-PH" b="1" dirty="0"/>
              <a:t>Objective:</a:t>
            </a:r>
            <a:r>
              <a:rPr lang="en-PH" dirty="0"/>
              <a:t> Students will design a digital infographic that explains one or more </a:t>
            </a:r>
            <a:r>
              <a:rPr lang="en-PH" b="1" dirty="0"/>
              <a:t>world biomes.</a:t>
            </a:r>
          </a:p>
          <a:p>
            <a:pPr marL="0" indent="0">
              <a:buNone/>
            </a:pPr>
            <a:r>
              <a:rPr lang="en-PH" b="1" dirty="0"/>
              <a:t>Content Requirements</a:t>
            </a:r>
          </a:p>
          <a:p>
            <a:pPr lvl="0"/>
            <a:r>
              <a:rPr lang="en-PH" b="1" dirty="0"/>
              <a:t>Title &amp; Subtitle</a:t>
            </a:r>
            <a:r>
              <a:rPr lang="en-PH" dirty="0"/>
              <a:t> – Creative and clear.</a:t>
            </a:r>
          </a:p>
          <a:p>
            <a:pPr lvl="0"/>
            <a:r>
              <a:rPr lang="en-PH" b="1" dirty="0"/>
              <a:t>Definition</a:t>
            </a:r>
            <a:r>
              <a:rPr lang="en-PH" dirty="0"/>
              <a:t> – Concise description of the chosen biome.</a:t>
            </a:r>
          </a:p>
          <a:p>
            <a:pPr lvl="0"/>
            <a:r>
              <a:rPr lang="en-PH" b="1" dirty="0"/>
              <a:t>Climate</a:t>
            </a:r>
            <a:r>
              <a:rPr lang="en-PH" dirty="0"/>
              <a:t> – Temperature, precipitation, and seasonal patterns.</a:t>
            </a:r>
          </a:p>
          <a:p>
            <a:pPr lvl="0"/>
            <a:r>
              <a:rPr lang="en-PH" b="1" dirty="0"/>
              <a:t>Flora &amp; Fauna</a:t>
            </a:r>
            <a:r>
              <a:rPr lang="en-PH" dirty="0"/>
              <a:t> – Representative plants and animals.</a:t>
            </a:r>
          </a:p>
          <a:p>
            <a:pPr lvl="0"/>
            <a:r>
              <a:rPr lang="en-PH" b="1" dirty="0"/>
              <a:t>Human Impact</a:t>
            </a:r>
            <a:r>
              <a:rPr lang="en-PH" dirty="0"/>
              <a:t> – Positive or negative effects. .</a:t>
            </a:r>
          </a:p>
          <a:p>
            <a:pPr lvl="0"/>
            <a:r>
              <a:rPr lang="en-PH" b="1" dirty="0"/>
              <a:t>Visuals</a:t>
            </a:r>
            <a:r>
              <a:rPr lang="en-PH" dirty="0"/>
              <a:t> – Icons, images, or diagrams to enhance understanding.</a:t>
            </a:r>
          </a:p>
          <a:p>
            <a:pPr lvl="0"/>
            <a:r>
              <a:rPr lang="en-PH" b="1" dirty="0"/>
              <a:t>Sources</a:t>
            </a:r>
            <a:r>
              <a:rPr lang="en-PH" dirty="0"/>
              <a:t> – Cite references for accuracy.</a:t>
            </a:r>
          </a:p>
          <a:p>
            <a:pPr marL="0" indent="0">
              <a:buNone/>
            </a:pPr>
            <a:r>
              <a:rPr lang="en-PH" b="1" dirty="0"/>
              <a:t>Format</a:t>
            </a:r>
          </a:p>
          <a:p>
            <a:pPr lvl="0"/>
            <a:r>
              <a:rPr lang="en-PH" dirty="0"/>
              <a:t>Digital layout (Canva, PowerPoint, or similar).</a:t>
            </a:r>
          </a:p>
          <a:p>
            <a:pPr lvl="0"/>
            <a:r>
              <a:rPr lang="en-PH" dirty="0"/>
              <a:t>Orientation: Landscape or Portrait.</a:t>
            </a:r>
          </a:p>
          <a:p>
            <a:pPr lvl="0"/>
            <a:r>
              <a:rPr lang="en-PH" dirty="0"/>
              <a:t>Size: A4 or Letter.</a:t>
            </a:r>
          </a:p>
          <a:p>
            <a:pPr lvl="0"/>
            <a:r>
              <a:rPr lang="en-PH" dirty="0"/>
              <a:t>Export format: PNG or PDF.</a:t>
            </a:r>
          </a:p>
          <a:p>
            <a:endParaRPr lang="en-PH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Rubric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301155" y="1681399"/>
          <a:ext cx="9589690" cy="4862040"/>
        </p:xfrm>
        <a:graphic>
          <a:graphicData uri="http://schemas.openxmlformats.org/drawingml/2006/table">
            <a:tbl>
              <a:tblPr/>
              <a:tblGrid>
                <a:gridCol w="1917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7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8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 b="1"/>
                        <a:t>Criteria</a:t>
                      </a:r>
                      <a:endParaRPr lang="en-PH" sz="1600"/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 b="1"/>
                        <a:t>Excellent (10 pts)</a:t>
                      </a:r>
                      <a:endParaRPr lang="en-PH" sz="1600"/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 b="1"/>
                        <a:t>Good (8 pts)</a:t>
                      </a:r>
                      <a:endParaRPr lang="en-PH" sz="1600"/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 b="1"/>
                        <a:t>Fair (6 pts)</a:t>
                      </a:r>
                      <a:endParaRPr lang="en-PH" sz="1600"/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 b="1"/>
                        <a:t>Needs Improvement (4 pts)</a:t>
                      </a:r>
                      <a:endParaRPr lang="en-PH" sz="1600"/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 b="1"/>
                        <a:t>Content Accuracy</a:t>
                      </a:r>
                      <a:endParaRPr lang="en-PH" sz="1600"/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All biome info correct, complete, and relevant.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Minor inaccuracies or missing details.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Several inaccuracies or incomplete data.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Major errors or missing key concepts.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 b="1"/>
                        <a:t>Visual Design</a:t>
                      </a:r>
                      <a:endParaRPr lang="en-PH" sz="1600"/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Creative, balanced, visually appealing layout.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Clear design with minor clutter.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Acceptable design but lacks harmony.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Poor layout or distracting visuals.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 b="1"/>
                        <a:t>Organization &amp; Clarity</a:t>
                      </a:r>
                      <a:endParaRPr lang="en-PH" sz="1600"/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Logical flow; easy to read and understand.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Mostly organized; minor confusion.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Some disorganization or unclear sections.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Hard to follow; lacks structure.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 b="1"/>
                        <a:t>Creativity</a:t>
                      </a:r>
                      <a:endParaRPr lang="en-PH" sz="1600"/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Original, engaging, innovative presentation.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Some creative elements; moderately engaging.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Limited creativity; basic design.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Minimal effort; lacks originality.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 b="1"/>
                        <a:t>Sources &amp; Citations</a:t>
                      </a:r>
                      <a:endParaRPr lang="en-PH" sz="1600"/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All sources properly cited.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Some sources cited.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/>
                        <a:t>Few sources cited.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600" dirty="0"/>
                        <a:t>No citations provided.</a:t>
                      </a:r>
                    </a:p>
                  </a:txBody>
                  <a:tcPr marL="78819" marR="78819" marT="39410" marB="39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26</TotalTime>
  <Words>1109</Words>
  <Application>Microsoft Office PowerPoint</Application>
  <PresentationFormat>Widescreen</PresentationFormat>
  <Paragraphs>174</Paragraphs>
  <Slides>25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Wingdings</vt:lpstr>
      <vt:lpstr>Modulo</vt:lpstr>
      <vt:lpstr>Biomes of the Earth</vt:lpstr>
      <vt:lpstr>Learning Objectives </vt:lpstr>
      <vt:lpstr>Biomes </vt:lpstr>
      <vt:lpstr>Terrestrial Biomes</vt:lpstr>
      <vt:lpstr>Tundra</vt:lpstr>
      <vt:lpstr>Taiga/boreal forest</vt:lpstr>
      <vt:lpstr>Temperate Forest</vt:lpstr>
      <vt:lpstr>Grassland</vt:lpstr>
      <vt:lpstr>Desert</vt:lpstr>
      <vt:lpstr>Tropical Rainforest</vt:lpstr>
      <vt:lpstr>Terrestrial Biomes: Flora &amp; Fauna</vt:lpstr>
      <vt:lpstr>Aquatic Biomes  Freshwater  Marine </vt:lpstr>
      <vt:lpstr>Freshwater</vt:lpstr>
      <vt:lpstr>Freshwater : Flora &amp; Fauna</vt:lpstr>
      <vt:lpstr>PowerPoint Presentation</vt:lpstr>
      <vt:lpstr>Marine</vt:lpstr>
      <vt:lpstr>marine: Flora &amp; Fauna</vt:lpstr>
      <vt:lpstr>PowerPoint Presentation</vt:lpstr>
      <vt:lpstr>Environmental Factors Shaping Biomes</vt:lpstr>
      <vt:lpstr>Summary </vt:lpstr>
      <vt:lpstr>Terrestrial Biomes </vt:lpstr>
      <vt:lpstr>Aquatic biome</vt:lpstr>
      <vt:lpstr>Discussion Question</vt:lpstr>
      <vt:lpstr>assignment</vt:lpstr>
      <vt:lpstr>Rubric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bettinaangel20@outlook.com</dc:creator>
  <cp:lastModifiedBy>bettinaangel20@outlook.com</cp:lastModifiedBy>
  <cp:revision>2</cp:revision>
  <dcterms:created xsi:type="dcterms:W3CDTF">2026-08-16T12:40:00Z</dcterms:created>
  <dcterms:modified xsi:type="dcterms:W3CDTF">2026-08-17T06:39:20Z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5124A36D1F964384AE8D9C09B07AAC94_12</vt:lpwstr>
  </property>
  <property fmtid="{D5CDD505-2E9C-101B-9397-08002B2CF9AE}" pid="3" name="KSOProductBuildVer">
    <vt:lpwstr>1033-12.1.0.28032</vt:lpwstr>
  </property>
</Properties>
</file>