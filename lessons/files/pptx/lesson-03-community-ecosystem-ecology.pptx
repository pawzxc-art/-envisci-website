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80" r:id="rId5"/>
    <p:sldId id="292" r:id="rId6"/>
    <p:sldId id="293" r:id="rId7"/>
    <p:sldId id="309" r:id="rId8"/>
    <p:sldId id="262" r:id="rId9"/>
    <p:sldId id="311" r:id="rId10"/>
    <p:sldId id="312" r:id="rId11"/>
    <p:sldId id="310" r:id="rId12"/>
    <p:sldId id="296" r:id="rId13"/>
    <p:sldId id="319" r:id="rId14"/>
    <p:sldId id="320" r:id="rId15"/>
    <p:sldId id="263" r:id="rId16"/>
    <p:sldId id="321" r:id="rId17"/>
    <p:sldId id="322" r:id="rId18"/>
    <p:sldId id="346" r:id="rId19"/>
    <p:sldId id="347" r:id="rId20"/>
    <p:sldId id="317" r:id="rId21"/>
    <p:sldId id="275" r:id="rId22"/>
    <p:sldId id="266" r:id="rId23"/>
    <p:sldId id="323" r:id="rId24"/>
    <p:sldId id="306" r:id="rId25"/>
    <p:sldId id="324" r:id="rId26"/>
    <p:sldId id="307" r:id="rId27"/>
    <p:sldId id="325" r:id="rId28"/>
    <p:sldId id="327" r:id="rId29"/>
    <p:sldId id="284" r:id="rId30"/>
    <p:sldId id="288" r:id="rId31"/>
    <p:sldId id="265" r:id="rId32"/>
    <p:sldId id="286" r:id="rId33"/>
    <p:sldId id="287" r:id="rId34"/>
    <p:sldId id="329" r:id="rId35"/>
    <p:sldId id="308" r:id="rId36"/>
    <p:sldId id="330" r:id="rId37"/>
    <p:sldId id="289" r:id="rId38"/>
    <p:sldId id="333" r:id="rId39"/>
    <p:sldId id="334" r:id="rId40"/>
    <p:sldId id="328" r:id="rId41"/>
    <p:sldId id="341" r:id="rId42"/>
    <p:sldId id="264" r:id="rId43"/>
    <p:sldId id="271" r:id="rId44"/>
    <p:sldId id="335" r:id="rId45"/>
    <p:sldId id="336" r:id="rId46"/>
    <p:sldId id="342" r:id="rId47"/>
    <p:sldId id="343" r:id="rId48"/>
    <p:sldId id="272" r:id="rId49"/>
    <p:sldId id="338" r:id="rId50"/>
    <p:sldId id="273" r:id="rId51"/>
    <p:sldId id="344" r:id="rId52"/>
    <p:sldId id="345" r:id="rId53"/>
    <p:sldId id="29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66AD9C-27D7-418B-BA41-3F6FD7B7682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8D0277-27FA-43E8-9116-D1851D3B3FA3}">
      <dgm:prSet/>
      <dgm:spPr/>
      <dgm:t>
        <a:bodyPr/>
        <a:lstStyle/>
        <a:p>
          <a:r>
            <a:rPr lang="en-PH" b="1"/>
            <a:t>Community Ecology </a:t>
          </a:r>
          <a:endParaRPr lang="en-US"/>
        </a:p>
      </dgm:t>
    </dgm:pt>
    <dgm:pt modelId="{5D82D40C-7295-4587-B6F9-D915B1A54D06}" type="parTrans" cxnId="{6C08EB03-8220-47D5-ACF9-C7B57BABC313}">
      <dgm:prSet/>
      <dgm:spPr/>
      <dgm:t>
        <a:bodyPr/>
        <a:lstStyle/>
        <a:p>
          <a:endParaRPr lang="en-US"/>
        </a:p>
      </dgm:t>
    </dgm:pt>
    <dgm:pt modelId="{EAC35D64-A52C-41CB-81B5-78A152A4DFCD}" type="sibTrans" cxnId="{6C08EB03-8220-47D5-ACF9-C7B57BABC313}">
      <dgm:prSet/>
      <dgm:spPr/>
      <dgm:t>
        <a:bodyPr/>
        <a:lstStyle/>
        <a:p>
          <a:endParaRPr lang="en-US"/>
        </a:p>
      </dgm:t>
    </dgm:pt>
    <dgm:pt modelId="{379C8A7A-3473-426B-92A7-ECC2CC94406E}">
      <dgm:prSet/>
      <dgm:spPr/>
      <dgm:t>
        <a:bodyPr/>
        <a:lstStyle/>
        <a:p>
          <a:r>
            <a:rPr lang="en-PH"/>
            <a:t>Community Structures</a:t>
          </a:r>
          <a:endParaRPr lang="en-US"/>
        </a:p>
      </dgm:t>
    </dgm:pt>
    <dgm:pt modelId="{B44CC8B7-826E-4B72-943A-E7CE94BEE1E6}" type="parTrans" cxnId="{98B97B2D-9236-4247-9CAF-9134F8F87261}">
      <dgm:prSet/>
      <dgm:spPr/>
      <dgm:t>
        <a:bodyPr/>
        <a:lstStyle/>
        <a:p>
          <a:endParaRPr lang="en-US"/>
        </a:p>
      </dgm:t>
    </dgm:pt>
    <dgm:pt modelId="{1980A72C-D11B-4D16-8EE1-45BD01F728B3}" type="sibTrans" cxnId="{98B97B2D-9236-4247-9CAF-9134F8F87261}">
      <dgm:prSet/>
      <dgm:spPr/>
      <dgm:t>
        <a:bodyPr/>
        <a:lstStyle/>
        <a:p>
          <a:endParaRPr lang="en-US"/>
        </a:p>
      </dgm:t>
    </dgm:pt>
    <dgm:pt modelId="{F1C32ADD-CBFB-4F4B-9DB4-28451A5E4E36}">
      <dgm:prSet/>
      <dgm:spPr/>
      <dgm:t>
        <a:bodyPr/>
        <a:lstStyle/>
        <a:p>
          <a:r>
            <a:rPr lang="en-PH"/>
            <a:t>Community Dynamics</a:t>
          </a:r>
          <a:endParaRPr lang="en-US"/>
        </a:p>
      </dgm:t>
    </dgm:pt>
    <dgm:pt modelId="{0A0AB08D-9BA1-485A-9245-023457AB796F}" type="parTrans" cxnId="{943A7F04-A65C-40C0-971E-D0E8143B9E53}">
      <dgm:prSet/>
      <dgm:spPr/>
      <dgm:t>
        <a:bodyPr/>
        <a:lstStyle/>
        <a:p>
          <a:endParaRPr lang="en-US"/>
        </a:p>
      </dgm:t>
    </dgm:pt>
    <dgm:pt modelId="{E05A6E3C-281D-4E69-968B-E8006841AC3C}" type="sibTrans" cxnId="{943A7F04-A65C-40C0-971E-D0E8143B9E53}">
      <dgm:prSet/>
      <dgm:spPr/>
      <dgm:t>
        <a:bodyPr/>
        <a:lstStyle/>
        <a:p>
          <a:endParaRPr lang="en-US"/>
        </a:p>
      </dgm:t>
    </dgm:pt>
    <dgm:pt modelId="{70C3B0FC-F544-4646-9784-B3217D102F91}">
      <dgm:prSet/>
      <dgm:spPr/>
      <dgm:t>
        <a:bodyPr/>
        <a:lstStyle/>
        <a:p>
          <a:r>
            <a:rPr lang="en-PH"/>
            <a:t>Species Interaction</a:t>
          </a:r>
          <a:endParaRPr lang="en-US"/>
        </a:p>
      </dgm:t>
    </dgm:pt>
    <dgm:pt modelId="{FD332D21-DDD6-4737-BF76-D904BC8ED780}" type="parTrans" cxnId="{9C89ECC2-F5E8-4745-B2F8-DB97864B4B0F}">
      <dgm:prSet/>
      <dgm:spPr/>
      <dgm:t>
        <a:bodyPr/>
        <a:lstStyle/>
        <a:p>
          <a:endParaRPr lang="en-US"/>
        </a:p>
      </dgm:t>
    </dgm:pt>
    <dgm:pt modelId="{5407AD86-FF03-4272-908C-B743E022495F}" type="sibTrans" cxnId="{9C89ECC2-F5E8-4745-B2F8-DB97864B4B0F}">
      <dgm:prSet/>
      <dgm:spPr/>
      <dgm:t>
        <a:bodyPr/>
        <a:lstStyle/>
        <a:p>
          <a:endParaRPr lang="en-US"/>
        </a:p>
      </dgm:t>
    </dgm:pt>
    <dgm:pt modelId="{31D741C3-1D2E-4EDE-9E15-8FC46E3D01EB}">
      <dgm:prSet/>
      <dgm:spPr/>
      <dgm:t>
        <a:bodyPr/>
        <a:lstStyle/>
        <a:p>
          <a:r>
            <a:rPr lang="en-PH" b="1"/>
            <a:t>Ecosystem Ecology</a:t>
          </a:r>
          <a:endParaRPr lang="en-US"/>
        </a:p>
      </dgm:t>
    </dgm:pt>
    <dgm:pt modelId="{D936B29F-8C60-468C-8421-19DCD16634F1}" type="parTrans" cxnId="{67A02F4E-6CCB-4492-99B8-38B20111C726}">
      <dgm:prSet/>
      <dgm:spPr/>
      <dgm:t>
        <a:bodyPr/>
        <a:lstStyle/>
        <a:p>
          <a:endParaRPr lang="en-US"/>
        </a:p>
      </dgm:t>
    </dgm:pt>
    <dgm:pt modelId="{0F9DED4F-1196-46C6-BCC7-0D8366B01876}" type="sibTrans" cxnId="{67A02F4E-6CCB-4492-99B8-38B20111C726}">
      <dgm:prSet/>
      <dgm:spPr/>
      <dgm:t>
        <a:bodyPr/>
        <a:lstStyle/>
        <a:p>
          <a:endParaRPr lang="en-US"/>
        </a:p>
      </dgm:t>
    </dgm:pt>
    <dgm:pt modelId="{FEEF0AB2-8FEA-44E9-9D42-9781A3BCB75D}">
      <dgm:prSet/>
      <dgm:spPr/>
      <dgm:t>
        <a:bodyPr/>
        <a:lstStyle/>
        <a:p>
          <a:r>
            <a:rPr lang="en-PH"/>
            <a:t>Energy Flow Through Ecosystems</a:t>
          </a:r>
          <a:endParaRPr lang="en-US"/>
        </a:p>
      </dgm:t>
    </dgm:pt>
    <dgm:pt modelId="{AE162B2F-95F0-4A8A-AB39-D03A0C0EFD13}" type="parTrans" cxnId="{4DD7E8A8-63C7-4175-8C73-74640626F515}">
      <dgm:prSet/>
      <dgm:spPr/>
      <dgm:t>
        <a:bodyPr/>
        <a:lstStyle/>
        <a:p>
          <a:endParaRPr lang="en-US"/>
        </a:p>
      </dgm:t>
    </dgm:pt>
    <dgm:pt modelId="{A4FF8A12-E901-4F7A-92F9-3C303D2A0B2C}" type="sibTrans" cxnId="{4DD7E8A8-63C7-4175-8C73-74640626F515}">
      <dgm:prSet/>
      <dgm:spPr/>
      <dgm:t>
        <a:bodyPr/>
        <a:lstStyle/>
        <a:p>
          <a:endParaRPr lang="en-US"/>
        </a:p>
      </dgm:t>
    </dgm:pt>
    <dgm:pt modelId="{444E662A-87A2-4229-BF5A-76A90C2437A4}" type="pres">
      <dgm:prSet presAssocID="{2366AD9C-27D7-418B-BA41-3F6FD7B76821}" presName="linear" presStyleCnt="0">
        <dgm:presLayoutVars>
          <dgm:animLvl val="lvl"/>
          <dgm:resizeHandles val="exact"/>
        </dgm:presLayoutVars>
      </dgm:prSet>
      <dgm:spPr/>
    </dgm:pt>
    <dgm:pt modelId="{FD4497C5-8BC6-4F42-9CC8-C8DFB80F5C62}" type="pres">
      <dgm:prSet presAssocID="{338D0277-27FA-43E8-9116-D1851D3B3F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39B6025-5419-44C9-840A-8FA1703A3EB8}" type="pres">
      <dgm:prSet presAssocID="{338D0277-27FA-43E8-9116-D1851D3B3FA3}" presName="childText" presStyleLbl="revTx" presStyleIdx="0" presStyleCnt="2">
        <dgm:presLayoutVars>
          <dgm:bulletEnabled val="1"/>
        </dgm:presLayoutVars>
      </dgm:prSet>
      <dgm:spPr/>
    </dgm:pt>
    <dgm:pt modelId="{A3E46AB1-1200-408F-9D5F-6B2EE3FD4120}" type="pres">
      <dgm:prSet presAssocID="{31D741C3-1D2E-4EDE-9E15-8FC46E3D01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03A8723-B3AF-4AF6-9660-D351DBC02845}" type="pres">
      <dgm:prSet presAssocID="{31D741C3-1D2E-4EDE-9E15-8FC46E3D01E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C08EB03-8220-47D5-ACF9-C7B57BABC313}" srcId="{2366AD9C-27D7-418B-BA41-3F6FD7B76821}" destId="{338D0277-27FA-43E8-9116-D1851D3B3FA3}" srcOrd="0" destOrd="0" parTransId="{5D82D40C-7295-4587-B6F9-D915B1A54D06}" sibTransId="{EAC35D64-A52C-41CB-81B5-78A152A4DFCD}"/>
    <dgm:cxn modelId="{943A7F04-A65C-40C0-971E-D0E8143B9E53}" srcId="{338D0277-27FA-43E8-9116-D1851D3B3FA3}" destId="{F1C32ADD-CBFB-4F4B-9DB4-28451A5E4E36}" srcOrd="1" destOrd="0" parTransId="{0A0AB08D-9BA1-485A-9245-023457AB796F}" sibTransId="{E05A6E3C-281D-4E69-968B-E8006841AC3C}"/>
    <dgm:cxn modelId="{E3C75512-2BDB-4448-93A3-2AD4F871B04A}" type="presOf" srcId="{379C8A7A-3473-426B-92A7-ECC2CC94406E}" destId="{B39B6025-5419-44C9-840A-8FA1703A3EB8}" srcOrd="0" destOrd="0" presId="urn:microsoft.com/office/officeart/2005/8/layout/vList2"/>
    <dgm:cxn modelId="{98B97B2D-9236-4247-9CAF-9134F8F87261}" srcId="{338D0277-27FA-43E8-9116-D1851D3B3FA3}" destId="{379C8A7A-3473-426B-92A7-ECC2CC94406E}" srcOrd="0" destOrd="0" parTransId="{B44CC8B7-826E-4B72-943A-E7CE94BEE1E6}" sibTransId="{1980A72C-D11B-4D16-8EE1-45BD01F728B3}"/>
    <dgm:cxn modelId="{4CBDC26A-6832-4E57-93BD-1236360F0508}" type="presOf" srcId="{31D741C3-1D2E-4EDE-9E15-8FC46E3D01EB}" destId="{A3E46AB1-1200-408F-9D5F-6B2EE3FD4120}" srcOrd="0" destOrd="0" presId="urn:microsoft.com/office/officeart/2005/8/layout/vList2"/>
    <dgm:cxn modelId="{DE31E64C-CD8F-4652-8163-80CC09ACF271}" type="presOf" srcId="{FEEF0AB2-8FEA-44E9-9D42-9781A3BCB75D}" destId="{503A8723-B3AF-4AF6-9660-D351DBC02845}" srcOrd="0" destOrd="0" presId="urn:microsoft.com/office/officeart/2005/8/layout/vList2"/>
    <dgm:cxn modelId="{67A02F4E-6CCB-4492-99B8-38B20111C726}" srcId="{2366AD9C-27D7-418B-BA41-3F6FD7B76821}" destId="{31D741C3-1D2E-4EDE-9E15-8FC46E3D01EB}" srcOrd="1" destOrd="0" parTransId="{D936B29F-8C60-468C-8421-19DCD16634F1}" sibTransId="{0F9DED4F-1196-46C6-BCC7-0D8366B01876}"/>
    <dgm:cxn modelId="{381EE38F-E9B6-4D50-B7CA-74C97E6FD855}" type="presOf" srcId="{2366AD9C-27D7-418B-BA41-3F6FD7B76821}" destId="{444E662A-87A2-4229-BF5A-76A90C2437A4}" srcOrd="0" destOrd="0" presId="urn:microsoft.com/office/officeart/2005/8/layout/vList2"/>
    <dgm:cxn modelId="{4DD7E8A8-63C7-4175-8C73-74640626F515}" srcId="{31D741C3-1D2E-4EDE-9E15-8FC46E3D01EB}" destId="{FEEF0AB2-8FEA-44E9-9D42-9781A3BCB75D}" srcOrd="0" destOrd="0" parTransId="{AE162B2F-95F0-4A8A-AB39-D03A0C0EFD13}" sibTransId="{A4FF8A12-E901-4F7A-92F9-3C303D2A0B2C}"/>
    <dgm:cxn modelId="{9C89ECC2-F5E8-4745-B2F8-DB97864B4B0F}" srcId="{338D0277-27FA-43E8-9116-D1851D3B3FA3}" destId="{70C3B0FC-F544-4646-9784-B3217D102F91}" srcOrd="2" destOrd="0" parTransId="{FD332D21-DDD6-4737-BF76-D904BC8ED780}" sibTransId="{5407AD86-FF03-4272-908C-B743E022495F}"/>
    <dgm:cxn modelId="{2A7EDAC6-D526-4B42-B662-A6B3FD128918}" type="presOf" srcId="{F1C32ADD-CBFB-4F4B-9DB4-28451A5E4E36}" destId="{B39B6025-5419-44C9-840A-8FA1703A3EB8}" srcOrd="0" destOrd="1" presId="urn:microsoft.com/office/officeart/2005/8/layout/vList2"/>
    <dgm:cxn modelId="{0CE856C7-5D35-4B84-BD6C-808636F1A272}" type="presOf" srcId="{70C3B0FC-F544-4646-9784-B3217D102F91}" destId="{B39B6025-5419-44C9-840A-8FA1703A3EB8}" srcOrd="0" destOrd="2" presId="urn:microsoft.com/office/officeart/2005/8/layout/vList2"/>
    <dgm:cxn modelId="{9CCC4EDB-8E46-4ADB-B3CD-9A052BA475DF}" type="presOf" srcId="{338D0277-27FA-43E8-9116-D1851D3B3FA3}" destId="{FD4497C5-8BC6-4F42-9CC8-C8DFB80F5C62}" srcOrd="0" destOrd="0" presId="urn:microsoft.com/office/officeart/2005/8/layout/vList2"/>
    <dgm:cxn modelId="{B83B165F-756A-4E49-A3F5-F1B67CB354F9}" type="presParOf" srcId="{444E662A-87A2-4229-BF5A-76A90C2437A4}" destId="{FD4497C5-8BC6-4F42-9CC8-C8DFB80F5C62}" srcOrd="0" destOrd="0" presId="urn:microsoft.com/office/officeart/2005/8/layout/vList2"/>
    <dgm:cxn modelId="{7F857362-D2A3-4183-A0B2-7F528942A854}" type="presParOf" srcId="{444E662A-87A2-4229-BF5A-76A90C2437A4}" destId="{B39B6025-5419-44C9-840A-8FA1703A3EB8}" srcOrd="1" destOrd="0" presId="urn:microsoft.com/office/officeart/2005/8/layout/vList2"/>
    <dgm:cxn modelId="{DFA026BF-D42C-48CC-A186-9DC1BFC0190C}" type="presParOf" srcId="{444E662A-87A2-4229-BF5A-76A90C2437A4}" destId="{A3E46AB1-1200-408F-9D5F-6B2EE3FD4120}" srcOrd="2" destOrd="0" presId="urn:microsoft.com/office/officeart/2005/8/layout/vList2"/>
    <dgm:cxn modelId="{7E657490-60F0-47A0-B21B-19408293893D}" type="presParOf" srcId="{444E662A-87A2-4229-BF5A-76A90C2437A4}" destId="{503A8723-B3AF-4AF6-9660-D351DBC0284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28E005-3240-430C-8719-3EB739C6E208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0C9FA3E-1FC2-475A-B32B-8BE6D51A74F5}">
      <dgm:prSet/>
      <dgm:spPr/>
      <dgm:t>
        <a:bodyPr/>
        <a:lstStyle/>
        <a:p>
          <a:r>
            <a:rPr lang="en-US" b="1"/>
            <a:t>A. Competition</a:t>
          </a:r>
          <a:endParaRPr lang="en-US"/>
        </a:p>
      </dgm:t>
    </dgm:pt>
    <dgm:pt modelId="{42903080-7D8E-4FAA-A396-51BA9520DA54}" type="parTrans" cxnId="{93D535FD-830D-4AB9-9E6B-5D4040D97E14}">
      <dgm:prSet/>
      <dgm:spPr/>
      <dgm:t>
        <a:bodyPr/>
        <a:lstStyle/>
        <a:p>
          <a:endParaRPr lang="en-US"/>
        </a:p>
      </dgm:t>
    </dgm:pt>
    <dgm:pt modelId="{F7A1707E-7D6C-4856-BCB8-983E64D5AA07}" type="sibTrans" cxnId="{93D535FD-830D-4AB9-9E6B-5D4040D97E14}">
      <dgm:prSet/>
      <dgm:spPr/>
      <dgm:t>
        <a:bodyPr/>
        <a:lstStyle/>
        <a:p>
          <a:endParaRPr lang="en-US"/>
        </a:p>
      </dgm:t>
    </dgm:pt>
    <dgm:pt modelId="{BA0C06E2-466F-4322-9EEC-A093698D4B10}">
      <dgm:prSet/>
      <dgm:spPr/>
      <dgm:t>
        <a:bodyPr/>
        <a:lstStyle/>
        <a:p>
          <a:r>
            <a:rPr lang="en-US" b="1"/>
            <a:t>Intraspecific competition</a:t>
          </a:r>
          <a:endParaRPr lang="en-US"/>
        </a:p>
      </dgm:t>
    </dgm:pt>
    <dgm:pt modelId="{1853903C-B80E-4335-ABF4-E36B60275DCB}" type="parTrans" cxnId="{AE679715-EB35-4303-9B08-BA7D6011618F}">
      <dgm:prSet/>
      <dgm:spPr/>
      <dgm:t>
        <a:bodyPr/>
        <a:lstStyle/>
        <a:p>
          <a:endParaRPr lang="en-US"/>
        </a:p>
      </dgm:t>
    </dgm:pt>
    <dgm:pt modelId="{F946C3FE-6FE1-495D-957D-760957CFCBD5}" type="sibTrans" cxnId="{AE679715-EB35-4303-9B08-BA7D6011618F}">
      <dgm:prSet/>
      <dgm:spPr/>
      <dgm:t>
        <a:bodyPr/>
        <a:lstStyle/>
        <a:p>
          <a:endParaRPr lang="en-US"/>
        </a:p>
      </dgm:t>
    </dgm:pt>
    <dgm:pt modelId="{C5C7C5D9-2596-4271-8B34-B537B2AD9438}">
      <dgm:prSet/>
      <dgm:spPr/>
      <dgm:t>
        <a:bodyPr/>
        <a:lstStyle/>
        <a:p>
          <a:r>
            <a:rPr lang="en-US" b="1"/>
            <a:t>Interspecific competition</a:t>
          </a:r>
          <a:r>
            <a:rPr lang="en-US"/>
            <a:t> </a:t>
          </a:r>
        </a:p>
      </dgm:t>
    </dgm:pt>
    <dgm:pt modelId="{85F51437-B7BD-4408-8FA0-1A20BA54B6DD}" type="parTrans" cxnId="{65CB670B-C58C-4D9A-8E6A-13960586FDFC}">
      <dgm:prSet/>
      <dgm:spPr/>
      <dgm:t>
        <a:bodyPr/>
        <a:lstStyle/>
        <a:p>
          <a:endParaRPr lang="en-US"/>
        </a:p>
      </dgm:t>
    </dgm:pt>
    <dgm:pt modelId="{404BF462-1B41-474A-9398-2A88B034AA93}" type="sibTrans" cxnId="{65CB670B-C58C-4D9A-8E6A-13960586FDFC}">
      <dgm:prSet/>
      <dgm:spPr/>
      <dgm:t>
        <a:bodyPr/>
        <a:lstStyle/>
        <a:p>
          <a:endParaRPr lang="en-US"/>
        </a:p>
      </dgm:t>
    </dgm:pt>
    <dgm:pt modelId="{D9E0FEDB-A6A8-4807-BB1E-061309DE7572}">
      <dgm:prSet/>
      <dgm:spPr/>
      <dgm:t>
        <a:bodyPr/>
        <a:lstStyle/>
        <a:p>
          <a:r>
            <a:rPr lang="en-US" b="1" dirty="0"/>
            <a:t>B. Predation</a:t>
          </a:r>
          <a:endParaRPr lang="en-US" dirty="0"/>
        </a:p>
      </dgm:t>
    </dgm:pt>
    <dgm:pt modelId="{76308992-2A22-4F88-A34E-87A12A4C08C3}" type="parTrans" cxnId="{D39A1DC7-B896-4761-A612-6ACCCFF61E33}">
      <dgm:prSet/>
      <dgm:spPr/>
      <dgm:t>
        <a:bodyPr/>
        <a:lstStyle/>
        <a:p>
          <a:endParaRPr lang="en-US"/>
        </a:p>
      </dgm:t>
    </dgm:pt>
    <dgm:pt modelId="{5EDF2EB2-4D19-42E1-9229-AB0444CFA427}" type="sibTrans" cxnId="{D39A1DC7-B896-4761-A612-6ACCCFF61E33}">
      <dgm:prSet/>
      <dgm:spPr/>
      <dgm:t>
        <a:bodyPr/>
        <a:lstStyle/>
        <a:p>
          <a:endParaRPr lang="en-US"/>
        </a:p>
      </dgm:t>
    </dgm:pt>
    <dgm:pt modelId="{4D9AFFB9-058F-4FD8-9370-C0E867A9AB7F}">
      <dgm:prSet/>
      <dgm:spPr/>
      <dgm:t>
        <a:bodyPr/>
        <a:lstStyle/>
        <a:p>
          <a:r>
            <a:rPr lang="en-US" b="1" dirty="0"/>
            <a:t>C. Symbiosis (Closed Relationship)</a:t>
          </a:r>
          <a:endParaRPr lang="en-US" dirty="0"/>
        </a:p>
      </dgm:t>
    </dgm:pt>
    <dgm:pt modelId="{E57151DB-FE55-45D2-B2F0-487311CBB9FE}" type="parTrans" cxnId="{5FB1440A-0D8E-4018-83E8-2A43F198A86E}">
      <dgm:prSet/>
      <dgm:spPr/>
      <dgm:t>
        <a:bodyPr/>
        <a:lstStyle/>
        <a:p>
          <a:endParaRPr lang="en-US"/>
        </a:p>
      </dgm:t>
    </dgm:pt>
    <dgm:pt modelId="{96BF44E4-ECDE-42BB-9F98-14E4EA31A82C}" type="sibTrans" cxnId="{5FB1440A-0D8E-4018-83E8-2A43F198A86E}">
      <dgm:prSet/>
      <dgm:spPr/>
      <dgm:t>
        <a:bodyPr/>
        <a:lstStyle/>
        <a:p>
          <a:endParaRPr lang="en-US"/>
        </a:p>
      </dgm:t>
    </dgm:pt>
    <dgm:pt modelId="{428773D0-102F-4F4E-9C17-78338199F5A7}">
      <dgm:prSet/>
      <dgm:spPr/>
      <dgm:t>
        <a:bodyPr/>
        <a:lstStyle/>
        <a:p>
          <a:r>
            <a:rPr lang="en-US" b="1"/>
            <a:t>Mutualism</a:t>
          </a:r>
          <a:endParaRPr lang="en-US"/>
        </a:p>
      </dgm:t>
    </dgm:pt>
    <dgm:pt modelId="{7798A5BF-9196-420D-BE63-CAA5B7880C93}" type="parTrans" cxnId="{45EDEDC9-BE4C-4781-8891-B536C56ED93D}">
      <dgm:prSet/>
      <dgm:spPr/>
      <dgm:t>
        <a:bodyPr/>
        <a:lstStyle/>
        <a:p>
          <a:endParaRPr lang="en-US"/>
        </a:p>
      </dgm:t>
    </dgm:pt>
    <dgm:pt modelId="{51379406-5F1E-4FA1-AB8B-A787A413D95C}" type="sibTrans" cxnId="{45EDEDC9-BE4C-4781-8891-B536C56ED93D}">
      <dgm:prSet/>
      <dgm:spPr/>
      <dgm:t>
        <a:bodyPr/>
        <a:lstStyle/>
        <a:p>
          <a:endParaRPr lang="en-US"/>
        </a:p>
      </dgm:t>
    </dgm:pt>
    <dgm:pt modelId="{3B47B872-E0AD-4141-8209-963FFAE1755D}">
      <dgm:prSet/>
      <dgm:spPr/>
      <dgm:t>
        <a:bodyPr/>
        <a:lstStyle/>
        <a:p>
          <a:r>
            <a:rPr lang="en-US" b="1"/>
            <a:t>Commensalism</a:t>
          </a:r>
          <a:endParaRPr lang="en-US"/>
        </a:p>
      </dgm:t>
    </dgm:pt>
    <dgm:pt modelId="{AAF757B0-32CC-405F-94B9-0CF75849230C}" type="parTrans" cxnId="{59EE0186-0B9C-4ADD-B2C0-63D06D8AE492}">
      <dgm:prSet/>
      <dgm:spPr/>
      <dgm:t>
        <a:bodyPr/>
        <a:lstStyle/>
        <a:p>
          <a:endParaRPr lang="en-US"/>
        </a:p>
      </dgm:t>
    </dgm:pt>
    <dgm:pt modelId="{125CEE66-296B-4FBD-9402-DC8C352D3100}" type="sibTrans" cxnId="{59EE0186-0B9C-4ADD-B2C0-63D06D8AE492}">
      <dgm:prSet/>
      <dgm:spPr/>
      <dgm:t>
        <a:bodyPr/>
        <a:lstStyle/>
        <a:p>
          <a:endParaRPr lang="en-US"/>
        </a:p>
      </dgm:t>
    </dgm:pt>
    <dgm:pt modelId="{FB9CB2D9-ED1C-4234-AEA6-56FF932E37D2}">
      <dgm:prSet/>
      <dgm:spPr/>
      <dgm:t>
        <a:bodyPr/>
        <a:lstStyle/>
        <a:p>
          <a:r>
            <a:rPr lang="en-US" b="1"/>
            <a:t>Parasitism</a:t>
          </a:r>
          <a:endParaRPr lang="en-US"/>
        </a:p>
      </dgm:t>
    </dgm:pt>
    <dgm:pt modelId="{A545656F-7BE5-44A5-AB67-E252AEE1AC9A}" type="parTrans" cxnId="{B159E31B-6150-49A7-B1B6-624619108E7A}">
      <dgm:prSet/>
      <dgm:spPr/>
      <dgm:t>
        <a:bodyPr/>
        <a:lstStyle/>
        <a:p>
          <a:endParaRPr lang="en-US"/>
        </a:p>
      </dgm:t>
    </dgm:pt>
    <dgm:pt modelId="{4EAD6C89-EFB0-4CFC-975A-A70852ADD9D7}" type="sibTrans" cxnId="{B159E31B-6150-49A7-B1B6-624619108E7A}">
      <dgm:prSet/>
      <dgm:spPr/>
      <dgm:t>
        <a:bodyPr/>
        <a:lstStyle/>
        <a:p>
          <a:endParaRPr lang="en-US"/>
        </a:p>
      </dgm:t>
    </dgm:pt>
    <dgm:pt modelId="{B3B30624-E3C7-4DDE-9321-6610953F3514}">
      <dgm:prSet phldrT="[Text]" phldr="0"/>
      <dgm:spPr/>
      <dgm:t>
        <a:bodyPr/>
        <a:lstStyle/>
        <a:p>
          <a:r>
            <a:rPr lang="en-US" b="1" dirty="0"/>
            <a:t>C. Herbivory</a:t>
          </a:r>
        </a:p>
      </dgm:t>
    </dgm:pt>
    <dgm:pt modelId="{C738D989-9F2D-47D3-8420-53E8107CA368}" type="parTrans" cxnId="{834BC4D0-E7CA-4312-A97E-A10103CD8397}">
      <dgm:prSet/>
      <dgm:spPr/>
      <dgm:t>
        <a:bodyPr/>
        <a:lstStyle/>
        <a:p>
          <a:endParaRPr lang="en-US"/>
        </a:p>
      </dgm:t>
    </dgm:pt>
    <dgm:pt modelId="{5DCBD0A4-4594-41A7-8D37-DAAFF447A76C}" type="sibTrans" cxnId="{834BC4D0-E7CA-4312-A97E-A10103CD8397}">
      <dgm:prSet/>
      <dgm:spPr/>
      <dgm:t>
        <a:bodyPr/>
        <a:lstStyle/>
        <a:p>
          <a:endParaRPr lang="en-US"/>
        </a:p>
      </dgm:t>
    </dgm:pt>
    <dgm:pt modelId="{F56946A9-5885-443C-8681-563F941D13F3}" type="pres">
      <dgm:prSet presAssocID="{E328E005-3240-430C-8719-3EB739C6E208}" presName="linear" presStyleCnt="0">
        <dgm:presLayoutVars>
          <dgm:dir/>
          <dgm:animLvl val="lvl"/>
          <dgm:resizeHandles val="exact"/>
        </dgm:presLayoutVars>
      </dgm:prSet>
      <dgm:spPr/>
    </dgm:pt>
    <dgm:pt modelId="{AFFDF08F-55A9-41A6-AECF-75A285E991A8}" type="pres">
      <dgm:prSet presAssocID="{80C9FA3E-1FC2-475A-B32B-8BE6D51A74F5}" presName="parentLin" presStyleCnt="0"/>
      <dgm:spPr/>
    </dgm:pt>
    <dgm:pt modelId="{78DA63A5-BE34-430B-A87B-3806A4E77854}" type="pres">
      <dgm:prSet presAssocID="{80C9FA3E-1FC2-475A-B32B-8BE6D51A74F5}" presName="parentLeftMargin" presStyleLbl="node1" presStyleIdx="0" presStyleCnt="4"/>
      <dgm:spPr/>
    </dgm:pt>
    <dgm:pt modelId="{8875E55E-A2B5-42E6-9F7D-569BB56D3DBF}" type="pres">
      <dgm:prSet presAssocID="{80C9FA3E-1FC2-475A-B32B-8BE6D51A74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C6D260-B5C3-4F76-B7B7-F63C31959F46}" type="pres">
      <dgm:prSet presAssocID="{80C9FA3E-1FC2-475A-B32B-8BE6D51A74F5}" presName="negativeSpace" presStyleCnt="0"/>
      <dgm:spPr/>
    </dgm:pt>
    <dgm:pt modelId="{5546FED0-FB7E-42EE-9919-DA2D6E2BA748}" type="pres">
      <dgm:prSet presAssocID="{80C9FA3E-1FC2-475A-B32B-8BE6D51A74F5}" presName="childText" presStyleLbl="conFgAcc1" presStyleIdx="0" presStyleCnt="4">
        <dgm:presLayoutVars>
          <dgm:bulletEnabled val="1"/>
        </dgm:presLayoutVars>
      </dgm:prSet>
      <dgm:spPr/>
    </dgm:pt>
    <dgm:pt modelId="{A2A44A6D-53A7-46EF-836C-4AA05AFE30A5}" type="pres">
      <dgm:prSet presAssocID="{F7A1707E-7D6C-4856-BCB8-983E64D5AA07}" presName="spaceBetweenRectangles" presStyleCnt="0"/>
      <dgm:spPr/>
    </dgm:pt>
    <dgm:pt modelId="{8146323E-3DE1-4017-8EB7-9BA6232252B5}" type="pres">
      <dgm:prSet presAssocID="{D9E0FEDB-A6A8-4807-BB1E-061309DE7572}" presName="parentLin" presStyleCnt="0"/>
      <dgm:spPr/>
    </dgm:pt>
    <dgm:pt modelId="{05C7CD39-B8AA-4C67-B3AF-05C9A6B3CE14}" type="pres">
      <dgm:prSet presAssocID="{D9E0FEDB-A6A8-4807-BB1E-061309DE7572}" presName="parentLeftMargin" presStyleLbl="node1" presStyleIdx="0" presStyleCnt="4"/>
      <dgm:spPr/>
    </dgm:pt>
    <dgm:pt modelId="{72E16209-87B0-4D0E-9D3D-9D714BCE9227}" type="pres">
      <dgm:prSet presAssocID="{D9E0FEDB-A6A8-4807-BB1E-061309DE75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3C3F0F-A0E4-4547-88D5-118AA1D06481}" type="pres">
      <dgm:prSet presAssocID="{D9E0FEDB-A6A8-4807-BB1E-061309DE7572}" presName="negativeSpace" presStyleCnt="0"/>
      <dgm:spPr/>
    </dgm:pt>
    <dgm:pt modelId="{3E63142D-4F02-47A5-BD6F-BAE02E39C012}" type="pres">
      <dgm:prSet presAssocID="{D9E0FEDB-A6A8-4807-BB1E-061309DE7572}" presName="childText" presStyleLbl="conFgAcc1" presStyleIdx="1" presStyleCnt="4">
        <dgm:presLayoutVars>
          <dgm:bulletEnabled val="1"/>
        </dgm:presLayoutVars>
      </dgm:prSet>
      <dgm:spPr/>
    </dgm:pt>
    <dgm:pt modelId="{93C5FB7F-640C-4BC0-A181-06B6843A9318}" type="pres">
      <dgm:prSet presAssocID="{5EDF2EB2-4D19-42E1-9229-AB0444CFA427}" presName="spaceBetweenRectangles" presStyleCnt="0"/>
      <dgm:spPr/>
    </dgm:pt>
    <dgm:pt modelId="{C16F5723-7E40-4352-9844-589070E39DCA}" type="pres">
      <dgm:prSet presAssocID="{B3B30624-E3C7-4DDE-9321-6610953F3514}" presName="parentLin" presStyleCnt="0"/>
      <dgm:spPr/>
    </dgm:pt>
    <dgm:pt modelId="{C92DB7CC-8569-440B-924B-15A5AF90318D}" type="pres">
      <dgm:prSet presAssocID="{B3B30624-E3C7-4DDE-9321-6610953F3514}" presName="parentLeftMargin" presStyleLbl="node1" presStyleIdx="1" presStyleCnt="4"/>
      <dgm:spPr/>
    </dgm:pt>
    <dgm:pt modelId="{268545A6-7C86-4BC6-82C3-BF890BC042F1}" type="pres">
      <dgm:prSet presAssocID="{B3B30624-E3C7-4DDE-9321-6610953F35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D503C4-ACD3-4603-8AC1-7D6CD3CE7D0B}" type="pres">
      <dgm:prSet presAssocID="{B3B30624-E3C7-4DDE-9321-6610953F3514}" presName="negativeSpace" presStyleCnt="0"/>
      <dgm:spPr/>
    </dgm:pt>
    <dgm:pt modelId="{604D2EE1-19A6-4C96-8C2A-7F76D9EE2164}" type="pres">
      <dgm:prSet presAssocID="{B3B30624-E3C7-4DDE-9321-6610953F3514}" presName="childText" presStyleLbl="conFgAcc1" presStyleIdx="2" presStyleCnt="4">
        <dgm:presLayoutVars>
          <dgm:bulletEnabled val="1"/>
        </dgm:presLayoutVars>
      </dgm:prSet>
      <dgm:spPr/>
    </dgm:pt>
    <dgm:pt modelId="{34DF472C-5683-49CC-854D-53AB0808B131}" type="pres">
      <dgm:prSet presAssocID="{5DCBD0A4-4594-41A7-8D37-DAAFF447A76C}" presName="spaceBetweenRectangles" presStyleCnt="0"/>
      <dgm:spPr/>
    </dgm:pt>
    <dgm:pt modelId="{4F130C3D-6FEE-4393-8108-8DE2472D7F91}" type="pres">
      <dgm:prSet presAssocID="{4D9AFFB9-058F-4FD8-9370-C0E867A9AB7F}" presName="parentLin" presStyleCnt="0"/>
      <dgm:spPr/>
    </dgm:pt>
    <dgm:pt modelId="{B576850D-7E67-45BA-B2C8-0CC47EF0590A}" type="pres">
      <dgm:prSet presAssocID="{4D9AFFB9-058F-4FD8-9370-C0E867A9AB7F}" presName="parentLeftMargin" presStyleLbl="node1" presStyleIdx="2" presStyleCnt="4"/>
      <dgm:spPr/>
    </dgm:pt>
    <dgm:pt modelId="{714CB277-19FB-4ABA-8DFB-E8D704456997}" type="pres">
      <dgm:prSet presAssocID="{4D9AFFB9-058F-4FD8-9370-C0E867A9AB7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A90DAE4-F8F2-47B3-9FD1-3F52EE4139E1}" type="pres">
      <dgm:prSet presAssocID="{4D9AFFB9-058F-4FD8-9370-C0E867A9AB7F}" presName="negativeSpace" presStyleCnt="0"/>
      <dgm:spPr/>
    </dgm:pt>
    <dgm:pt modelId="{5742B439-322B-4697-B249-6B34D1CB0BD3}" type="pres">
      <dgm:prSet presAssocID="{4D9AFFB9-058F-4FD8-9370-C0E867A9AB7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A287A02-D45D-48D5-A82B-D15ADA4A3229}" type="presOf" srcId="{D9E0FEDB-A6A8-4807-BB1E-061309DE7572}" destId="{05C7CD39-B8AA-4C67-B3AF-05C9A6B3CE14}" srcOrd="0" destOrd="0" presId="urn:microsoft.com/office/officeart/2005/8/layout/list1"/>
    <dgm:cxn modelId="{5FB1440A-0D8E-4018-83E8-2A43F198A86E}" srcId="{E328E005-3240-430C-8719-3EB739C6E208}" destId="{4D9AFFB9-058F-4FD8-9370-C0E867A9AB7F}" srcOrd="3" destOrd="0" parTransId="{E57151DB-FE55-45D2-B2F0-487311CBB9FE}" sibTransId="{96BF44E4-ECDE-42BB-9F98-14E4EA31A82C}"/>
    <dgm:cxn modelId="{65CB670B-C58C-4D9A-8E6A-13960586FDFC}" srcId="{80C9FA3E-1FC2-475A-B32B-8BE6D51A74F5}" destId="{C5C7C5D9-2596-4271-8B34-B537B2AD9438}" srcOrd="1" destOrd="0" parTransId="{85F51437-B7BD-4408-8FA0-1A20BA54B6DD}" sibTransId="{404BF462-1B41-474A-9398-2A88B034AA93}"/>
    <dgm:cxn modelId="{293A730D-3D39-4B41-866A-31CC0D433C8C}" type="presOf" srcId="{3B47B872-E0AD-4141-8209-963FFAE1755D}" destId="{5742B439-322B-4697-B249-6B34D1CB0BD3}" srcOrd="0" destOrd="1" presId="urn:microsoft.com/office/officeart/2005/8/layout/list1"/>
    <dgm:cxn modelId="{AE679715-EB35-4303-9B08-BA7D6011618F}" srcId="{80C9FA3E-1FC2-475A-B32B-8BE6D51A74F5}" destId="{BA0C06E2-466F-4322-9EEC-A093698D4B10}" srcOrd="0" destOrd="0" parTransId="{1853903C-B80E-4335-ABF4-E36B60275DCB}" sibTransId="{F946C3FE-6FE1-495D-957D-760957CFCBD5}"/>
    <dgm:cxn modelId="{B159E31B-6150-49A7-B1B6-624619108E7A}" srcId="{4D9AFFB9-058F-4FD8-9370-C0E867A9AB7F}" destId="{FB9CB2D9-ED1C-4234-AEA6-56FF932E37D2}" srcOrd="2" destOrd="0" parTransId="{A545656F-7BE5-44A5-AB67-E252AEE1AC9A}" sibTransId="{4EAD6C89-EFB0-4CFC-975A-A70852ADD9D7}"/>
    <dgm:cxn modelId="{49006928-F5DD-4206-AEC4-4C979E2C1DB3}" type="presOf" srcId="{BA0C06E2-466F-4322-9EEC-A093698D4B10}" destId="{5546FED0-FB7E-42EE-9919-DA2D6E2BA748}" srcOrd="0" destOrd="0" presId="urn:microsoft.com/office/officeart/2005/8/layout/list1"/>
    <dgm:cxn modelId="{0780F63A-2E27-4CED-8FDF-27CE503E5CD8}" type="presOf" srcId="{428773D0-102F-4F4E-9C17-78338199F5A7}" destId="{5742B439-322B-4697-B249-6B34D1CB0BD3}" srcOrd="0" destOrd="0" presId="urn:microsoft.com/office/officeart/2005/8/layout/list1"/>
    <dgm:cxn modelId="{B7D5E55F-C154-4005-8ED7-7FC3A47B1AC1}" type="presOf" srcId="{C5C7C5D9-2596-4271-8B34-B537B2AD9438}" destId="{5546FED0-FB7E-42EE-9919-DA2D6E2BA748}" srcOrd="0" destOrd="1" presId="urn:microsoft.com/office/officeart/2005/8/layout/list1"/>
    <dgm:cxn modelId="{0B073380-BCB8-45E8-9B7D-47161BFFF6D7}" type="presOf" srcId="{4D9AFFB9-058F-4FD8-9370-C0E867A9AB7F}" destId="{B576850D-7E67-45BA-B2C8-0CC47EF0590A}" srcOrd="0" destOrd="0" presId="urn:microsoft.com/office/officeart/2005/8/layout/list1"/>
    <dgm:cxn modelId="{59EE0186-0B9C-4ADD-B2C0-63D06D8AE492}" srcId="{4D9AFFB9-058F-4FD8-9370-C0E867A9AB7F}" destId="{3B47B872-E0AD-4141-8209-963FFAE1755D}" srcOrd="1" destOrd="0" parTransId="{AAF757B0-32CC-405F-94B9-0CF75849230C}" sibTransId="{125CEE66-296B-4FBD-9402-DC8C352D3100}"/>
    <dgm:cxn modelId="{18345F86-AEA7-414B-8E81-38358C50DD10}" type="presOf" srcId="{B3B30624-E3C7-4DDE-9321-6610953F3514}" destId="{C92DB7CC-8569-440B-924B-15A5AF90318D}" srcOrd="0" destOrd="0" presId="urn:microsoft.com/office/officeart/2005/8/layout/list1"/>
    <dgm:cxn modelId="{E31AF893-A52B-45F0-8149-A58220C60697}" type="presOf" srcId="{80C9FA3E-1FC2-475A-B32B-8BE6D51A74F5}" destId="{78DA63A5-BE34-430B-A87B-3806A4E77854}" srcOrd="0" destOrd="0" presId="urn:microsoft.com/office/officeart/2005/8/layout/list1"/>
    <dgm:cxn modelId="{B32E1A99-BA8E-414B-8F00-C50BCD8A9D6F}" type="presOf" srcId="{E328E005-3240-430C-8719-3EB739C6E208}" destId="{F56946A9-5885-443C-8681-563F941D13F3}" srcOrd="0" destOrd="0" presId="urn:microsoft.com/office/officeart/2005/8/layout/list1"/>
    <dgm:cxn modelId="{B54566AB-C16C-4610-B35F-2C94E160A5C5}" type="presOf" srcId="{4D9AFFB9-058F-4FD8-9370-C0E867A9AB7F}" destId="{714CB277-19FB-4ABA-8DFB-E8D704456997}" srcOrd="1" destOrd="0" presId="urn:microsoft.com/office/officeart/2005/8/layout/list1"/>
    <dgm:cxn modelId="{54B2A2AE-E0DA-44F7-A7E7-F314641E4960}" type="presOf" srcId="{80C9FA3E-1FC2-475A-B32B-8BE6D51A74F5}" destId="{8875E55E-A2B5-42E6-9F7D-569BB56D3DBF}" srcOrd="1" destOrd="0" presId="urn:microsoft.com/office/officeart/2005/8/layout/list1"/>
    <dgm:cxn modelId="{D39A1DC7-B896-4761-A612-6ACCCFF61E33}" srcId="{E328E005-3240-430C-8719-3EB739C6E208}" destId="{D9E0FEDB-A6A8-4807-BB1E-061309DE7572}" srcOrd="1" destOrd="0" parTransId="{76308992-2A22-4F88-A34E-87A12A4C08C3}" sibTransId="{5EDF2EB2-4D19-42E1-9229-AB0444CFA427}"/>
    <dgm:cxn modelId="{45EDEDC9-BE4C-4781-8891-B536C56ED93D}" srcId="{4D9AFFB9-058F-4FD8-9370-C0E867A9AB7F}" destId="{428773D0-102F-4F4E-9C17-78338199F5A7}" srcOrd="0" destOrd="0" parTransId="{7798A5BF-9196-420D-BE63-CAA5B7880C93}" sibTransId="{51379406-5F1E-4FA1-AB8B-A787A413D95C}"/>
    <dgm:cxn modelId="{A22BF6CC-E203-42A7-8985-2C1BBA447782}" type="presOf" srcId="{FB9CB2D9-ED1C-4234-AEA6-56FF932E37D2}" destId="{5742B439-322B-4697-B249-6B34D1CB0BD3}" srcOrd="0" destOrd="2" presId="urn:microsoft.com/office/officeart/2005/8/layout/list1"/>
    <dgm:cxn modelId="{834BC4D0-E7CA-4312-A97E-A10103CD8397}" srcId="{E328E005-3240-430C-8719-3EB739C6E208}" destId="{B3B30624-E3C7-4DDE-9321-6610953F3514}" srcOrd="2" destOrd="0" parTransId="{C738D989-9F2D-47D3-8420-53E8107CA368}" sibTransId="{5DCBD0A4-4594-41A7-8D37-DAAFF447A76C}"/>
    <dgm:cxn modelId="{129FC5DD-B55A-4D5C-8ED5-6253117D7A69}" type="presOf" srcId="{B3B30624-E3C7-4DDE-9321-6610953F3514}" destId="{268545A6-7C86-4BC6-82C3-BF890BC042F1}" srcOrd="1" destOrd="0" presId="urn:microsoft.com/office/officeart/2005/8/layout/list1"/>
    <dgm:cxn modelId="{5F684FF4-5419-478A-A04E-081FEB744C2B}" type="presOf" srcId="{D9E0FEDB-A6A8-4807-BB1E-061309DE7572}" destId="{72E16209-87B0-4D0E-9D3D-9D714BCE9227}" srcOrd="1" destOrd="0" presId="urn:microsoft.com/office/officeart/2005/8/layout/list1"/>
    <dgm:cxn modelId="{93D535FD-830D-4AB9-9E6B-5D4040D97E14}" srcId="{E328E005-3240-430C-8719-3EB739C6E208}" destId="{80C9FA3E-1FC2-475A-B32B-8BE6D51A74F5}" srcOrd="0" destOrd="0" parTransId="{42903080-7D8E-4FAA-A396-51BA9520DA54}" sibTransId="{F7A1707E-7D6C-4856-BCB8-983E64D5AA07}"/>
    <dgm:cxn modelId="{FA739828-8593-40C8-824B-05CA610F6DF7}" type="presParOf" srcId="{F56946A9-5885-443C-8681-563F941D13F3}" destId="{AFFDF08F-55A9-41A6-AECF-75A285E991A8}" srcOrd="0" destOrd="0" presId="urn:microsoft.com/office/officeart/2005/8/layout/list1"/>
    <dgm:cxn modelId="{A0C80319-819D-4489-9B02-695CA6F2FAB8}" type="presParOf" srcId="{AFFDF08F-55A9-41A6-AECF-75A285E991A8}" destId="{78DA63A5-BE34-430B-A87B-3806A4E77854}" srcOrd="0" destOrd="0" presId="urn:microsoft.com/office/officeart/2005/8/layout/list1"/>
    <dgm:cxn modelId="{9FDAFABF-82D1-48B9-85D9-0ED6A49CE294}" type="presParOf" srcId="{AFFDF08F-55A9-41A6-AECF-75A285E991A8}" destId="{8875E55E-A2B5-42E6-9F7D-569BB56D3DBF}" srcOrd="1" destOrd="0" presId="urn:microsoft.com/office/officeart/2005/8/layout/list1"/>
    <dgm:cxn modelId="{6C4FE933-0A9C-410F-BB0B-F0FB48A39C23}" type="presParOf" srcId="{F56946A9-5885-443C-8681-563F941D13F3}" destId="{26C6D260-B5C3-4F76-B7B7-F63C31959F46}" srcOrd="1" destOrd="0" presId="urn:microsoft.com/office/officeart/2005/8/layout/list1"/>
    <dgm:cxn modelId="{78AE9473-C155-453E-B8B1-7779CABA6568}" type="presParOf" srcId="{F56946A9-5885-443C-8681-563F941D13F3}" destId="{5546FED0-FB7E-42EE-9919-DA2D6E2BA748}" srcOrd="2" destOrd="0" presId="urn:microsoft.com/office/officeart/2005/8/layout/list1"/>
    <dgm:cxn modelId="{B46B55B3-055F-465A-9648-FCE804579464}" type="presParOf" srcId="{F56946A9-5885-443C-8681-563F941D13F3}" destId="{A2A44A6D-53A7-46EF-836C-4AA05AFE30A5}" srcOrd="3" destOrd="0" presId="urn:microsoft.com/office/officeart/2005/8/layout/list1"/>
    <dgm:cxn modelId="{84D1B9E2-E6F6-47EA-9497-779067FF32E8}" type="presParOf" srcId="{F56946A9-5885-443C-8681-563F941D13F3}" destId="{8146323E-3DE1-4017-8EB7-9BA6232252B5}" srcOrd="4" destOrd="0" presId="urn:microsoft.com/office/officeart/2005/8/layout/list1"/>
    <dgm:cxn modelId="{DB411D3C-1AA2-4841-BDB5-FCE0ACA7FD06}" type="presParOf" srcId="{8146323E-3DE1-4017-8EB7-9BA6232252B5}" destId="{05C7CD39-B8AA-4C67-B3AF-05C9A6B3CE14}" srcOrd="0" destOrd="0" presId="urn:microsoft.com/office/officeart/2005/8/layout/list1"/>
    <dgm:cxn modelId="{95906EA9-0672-48A2-B839-A7CFD48E8AE1}" type="presParOf" srcId="{8146323E-3DE1-4017-8EB7-9BA6232252B5}" destId="{72E16209-87B0-4D0E-9D3D-9D714BCE9227}" srcOrd="1" destOrd="0" presId="urn:microsoft.com/office/officeart/2005/8/layout/list1"/>
    <dgm:cxn modelId="{2DE10701-A0F6-4446-85EC-6C93895A1A59}" type="presParOf" srcId="{F56946A9-5885-443C-8681-563F941D13F3}" destId="{B03C3F0F-A0E4-4547-88D5-118AA1D06481}" srcOrd="5" destOrd="0" presId="urn:microsoft.com/office/officeart/2005/8/layout/list1"/>
    <dgm:cxn modelId="{A827B6CA-5226-45E0-804E-EE55F701639E}" type="presParOf" srcId="{F56946A9-5885-443C-8681-563F941D13F3}" destId="{3E63142D-4F02-47A5-BD6F-BAE02E39C012}" srcOrd="6" destOrd="0" presId="urn:microsoft.com/office/officeart/2005/8/layout/list1"/>
    <dgm:cxn modelId="{C4089C38-ED86-4C1E-98D8-2716D52396F6}" type="presParOf" srcId="{F56946A9-5885-443C-8681-563F941D13F3}" destId="{93C5FB7F-640C-4BC0-A181-06B6843A9318}" srcOrd="7" destOrd="0" presId="urn:microsoft.com/office/officeart/2005/8/layout/list1"/>
    <dgm:cxn modelId="{792F60A5-4467-458B-8D06-B403FE668962}" type="presParOf" srcId="{F56946A9-5885-443C-8681-563F941D13F3}" destId="{C16F5723-7E40-4352-9844-589070E39DCA}" srcOrd="8" destOrd="0" presId="urn:microsoft.com/office/officeart/2005/8/layout/list1"/>
    <dgm:cxn modelId="{98372738-F1D3-479B-99E4-653DDA33C09A}" type="presParOf" srcId="{C16F5723-7E40-4352-9844-589070E39DCA}" destId="{C92DB7CC-8569-440B-924B-15A5AF90318D}" srcOrd="0" destOrd="0" presId="urn:microsoft.com/office/officeart/2005/8/layout/list1"/>
    <dgm:cxn modelId="{BDD73672-ADF7-45D4-888C-7837B26D3F9F}" type="presParOf" srcId="{C16F5723-7E40-4352-9844-589070E39DCA}" destId="{268545A6-7C86-4BC6-82C3-BF890BC042F1}" srcOrd="1" destOrd="0" presId="urn:microsoft.com/office/officeart/2005/8/layout/list1"/>
    <dgm:cxn modelId="{6A001614-9759-475B-BA04-FBCC3DFF45D6}" type="presParOf" srcId="{F56946A9-5885-443C-8681-563F941D13F3}" destId="{EFD503C4-ACD3-4603-8AC1-7D6CD3CE7D0B}" srcOrd="9" destOrd="0" presId="urn:microsoft.com/office/officeart/2005/8/layout/list1"/>
    <dgm:cxn modelId="{5B61C9B6-CD68-4DEA-ABE1-67113EA4F1E9}" type="presParOf" srcId="{F56946A9-5885-443C-8681-563F941D13F3}" destId="{604D2EE1-19A6-4C96-8C2A-7F76D9EE2164}" srcOrd="10" destOrd="0" presId="urn:microsoft.com/office/officeart/2005/8/layout/list1"/>
    <dgm:cxn modelId="{0E7FDBC2-4CC8-4169-A6B1-E29D9D9313B0}" type="presParOf" srcId="{F56946A9-5885-443C-8681-563F941D13F3}" destId="{34DF472C-5683-49CC-854D-53AB0808B131}" srcOrd="11" destOrd="0" presId="urn:microsoft.com/office/officeart/2005/8/layout/list1"/>
    <dgm:cxn modelId="{E02C7FD3-33CB-4593-B59C-BA818CCE4F44}" type="presParOf" srcId="{F56946A9-5885-443C-8681-563F941D13F3}" destId="{4F130C3D-6FEE-4393-8108-8DE2472D7F91}" srcOrd="12" destOrd="0" presId="urn:microsoft.com/office/officeart/2005/8/layout/list1"/>
    <dgm:cxn modelId="{E9179765-A75A-4D38-86BF-31CE74D154B7}" type="presParOf" srcId="{4F130C3D-6FEE-4393-8108-8DE2472D7F91}" destId="{B576850D-7E67-45BA-B2C8-0CC47EF0590A}" srcOrd="0" destOrd="0" presId="urn:microsoft.com/office/officeart/2005/8/layout/list1"/>
    <dgm:cxn modelId="{4EE16F98-C00B-44AB-9C18-467247855211}" type="presParOf" srcId="{4F130C3D-6FEE-4393-8108-8DE2472D7F91}" destId="{714CB277-19FB-4ABA-8DFB-E8D704456997}" srcOrd="1" destOrd="0" presId="urn:microsoft.com/office/officeart/2005/8/layout/list1"/>
    <dgm:cxn modelId="{233DDFFA-5926-4B4F-BB7E-285756496F53}" type="presParOf" srcId="{F56946A9-5885-443C-8681-563F941D13F3}" destId="{5A90DAE4-F8F2-47B3-9FD1-3F52EE4139E1}" srcOrd="13" destOrd="0" presId="urn:microsoft.com/office/officeart/2005/8/layout/list1"/>
    <dgm:cxn modelId="{37374F54-4C02-41F1-B3AA-B1753A7ED301}" type="presParOf" srcId="{F56946A9-5885-443C-8681-563F941D13F3}" destId="{5742B439-322B-4697-B249-6B34D1CB0BD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B21401-B026-4AF3-990A-53031EB4DE8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6C32FE-22D2-4072-8A8B-ED0283B1B728}">
      <dgm:prSet/>
      <dgm:spPr/>
      <dgm:t>
        <a:bodyPr/>
        <a:lstStyle/>
        <a:p>
          <a:r>
            <a:rPr lang="en-US" dirty="0"/>
            <a:t>Energy comes mainly from the </a:t>
          </a:r>
          <a:r>
            <a:rPr lang="en-US" b="1" dirty="0"/>
            <a:t>Sun.</a:t>
          </a:r>
          <a:endParaRPr lang="en-US" dirty="0"/>
        </a:p>
      </dgm:t>
    </dgm:pt>
    <dgm:pt modelId="{D3764B51-35E7-4918-BA9A-877B7A61C490}" type="parTrans" cxnId="{ED8E022C-1C18-4989-9217-0DB10A0F1543}">
      <dgm:prSet/>
      <dgm:spPr/>
      <dgm:t>
        <a:bodyPr/>
        <a:lstStyle/>
        <a:p>
          <a:endParaRPr lang="en-US"/>
        </a:p>
      </dgm:t>
    </dgm:pt>
    <dgm:pt modelId="{0EB4EE78-711A-44F7-9D10-4AD19A451E89}" type="sibTrans" cxnId="{ED8E022C-1C18-4989-9217-0DB10A0F1543}">
      <dgm:prSet/>
      <dgm:spPr/>
      <dgm:t>
        <a:bodyPr/>
        <a:lstStyle/>
        <a:p>
          <a:endParaRPr lang="en-US"/>
        </a:p>
      </dgm:t>
    </dgm:pt>
    <dgm:pt modelId="{DFE176BE-48D5-4512-820B-C4635C07CC0F}">
      <dgm:prSet/>
      <dgm:spPr/>
      <dgm:t>
        <a:bodyPr/>
        <a:lstStyle/>
        <a:p>
          <a:r>
            <a:rPr lang="en-US"/>
            <a:t>Passed through organisms through </a:t>
          </a:r>
          <a:r>
            <a:rPr lang="en-US" b="1"/>
            <a:t>food chains</a:t>
          </a:r>
          <a:r>
            <a:rPr lang="en-US"/>
            <a:t> and </a:t>
          </a:r>
          <a:r>
            <a:rPr lang="en-US" b="1"/>
            <a:t>food webs.</a:t>
          </a:r>
          <a:endParaRPr lang="en-US"/>
        </a:p>
      </dgm:t>
    </dgm:pt>
    <dgm:pt modelId="{70EA5722-5B45-40FE-8920-37F2A878AD2B}" type="parTrans" cxnId="{F54AC8D0-38FD-4D81-962D-586D65752C92}">
      <dgm:prSet/>
      <dgm:spPr/>
      <dgm:t>
        <a:bodyPr/>
        <a:lstStyle/>
        <a:p>
          <a:endParaRPr lang="en-US"/>
        </a:p>
      </dgm:t>
    </dgm:pt>
    <dgm:pt modelId="{5A9D7B3D-483C-43B6-978F-B8F8C0CB8CAE}" type="sibTrans" cxnId="{F54AC8D0-38FD-4D81-962D-586D65752C92}">
      <dgm:prSet/>
      <dgm:spPr/>
      <dgm:t>
        <a:bodyPr/>
        <a:lstStyle/>
        <a:p>
          <a:endParaRPr lang="en-US"/>
        </a:p>
      </dgm:t>
    </dgm:pt>
    <dgm:pt modelId="{83AD6907-E76F-4AE7-A7B8-CCF9D6FBFF2E}" type="pres">
      <dgm:prSet presAssocID="{01B21401-B026-4AF3-990A-53031EB4DE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2254DF5-1099-41E3-A1B2-45B8A00E1834}" type="pres">
      <dgm:prSet presAssocID="{F26C32FE-22D2-4072-8A8B-ED0283B1B728}" presName="hierRoot1" presStyleCnt="0"/>
      <dgm:spPr/>
    </dgm:pt>
    <dgm:pt modelId="{1CFCA062-DC5B-4881-A030-CEACDC3E6691}" type="pres">
      <dgm:prSet presAssocID="{F26C32FE-22D2-4072-8A8B-ED0283B1B728}" presName="composite" presStyleCnt="0"/>
      <dgm:spPr/>
    </dgm:pt>
    <dgm:pt modelId="{8D292F58-E253-4AF6-8A3A-E72E55015A80}" type="pres">
      <dgm:prSet presAssocID="{F26C32FE-22D2-4072-8A8B-ED0283B1B728}" presName="background" presStyleLbl="node0" presStyleIdx="0" presStyleCnt="2"/>
      <dgm:spPr/>
    </dgm:pt>
    <dgm:pt modelId="{0850B675-FA85-4E5A-A239-695C8F931360}" type="pres">
      <dgm:prSet presAssocID="{F26C32FE-22D2-4072-8A8B-ED0283B1B728}" presName="text" presStyleLbl="fgAcc0" presStyleIdx="0" presStyleCnt="2">
        <dgm:presLayoutVars>
          <dgm:chPref val="3"/>
        </dgm:presLayoutVars>
      </dgm:prSet>
      <dgm:spPr/>
    </dgm:pt>
    <dgm:pt modelId="{BFDBCFBC-6ABA-4BF7-8A5F-89C875ADE1B3}" type="pres">
      <dgm:prSet presAssocID="{F26C32FE-22D2-4072-8A8B-ED0283B1B728}" presName="hierChild2" presStyleCnt="0"/>
      <dgm:spPr/>
    </dgm:pt>
    <dgm:pt modelId="{E5416DB7-B568-41B9-A79F-71A4883E730D}" type="pres">
      <dgm:prSet presAssocID="{DFE176BE-48D5-4512-820B-C4635C07CC0F}" presName="hierRoot1" presStyleCnt="0"/>
      <dgm:spPr/>
    </dgm:pt>
    <dgm:pt modelId="{05B59F0F-DEBB-4DC1-A5AA-D90B0BD92F86}" type="pres">
      <dgm:prSet presAssocID="{DFE176BE-48D5-4512-820B-C4635C07CC0F}" presName="composite" presStyleCnt="0"/>
      <dgm:spPr/>
    </dgm:pt>
    <dgm:pt modelId="{B04BDC12-69DD-4582-B31B-12CA8A6DD226}" type="pres">
      <dgm:prSet presAssocID="{DFE176BE-48D5-4512-820B-C4635C07CC0F}" presName="background" presStyleLbl="node0" presStyleIdx="1" presStyleCnt="2"/>
      <dgm:spPr/>
    </dgm:pt>
    <dgm:pt modelId="{2502E17F-C53E-4D66-BE68-4B86B2D80417}" type="pres">
      <dgm:prSet presAssocID="{DFE176BE-48D5-4512-820B-C4635C07CC0F}" presName="text" presStyleLbl="fgAcc0" presStyleIdx="1" presStyleCnt="2">
        <dgm:presLayoutVars>
          <dgm:chPref val="3"/>
        </dgm:presLayoutVars>
      </dgm:prSet>
      <dgm:spPr/>
    </dgm:pt>
    <dgm:pt modelId="{A8305F74-7FA4-40C5-8F38-0815451091E8}" type="pres">
      <dgm:prSet presAssocID="{DFE176BE-48D5-4512-820B-C4635C07CC0F}" presName="hierChild2" presStyleCnt="0"/>
      <dgm:spPr/>
    </dgm:pt>
  </dgm:ptLst>
  <dgm:cxnLst>
    <dgm:cxn modelId="{ED8E022C-1C18-4989-9217-0DB10A0F1543}" srcId="{01B21401-B026-4AF3-990A-53031EB4DE84}" destId="{F26C32FE-22D2-4072-8A8B-ED0283B1B728}" srcOrd="0" destOrd="0" parTransId="{D3764B51-35E7-4918-BA9A-877B7A61C490}" sibTransId="{0EB4EE78-711A-44F7-9D10-4AD19A451E89}"/>
    <dgm:cxn modelId="{C7EAD14B-92C9-466E-B08F-5371E9A81A58}" type="presOf" srcId="{01B21401-B026-4AF3-990A-53031EB4DE84}" destId="{83AD6907-E76F-4AE7-A7B8-CCF9D6FBFF2E}" srcOrd="0" destOrd="0" presId="urn:microsoft.com/office/officeart/2005/8/layout/hierarchy1"/>
    <dgm:cxn modelId="{756612C2-7DB1-4E73-9002-97A0C5F8FD92}" type="presOf" srcId="{F26C32FE-22D2-4072-8A8B-ED0283B1B728}" destId="{0850B675-FA85-4E5A-A239-695C8F931360}" srcOrd="0" destOrd="0" presId="urn:microsoft.com/office/officeart/2005/8/layout/hierarchy1"/>
    <dgm:cxn modelId="{DAFB13CC-0B2F-49EF-B694-068C4A0B5B5D}" type="presOf" srcId="{DFE176BE-48D5-4512-820B-C4635C07CC0F}" destId="{2502E17F-C53E-4D66-BE68-4B86B2D80417}" srcOrd="0" destOrd="0" presId="urn:microsoft.com/office/officeart/2005/8/layout/hierarchy1"/>
    <dgm:cxn modelId="{F54AC8D0-38FD-4D81-962D-586D65752C92}" srcId="{01B21401-B026-4AF3-990A-53031EB4DE84}" destId="{DFE176BE-48D5-4512-820B-C4635C07CC0F}" srcOrd="1" destOrd="0" parTransId="{70EA5722-5B45-40FE-8920-37F2A878AD2B}" sibTransId="{5A9D7B3D-483C-43B6-978F-B8F8C0CB8CAE}"/>
    <dgm:cxn modelId="{F08D1800-71A9-4676-8281-AC44D130BFA3}" type="presParOf" srcId="{83AD6907-E76F-4AE7-A7B8-CCF9D6FBFF2E}" destId="{12254DF5-1099-41E3-A1B2-45B8A00E1834}" srcOrd="0" destOrd="0" presId="urn:microsoft.com/office/officeart/2005/8/layout/hierarchy1"/>
    <dgm:cxn modelId="{94D1C7C6-C948-4E3A-A815-2311C662C393}" type="presParOf" srcId="{12254DF5-1099-41E3-A1B2-45B8A00E1834}" destId="{1CFCA062-DC5B-4881-A030-CEACDC3E6691}" srcOrd="0" destOrd="0" presId="urn:microsoft.com/office/officeart/2005/8/layout/hierarchy1"/>
    <dgm:cxn modelId="{DE8DBBC6-E35C-4F26-A65C-CD2A2DC0C374}" type="presParOf" srcId="{1CFCA062-DC5B-4881-A030-CEACDC3E6691}" destId="{8D292F58-E253-4AF6-8A3A-E72E55015A80}" srcOrd="0" destOrd="0" presId="urn:microsoft.com/office/officeart/2005/8/layout/hierarchy1"/>
    <dgm:cxn modelId="{60665CEC-1A15-49DD-8B64-21119B77C41C}" type="presParOf" srcId="{1CFCA062-DC5B-4881-A030-CEACDC3E6691}" destId="{0850B675-FA85-4E5A-A239-695C8F931360}" srcOrd="1" destOrd="0" presId="urn:microsoft.com/office/officeart/2005/8/layout/hierarchy1"/>
    <dgm:cxn modelId="{921ADA50-AA61-4063-B815-B2EF6129F8CD}" type="presParOf" srcId="{12254DF5-1099-41E3-A1B2-45B8A00E1834}" destId="{BFDBCFBC-6ABA-4BF7-8A5F-89C875ADE1B3}" srcOrd="1" destOrd="0" presId="urn:microsoft.com/office/officeart/2005/8/layout/hierarchy1"/>
    <dgm:cxn modelId="{B84BF978-A4AA-40B0-ADF2-441BBED922C0}" type="presParOf" srcId="{83AD6907-E76F-4AE7-A7B8-CCF9D6FBFF2E}" destId="{E5416DB7-B568-41B9-A79F-71A4883E730D}" srcOrd="1" destOrd="0" presId="urn:microsoft.com/office/officeart/2005/8/layout/hierarchy1"/>
    <dgm:cxn modelId="{84FB22DF-4652-4680-AAEB-2F1EBD202819}" type="presParOf" srcId="{E5416DB7-B568-41B9-A79F-71A4883E730D}" destId="{05B59F0F-DEBB-4DC1-A5AA-D90B0BD92F86}" srcOrd="0" destOrd="0" presId="urn:microsoft.com/office/officeart/2005/8/layout/hierarchy1"/>
    <dgm:cxn modelId="{B12291C0-07E1-4E27-8708-2AA06D39382B}" type="presParOf" srcId="{05B59F0F-DEBB-4DC1-A5AA-D90B0BD92F86}" destId="{B04BDC12-69DD-4582-B31B-12CA8A6DD226}" srcOrd="0" destOrd="0" presId="urn:microsoft.com/office/officeart/2005/8/layout/hierarchy1"/>
    <dgm:cxn modelId="{0A6871FF-5890-4045-BEB8-778699420905}" type="presParOf" srcId="{05B59F0F-DEBB-4DC1-A5AA-D90B0BD92F86}" destId="{2502E17F-C53E-4D66-BE68-4B86B2D80417}" srcOrd="1" destOrd="0" presId="urn:microsoft.com/office/officeart/2005/8/layout/hierarchy1"/>
    <dgm:cxn modelId="{3BC50507-7A79-4177-B878-20CD1B466E3B}" type="presParOf" srcId="{E5416DB7-B568-41B9-A79F-71A4883E730D}" destId="{A8305F74-7FA4-40C5-8F38-0815451091E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497C5-8BC6-4F42-9CC8-C8DFB80F5C62}">
      <dsp:nvSpPr>
        <dsp:cNvPr id="0" name=""/>
        <dsp:cNvSpPr/>
      </dsp:nvSpPr>
      <dsp:spPr>
        <a:xfrm>
          <a:off x="0" y="15530"/>
          <a:ext cx="6666833" cy="11547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4700" b="1" kern="1200"/>
            <a:t>Community Ecology </a:t>
          </a:r>
          <a:endParaRPr lang="en-US" sz="4700" kern="1200"/>
        </a:p>
      </dsp:txBody>
      <dsp:txXfrm>
        <a:off x="56372" y="71902"/>
        <a:ext cx="6554089" cy="1042046"/>
      </dsp:txXfrm>
    </dsp:sp>
    <dsp:sp modelId="{B39B6025-5419-44C9-840A-8FA1703A3EB8}">
      <dsp:nvSpPr>
        <dsp:cNvPr id="0" name=""/>
        <dsp:cNvSpPr/>
      </dsp:nvSpPr>
      <dsp:spPr>
        <a:xfrm>
          <a:off x="0" y="1170320"/>
          <a:ext cx="6666833" cy="1945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9690" rIns="334264" bIns="5969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3700" kern="1200"/>
            <a:t>Community Structures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3700" kern="1200"/>
            <a:t>Community Dynamics</a:t>
          </a:r>
          <a:endParaRPr lang="en-US" sz="3700" kern="120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3700" kern="1200"/>
            <a:t>Species Interaction</a:t>
          </a:r>
          <a:endParaRPr lang="en-US" sz="3700" kern="1200"/>
        </a:p>
      </dsp:txBody>
      <dsp:txXfrm>
        <a:off x="0" y="1170320"/>
        <a:ext cx="6666833" cy="1945800"/>
      </dsp:txXfrm>
    </dsp:sp>
    <dsp:sp modelId="{A3E46AB1-1200-408F-9D5F-6B2EE3FD4120}">
      <dsp:nvSpPr>
        <dsp:cNvPr id="0" name=""/>
        <dsp:cNvSpPr/>
      </dsp:nvSpPr>
      <dsp:spPr>
        <a:xfrm>
          <a:off x="0" y="3116120"/>
          <a:ext cx="6666833" cy="115479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4700" b="1" kern="1200"/>
            <a:t>Ecosystem Ecology</a:t>
          </a:r>
          <a:endParaRPr lang="en-US" sz="4700" kern="1200"/>
        </a:p>
      </dsp:txBody>
      <dsp:txXfrm>
        <a:off x="56372" y="3172492"/>
        <a:ext cx="6554089" cy="1042046"/>
      </dsp:txXfrm>
    </dsp:sp>
    <dsp:sp modelId="{503A8723-B3AF-4AF6-9660-D351DBC02845}">
      <dsp:nvSpPr>
        <dsp:cNvPr id="0" name=""/>
        <dsp:cNvSpPr/>
      </dsp:nvSpPr>
      <dsp:spPr>
        <a:xfrm>
          <a:off x="0" y="4270910"/>
          <a:ext cx="6666833" cy="116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59690" rIns="334264" bIns="5969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PH" sz="3700" kern="1200"/>
            <a:t>Energy Flow Through Ecosystems</a:t>
          </a:r>
          <a:endParaRPr lang="en-US" sz="3700" kern="1200"/>
        </a:p>
      </dsp:txBody>
      <dsp:txXfrm>
        <a:off x="0" y="4270910"/>
        <a:ext cx="6666833" cy="1167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6FED0-FB7E-42EE-9919-DA2D6E2BA748}">
      <dsp:nvSpPr>
        <dsp:cNvPr id="0" name=""/>
        <dsp:cNvSpPr/>
      </dsp:nvSpPr>
      <dsp:spPr>
        <a:xfrm>
          <a:off x="0" y="312012"/>
          <a:ext cx="6666833" cy="1223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Intraspecific competition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Interspecific competition</a:t>
          </a:r>
          <a:r>
            <a:rPr lang="en-US" sz="2100" kern="1200"/>
            <a:t> </a:t>
          </a:r>
        </a:p>
      </dsp:txBody>
      <dsp:txXfrm>
        <a:off x="0" y="312012"/>
        <a:ext cx="6666833" cy="1223775"/>
      </dsp:txXfrm>
    </dsp:sp>
    <dsp:sp modelId="{8875E55E-A2B5-42E6-9F7D-569BB56D3DBF}">
      <dsp:nvSpPr>
        <dsp:cNvPr id="0" name=""/>
        <dsp:cNvSpPr/>
      </dsp:nvSpPr>
      <dsp:spPr>
        <a:xfrm>
          <a:off x="333341" y="2052"/>
          <a:ext cx="4666783" cy="6199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A. Competition</a:t>
          </a:r>
          <a:endParaRPr lang="en-US" sz="2100" kern="1200"/>
        </a:p>
      </dsp:txBody>
      <dsp:txXfrm>
        <a:off x="363603" y="32314"/>
        <a:ext cx="4606259" cy="559396"/>
      </dsp:txXfrm>
    </dsp:sp>
    <dsp:sp modelId="{3E63142D-4F02-47A5-BD6F-BAE02E39C012}">
      <dsp:nvSpPr>
        <dsp:cNvPr id="0" name=""/>
        <dsp:cNvSpPr/>
      </dsp:nvSpPr>
      <dsp:spPr>
        <a:xfrm>
          <a:off x="0" y="1959147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16209-87B0-4D0E-9D3D-9D714BCE9227}">
      <dsp:nvSpPr>
        <dsp:cNvPr id="0" name=""/>
        <dsp:cNvSpPr/>
      </dsp:nvSpPr>
      <dsp:spPr>
        <a:xfrm>
          <a:off x="333341" y="1649187"/>
          <a:ext cx="4666783" cy="6199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B. Predation</a:t>
          </a:r>
          <a:endParaRPr lang="en-US" sz="2100" kern="1200" dirty="0"/>
        </a:p>
      </dsp:txBody>
      <dsp:txXfrm>
        <a:off x="363603" y="1679449"/>
        <a:ext cx="4606259" cy="559396"/>
      </dsp:txXfrm>
    </dsp:sp>
    <dsp:sp modelId="{604D2EE1-19A6-4C96-8C2A-7F76D9EE2164}">
      <dsp:nvSpPr>
        <dsp:cNvPr id="0" name=""/>
        <dsp:cNvSpPr/>
      </dsp:nvSpPr>
      <dsp:spPr>
        <a:xfrm>
          <a:off x="0" y="2911707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545A6-7C86-4BC6-82C3-BF890BC042F1}">
      <dsp:nvSpPr>
        <dsp:cNvPr id="0" name=""/>
        <dsp:cNvSpPr/>
      </dsp:nvSpPr>
      <dsp:spPr>
        <a:xfrm>
          <a:off x="333341" y="2601747"/>
          <a:ext cx="4666783" cy="6199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C. Herbivory</a:t>
          </a:r>
        </a:p>
      </dsp:txBody>
      <dsp:txXfrm>
        <a:off x="363603" y="2632009"/>
        <a:ext cx="4606259" cy="559396"/>
      </dsp:txXfrm>
    </dsp:sp>
    <dsp:sp modelId="{5742B439-322B-4697-B249-6B34D1CB0BD3}">
      <dsp:nvSpPr>
        <dsp:cNvPr id="0" name=""/>
        <dsp:cNvSpPr/>
      </dsp:nvSpPr>
      <dsp:spPr>
        <a:xfrm>
          <a:off x="0" y="3864267"/>
          <a:ext cx="6666833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Mutualism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Commensalism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1" kern="1200"/>
            <a:t>Parasitism</a:t>
          </a:r>
          <a:endParaRPr lang="en-US" sz="2100" kern="1200"/>
        </a:p>
      </dsp:txBody>
      <dsp:txXfrm>
        <a:off x="0" y="3864267"/>
        <a:ext cx="6666833" cy="1587600"/>
      </dsp:txXfrm>
    </dsp:sp>
    <dsp:sp modelId="{714CB277-19FB-4ABA-8DFB-E8D704456997}">
      <dsp:nvSpPr>
        <dsp:cNvPr id="0" name=""/>
        <dsp:cNvSpPr/>
      </dsp:nvSpPr>
      <dsp:spPr>
        <a:xfrm>
          <a:off x="333341" y="3554307"/>
          <a:ext cx="4666783" cy="6199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C. Symbiosis (Closed Relationship)</a:t>
          </a:r>
          <a:endParaRPr lang="en-US" sz="2100" kern="1200" dirty="0"/>
        </a:p>
      </dsp:txBody>
      <dsp:txXfrm>
        <a:off x="363603" y="3584569"/>
        <a:ext cx="4606259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92F58-E253-4AF6-8A3A-E72E55015A80}">
      <dsp:nvSpPr>
        <dsp:cNvPr id="0" name=""/>
        <dsp:cNvSpPr/>
      </dsp:nvSpPr>
      <dsp:spPr>
        <a:xfrm>
          <a:off x="1333" y="3626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50B675-FA85-4E5A-A239-695C8F931360}">
      <dsp:nvSpPr>
        <dsp:cNvPr id="0" name=""/>
        <dsp:cNvSpPr/>
      </dsp:nvSpPr>
      <dsp:spPr>
        <a:xfrm>
          <a:off x="521579" y="8569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Energy comes mainly from the </a:t>
          </a:r>
          <a:r>
            <a:rPr lang="en-US" sz="4100" b="1" kern="1200" dirty="0"/>
            <a:t>Sun.</a:t>
          </a:r>
          <a:endParaRPr lang="en-US" sz="4100" kern="1200" dirty="0"/>
        </a:p>
      </dsp:txBody>
      <dsp:txXfrm>
        <a:off x="608661" y="943998"/>
        <a:ext cx="4508047" cy="2799040"/>
      </dsp:txXfrm>
    </dsp:sp>
    <dsp:sp modelId="{B04BDC12-69DD-4582-B31B-12CA8A6DD226}">
      <dsp:nvSpPr>
        <dsp:cNvPr id="0" name=""/>
        <dsp:cNvSpPr/>
      </dsp:nvSpPr>
      <dsp:spPr>
        <a:xfrm>
          <a:off x="5724037" y="3626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2E17F-C53E-4D66-BE68-4B86B2D80417}">
      <dsp:nvSpPr>
        <dsp:cNvPr id="0" name=""/>
        <dsp:cNvSpPr/>
      </dsp:nvSpPr>
      <dsp:spPr>
        <a:xfrm>
          <a:off x="6244283" y="8569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Passed through organisms through </a:t>
          </a:r>
          <a:r>
            <a:rPr lang="en-US" sz="4100" b="1" kern="1200"/>
            <a:t>food chains</a:t>
          </a:r>
          <a:r>
            <a:rPr lang="en-US" sz="4100" kern="1200"/>
            <a:t> and </a:t>
          </a:r>
          <a:r>
            <a:rPr lang="en-US" sz="4100" b="1" kern="1200"/>
            <a:t>food webs.</a:t>
          </a:r>
          <a:endParaRPr lang="en-US" sz="4100" kern="1200"/>
        </a:p>
      </dsp:txBody>
      <dsp:txXfrm>
        <a:off x="6331365" y="9439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7ED8A-B44F-493B-A013-88FD88D9670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260F2-9DCF-44EF-AD90-252A50DE4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70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2260F2-9DCF-44EF-AD90-252A50DE4A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56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8434-A2B3-E22D-4C03-086525E82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2F37C-D3A8-8F01-ADA2-3C91CC7EB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08BE8-EE7F-97A4-F474-2835E2DE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02690-FD8D-D4D6-0D6A-17A23536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022CD-27D9-E987-BA8B-07746F09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2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280B-A146-075B-58BE-A2EE8248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3C98F-AFF8-A467-76BA-26C209F47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8708E-AE9F-FA93-9D43-0CABB83E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234D6-7724-6D3B-3797-95E6AA7E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9A0FF-2F93-3401-C38D-0F89DAD7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5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894A-9B78-EF1B-BA1C-D25C1E5E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AAC57-AC4B-1A16-0B56-0590F8686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65371-0A74-1828-0E2F-51583C16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D6E2E-FFE8-21CF-5B0E-BE85467FE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07B07-7B78-D6AC-0912-43A16D58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3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FF7C-3579-474E-34F7-77ECD70BA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09F1-A743-6210-A20A-99551E15D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A942A-13F1-0CE3-7AA0-4F1E3712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6A848-32D0-EAAD-1C3A-23DFAC49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9B923-C7AE-0002-15A2-6C4AD0499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EB2E-5C35-E82E-23DF-3A4C20FA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1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4EF6-D5FF-8C64-0709-CFA9F5CF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7BBE7-BB83-319B-0D76-D225E5FF0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A5211-B7F2-38B4-B980-9A3DB0F4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22F63-24E7-63BC-989E-F0F510E56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9E2F10-83FD-EF7C-1D1A-A73BA93E9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A149-4C5F-8EBF-706A-BB42F3228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B0031D-10A7-37A7-C004-D7A703B5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A7898-B978-1240-2453-1474B6CE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90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3B26-77C3-5369-7CCB-94C6FEB2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4097B-0C84-F087-C15C-6D1736F8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B020E-FCB2-EB05-D8A7-AC9371ED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957CA-7593-8912-E2FB-9B28141A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7987F-1BE5-5A2D-7011-346506C0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4B463-FD08-329B-EEAC-8309EA4E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C7087-CC24-99C9-5529-7DDB1412B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4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ADC9-48F2-7446-08C9-EC69DC23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8E9E6-CDDF-4F0D-571F-B61013D13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CEB03-DAE2-A2C8-6A11-6FF908058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349F0-BC87-6A85-D2AC-4B2D8C6D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B97F4-1AD1-A0DB-1B62-73E7C4ED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55317-2843-6619-C263-304DB6F6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2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842A-C886-BE6D-FBB1-A5807BC3E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3D353-9FF1-EC8C-52AC-0D4147924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126D8-1B04-B37C-6490-BD380B7EF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9604-5675-0259-436D-F41CDFEE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47BBA-4647-5B71-2084-5D1AD1967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93E67-D5E6-B452-7B0E-37BC38B8F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5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4DD4-69E8-FFA4-FD0F-1280A7B1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6515C-6B8C-8273-9441-99BDF49CC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38778-9DCD-32B3-6A74-40B2E4E4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53F2F-CCE9-325C-860C-EFC11390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B6F3A-A84D-AE0A-1FBE-31B2968B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E7B3F-4E7B-5ADE-746A-91AD053AA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4376B-336D-A70B-5794-05E70C7D6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CC2E-EC37-7B48-DE6C-B63ADB6A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968E1-8E67-6CC5-FC18-8A9CCD99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9E9D6-D37E-5D0D-FC47-1FDF08EA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7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83B1C-FE65-B0B6-282F-14C22DD7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F8F7C-64F7-BF24-4C31-71DE7833A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4851B-938F-9A45-E6FE-2B9341E35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22D9F-4F0B-4767-9059-D0BF2E05DB7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851D3-1888-5F95-E6DC-2901404A2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ABF03-1105-A2ED-596A-9C640F34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D18FD-4248-418C-A37C-4F3002E4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4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CEFE5-B178-5B9E-C0BE-12D60A0A7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br>
              <a:rPr lang="en-PH" sz="6100" b="1"/>
            </a:br>
            <a:br>
              <a:rPr lang="en-US" sz="6100"/>
            </a:br>
            <a:r>
              <a:rPr lang="en-PH" sz="6100" b="1"/>
              <a:t>Community and Ecosystem Ecology</a:t>
            </a:r>
            <a:endParaRPr lang="en-US" sz="6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8AA7E-9E37-FA2E-F46A-229E41297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PH" b="1" dirty="0"/>
              <a:t>Lesson 3</a:t>
            </a:r>
            <a:endParaRPr lang="en-US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eciduous tree">
            <a:extLst>
              <a:ext uri="{FF2B5EF4-FFF2-40B4-BE49-F238E27FC236}">
                <a16:creationId xmlns:a16="http://schemas.microsoft.com/office/drawing/2014/main" id="{F098B469-3530-E4D8-FD80-5B136F1F5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1544" y="1267079"/>
            <a:ext cx="4087368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5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3BEC4-BC11-15F5-54DF-AD488022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br>
              <a:rPr lang="en-PH" sz="2500" b="1">
                <a:solidFill>
                  <a:srgbClr val="FFFFFF"/>
                </a:solidFill>
              </a:rPr>
            </a:br>
            <a:br>
              <a:rPr lang="en-PH" sz="2500" b="1">
                <a:solidFill>
                  <a:srgbClr val="FFFFFF"/>
                </a:solidFill>
              </a:rPr>
            </a:br>
            <a:r>
              <a:rPr lang="en-PH" sz="2500" b="1">
                <a:solidFill>
                  <a:srgbClr val="FFFFFF"/>
                </a:solidFill>
              </a:rPr>
              <a:t>Community and Ecosystem Ecology</a:t>
            </a:r>
            <a:br>
              <a:rPr lang="en-US" sz="2500">
                <a:solidFill>
                  <a:srgbClr val="FFFFFF"/>
                </a:solidFill>
              </a:rPr>
            </a:br>
            <a:br>
              <a:rPr lang="en-US" sz="2500">
                <a:solidFill>
                  <a:srgbClr val="FFFFFF"/>
                </a:solidFill>
              </a:rPr>
            </a:br>
            <a:endParaRPr lang="en-US" sz="250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AD78C30-E1CD-6E35-F8D7-33CEC2137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1753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363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1AFBD-925A-674B-E546-D60C495C2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1EC7B-F575-8B7A-D2E2-F766358E3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 lnSpcReduction="10000"/>
          </a:bodyPr>
          <a:lstStyle/>
          <a:p>
            <a:pPr marL="0" indent="0" fontAlgn="t">
              <a:buNone/>
            </a:pPr>
            <a:r>
              <a:rPr lang="en-US" dirty="0"/>
              <a:t>At the end of the lesson, students should be able to:</a:t>
            </a:r>
          </a:p>
          <a:p>
            <a:pPr marL="514350" indent="-514350" fontAlgn="t">
              <a:buFont typeface="+mj-lt"/>
              <a:buAutoNum type="arabicPeriod"/>
            </a:pPr>
            <a:r>
              <a:rPr lang="en-US" dirty="0"/>
              <a:t>Describe </a:t>
            </a:r>
            <a:r>
              <a:rPr lang="en-US" b="1" dirty="0"/>
              <a:t>community structure</a:t>
            </a:r>
            <a:r>
              <a:rPr lang="en-US" dirty="0"/>
              <a:t> and its components.</a:t>
            </a:r>
          </a:p>
          <a:p>
            <a:pPr marL="514350" indent="-514350" fontAlgn="t">
              <a:buFont typeface="+mj-lt"/>
              <a:buAutoNum type="arabicPeriod"/>
            </a:pPr>
            <a:r>
              <a:rPr lang="en-US" dirty="0"/>
              <a:t>Explain factors that influence </a:t>
            </a:r>
            <a:r>
              <a:rPr lang="en-US" b="1" dirty="0"/>
              <a:t>community dynamics.</a:t>
            </a:r>
            <a:endParaRPr lang="en-US" dirty="0"/>
          </a:p>
          <a:p>
            <a:pPr marL="514350" indent="-514350" fontAlgn="t">
              <a:buFont typeface="+mj-lt"/>
              <a:buAutoNum type="arabicPeriod"/>
            </a:pPr>
            <a:r>
              <a:rPr lang="en-US" dirty="0"/>
              <a:t>Distinguish between </a:t>
            </a:r>
            <a:r>
              <a:rPr lang="en-US" b="1" dirty="0"/>
              <a:t>succession types.</a:t>
            </a:r>
            <a:endParaRPr lang="en-US" dirty="0"/>
          </a:p>
          <a:p>
            <a:pPr marL="514350" indent="-514350" fontAlgn="t">
              <a:buFont typeface="+mj-lt"/>
              <a:buAutoNum type="arabicPeriod"/>
            </a:pPr>
            <a:r>
              <a:rPr lang="en-US" dirty="0"/>
              <a:t>Identify </a:t>
            </a:r>
            <a:r>
              <a:rPr lang="en-US" b="1" dirty="0"/>
              <a:t>different types of interactions </a:t>
            </a:r>
            <a:r>
              <a:rPr lang="en-US" dirty="0"/>
              <a:t>among organisms.</a:t>
            </a:r>
          </a:p>
          <a:p>
            <a:pPr marL="514350" indent="-514350" fontAlgn="t">
              <a:buFont typeface="+mj-lt"/>
              <a:buAutoNum type="arabicPeriod"/>
            </a:pPr>
            <a:r>
              <a:rPr lang="en-US" dirty="0"/>
              <a:t>Illustrate </a:t>
            </a:r>
            <a:r>
              <a:rPr lang="en-US" b="1" dirty="0"/>
              <a:t>the flow of energy and matte</a:t>
            </a:r>
            <a:r>
              <a:rPr lang="en-US" dirty="0"/>
              <a:t>r in ecosystems.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471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FC4DB-5A13-2184-DA80-62EE0F2DD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3"/>
            <a:ext cx="9889797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Community Structure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3742597"/>
            <a:ext cx="12191990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A8DAA-3EDE-1D42-1C63-2C97E23E9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558" y="4307684"/>
            <a:ext cx="9544153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Community structure refers to the </a:t>
            </a:r>
            <a:r>
              <a:rPr lang="en-US"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 and composition of species</a:t>
            </a:r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a community.</a:t>
            </a:r>
          </a:p>
          <a:p>
            <a:endParaRPr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1180" y="41010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2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3A290-FDAE-6C7F-0D40-25441BCA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br>
              <a:rPr lang="en-US" sz="3600" b="1">
                <a:solidFill>
                  <a:schemeClr val="bg1"/>
                </a:solidFill>
              </a:rPr>
            </a:br>
            <a:r>
              <a:rPr lang="en-US" sz="3600" b="1">
                <a:solidFill>
                  <a:schemeClr val="bg1"/>
                </a:solidFill>
              </a:rPr>
              <a:t>Species Richness</a:t>
            </a:r>
            <a:br>
              <a:rPr lang="en-US" sz="3600" b="1">
                <a:solidFill>
                  <a:schemeClr val="bg1"/>
                </a:solidFill>
              </a:rPr>
            </a:b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D71E0-0298-429A-7855-D244968D0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fontAlgn="t"/>
            <a:r>
              <a:rPr lang="en-US" sz="2200" b="1" dirty="0"/>
              <a:t>Species richness </a:t>
            </a:r>
            <a:r>
              <a:rPr lang="en-US" sz="2200" dirty="0"/>
              <a:t>is the </a:t>
            </a:r>
            <a:r>
              <a:rPr lang="en-US" sz="2200" b="1" dirty="0"/>
              <a:t>number of different species</a:t>
            </a:r>
            <a:r>
              <a:rPr lang="en-US" sz="2200" dirty="0"/>
              <a:t> present in each area or ecosystem.</a:t>
            </a:r>
          </a:p>
          <a:p>
            <a:pPr fontAlgn="t"/>
            <a:r>
              <a:rPr lang="en-US" sz="2200" dirty="0"/>
              <a:t>It focuses </a:t>
            </a:r>
            <a:r>
              <a:rPr lang="en-US" sz="2200" b="1" dirty="0"/>
              <a:t>only on the count</a:t>
            </a:r>
            <a:r>
              <a:rPr lang="en-US" sz="2200" dirty="0"/>
              <a:t>, not how many individuals each species has.</a:t>
            </a:r>
          </a:p>
          <a:p>
            <a:pPr fontAlgn="t"/>
            <a:r>
              <a:rPr lang="en-US" sz="2200" dirty="0"/>
              <a:t>Higher richness = more variety of species.</a:t>
            </a:r>
          </a:p>
          <a:p>
            <a:pPr fontAlgn="t"/>
            <a:endParaRPr lang="en-US" sz="2200" dirty="0"/>
          </a:p>
          <a:p>
            <a:pPr marL="0" indent="0" fontAlgn="t">
              <a:buNone/>
            </a:pPr>
            <a:r>
              <a:rPr lang="en-US" sz="2200" b="1" dirty="0"/>
              <a:t>Example:</a:t>
            </a:r>
            <a:br>
              <a:rPr lang="en-US" sz="2200" dirty="0"/>
            </a:br>
            <a:r>
              <a:rPr lang="en-US" sz="2200" dirty="0"/>
              <a:t>If a forest has:</a:t>
            </a:r>
          </a:p>
          <a:p>
            <a:pPr fontAlgn="t"/>
            <a:r>
              <a:rPr lang="en-US" sz="2200" dirty="0"/>
              <a:t>5 species of trees → Species richness = </a:t>
            </a:r>
            <a:r>
              <a:rPr lang="en-US" sz="2200" b="1" dirty="0"/>
              <a:t>5</a:t>
            </a:r>
            <a:endParaRPr lang="en-US" sz="2200" dirty="0"/>
          </a:p>
          <a:p>
            <a:pPr marL="0" indent="0" fontAlgn="t">
              <a:buNone/>
            </a:pPr>
            <a:r>
              <a:rPr lang="en-US" sz="2200" b="1" dirty="0"/>
              <a:t>Importance:</a:t>
            </a:r>
            <a:endParaRPr lang="en-US" sz="2200" dirty="0"/>
          </a:p>
          <a:p>
            <a:pPr fontAlgn="t">
              <a:lnSpc>
                <a:spcPts val="1500"/>
              </a:lnSpc>
            </a:pPr>
            <a:r>
              <a:rPr lang="en-US" sz="2200" dirty="0"/>
              <a:t>Species richness tells us how diverse an ecosystem is.</a:t>
            </a:r>
          </a:p>
          <a:p>
            <a:pPr fontAlgn="t"/>
            <a:r>
              <a:rPr lang="en-US" sz="2200" dirty="0"/>
              <a:t>Helps assess ecosystem health (more species often = more stable ecosystem).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7478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B4CCC-8BE9-352A-7BAE-561821BA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br>
              <a:rPr lang="en-US" sz="3100" b="1" dirty="0">
                <a:solidFill>
                  <a:schemeClr val="bg1"/>
                </a:solidFill>
              </a:rPr>
            </a:br>
            <a:r>
              <a:rPr lang="en-US" sz="3100" b="1" dirty="0">
                <a:solidFill>
                  <a:schemeClr val="bg1"/>
                </a:solidFill>
              </a:rPr>
              <a:t>Relative Species Abundance</a:t>
            </a:r>
            <a:br>
              <a:rPr lang="en-US" sz="3100" b="1" dirty="0">
                <a:solidFill>
                  <a:schemeClr val="bg1"/>
                </a:solidFill>
              </a:rPr>
            </a:b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E4DD91-1441-7B4F-5187-518228DA3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4732" y="850052"/>
                <a:ext cx="6390623" cy="5326911"/>
              </a:xfrm>
            </p:spPr>
            <p:txBody>
              <a:bodyPr>
                <a:normAutofit/>
              </a:bodyPr>
              <a:lstStyle/>
              <a:p>
                <a:pPr fontAlgn="t"/>
                <a:r>
                  <a:rPr lang="en-US" sz="2400" b="1" dirty="0"/>
                  <a:t>Relative species abundance </a:t>
                </a:r>
                <a:r>
                  <a:rPr lang="en-US" sz="2400" dirty="0"/>
                  <a:t>refers to </a:t>
                </a:r>
                <a:r>
                  <a:rPr lang="en-US" sz="2400" b="1" dirty="0"/>
                  <a:t>how many individuals each species has compared to the total number of individuals in the ecosystem</a:t>
                </a:r>
                <a:r>
                  <a:rPr lang="en-US" sz="2400" dirty="0"/>
                  <a:t>.</a:t>
                </a:r>
              </a:p>
              <a:p>
                <a:pPr fontAlgn="t"/>
                <a:endParaRPr lang="en-US" sz="2400" dirty="0"/>
              </a:p>
              <a:p>
                <a:pPr marL="0" indent="0" fontAlgn="t">
                  <a:buNone/>
                </a:pPr>
                <a:r>
                  <a:rPr lang="en-US" sz="1600" b="1" dirty="0"/>
                  <a:t>Formula: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0" i="0"/>
                      <m:t>Relative</m:t>
                    </m:r>
                    <m:r>
                      <m:rPr>
                        <m:nor/>
                      </m:rPr>
                      <a:rPr lang="en-US" sz="1600" b="0" i="0"/>
                      <m:t> </m:t>
                    </m:r>
                    <m:r>
                      <m:rPr>
                        <m:nor/>
                      </m:rPr>
                      <a:rPr lang="en-US" sz="1600" b="0" i="0"/>
                      <m:t>Abundance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i="0"/>
                          <m:t>Number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of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individuals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of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a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species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i="0"/>
                          <m:t>Total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number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of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individuals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of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all</m:t>
                        </m:r>
                        <m:r>
                          <m:rPr>
                            <m:nor/>
                          </m:rPr>
                          <a:rPr lang="en-US" sz="1600" i="0"/>
                          <m:t> </m:t>
                        </m:r>
                        <m:r>
                          <m:rPr>
                            <m:nor/>
                          </m:rPr>
                          <a:rPr lang="en-US" sz="1600" i="0"/>
                          <m:t>species</m:t>
                        </m:r>
                      </m:den>
                    </m:f>
                  </m:oMath>
                </a14:m>
                <a:endParaRPr lang="en-US" sz="2400" b="0" dirty="0"/>
              </a:p>
              <a:p>
                <a:endParaRPr lang="en-US" sz="2400" b="0" dirty="0"/>
              </a:p>
              <a:p>
                <a:pPr fontAlgn="t"/>
                <a:r>
                  <a:rPr lang="en-US" sz="2400" dirty="0"/>
                  <a:t>Shows </a:t>
                </a:r>
                <a:r>
                  <a:rPr lang="en-US" sz="2400" b="1" dirty="0"/>
                  <a:t>distribution or evenness</a:t>
                </a:r>
                <a:r>
                  <a:rPr lang="en-US" sz="2400" dirty="0"/>
                  <a:t> of species.</a:t>
                </a:r>
              </a:p>
              <a:p>
                <a:pPr fontAlgn="t"/>
                <a:r>
                  <a:rPr lang="en-US" sz="2400" dirty="0"/>
                  <a:t>Tells whether a species is </a:t>
                </a:r>
                <a:r>
                  <a:rPr lang="en-US" sz="2400" b="1" dirty="0"/>
                  <a:t>common or rare</a:t>
                </a:r>
                <a:r>
                  <a:rPr lang="en-US" sz="2400" dirty="0"/>
                  <a:t>.</a:t>
                </a:r>
              </a:p>
              <a:p>
                <a:pPr fontAlgn="t"/>
                <a:r>
                  <a:rPr lang="en-US" sz="2400" dirty="0"/>
                  <a:t>Tells us how many individuals of each species are present. </a:t>
                </a:r>
              </a:p>
              <a:p>
                <a:pPr fontAlgn="t"/>
                <a:endParaRPr lang="en-US" sz="2400" dirty="0"/>
              </a:p>
              <a:p>
                <a:pPr fontAlgn="t"/>
                <a:endParaRPr lang="en-US" sz="2400" dirty="0"/>
              </a:p>
              <a:p>
                <a:pPr fontAlgn="t"/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E4DD91-1441-7B4F-5187-518228DA3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4732" y="850052"/>
                <a:ext cx="6390623" cy="5326911"/>
              </a:xfrm>
              <a:blipFill>
                <a:blip r:embed="rId2"/>
                <a:stretch>
                  <a:fillRect l="-1336" t="-1487" r="-2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724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64F65-7082-1CF9-1574-AD5E1252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Example: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3B82-7EE9-1610-D035-C98FBC3A0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 fontScale="85000" lnSpcReduction="20000"/>
          </a:bodyPr>
          <a:lstStyle/>
          <a:p>
            <a:pPr marL="0" indent="0" fontAlgn="t">
              <a:buNone/>
            </a:pPr>
            <a:r>
              <a:rPr lang="en-US" sz="2400" dirty="0"/>
              <a:t>In a sample with 100 organisms:</a:t>
            </a:r>
          </a:p>
          <a:p>
            <a:pPr fontAlgn="t"/>
            <a:r>
              <a:rPr lang="en-US" sz="2400" dirty="0"/>
              <a:t>Species A = 70 individuals → 70%</a:t>
            </a:r>
          </a:p>
          <a:p>
            <a:pPr fontAlgn="t"/>
            <a:r>
              <a:rPr lang="en-US" sz="2400" dirty="0"/>
              <a:t>Species B = 20 individuals → 20%</a:t>
            </a:r>
          </a:p>
          <a:p>
            <a:pPr fontAlgn="t"/>
            <a:r>
              <a:rPr lang="en-US" sz="2400" dirty="0"/>
              <a:t>Species C = 10 individuals → 10%</a:t>
            </a:r>
          </a:p>
          <a:p>
            <a:pPr fontAlgn="t"/>
            <a:endParaRPr lang="en-US" sz="2400" dirty="0"/>
          </a:p>
          <a:p>
            <a:pPr fontAlgn="t">
              <a:lnSpc>
                <a:spcPts val="1500"/>
              </a:lnSpc>
            </a:pPr>
            <a:r>
              <a:rPr lang="en-US" sz="2400" b="1" dirty="0">
                <a:latin typeface="+mj-lt"/>
              </a:rPr>
              <a:t>Species richness = 3</a:t>
            </a:r>
            <a:r>
              <a:rPr lang="en-US" sz="2400" dirty="0">
                <a:latin typeface="+mj-lt"/>
              </a:rPr>
              <a:t> (there are 3 different species).</a:t>
            </a:r>
          </a:p>
          <a:p>
            <a:pPr fontAlgn="t">
              <a:lnSpc>
                <a:spcPts val="1500"/>
              </a:lnSpc>
            </a:pPr>
            <a:endParaRPr lang="en-US" sz="2400" dirty="0">
              <a:latin typeface="+mj-lt"/>
            </a:endParaRPr>
          </a:p>
          <a:p>
            <a:pPr fontAlgn="t">
              <a:lnSpc>
                <a:spcPts val="1500"/>
              </a:lnSpc>
            </a:pPr>
            <a:r>
              <a:rPr lang="en-US" sz="2400" b="1" dirty="0"/>
              <a:t>Species abundance</a:t>
            </a:r>
            <a:r>
              <a:rPr lang="en-US" sz="2400" dirty="0"/>
              <a:t> is uneven: </a:t>
            </a:r>
          </a:p>
          <a:p>
            <a:pPr lvl="1" fontAlgn="t">
              <a:lnSpc>
                <a:spcPts val="1500"/>
              </a:lnSpc>
            </a:pPr>
            <a:r>
              <a:rPr lang="en-US" dirty="0"/>
              <a:t>Species A = 70%</a:t>
            </a:r>
          </a:p>
          <a:p>
            <a:pPr lvl="1" fontAlgn="t">
              <a:lnSpc>
                <a:spcPts val="1500"/>
              </a:lnSpc>
            </a:pPr>
            <a:r>
              <a:rPr lang="en-US" dirty="0">
                <a:latin typeface="+mj-lt"/>
              </a:rPr>
              <a:t> Species B = 20%</a:t>
            </a:r>
          </a:p>
          <a:p>
            <a:pPr lvl="1" fontAlgn="t">
              <a:lnSpc>
                <a:spcPts val="1500"/>
              </a:lnSpc>
            </a:pPr>
            <a:r>
              <a:rPr lang="en-US" dirty="0">
                <a:latin typeface="+mj-lt"/>
              </a:rPr>
              <a:t>Species C = 10%</a:t>
            </a:r>
          </a:p>
          <a:p>
            <a:endParaRPr lang="en-US" sz="2400" dirty="0"/>
          </a:p>
          <a:p>
            <a:pPr fontAlgn="t">
              <a:lnSpc>
                <a:spcPts val="1500"/>
              </a:lnSpc>
              <a:buNone/>
            </a:pPr>
            <a:r>
              <a:rPr lang="en-US" sz="2400" dirty="0"/>
              <a:t>Although the sample has a species richness of 3, the uneven abundance shows low species evenness, meaning one species is much more common than the others.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2400" dirty="0"/>
              <a:t>This suggests </a:t>
            </a:r>
            <a:r>
              <a:rPr lang="en-US" sz="2400" b="1" dirty="0"/>
              <a:t>lower overall biodiversity </a:t>
            </a:r>
            <a:r>
              <a:rPr lang="en-US" sz="2400" dirty="0"/>
              <a:t>compared to a community where all three species have similar abundances.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581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7EE2E-C261-08E7-EE94-DC69DB85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4900" b="1" dirty="0">
                <a:solidFill>
                  <a:schemeClr val="bg1"/>
                </a:solidFill>
              </a:rPr>
              <a:t>DOMINANT SPECIES</a:t>
            </a:r>
            <a:br>
              <a:rPr lang="en-US" sz="19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AB4C-07B8-FAA0-4CC0-758C239C7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/>
            <a:r>
              <a:rPr lang="en-US" sz="3200" dirty="0"/>
              <a:t>Species with the </a:t>
            </a:r>
            <a:r>
              <a:rPr lang="en-US" sz="3200" b="1" dirty="0"/>
              <a:t>highest abundance or biomass.</a:t>
            </a:r>
            <a:endParaRPr lang="en-US" sz="3200" dirty="0"/>
          </a:p>
          <a:p>
            <a:pPr fontAlgn="t"/>
            <a:r>
              <a:rPr lang="en-US" sz="3200" b="1" dirty="0"/>
              <a:t>Strong influence </a:t>
            </a:r>
            <a:r>
              <a:rPr lang="en-US" sz="3200" dirty="0"/>
              <a:t>on the environment and other species.</a:t>
            </a:r>
          </a:p>
          <a:p>
            <a:pPr lvl="1" fontAlgn="t"/>
            <a:r>
              <a:rPr lang="en-US" sz="3200" dirty="0"/>
              <a:t>Dominant species affect:</a:t>
            </a:r>
          </a:p>
          <a:p>
            <a:pPr lvl="2" fontAlgn="t"/>
            <a:r>
              <a:rPr lang="en-US" sz="3200" dirty="0"/>
              <a:t>Resource availability (light, water, nutrients)</a:t>
            </a:r>
          </a:p>
          <a:p>
            <a:pPr lvl="2" fontAlgn="t"/>
            <a:r>
              <a:rPr lang="en-US" sz="3200" dirty="0"/>
              <a:t>Habitat structure</a:t>
            </a:r>
          </a:p>
          <a:p>
            <a:pPr lvl="2" fontAlgn="t"/>
            <a:r>
              <a:rPr lang="en-US" sz="3200" dirty="0"/>
              <a:t>Other species’ survival and distribution</a:t>
            </a:r>
          </a:p>
          <a:p>
            <a:pPr lvl="1" fontAlgn="t"/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943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16D46-FA44-68CC-6AAD-ABEE3666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  <a:solidFill>
            <a:schemeClr val="bg1"/>
          </a:solidFill>
        </p:spPr>
        <p:txBody>
          <a:bodyPr anchor="t">
            <a:normAutofit fontScale="90000"/>
          </a:bodyPr>
          <a:lstStyle/>
          <a:p>
            <a:r>
              <a:rPr lang="en-US" dirty="0"/>
              <a:t>How Dominant Species Shape Communities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0C9F8-06C9-2A44-39EB-ADFB67BD1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50605"/>
          </a:xfrm>
        </p:spPr>
        <p:txBody>
          <a:bodyPr>
            <a:normAutofit fontScale="92500" lnSpcReduction="20000"/>
          </a:bodyPr>
          <a:lstStyle/>
          <a:p>
            <a:pPr marL="0" indent="0" fontAlgn="t">
              <a:buNone/>
            </a:pPr>
            <a:r>
              <a:rPr lang="en-US" sz="3000" b="1" dirty="0"/>
              <a:t>1. Resource Control</a:t>
            </a:r>
          </a:p>
          <a:p>
            <a:pPr lvl="1" fontAlgn="t"/>
            <a:r>
              <a:rPr lang="en-US" sz="2600" dirty="0"/>
              <a:t>Dominant species often monopolize important resources:</a:t>
            </a:r>
          </a:p>
          <a:p>
            <a:pPr lvl="2" fontAlgn="t"/>
            <a:r>
              <a:rPr lang="en-US" sz="1900" dirty="0"/>
              <a:t>Light (tall trees block sunlight)</a:t>
            </a:r>
          </a:p>
          <a:p>
            <a:pPr lvl="2" fontAlgn="t"/>
            <a:r>
              <a:rPr lang="en-US" sz="1900" dirty="0"/>
              <a:t>Water (deep-rooted plants access more water)</a:t>
            </a:r>
          </a:p>
          <a:p>
            <a:pPr lvl="2" fontAlgn="t"/>
            <a:r>
              <a:rPr lang="en-US" sz="1900" dirty="0"/>
              <a:t>Nutrients (fast-growing plants absorb more nutrients)</a:t>
            </a:r>
          </a:p>
          <a:p>
            <a:pPr marL="0" indent="0" fontAlgn="t">
              <a:buNone/>
            </a:pPr>
            <a:r>
              <a:rPr lang="en-US" sz="3000" dirty="0"/>
              <a:t>Result: Limits the growth of other species</a:t>
            </a:r>
          </a:p>
          <a:p>
            <a:pPr marL="0" indent="0" fontAlgn="t">
              <a:buNone/>
            </a:pPr>
            <a:br>
              <a:rPr lang="en-US" sz="3000" dirty="0"/>
            </a:br>
            <a:r>
              <a:rPr lang="en-US" sz="3000" b="1" dirty="0"/>
              <a:t>2. Habitat Formation</a:t>
            </a:r>
          </a:p>
          <a:p>
            <a:pPr lvl="1" fontAlgn="t"/>
            <a:r>
              <a:rPr lang="en-US" sz="2600" dirty="0"/>
              <a:t>They create </a:t>
            </a:r>
            <a:r>
              <a:rPr lang="en-US" sz="2600" b="1" dirty="0"/>
              <a:t>physical environments</a:t>
            </a:r>
            <a:r>
              <a:rPr lang="en-US" sz="2600" dirty="0"/>
              <a:t> where other organisms live.</a:t>
            </a:r>
          </a:p>
          <a:p>
            <a:pPr marL="0" indent="0" fontAlgn="t">
              <a:buNone/>
            </a:pPr>
            <a:r>
              <a:rPr lang="en-US" sz="3000" dirty="0"/>
              <a:t>Example:</a:t>
            </a:r>
          </a:p>
          <a:p>
            <a:pPr lvl="1" fontAlgn="t"/>
            <a:r>
              <a:rPr lang="en-US" sz="2600" dirty="0"/>
              <a:t>Trees provide shelter, nesting areas, and shade.</a:t>
            </a:r>
          </a:p>
          <a:p>
            <a:pPr lvl="1" fontAlgn="t"/>
            <a:r>
              <a:rPr lang="en-US" sz="2600" dirty="0"/>
              <a:t>Corals create reefs where fish live.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5623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42F47A-0DB3-CBFD-A58F-2065131A4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  <a:solidFill>
            <a:schemeClr val="bg1"/>
          </a:solidFill>
        </p:spPr>
        <p:txBody>
          <a:bodyPr anchor="t">
            <a:normAutofit/>
          </a:bodyPr>
          <a:lstStyle/>
          <a:p>
            <a:r>
              <a:rPr lang="en-US" sz="4000" dirty="0"/>
              <a:t>How Dominant Species Shape Communities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8A8B8-9081-BEF0-8D27-7AAFAC1F1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137738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b="1" dirty="0"/>
              <a:t>3. Food Web Influence</a:t>
            </a:r>
          </a:p>
          <a:p>
            <a:pPr lvl="1" fontAlgn="t"/>
            <a:r>
              <a:rPr lang="en-US" dirty="0"/>
              <a:t>They often serve as a </a:t>
            </a:r>
            <a:r>
              <a:rPr lang="en-US" b="1" dirty="0"/>
              <a:t>primary food source.</a:t>
            </a:r>
            <a:endParaRPr lang="en-US" dirty="0"/>
          </a:p>
          <a:p>
            <a:pPr lvl="1" fontAlgn="t"/>
            <a:r>
              <a:rPr lang="en-US" dirty="0"/>
              <a:t>Affect energy flow in the ecosystem.</a:t>
            </a:r>
          </a:p>
          <a:p>
            <a:pPr marL="0" indent="0" fontAlgn="t">
              <a:buNone/>
            </a:pPr>
            <a:r>
              <a:rPr lang="en-US" dirty="0"/>
              <a:t>Example:</a:t>
            </a:r>
          </a:p>
          <a:p>
            <a:pPr lvl="1" fontAlgn="t"/>
            <a:r>
              <a:rPr lang="en-US" dirty="0"/>
              <a:t>Grass → eaten by herbivores → supports predators</a:t>
            </a:r>
          </a:p>
          <a:p>
            <a:pPr fontAlgn="t"/>
            <a:endParaRPr lang="en-US" dirty="0"/>
          </a:p>
          <a:p>
            <a:pPr marL="0" indent="0" fontAlgn="t">
              <a:buNone/>
            </a:pPr>
            <a:r>
              <a:rPr lang="en-US" b="1" dirty="0"/>
              <a:t>4. Community Stability</a:t>
            </a:r>
          </a:p>
          <a:p>
            <a:pPr lvl="1" fontAlgn="t"/>
            <a:r>
              <a:rPr lang="en-US" dirty="0"/>
              <a:t>Their presence helps maintain </a:t>
            </a:r>
            <a:r>
              <a:rPr lang="en-US" b="1" dirty="0"/>
              <a:t>balance.</a:t>
            </a:r>
            <a:endParaRPr lang="en-US" dirty="0"/>
          </a:p>
          <a:p>
            <a:pPr lvl="1" fontAlgn="t"/>
            <a:r>
              <a:rPr lang="en-US" dirty="0"/>
              <a:t>Removing them may cause major changes.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6801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D26CC-B7B3-AE87-C6B4-551530CA6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Examples of Dominant Species</a:t>
            </a:r>
            <a:br>
              <a:rPr lang="en-US" sz="4000" dirty="0"/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1E846B-C48E-EF1B-5550-04887B21C0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832605"/>
              </p:ext>
            </p:extLst>
          </p:nvPr>
        </p:nvGraphicFramePr>
        <p:xfrm>
          <a:off x="914400" y="2277918"/>
          <a:ext cx="10931010" cy="4358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15332">
                  <a:extLst>
                    <a:ext uri="{9D8B030D-6E8A-4147-A177-3AD203B41FA5}">
                      <a16:colId xmlns:a16="http://schemas.microsoft.com/office/drawing/2014/main" val="128611799"/>
                    </a:ext>
                  </a:extLst>
                </a:gridCol>
                <a:gridCol w="3577236">
                  <a:extLst>
                    <a:ext uri="{9D8B030D-6E8A-4147-A177-3AD203B41FA5}">
                      <a16:colId xmlns:a16="http://schemas.microsoft.com/office/drawing/2014/main" val="1392289799"/>
                    </a:ext>
                  </a:extLst>
                </a:gridCol>
                <a:gridCol w="5138442">
                  <a:extLst>
                    <a:ext uri="{9D8B030D-6E8A-4147-A177-3AD203B41FA5}">
                      <a16:colId xmlns:a16="http://schemas.microsoft.com/office/drawing/2014/main" val="2529286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2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Dominant 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715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Oak or pine trees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Control light, provide habitat.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339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Grassland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Grasses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Main food source for herbivores.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622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Coral reef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Corals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Form physical structure of ecosystem.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1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Phytoplankton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Base of food 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952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198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3EB78-58AA-6EB3-6DA1-B7670D453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637762"/>
            <a:ext cx="2757699" cy="5576770"/>
          </a:xfrm>
        </p:spPr>
        <p:txBody>
          <a:bodyPr anchor="t">
            <a:norm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FOUNDATION SPECIES</a:t>
            </a:r>
            <a:br>
              <a:rPr lang="en-US" sz="3300" b="1" dirty="0">
                <a:solidFill>
                  <a:schemeClr val="bg1"/>
                </a:solidFill>
              </a:rPr>
            </a:br>
            <a:endParaRPr lang="en-US" sz="33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44FC5-9CE7-2D8F-545D-D2E7DBE52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fontAlgn="t"/>
            <a:r>
              <a:rPr lang="en-US" sz="2200" dirty="0"/>
              <a:t>A </a:t>
            </a:r>
            <a:r>
              <a:rPr lang="en-US" sz="2200" b="1" dirty="0"/>
              <a:t>foundation species</a:t>
            </a:r>
            <a:r>
              <a:rPr lang="en-US" sz="2200" dirty="0"/>
              <a:t> is a species that </a:t>
            </a:r>
            <a:r>
              <a:rPr lang="en-US" sz="2200" b="1" dirty="0"/>
              <a:t>creates, shapes, or maintains </a:t>
            </a:r>
            <a:r>
              <a:rPr lang="en-US" sz="2200" dirty="0"/>
              <a:t>the</a:t>
            </a:r>
            <a:r>
              <a:rPr lang="en-US" sz="2200" b="1" dirty="0"/>
              <a:t> habitat</a:t>
            </a:r>
            <a:r>
              <a:rPr lang="en-US" sz="2200" dirty="0"/>
              <a:t> for other organisms.</a:t>
            </a:r>
          </a:p>
          <a:p>
            <a:pPr fontAlgn="t"/>
            <a:endParaRPr lang="en-US" sz="2200" dirty="0"/>
          </a:p>
          <a:p>
            <a:pPr marL="0" indent="0" fontAlgn="t">
              <a:buNone/>
            </a:pPr>
            <a:r>
              <a:rPr lang="en-US" sz="2200" b="1" dirty="0"/>
              <a:t>Key Characteristics:</a:t>
            </a:r>
          </a:p>
          <a:p>
            <a:pPr fontAlgn="t"/>
            <a:r>
              <a:rPr lang="en-US" sz="2200" dirty="0"/>
              <a:t>Usually </a:t>
            </a:r>
            <a:r>
              <a:rPr lang="en-US" sz="2200" b="1" dirty="0"/>
              <a:t>abundant and dominant</a:t>
            </a:r>
            <a:r>
              <a:rPr lang="en-US" sz="2200" dirty="0"/>
              <a:t> in the ecosystem.</a:t>
            </a:r>
          </a:p>
          <a:p>
            <a:pPr fontAlgn="t"/>
            <a:r>
              <a:rPr lang="en-US" sz="2200" b="1" dirty="0"/>
              <a:t>Physically shapes the environment.</a:t>
            </a:r>
            <a:endParaRPr lang="en-US" sz="2200" dirty="0"/>
          </a:p>
          <a:p>
            <a:pPr fontAlgn="t"/>
            <a:r>
              <a:rPr lang="en-US" sz="2200" dirty="0"/>
              <a:t>Creates </a:t>
            </a:r>
            <a:r>
              <a:rPr lang="en-US" sz="2200" b="1" dirty="0"/>
              <a:t>habitat or shelter</a:t>
            </a:r>
            <a:r>
              <a:rPr lang="en-US" sz="2200" dirty="0"/>
              <a:t> for other species.</a:t>
            </a:r>
          </a:p>
          <a:p>
            <a:pPr fontAlgn="t"/>
            <a:r>
              <a:rPr lang="en-US" sz="2200" dirty="0"/>
              <a:t>Influences </a:t>
            </a:r>
            <a:r>
              <a:rPr lang="en-US" sz="2200" b="1" dirty="0"/>
              <a:t>biodiversity indirectly.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9717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DC304-5BC3-0FAC-1170-A71109CA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Examples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BF9EE-0751-98E8-3E5F-11BDAF50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2000" b="1" dirty="0"/>
              <a:t>1. Trees in a Forest</a:t>
            </a:r>
          </a:p>
          <a:p>
            <a:pPr fontAlgn="t"/>
            <a:r>
              <a:rPr lang="en-US" sz="2000" dirty="0"/>
              <a:t>Example: Oak or pine trees</a:t>
            </a:r>
          </a:p>
          <a:p>
            <a:pPr fontAlgn="t"/>
            <a:r>
              <a:rPr lang="en-US" sz="2000" dirty="0"/>
              <a:t>Provide: </a:t>
            </a:r>
          </a:p>
          <a:p>
            <a:pPr lvl="1" fontAlgn="t"/>
            <a:r>
              <a:rPr lang="en-US" sz="2000" dirty="0"/>
              <a:t>Shelter for animals</a:t>
            </a:r>
          </a:p>
          <a:p>
            <a:pPr lvl="1" fontAlgn="t"/>
            <a:r>
              <a:rPr lang="en-US" sz="2000" dirty="0"/>
              <a:t>Shade controlling temperature</a:t>
            </a:r>
          </a:p>
          <a:p>
            <a:pPr lvl="1" fontAlgn="t"/>
            <a:r>
              <a:rPr lang="en-US" sz="2000" dirty="0"/>
              <a:t>Nutrients through leaf litter</a:t>
            </a:r>
          </a:p>
          <a:p>
            <a:pPr fontAlgn="t"/>
            <a:r>
              <a:rPr lang="en-US" sz="2000" dirty="0"/>
              <a:t>Without them → forest ecosystem would collapse</a:t>
            </a:r>
          </a:p>
          <a:p>
            <a:pPr fontAlgn="t"/>
            <a:endParaRPr lang="en-US" sz="2000" dirty="0"/>
          </a:p>
          <a:p>
            <a:pPr marL="0" indent="0" fontAlgn="t">
              <a:buNone/>
            </a:pPr>
            <a:r>
              <a:rPr lang="en-US" sz="2000" b="1" dirty="0"/>
              <a:t>2. Coral in Coral Reefs</a:t>
            </a:r>
          </a:p>
          <a:p>
            <a:pPr fontAlgn="t"/>
            <a:r>
              <a:rPr lang="en-US" sz="2000" dirty="0"/>
              <a:t>Coral builds the </a:t>
            </a:r>
            <a:r>
              <a:rPr lang="en-US" sz="2000" b="1" dirty="0"/>
              <a:t>reef structure</a:t>
            </a:r>
            <a:endParaRPr lang="en-US" sz="2000" dirty="0"/>
          </a:p>
          <a:p>
            <a:pPr fontAlgn="t"/>
            <a:r>
              <a:rPr lang="en-US" sz="2000" dirty="0"/>
              <a:t>Provides habitat for: </a:t>
            </a:r>
          </a:p>
          <a:p>
            <a:pPr lvl="1" fontAlgn="t"/>
            <a:r>
              <a:rPr lang="en-US" sz="2000" dirty="0"/>
              <a:t>Fish</a:t>
            </a:r>
          </a:p>
          <a:p>
            <a:pPr lvl="1" fontAlgn="t"/>
            <a:r>
              <a:rPr lang="en-US" sz="2000" dirty="0"/>
              <a:t>Invertebrates</a:t>
            </a:r>
          </a:p>
          <a:p>
            <a:pPr lvl="1" fontAlgn="t"/>
            <a:r>
              <a:rPr lang="en-US" sz="2000" dirty="0"/>
              <a:t>Algae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7349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659DB-874E-3EBD-EF29-9D7CC99AB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Examples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82FB5-31BF-3999-830C-190723CDD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2400" b="1" dirty="0"/>
              <a:t>3. Seagrass in Marine Ecosystems</a:t>
            </a:r>
          </a:p>
          <a:p>
            <a:pPr fontAlgn="t"/>
            <a:r>
              <a:rPr lang="en-US" sz="2400" dirty="0"/>
              <a:t>Provides nursery grounds for fish.</a:t>
            </a:r>
          </a:p>
          <a:p>
            <a:pPr fontAlgn="t"/>
            <a:r>
              <a:rPr lang="en-US" sz="2400" dirty="0"/>
              <a:t>Stabilizes ocean floor sediments.</a:t>
            </a:r>
          </a:p>
          <a:p>
            <a:pPr fontAlgn="t"/>
            <a:r>
              <a:rPr lang="en-US" sz="2400" dirty="0"/>
              <a:t>Supports marine food webs.</a:t>
            </a:r>
          </a:p>
          <a:p>
            <a:pPr fontAlgn="t"/>
            <a:endParaRPr lang="en-US" sz="2400" dirty="0"/>
          </a:p>
          <a:p>
            <a:pPr marL="0" indent="0" fontAlgn="t">
              <a:buNone/>
            </a:pPr>
            <a:r>
              <a:rPr lang="en-US" sz="2400" b="1" dirty="0"/>
              <a:t>4. Mangrove Trees</a:t>
            </a:r>
          </a:p>
          <a:p>
            <a:pPr fontAlgn="t"/>
            <a:r>
              <a:rPr lang="en-US" sz="2400" dirty="0"/>
              <a:t>Serve as breeding grounds for aquatic species.</a:t>
            </a:r>
          </a:p>
          <a:p>
            <a:pPr fontAlgn="t"/>
            <a:r>
              <a:rPr lang="en-US" sz="2400" dirty="0"/>
              <a:t>Found in coastal areas.</a:t>
            </a:r>
          </a:p>
          <a:p>
            <a:pPr fontAlgn="t"/>
            <a:r>
              <a:rPr lang="en-US" sz="2400" dirty="0"/>
              <a:t>Protect shorelines from erosion.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1741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2B708-AC81-D6CB-B68B-E622A5DF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KEYSTONE SPECIES</a:t>
            </a:r>
            <a:br>
              <a:rPr lang="en-US" sz="36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E07EB-7EA5-1303-095A-74EE18D70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>
              <a:lnSpc>
                <a:spcPts val="15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A </a:t>
            </a:r>
            <a:r>
              <a:rPr lang="en-US" sz="2400" b="1" dirty="0"/>
              <a:t>keystone species</a:t>
            </a:r>
            <a:r>
              <a:rPr lang="en-US" sz="2400" dirty="0"/>
              <a:t> is a species that has a </a:t>
            </a:r>
            <a:r>
              <a:rPr lang="en-US" sz="2400" b="1" dirty="0"/>
              <a:t>very large impact on its ecosystem relative to its abundance</a:t>
            </a:r>
            <a:r>
              <a:rPr lang="en-US" sz="2400" dirty="0"/>
              <a:t>.</a:t>
            </a: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§"/>
            </a:pPr>
            <a:r>
              <a:rPr lang="en-US" sz="2400" dirty="0"/>
              <a:t>Even if it is not the most common species, its presence helps maintain the balance of the ecosystem</a:t>
            </a:r>
            <a:r>
              <a:rPr lang="en-US" sz="1050" dirty="0"/>
              <a:t>.</a:t>
            </a:r>
          </a:p>
          <a:p>
            <a:pPr fontAlgn="t"/>
            <a:endParaRPr lang="en-US" sz="2400" dirty="0"/>
          </a:p>
          <a:p>
            <a:pPr fontAlgn="t">
              <a:lnSpc>
                <a:spcPts val="1500"/>
              </a:lnSpc>
              <a:buNone/>
            </a:pPr>
            <a:r>
              <a:rPr lang="en-US" sz="2100" b="1" dirty="0"/>
              <a:t>Importance</a:t>
            </a:r>
          </a:p>
          <a:p>
            <a:pPr fontAlgn="t">
              <a:lnSpc>
                <a:spcPts val="1500"/>
              </a:lnSpc>
            </a:pPr>
            <a:r>
              <a:rPr lang="en-US" sz="2100" dirty="0"/>
              <a:t>Controls populations of other species.</a:t>
            </a:r>
          </a:p>
          <a:p>
            <a:pPr fontAlgn="t">
              <a:lnSpc>
                <a:spcPts val="1500"/>
              </a:lnSpc>
            </a:pPr>
            <a:r>
              <a:rPr lang="en-US" sz="2100" dirty="0"/>
              <a:t>Maintains biodiversity.</a:t>
            </a:r>
          </a:p>
          <a:p>
            <a:pPr fontAlgn="t">
              <a:lnSpc>
                <a:spcPts val="1500"/>
              </a:lnSpc>
            </a:pPr>
            <a:r>
              <a:rPr lang="en-US" sz="2100" dirty="0"/>
              <a:t>Prevents one species from dominating the ecosystem.</a:t>
            </a:r>
          </a:p>
          <a:p>
            <a:pPr fontAlgn="t">
              <a:lnSpc>
                <a:spcPts val="1500"/>
              </a:lnSpc>
            </a:pPr>
            <a:r>
              <a:rPr lang="en-US" sz="2100" dirty="0"/>
              <a:t>Supports ecosystem stability.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4325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BFE03-BAB9-B3BD-A2A2-F7DA1A9C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br>
              <a:rPr lang="en-US" sz="1900" dirty="0">
                <a:solidFill>
                  <a:schemeClr val="bg1"/>
                </a:solidFill>
              </a:rPr>
            </a:br>
            <a:r>
              <a:rPr lang="en-US" sz="1900" dirty="0">
                <a:solidFill>
                  <a:schemeClr val="bg1"/>
                </a:solidFill>
              </a:rPr>
              <a:t>Examples: </a:t>
            </a:r>
            <a:br>
              <a:rPr lang="en-US" sz="1900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6529-ADFA-6CF1-A9F9-A133A9C49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389934"/>
          </a:xfrm>
        </p:spPr>
        <p:txBody>
          <a:bodyPr>
            <a:normAutofit lnSpcReduction="10000"/>
          </a:bodyPr>
          <a:lstStyle/>
          <a:p>
            <a:pPr fontAlgn="t">
              <a:buFont typeface="+mj-lt"/>
              <a:buAutoNum type="arabicPeriod"/>
            </a:pPr>
            <a:r>
              <a:rPr lang="en-US" sz="1800" b="1" dirty="0"/>
              <a:t>Sea Otters</a:t>
            </a:r>
            <a:endParaRPr lang="en-US" sz="1800" dirty="0"/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Eat sea urchins.</a:t>
            </a:r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Prevent sea urchins from destroying kelp forests.</a:t>
            </a:r>
          </a:p>
          <a:p>
            <a:pPr marL="742950" lvl="1" indent="-285750" fontAlgn="t">
              <a:buFont typeface="+mj-lt"/>
              <a:buAutoNum type="arabicPeriod"/>
            </a:pPr>
            <a:endParaRPr lang="en-US" sz="900" dirty="0"/>
          </a:p>
          <a:p>
            <a:pPr fontAlgn="t">
              <a:buFont typeface="+mj-lt"/>
              <a:buAutoNum type="arabicPeriod"/>
            </a:pPr>
            <a:r>
              <a:rPr lang="en-US" sz="1800" b="1" dirty="0"/>
              <a:t>Wolves (Yellowstone National Park)</a:t>
            </a:r>
            <a:endParaRPr lang="en-US" sz="1800" dirty="0"/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Control deer and elk populations.</a:t>
            </a:r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Allow vegetation and other animal populations to recover.</a:t>
            </a:r>
          </a:p>
          <a:p>
            <a:pPr marL="742950" lvl="1" indent="-285750" fontAlgn="t">
              <a:buFont typeface="+mj-lt"/>
              <a:buAutoNum type="arabicPeriod"/>
            </a:pPr>
            <a:endParaRPr lang="en-US" sz="1000" dirty="0"/>
          </a:p>
          <a:p>
            <a:pPr fontAlgn="t">
              <a:buFont typeface="+mj-lt"/>
              <a:buAutoNum type="arabicPeriod"/>
            </a:pPr>
            <a:r>
              <a:rPr lang="en-US" sz="1800" b="1" dirty="0"/>
              <a:t>Bees</a:t>
            </a:r>
            <a:endParaRPr lang="en-US" sz="1800" dirty="0"/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Pollinate many flowering plants and crops.</a:t>
            </a:r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Support plant reproduction and food webs.</a:t>
            </a:r>
          </a:p>
          <a:p>
            <a:pPr marL="742950" lvl="1" indent="-285750" fontAlgn="t">
              <a:buFont typeface="+mj-lt"/>
              <a:buAutoNum type="arabicPeriod"/>
            </a:pPr>
            <a:endParaRPr lang="en-US" sz="1000" dirty="0"/>
          </a:p>
          <a:p>
            <a:pPr fontAlgn="t">
              <a:buFont typeface="+mj-lt"/>
              <a:buAutoNum type="arabicPeriod"/>
            </a:pPr>
            <a:r>
              <a:rPr lang="en-US" sz="1800" b="1" dirty="0"/>
              <a:t>Starfish (Pisaster)</a:t>
            </a:r>
            <a:endParaRPr lang="en-US" sz="1800" dirty="0"/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Control mussel populations.</a:t>
            </a:r>
          </a:p>
          <a:p>
            <a:pPr lvl="1" fontAlgn="t">
              <a:buFont typeface="Courier New" panose="02070309020205020404" pitchFamily="49" charset="0"/>
              <a:buChar char="o"/>
            </a:pPr>
            <a:r>
              <a:rPr lang="en-US" sz="1800" dirty="0"/>
              <a:t>Allow many other species to coexist.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52207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98D52-820E-93B8-A30A-3B52357F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What happens if a keystone species is removed?</a:t>
            </a:r>
            <a:br>
              <a:rPr lang="en-US" sz="1900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B468B-1723-0198-9599-B92745109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fontAlgn="t"/>
            <a:r>
              <a:rPr lang="en-US" sz="3200" dirty="0"/>
              <a:t>One species may become overly abundant.</a:t>
            </a:r>
          </a:p>
          <a:p>
            <a:pPr fontAlgn="t"/>
            <a:r>
              <a:rPr lang="en-US" sz="3200" dirty="0"/>
              <a:t>Biodiversity decreases.</a:t>
            </a:r>
          </a:p>
          <a:p>
            <a:pPr fontAlgn="t"/>
            <a:r>
              <a:rPr lang="en-US" sz="3200" dirty="0"/>
              <a:t>Food webs become disrupted.</a:t>
            </a:r>
          </a:p>
          <a:p>
            <a:pPr fontAlgn="t"/>
            <a:r>
              <a:rPr lang="en-US" sz="3200" dirty="0"/>
              <a:t>The ecosystem may partially or completely collapse.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7224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keystone-sea_otter.html 53_17OtterKeystonPredator.jpg">
            <a:extLst>
              <a:ext uri="{FF2B5EF4-FFF2-40B4-BE49-F238E27FC236}">
                <a16:creationId xmlns:a16="http://schemas.microsoft.com/office/drawing/2014/main" id="{D9166C06-448B-4356-B428-2198962D9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80" y="643466"/>
            <a:ext cx="5455496" cy="55668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2514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4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13E02-6C26-1948-B6AE-5F5F1E99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248" y="643467"/>
            <a:ext cx="4359358" cy="55710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nfographic: Wolves Keep Yellowstone in the Balance - Earthjustice">
            <a:extLst>
              <a:ext uri="{FF2B5EF4-FFF2-40B4-BE49-F238E27FC236}">
                <a16:creationId xmlns:a16="http://schemas.microsoft.com/office/drawing/2014/main" id="{FA8FBB66-A371-E00F-3958-6EA540247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67" y="643467"/>
            <a:ext cx="488861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76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26B8D-8676-49FB-A991-C31E3277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Summary of Ecological terms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0A15-B1BC-B6FD-30F2-27EB4618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393" y="2136910"/>
            <a:ext cx="9880893" cy="4640657"/>
          </a:xfrm>
        </p:spPr>
        <p:txBody>
          <a:bodyPr>
            <a:normAutofit fontScale="92500"/>
          </a:bodyPr>
          <a:lstStyle/>
          <a:p>
            <a:pPr fontAlgn="t">
              <a:lnSpc>
                <a:spcPts val="1500"/>
              </a:lnSpc>
            </a:pPr>
            <a:r>
              <a:rPr lang="en-US" sz="2000" b="1" dirty="0"/>
              <a:t>Species Richness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The </a:t>
            </a:r>
            <a:r>
              <a:rPr lang="en-US" sz="1600" b="1" dirty="0"/>
              <a:t>number of different species</a:t>
            </a:r>
            <a:r>
              <a:rPr lang="en-US" sz="1600" dirty="0"/>
              <a:t> present in an ecosystem.</a:t>
            </a:r>
          </a:p>
          <a:p>
            <a:pPr fontAlgn="t">
              <a:lnSpc>
                <a:spcPts val="1500"/>
              </a:lnSpc>
            </a:pPr>
            <a:r>
              <a:rPr lang="en-US" sz="2000" b="1" dirty="0"/>
              <a:t>Relative Species Abundance</a:t>
            </a:r>
            <a:r>
              <a:rPr lang="en-US" sz="2000" dirty="0"/>
              <a:t> 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The </a:t>
            </a:r>
            <a:r>
              <a:rPr lang="en-US" sz="1600" b="1" dirty="0"/>
              <a:t>proportion or percentage of individuals</a:t>
            </a:r>
            <a:r>
              <a:rPr lang="en-US" sz="1600" dirty="0"/>
              <a:t> belonging to each species compared to the total population.</a:t>
            </a:r>
          </a:p>
          <a:p>
            <a:pPr fontAlgn="t">
              <a:lnSpc>
                <a:spcPts val="1500"/>
              </a:lnSpc>
            </a:pPr>
            <a:r>
              <a:rPr lang="en-US" sz="2000" b="1" dirty="0"/>
              <a:t>Dominant Species</a:t>
            </a:r>
            <a:r>
              <a:rPr lang="en-US" sz="2000" dirty="0"/>
              <a:t> 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The species with the </a:t>
            </a:r>
            <a:r>
              <a:rPr lang="en-US" sz="1600" b="1" dirty="0"/>
              <a:t>highest abundance or biomass</a:t>
            </a:r>
            <a:r>
              <a:rPr lang="en-US" sz="1600" dirty="0"/>
              <a:t>, exerting the greatest influence on the community due to its large numbers.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Most numerous but not always ecosystem-shaping.</a:t>
            </a:r>
          </a:p>
          <a:p>
            <a:pPr fontAlgn="t">
              <a:lnSpc>
                <a:spcPts val="1500"/>
              </a:lnSpc>
            </a:pPr>
            <a:r>
              <a:rPr lang="en-US" sz="2000" b="1" dirty="0"/>
              <a:t>Foundation Species</a:t>
            </a:r>
            <a:r>
              <a:rPr lang="en-US" sz="2000" dirty="0"/>
              <a:t> 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A species that </a:t>
            </a:r>
            <a:r>
              <a:rPr lang="en-US" sz="1600" b="1" dirty="0"/>
              <a:t>creates, structures, or maintains a habitat</a:t>
            </a:r>
            <a:r>
              <a:rPr lang="en-US" sz="1600" dirty="0"/>
              <a:t> that supports many other organisms.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Creates or defines habitat </a:t>
            </a:r>
          </a:p>
          <a:p>
            <a:pPr marL="1200150" lvl="2" indent="-285750" fontAlgn="t">
              <a:lnSpc>
                <a:spcPts val="1500"/>
              </a:lnSpc>
            </a:pPr>
            <a:r>
              <a:rPr lang="en-US" sz="1600" dirty="0"/>
              <a:t>Example: Corals in coral reefs, mangroves in coastal ecosystems.</a:t>
            </a:r>
          </a:p>
          <a:p>
            <a:pPr fontAlgn="t">
              <a:lnSpc>
                <a:spcPts val="1500"/>
              </a:lnSpc>
            </a:pPr>
            <a:r>
              <a:rPr lang="en-US" sz="2000" b="1" dirty="0"/>
              <a:t>Keystone Species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A species whose </a:t>
            </a:r>
            <a:r>
              <a:rPr lang="en-US" sz="1600" b="1" dirty="0"/>
              <a:t>impact on the ecosystem is much greater than its abundance</a:t>
            </a:r>
            <a:r>
              <a:rPr lang="en-US" sz="1600" dirty="0"/>
              <a:t>. Removing it can cause major changes in ecosystem structure and biodiversity.</a:t>
            </a:r>
          </a:p>
          <a:p>
            <a:pPr lvl="1" fontAlgn="t">
              <a:lnSpc>
                <a:spcPts val="1500"/>
              </a:lnSpc>
            </a:pPr>
            <a:r>
              <a:rPr lang="en-US" sz="1600" dirty="0"/>
              <a:t>Has a large impact despite </a:t>
            </a:r>
            <a:r>
              <a:rPr lang="en-US" sz="1600"/>
              <a:t>low abundance.</a:t>
            </a:r>
            <a:endParaRPr lang="en-US" sz="1600" dirty="0"/>
          </a:p>
          <a:p>
            <a:pPr marL="1200150" lvl="2" indent="-285750" fontAlgn="t">
              <a:lnSpc>
                <a:spcPts val="1500"/>
              </a:lnSpc>
            </a:pPr>
            <a:r>
              <a:rPr lang="en-US" sz="1600" dirty="0"/>
              <a:t>Example: Wolves, sea otters, starfish.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490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D44C6-DAEC-20DE-5C49-8C45C5DD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3"/>
            <a:ext cx="9889797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Community Dynamics</a:t>
            </a:r>
            <a:br>
              <a:rPr lang="en-US" sz="8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8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3742597"/>
            <a:ext cx="12191990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B70A8-E828-FDDB-ACF7-5394FD2FD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558" y="4307684"/>
            <a:ext cx="9544153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Community dynamics refers to </a:t>
            </a:r>
            <a:r>
              <a:rPr lang="en-US"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changes in community structure over time</a:t>
            </a:r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1180" y="41010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86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A6130-54FF-74A0-F68F-A997B6E5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br>
              <a:rPr lang="en-US" sz="3100" b="1" dirty="0">
                <a:solidFill>
                  <a:schemeClr val="bg1"/>
                </a:solidFill>
              </a:rPr>
            </a:br>
            <a:r>
              <a:rPr lang="en-US" sz="3100" b="1" dirty="0">
                <a:solidFill>
                  <a:schemeClr val="bg1"/>
                </a:solidFill>
              </a:rPr>
              <a:t>Ecological Succession</a:t>
            </a:r>
            <a:br>
              <a:rPr lang="en-US" sz="3100" b="1" dirty="0">
                <a:solidFill>
                  <a:schemeClr val="bg1"/>
                </a:solidFill>
              </a:rPr>
            </a:b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4DCF4-C360-6CD5-67F4-BDC9D7BA4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fontAlgn="t"/>
            <a:r>
              <a:rPr lang="en-US" sz="2400" dirty="0"/>
              <a:t>Ecological succession is the </a:t>
            </a:r>
            <a:r>
              <a:rPr lang="en-US" sz="2400" b="1" dirty="0"/>
              <a:t>process</a:t>
            </a:r>
            <a:r>
              <a:rPr lang="en-US" sz="2400" dirty="0"/>
              <a:t> by which </a:t>
            </a:r>
            <a:r>
              <a:rPr lang="en-US" sz="2400" b="1" dirty="0"/>
              <a:t>ecosystems recover, change, and reach stability</a:t>
            </a:r>
            <a:r>
              <a:rPr lang="en-US" sz="2400" dirty="0"/>
              <a:t> over time after a </a:t>
            </a:r>
            <a:r>
              <a:rPr lang="en-US" sz="2400" b="1" dirty="0"/>
              <a:t>disturbance.</a:t>
            </a:r>
          </a:p>
          <a:p>
            <a:pPr marL="0" indent="0" fontAlgn="t">
              <a:buNone/>
            </a:pPr>
            <a:endParaRPr lang="en-US" sz="2400" b="1" dirty="0"/>
          </a:p>
          <a:p>
            <a:pPr marL="0" indent="0" fontAlgn="t">
              <a:buNone/>
            </a:pPr>
            <a:r>
              <a:rPr lang="en-US" sz="2400" b="1" dirty="0"/>
              <a:t>Disturbance</a:t>
            </a:r>
          </a:p>
          <a:p>
            <a:pPr fontAlgn="t"/>
            <a:r>
              <a:rPr lang="en-US" sz="2400" dirty="0"/>
              <a:t>Any event that </a:t>
            </a:r>
            <a:r>
              <a:rPr lang="en-US" sz="2400" b="1" dirty="0"/>
              <a:t>disrupts an ecosystem</a:t>
            </a:r>
            <a:r>
              <a:rPr lang="en-US" sz="2400" dirty="0"/>
              <a:t> (natural or human-made).</a:t>
            </a:r>
          </a:p>
          <a:p>
            <a:pPr lvl="1" fontAlgn="t"/>
            <a:r>
              <a:rPr lang="en-US" sz="2000" dirty="0"/>
              <a:t>Examples: wildfire, typhoon, deforestation.</a:t>
            </a:r>
          </a:p>
          <a:p>
            <a:pPr fontAlgn="t"/>
            <a:r>
              <a:rPr lang="en-US" sz="2400" dirty="0"/>
              <a:t>Disturbances often </a:t>
            </a:r>
            <a:r>
              <a:rPr lang="en-US" sz="2400" b="1" dirty="0"/>
              <a:t>restart succession</a:t>
            </a:r>
            <a:r>
              <a:rPr lang="en-US" sz="2400" dirty="0"/>
              <a:t>.</a:t>
            </a:r>
          </a:p>
          <a:p>
            <a:pPr marL="0" indent="0" fontAlgn="t">
              <a:buNone/>
            </a:pPr>
            <a:endParaRPr lang="en-US" sz="2400" b="1" dirty="0"/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5369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466B0-94F7-A152-0070-A59D225C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300" dirty="0">
                <a:solidFill>
                  <a:schemeClr val="bg1"/>
                </a:solidFill>
              </a:rPr>
              <a:t>Ecological Succession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F565-A8FF-A5F8-0A0B-9D9DDAFA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b="1" dirty="0"/>
              <a:t>Pioneer species</a:t>
            </a:r>
          </a:p>
          <a:p>
            <a:pPr fontAlgn="t"/>
            <a:r>
              <a:rPr lang="en-US" b="1" dirty="0"/>
              <a:t>Pioneer species</a:t>
            </a:r>
            <a:r>
              <a:rPr lang="en-US" dirty="0"/>
              <a:t> (like moss and lichens) are the first to grow.</a:t>
            </a:r>
          </a:p>
          <a:p>
            <a:pPr fontAlgn="t"/>
            <a:r>
              <a:rPr lang="en-US" dirty="0"/>
              <a:t>These organisms help form soil, allowing larger plants to grow later.</a:t>
            </a:r>
          </a:p>
          <a:p>
            <a:pPr fontAlgn="t"/>
            <a:endParaRPr lang="en-US" dirty="0"/>
          </a:p>
          <a:p>
            <a:pPr marL="0" indent="0" fontAlgn="t">
              <a:buNone/>
            </a:pPr>
            <a:r>
              <a:rPr lang="en-US" b="1" dirty="0"/>
              <a:t>Climax Community</a:t>
            </a:r>
          </a:p>
          <a:p>
            <a:pPr fontAlgn="t"/>
            <a:r>
              <a:rPr lang="en-US" dirty="0"/>
              <a:t>The </a:t>
            </a:r>
            <a:r>
              <a:rPr lang="en-US" b="1" dirty="0"/>
              <a:t>final, stable stage</a:t>
            </a:r>
            <a:r>
              <a:rPr lang="en-US" dirty="0"/>
              <a:t> of succession.</a:t>
            </a:r>
          </a:p>
          <a:p>
            <a:pPr fontAlgn="t"/>
            <a:r>
              <a:rPr lang="en-US" dirty="0"/>
              <a:t>The ecosystem becomes balanced, with mature plants and animals.</a:t>
            </a:r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2072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7202D-55D9-2BFB-E608-E32A5A00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br>
              <a:rPr lang="en-US" sz="3100" b="1" dirty="0">
                <a:solidFill>
                  <a:schemeClr val="bg1"/>
                </a:solidFill>
              </a:rPr>
            </a:br>
            <a:r>
              <a:rPr lang="en-US" sz="3100" b="1" dirty="0">
                <a:solidFill>
                  <a:schemeClr val="bg1"/>
                </a:solidFill>
              </a:rPr>
              <a:t>Types of Ecological Succession</a:t>
            </a:r>
            <a:br>
              <a:rPr lang="en-US" sz="3100" b="1" dirty="0">
                <a:solidFill>
                  <a:schemeClr val="bg1"/>
                </a:solidFill>
              </a:rPr>
            </a:b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CBFC-7B9B-DC56-8A59-0F656DFBB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629406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en-US" sz="2000" b="1" dirty="0"/>
              <a:t>1. Primary Succession</a:t>
            </a:r>
          </a:p>
          <a:p>
            <a:pPr fontAlgn="t">
              <a:lnSpc>
                <a:spcPts val="1500"/>
              </a:lnSpc>
            </a:pPr>
            <a:r>
              <a:rPr lang="en-US" sz="2000" b="1" dirty="0"/>
              <a:t>Primary succession</a:t>
            </a:r>
            <a:r>
              <a:rPr lang="en-US" sz="2000" dirty="0"/>
              <a:t> is the process by which a community of organisms develops in an area where </a:t>
            </a:r>
            <a:r>
              <a:rPr lang="en-US" sz="2000" b="1" dirty="0"/>
              <a:t>no soil and no life previously existed</a:t>
            </a:r>
            <a:r>
              <a:rPr lang="en-US" sz="2000" dirty="0"/>
              <a:t>.</a:t>
            </a:r>
          </a:p>
          <a:p>
            <a:pPr marL="0" indent="0" fontAlgn="t">
              <a:buNone/>
            </a:pPr>
            <a:r>
              <a:rPr lang="en-US" sz="2000" dirty="0"/>
              <a:t>Examples</a:t>
            </a:r>
          </a:p>
          <a:p>
            <a:pPr fontAlgn="t">
              <a:lnSpc>
                <a:spcPts val="1500"/>
              </a:lnSpc>
            </a:pPr>
            <a:r>
              <a:rPr lang="en-US" sz="2000" dirty="0"/>
              <a:t>New volcanic islands</a:t>
            </a:r>
          </a:p>
          <a:p>
            <a:pPr fontAlgn="t">
              <a:lnSpc>
                <a:spcPts val="1500"/>
              </a:lnSpc>
            </a:pPr>
            <a:r>
              <a:rPr lang="en-US" sz="2000" dirty="0"/>
              <a:t>Land exposed after glaciers melt</a:t>
            </a:r>
          </a:p>
          <a:p>
            <a:pPr fontAlgn="t">
              <a:lnSpc>
                <a:spcPts val="1500"/>
              </a:lnSpc>
            </a:pPr>
            <a:r>
              <a:rPr lang="en-US" sz="2000" dirty="0"/>
              <a:t>Areas covered by lava flows</a:t>
            </a:r>
          </a:p>
          <a:p>
            <a:pPr fontAlgn="t"/>
            <a:endParaRPr lang="en-US" sz="800" dirty="0"/>
          </a:p>
          <a:p>
            <a:pPr fontAlgn="t">
              <a:lnSpc>
                <a:spcPts val="1500"/>
              </a:lnSpc>
              <a:buNone/>
            </a:pPr>
            <a:r>
              <a:rPr lang="en-US" sz="2000" b="1" dirty="0"/>
              <a:t>How it Happens?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b="1" dirty="0"/>
              <a:t>Bare rock is exposed</a:t>
            </a:r>
            <a:r>
              <a:rPr lang="en-US" sz="2000" dirty="0"/>
              <a:t> (e.g., after a volcanic eruption or retreating glacier).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b="1" dirty="0"/>
              <a:t>Pioneer species,</a:t>
            </a:r>
            <a:r>
              <a:rPr lang="en-US" sz="2000" dirty="0"/>
              <a:t> such as lichens and mosses, colonize the area.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These organisms break down rock and help form </a:t>
            </a:r>
            <a:r>
              <a:rPr lang="en-US" sz="2000" b="1" dirty="0"/>
              <a:t>soil</a:t>
            </a:r>
            <a:r>
              <a:rPr lang="en-US" sz="2000" dirty="0"/>
              <a:t>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Grasses, shrubs, and small plants begin to grow.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Trees and larger organisms establish themselves.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A stable </a:t>
            </a:r>
            <a:r>
              <a:rPr lang="en-US" sz="2000" b="1" dirty="0"/>
              <a:t>climax community</a:t>
            </a:r>
            <a:r>
              <a:rPr lang="en-US" sz="2000" dirty="0"/>
              <a:t> eventually develops.</a:t>
            </a:r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394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at is ecological succession? | University of Chicago News">
            <a:extLst>
              <a:ext uri="{FF2B5EF4-FFF2-40B4-BE49-F238E27FC236}">
                <a16:creationId xmlns:a16="http://schemas.microsoft.com/office/drawing/2014/main" id="{0A84E68D-FF4C-91D0-8CEB-2D35B7E8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5720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41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57207-54AC-640A-2C0F-36761DCF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48" y="637762"/>
            <a:ext cx="2570886" cy="557677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Types of Ecological Succession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FD082-EBEA-C3EB-0974-438A0F20B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 fontScale="92500" lnSpcReduction="20000"/>
          </a:bodyPr>
          <a:lstStyle/>
          <a:p>
            <a:pPr marL="0" indent="0" fontAlgn="t">
              <a:buNone/>
            </a:pPr>
            <a:r>
              <a:rPr lang="en-US" sz="2000" b="1" dirty="0"/>
              <a:t>2. Secondary Succession</a:t>
            </a:r>
          </a:p>
          <a:p>
            <a:pPr fontAlgn="t">
              <a:lnSpc>
                <a:spcPts val="1500"/>
              </a:lnSpc>
            </a:pPr>
            <a:r>
              <a:rPr lang="en-US" sz="2000" b="1" dirty="0"/>
              <a:t>Secondary succession</a:t>
            </a:r>
            <a:r>
              <a:rPr lang="en-US" sz="2000" dirty="0"/>
              <a:t> is the process by which an ecosystem recovers after a disturbance that destroys a community </a:t>
            </a:r>
            <a:r>
              <a:rPr lang="en-US" sz="2000" b="1" dirty="0"/>
              <a:t>but leaves the soil intact</a:t>
            </a:r>
            <a:r>
              <a:rPr lang="en-US" sz="2000" dirty="0"/>
              <a:t>.</a:t>
            </a:r>
          </a:p>
          <a:p>
            <a:pPr fontAlgn="t">
              <a:lnSpc>
                <a:spcPts val="1500"/>
              </a:lnSpc>
            </a:pPr>
            <a:endParaRPr lang="en-US" sz="900" dirty="0"/>
          </a:p>
          <a:p>
            <a:pPr fontAlgn="t">
              <a:lnSpc>
                <a:spcPts val="1500"/>
              </a:lnSpc>
              <a:buNone/>
            </a:pPr>
            <a:r>
              <a:rPr lang="en-US" sz="2000" b="1" dirty="0"/>
              <a:t>Examples</a:t>
            </a:r>
          </a:p>
          <a:p>
            <a:pPr fontAlgn="t">
              <a:lnSpc>
                <a:spcPts val="1500"/>
              </a:lnSpc>
            </a:pPr>
            <a:r>
              <a:rPr lang="en-US" sz="2000" dirty="0"/>
              <a:t>Forest regrowth after a wildfire.</a:t>
            </a:r>
          </a:p>
          <a:p>
            <a:pPr fontAlgn="t">
              <a:lnSpc>
                <a:spcPts val="1500"/>
              </a:lnSpc>
            </a:pPr>
            <a:r>
              <a:rPr lang="en-US" sz="2000" dirty="0"/>
              <a:t>Abandoned farmland returning to forest.</a:t>
            </a:r>
          </a:p>
          <a:p>
            <a:pPr fontAlgn="t">
              <a:lnSpc>
                <a:spcPts val="1500"/>
              </a:lnSpc>
            </a:pPr>
            <a:r>
              <a:rPr lang="en-US" sz="2000" dirty="0"/>
              <a:t>Recovery after a flood or hurricane.</a:t>
            </a:r>
          </a:p>
          <a:p>
            <a:pPr fontAlgn="t">
              <a:lnSpc>
                <a:spcPts val="1500"/>
              </a:lnSpc>
            </a:pPr>
            <a:endParaRPr lang="en-US" sz="900" dirty="0"/>
          </a:p>
          <a:p>
            <a:pPr fontAlgn="t">
              <a:lnSpc>
                <a:spcPts val="1500"/>
              </a:lnSpc>
              <a:buNone/>
            </a:pPr>
            <a:r>
              <a:rPr lang="en-US" sz="2000" b="1" dirty="0"/>
              <a:t>How it Happens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A disturbance occurs (fire, flood, farming, logging, hurricane).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Soil remains in place.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Grasses and small plants grow first.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Shrubs and young trees appear.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Larger trees and animals return.</a:t>
            </a: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2000" dirty="0"/>
              <a:t>A stable ecosystem is re-established.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7577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What is ecological succession? | University of Chicago News">
            <a:extLst>
              <a:ext uri="{FF2B5EF4-FFF2-40B4-BE49-F238E27FC236}">
                <a16:creationId xmlns:a16="http://schemas.microsoft.com/office/drawing/2014/main" id="{E5FE6063-BFE9-B049-C62C-E2E8E17F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46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007E-296B-3801-DB3A-305B141C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>
              <a:lnSpc>
                <a:spcPts val="1500"/>
              </a:lnSpc>
            </a:pPr>
            <a:br>
              <a:rPr lang="en-US" dirty="0"/>
            </a:br>
            <a:r>
              <a:rPr lang="en-US" dirty="0"/>
              <a:t>Primary versus Secondary Succession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1D6030-EBB3-B3C9-71CD-41DC5C705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70225"/>
              </p:ext>
            </p:extLst>
          </p:nvPr>
        </p:nvGraphicFramePr>
        <p:xfrm>
          <a:off x="838200" y="1825625"/>
          <a:ext cx="10515600" cy="354901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478462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77371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3334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/>
                        </a:rPr>
                        <a:t>Primary Succession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/>
                        </a:rPr>
                        <a:t>Secondary Succession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67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Soil present?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590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Starts with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Bare rock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Existing soil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89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Pioneer 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Lichens and mosses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Grasses and herbs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245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401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New volcanic island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80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Forest after a fire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531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401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A66A9-1975-3CD0-B67C-F9554D6C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3"/>
            <a:ext cx="9889797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Species Interactions</a:t>
            </a:r>
            <a:br>
              <a:rPr lang="en-US" sz="8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8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3742597"/>
            <a:ext cx="12191990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E4FB7-7178-A435-3D60-F22004A57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558" y="4307684"/>
            <a:ext cx="9544153" cy="190684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fontAlgn="t"/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Species interactions </a:t>
            </a:r>
            <a:r>
              <a:rPr lang="en-US" sz="3200" dirty="0">
                <a:solidFill>
                  <a:schemeClr val="tx1"/>
                </a:solidFill>
              </a:rPr>
              <a:t>refer to the </a:t>
            </a:r>
            <a:r>
              <a:rPr lang="en-US" sz="3200" b="1" dirty="0">
                <a:solidFill>
                  <a:schemeClr val="tx1"/>
                </a:solidFill>
              </a:rPr>
              <a:t>relationships</a:t>
            </a:r>
            <a:r>
              <a:rPr lang="en-US" sz="3200" dirty="0">
                <a:solidFill>
                  <a:schemeClr val="tx1"/>
                </a:solidFill>
              </a:rPr>
              <a:t> between different species that coexist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same ecosystem. </a:t>
            </a:r>
          </a:p>
          <a:p>
            <a:pPr fontAlgn="t"/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interactions </a:t>
            </a: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affect 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survival, growth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population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species involved.</a:t>
            </a:r>
          </a:p>
          <a:p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1180" y="41010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77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208EB-6D45-27F2-8217-3421D1CC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br>
              <a:rPr lang="en-US" sz="3400">
                <a:solidFill>
                  <a:srgbClr val="FFFFFF"/>
                </a:solidFill>
              </a:rPr>
            </a:br>
            <a:r>
              <a:rPr lang="en-US" sz="3400">
                <a:solidFill>
                  <a:srgbClr val="FFFFFF"/>
                </a:solidFill>
              </a:rPr>
              <a:t>Types of Species Interactions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821C58-41B5-4801-DEF2-017663827D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4556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3840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52FD5-F238-A3A7-8123-CF06D725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637762"/>
            <a:ext cx="3150989" cy="5576770"/>
          </a:xfrm>
        </p:spPr>
        <p:txBody>
          <a:bodyPr anchor="t">
            <a:normAutofit/>
          </a:bodyPr>
          <a:lstStyle/>
          <a:p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A. </a:t>
            </a:r>
            <a:r>
              <a:rPr lang="en-US" sz="2800" b="1" dirty="0">
                <a:solidFill>
                  <a:schemeClr val="bg1"/>
                </a:solidFill>
              </a:rPr>
              <a:t>COMPETITION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(-/-)</a:t>
            </a:r>
            <a:br>
              <a:rPr lang="en-US" sz="2800" b="1" dirty="0">
                <a:solidFill>
                  <a:schemeClr val="bg1"/>
                </a:solidFill>
              </a:rPr>
            </a:br>
            <a:br>
              <a:rPr lang="en-US" sz="2800" b="1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AA6950-1BA4-F383-BA8C-BB7B85A7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fontAlgn="t"/>
            <a:r>
              <a:rPr lang="en-US" sz="1900" b="1" dirty="0"/>
              <a:t>Competition</a:t>
            </a:r>
            <a:r>
              <a:rPr lang="en-US" sz="1900" dirty="0"/>
              <a:t> happens when organisms </a:t>
            </a:r>
            <a:r>
              <a:rPr lang="en-US" sz="1900" b="1" dirty="0"/>
              <a:t>fight for the same limited resources</a:t>
            </a:r>
            <a:r>
              <a:rPr lang="en-US" sz="1900" dirty="0"/>
              <a:t> (like food, space, water, or mates).</a:t>
            </a:r>
          </a:p>
          <a:p>
            <a:pPr fontAlgn="t"/>
            <a:r>
              <a:rPr lang="en-US" sz="1900" b="1" dirty="0"/>
              <a:t>Both</a:t>
            </a:r>
            <a:r>
              <a:rPr lang="en-US" sz="1900" dirty="0"/>
              <a:t> species are </a:t>
            </a:r>
            <a:r>
              <a:rPr lang="en-US" sz="1900" b="1" dirty="0"/>
              <a:t>negatively affected.</a:t>
            </a:r>
          </a:p>
          <a:p>
            <a:pPr fontAlgn="t"/>
            <a:endParaRPr lang="en-US" sz="1900" dirty="0"/>
          </a:p>
          <a:p>
            <a:pPr marL="0" indent="0" fontAlgn="t">
              <a:buNone/>
            </a:pPr>
            <a:r>
              <a:rPr lang="en-US" sz="1900" b="1" dirty="0"/>
              <a:t>1. Intraspecific competition </a:t>
            </a:r>
            <a:r>
              <a:rPr lang="en-US" sz="1900" dirty="0"/>
              <a:t>occurs between members of the </a:t>
            </a:r>
            <a:r>
              <a:rPr lang="en-US" sz="1900" b="1" dirty="0"/>
              <a:t>SAME</a:t>
            </a:r>
            <a:r>
              <a:rPr lang="en-US" sz="1900" dirty="0"/>
              <a:t> species</a:t>
            </a:r>
          </a:p>
          <a:p>
            <a:pPr lvl="1" fontAlgn="t"/>
            <a:r>
              <a:rPr lang="en-US" sz="1900" dirty="0"/>
              <a:t>Two dogs fighting for food.</a:t>
            </a:r>
          </a:p>
          <a:p>
            <a:pPr lvl="1" fontAlgn="t"/>
            <a:r>
              <a:rPr lang="en-US" sz="1900" dirty="0"/>
              <a:t>Trees of the same species competing for sunlight.</a:t>
            </a:r>
          </a:p>
          <a:p>
            <a:pPr lvl="1" fontAlgn="t"/>
            <a:r>
              <a:rPr lang="en-US" sz="1900" dirty="0"/>
              <a:t>Deer competing for mates</a:t>
            </a:r>
          </a:p>
          <a:p>
            <a:pPr fontAlgn="t"/>
            <a:endParaRPr lang="en-US" sz="1900" dirty="0"/>
          </a:p>
          <a:p>
            <a:pPr marL="0" indent="0" fontAlgn="t">
              <a:buNone/>
            </a:pPr>
            <a:r>
              <a:rPr lang="en-US" sz="1900" b="1" dirty="0"/>
              <a:t>2. Interspecific competition</a:t>
            </a:r>
            <a:r>
              <a:rPr lang="en-US" sz="1900" dirty="0"/>
              <a:t> occurs between </a:t>
            </a:r>
            <a:r>
              <a:rPr lang="en-US" sz="1900" b="1" dirty="0"/>
              <a:t>DIFFERENT</a:t>
            </a:r>
            <a:r>
              <a:rPr lang="en-US" sz="1900" dirty="0"/>
              <a:t> species. </a:t>
            </a:r>
          </a:p>
          <a:p>
            <a:pPr lvl="1" fontAlgn="t"/>
            <a:r>
              <a:rPr lang="en-US" sz="1900" dirty="0"/>
              <a:t>Lions and hyenas hunting the same prey. </a:t>
            </a:r>
          </a:p>
          <a:p>
            <a:pPr lvl="1" fontAlgn="t"/>
            <a:r>
              <a:rPr lang="en-US" sz="1900" dirty="0"/>
              <a:t>Plants of different species competing for water .</a:t>
            </a:r>
          </a:p>
          <a:p>
            <a:pPr lvl="1" fontAlgn="t"/>
            <a:r>
              <a:rPr lang="en-US" sz="1900" dirty="0"/>
              <a:t>Birds and squirrels competing for seeds.</a:t>
            </a:r>
          </a:p>
          <a:p>
            <a:pPr fontAlgn="t"/>
            <a:endParaRPr lang="en-US" sz="1900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599688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BD707-5723-92CE-74B9-EB4C07A9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Cont.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B151-ECD2-2B63-C3B7-F5B5368B7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Competitive exclusion principle</a:t>
            </a:r>
          </a:p>
          <a:p>
            <a:pPr lvl="1"/>
            <a:r>
              <a:rPr lang="en-US" sz="1900" b="1" dirty="0"/>
              <a:t>Competitive exclusion principle </a:t>
            </a:r>
            <a:r>
              <a:rPr lang="en-US" sz="1900" dirty="0"/>
              <a:t>states that </a:t>
            </a:r>
            <a:r>
              <a:rPr lang="en-US" sz="1900" b="1" dirty="0"/>
              <a:t>two species cannot occupy </a:t>
            </a:r>
            <a:r>
              <a:rPr lang="en-US" sz="1900" dirty="0"/>
              <a:t>the </a:t>
            </a:r>
            <a:r>
              <a:rPr lang="en-US" sz="1900" b="1" dirty="0"/>
              <a:t>same niche </a:t>
            </a:r>
            <a:r>
              <a:rPr lang="en-US" sz="1900" dirty="0"/>
              <a:t>in a habitat indefinitely. </a:t>
            </a:r>
          </a:p>
          <a:p>
            <a:pPr lvl="1"/>
            <a:r>
              <a:rPr lang="en-US" sz="1900" dirty="0"/>
              <a:t>Species competing for the same resources </a:t>
            </a:r>
            <a:r>
              <a:rPr lang="en-US" sz="1900" b="1" dirty="0"/>
              <a:t>cannot coexist forever. </a:t>
            </a:r>
          </a:p>
          <a:p>
            <a:pPr lvl="1"/>
            <a:r>
              <a:rPr lang="en-US" sz="1900" dirty="0"/>
              <a:t>One species will eventually outcompete or replace the other.</a:t>
            </a:r>
          </a:p>
          <a:p>
            <a:pPr marL="0" indent="0" fontAlgn="t">
              <a:buNone/>
            </a:pPr>
            <a:r>
              <a:rPr lang="en-US" sz="1900" dirty="0"/>
              <a:t>This exclusion may be avoided.</a:t>
            </a:r>
          </a:p>
          <a:p>
            <a:pPr marL="0" indent="0" fontAlgn="t">
              <a:buNone/>
            </a:pPr>
            <a:endParaRPr lang="en-US" sz="800" dirty="0"/>
          </a:p>
          <a:p>
            <a:pPr marL="0" indent="0" fontAlgn="t">
              <a:buNone/>
            </a:pPr>
            <a:r>
              <a:rPr lang="en-US" sz="1900" b="1" dirty="0"/>
              <a:t>Resource partitioning</a:t>
            </a:r>
            <a:r>
              <a:rPr lang="en-US" sz="1900" dirty="0"/>
              <a:t> </a:t>
            </a:r>
          </a:p>
          <a:p>
            <a:pPr lvl="1" fontAlgn="t"/>
            <a:r>
              <a:rPr lang="en-US" sz="1900" b="1" dirty="0"/>
              <a:t>Resource partitioning</a:t>
            </a:r>
            <a:r>
              <a:rPr lang="en-US" sz="1900" dirty="0"/>
              <a:t> is when species divide resources </a:t>
            </a:r>
            <a:r>
              <a:rPr lang="en-US" sz="1900" b="1" dirty="0"/>
              <a:t>to reduce competition. </a:t>
            </a:r>
          </a:p>
          <a:p>
            <a:pPr lvl="1" fontAlgn="t"/>
            <a:r>
              <a:rPr lang="en-US" sz="1900" dirty="0"/>
              <a:t>Each species uses the resources in a </a:t>
            </a:r>
            <a:r>
              <a:rPr lang="en-US" sz="1900" b="1" dirty="0"/>
              <a:t>different way, time, or place</a:t>
            </a:r>
            <a:r>
              <a:rPr lang="en-US" sz="1900" dirty="0"/>
              <a:t>. </a:t>
            </a:r>
          </a:p>
          <a:p>
            <a:pPr lvl="1" fontAlgn="t"/>
            <a:r>
              <a:rPr lang="en-US" sz="1900" dirty="0"/>
              <a:t>This allows species to </a:t>
            </a:r>
            <a:r>
              <a:rPr lang="en-US" sz="1900" b="1" dirty="0"/>
              <a:t>coexist in the same habitat</a:t>
            </a:r>
            <a:r>
              <a:rPr lang="en-US" sz="1900" dirty="0"/>
              <a:t> without outcompeting each other.</a:t>
            </a:r>
          </a:p>
        </p:txBody>
      </p:sp>
    </p:spTree>
    <p:extLst>
      <p:ext uri="{BB962C8B-B14F-4D97-AF65-F5344CB8AC3E}">
        <p14:creationId xmlns:p14="http://schemas.microsoft.com/office/powerpoint/2010/main" val="2399208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66F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ompetition power point | PPTX">
            <a:extLst>
              <a:ext uri="{FF2B5EF4-FFF2-40B4-BE49-F238E27FC236}">
                <a16:creationId xmlns:a16="http://schemas.microsoft.com/office/drawing/2014/main" id="{55DB2C0C-5330-EC4C-51C9-8162695B4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66" y="1505331"/>
            <a:ext cx="5129784" cy="3847338"/>
          </a:xfrm>
          <a:prstGeom prst="rect">
            <a:avLst/>
          </a:prstGeom>
        </p:spPr>
      </p:pic>
      <p:pic>
        <p:nvPicPr>
          <p:cNvPr id="8" name="Picture 7" descr="Ecosystem Dynamics - Page 2 of 3 - QCE Biology Revision">
            <a:extLst>
              <a:ext uri="{FF2B5EF4-FFF2-40B4-BE49-F238E27FC236}">
                <a16:creationId xmlns:a16="http://schemas.microsoft.com/office/drawing/2014/main" id="{6D465E75-21D5-1073-BB08-3F7339617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9" t="694" r="3371" b="13518"/>
          <a:stretch>
            <a:fillRect/>
          </a:stretch>
        </p:blipFill>
        <p:spPr>
          <a:xfrm>
            <a:off x="6412145" y="1668027"/>
            <a:ext cx="5102989" cy="32456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6FDEEC-7F11-B2C5-5448-A8A6502818E3}"/>
              </a:ext>
            </a:extLst>
          </p:cNvPr>
          <p:cNvSpPr txBox="1"/>
          <p:nvPr/>
        </p:nvSpPr>
        <p:spPr>
          <a:xfrm>
            <a:off x="7845305" y="5276460"/>
            <a:ext cx="2616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t">
              <a:buNone/>
            </a:pPr>
            <a:r>
              <a:rPr lang="en-US" b="1" dirty="0"/>
              <a:t>Resource partitioning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8128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6D7AA-8E45-43F0-7BD8-1BB83D27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</a:rPr>
              <a:t>B. Predation (+/-)</a:t>
            </a:r>
            <a:br>
              <a:rPr lang="en-US" b="1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6EBD2-E10E-2BBB-6AF8-CA9F53903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fontScale="92500" lnSpcReduction="10000"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One species (predator) </a:t>
            </a:r>
            <a:r>
              <a:rPr lang="en-US" sz="2400" b="1" dirty="0"/>
              <a:t>kills and eats </a:t>
            </a:r>
            <a:r>
              <a:rPr lang="en-US" sz="2400" dirty="0"/>
              <a:t>another species (prey). </a:t>
            </a:r>
          </a:p>
          <a:p>
            <a:r>
              <a:rPr lang="en-US" sz="2400" b="1" dirty="0"/>
              <a:t>Predator</a:t>
            </a:r>
            <a:r>
              <a:rPr lang="en-US" sz="2400" dirty="0"/>
              <a:t> benefits; </a:t>
            </a:r>
            <a:r>
              <a:rPr lang="en-US" sz="2400" b="1" dirty="0"/>
              <a:t>prey</a:t>
            </a:r>
            <a:r>
              <a:rPr lang="en-US" sz="2400" dirty="0"/>
              <a:t> is harmed. </a:t>
            </a:r>
          </a:p>
          <a:p>
            <a:endParaRPr lang="en-US" sz="2400" dirty="0"/>
          </a:p>
          <a:p>
            <a:pPr fontAlgn="t"/>
            <a:r>
              <a:rPr lang="en-US" sz="2400" dirty="0"/>
              <a:t>Examples</a:t>
            </a:r>
          </a:p>
          <a:p>
            <a:pPr lvl="2" fontAlgn="t"/>
            <a:r>
              <a:rPr lang="en-US" sz="2400" dirty="0"/>
              <a:t>Lion → eats zebra </a:t>
            </a:r>
          </a:p>
          <a:p>
            <a:pPr lvl="2" fontAlgn="t"/>
            <a:r>
              <a:rPr lang="en-US" sz="2400" dirty="0"/>
              <a:t>Snake → eats mouse </a:t>
            </a:r>
          </a:p>
          <a:p>
            <a:pPr lvl="2" fontAlgn="t"/>
            <a:r>
              <a:rPr lang="en-US" sz="2400" dirty="0"/>
              <a:t>Bird → eats insect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280+ Lion Eating Zebra Stock Photos, Pictures &amp; Royalty-Free Images - iStock">
            <a:extLst>
              <a:ext uri="{FF2B5EF4-FFF2-40B4-BE49-F238E27FC236}">
                <a16:creationId xmlns:a16="http://schemas.microsoft.com/office/drawing/2014/main" id="{D5F25EB7-2A2B-5700-0FD8-1021BC5CBC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49" r="33564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550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DB819-6719-AD58-CC26-59791959D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15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Defense Mechanisms Against Predation</a:t>
            </a:r>
            <a:br>
              <a:rPr lang="en-US" sz="1500" dirty="0">
                <a:solidFill>
                  <a:schemeClr val="bg1"/>
                </a:solidFill>
              </a:rPr>
            </a:br>
            <a:endParaRPr lang="en-US" sz="15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E4ACDA-7516-179F-FF60-C149B0C98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49652"/>
              </p:ext>
            </p:extLst>
          </p:nvPr>
        </p:nvGraphicFramePr>
        <p:xfrm>
          <a:off x="353962" y="1544071"/>
          <a:ext cx="11606234" cy="52246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10072">
                  <a:extLst>
                    <a:ext uri="{9D8B030D-6E8A-4147-A177-3AD203B41FA5}">
                      <a16:colId xmlns:a16="http://schemas.microsoft.com/office/drawing/2014/main" val="2712460802"/>
                    </a:ext>
                  </a:extLst>
                </a:gridCol>
                <a:gridCol w="2927176">
                  <a:extLst>
                    <a:ext uri="{9D8B030D-6E8A-4147-A177-3AD203B41FA5}">
                      <a16:colId xmlns:a16="http://schemas.microsoft.com/office/drawing/2014/main" val="2011543776"/>
                    </a:ext>
                  </a:extLst>
                </a:gridCol>
                <a:gridCol w="2936119">
                  <a:extLst>
                    <a:ext uri="{9D8B030D-6E8A-4147-A177-3AD203B41FA5}">
                      <a16:colId xmlns:a16="http://schemas.microsoft.com/office/drawing/2014/main" val="850564628"/>
                    </a:ext>
                  </a:extLst>
                </a:gridCol>
                <a:gridCol w="2932867">
                  <a:extLst>
                    <a:ext uri="{9D8B030D-6E8A-4147-A177-3AD203B41FA5}">
                      <a16:colId xmlns:a16="http://schemas.microsoft.com/office/drawing/2014/main" val="1735371343"/>
                    </a:ext>
                  </a:extLst>
                </a:gridCol>
              </a:tblGrid>
              <a:tr h="329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Defense Mechanism</a:t>
                      </a:r>
                      <a:endParaRPr lang="en-US" sz="1950" dirty="0">
                        <a:effectLst/>
                      </a:endParaRP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Description</a:t>
                      </a:r>
                      <a:endParaRPr lang="en-US" sz="1950" dirty="0">
                        <a:effectLst/>
                      </a:endParaRP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>
                          <a:effectLst/>
                        </a:rPr>
                        <a:t>Example</a:t>
                      </a:r>
                      <a:endParaRPr lang="en-US" sz="1950">
                        <a:effectLst/>
                      </a:endParaRP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>
                          <a:effectLst/>
                        </a:rPr>
                        <a:t>How It Helps Survival</a:t>
                      </a:r>
                      <a:endParaRPr lang="en-US" sz="1950">
                        <a:effectLst/>
                      </a:endParaRP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173552228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Camouflage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Blends with environment.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Stick insect, chameleon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Avoids being seen by predators.</a:t>
                      </a: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265794978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Warning Coloration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Bright colors warn predators of danger.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Poison dart frog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Predators avoid eating them.</a:t>
                      </a: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3719092193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Mimicry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Harmless species copies harmful one.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King snake (looks venomous)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Tricks predators into staying away.</a:t>
                      </a: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94405759"/>
                  </a:ext>
                </a:extLst>
              </a:tr>
              <a:tr h="769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Physical Defenses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Body parts protect the organism.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>
                          <a:effectLst/>
                        </a:rPr>
                        <a:t>Turtle (shell), porcupine(spikes), plants (thorn)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Makes it hard to attack or eat.</a:t>
                      </a: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144423868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Speed/Escape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Moves quickly to escape.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>
                          <a:effectLst/>
                        </a:rPr>
                        <a:t>Deer running fast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Helps avoid being caught.</a:t>
                      </a: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2026475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Chemical Defenses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Produces toxins or bad smells.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>
                          <a:effectLst/>
                        </a:rPr>
                        <a:t>Skunk spraying  foul odor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Repels or harms predators.</a:t>
                      </a: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331023356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b="1" dirty="0">
                          <a:effectLst/>
                        </a:rPr>
                        <a:t>Behavioral Defenses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Actions to avoid danger.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>
                          <a:effectLst/>
                        </a:rPr>
                        <a:t>Playing dead (opossum)</a:t>
                      </a:r>
                    </a:p>
                  </a:txBody>
                  <a:tcPr marL="73548" marR="73548" marT="36775" marB="367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50" dirty="0">
                          <a:effectLst/>
                        </a:rPr>
                        <a:t>Confuses or discourages predators.</a:t>
                      </a:r>
                    </a:p>
                  </a:txBody>
                  <a:tcPr marL="73548" marR="73548" marT="36775" marB="36775" anchor="ctr"/>
                </a:tc>
                <a:extLst>
                  <a:ext uri="{0D108BD9-81ED-4DB2-BD59-A6C34878D82A}">
                    <a16:rowId xmlns:a16="http://schemas.microsoft.com/office/drawing/2014/main" val="3728285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748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5FA38-3EA4-A70E-AE4C-47A0014E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</a:rPr>
              <a:t>C. Herbivory (+/-)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41027-F4AC-3FFC-7428-C811556A3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fontScale="92500"/>
          </a:bodyPr>
          <a:lstStyle/>
          <a:p>
            <a:pPr fontAlgn="t"/>
            <a:endParaRPr lang="en-US" sz="3200" dirty="0"/>
          </a:p>
          <a:p>
            <a:pPr fontAlgn="t"/>
            <a:r>
              <a:rPr lang="en-US" sz="3200" dirty="0"/>
              <a:t>An animal feeds on </a:t>
            </a:r>
            <a:r>
              <a:rPr lang="en-US" sz="3200" b="1" dirty="0">
                <a:solidFill>
                  <a:schemeClr val="accent6"/>
                </a:solidFill>
              </a:rPr>
              <a:t>plants</a:t>
            </a:r>
            <a:r>
              <a:rPr lang="en-US" sz="3200" dirty="0"/>
              <a:t> or </a:t>
            </a:r>
            <a:r>
              <a:rPr lang="en-US" sz="3200" b="1" dirty="0">
                <a:solidFill>
                  <a:schemeClr val="accent6"/>
                </a:solidFill>
              </a:rPr>
              <a:t>algae.</a:t>
            </a:r>
          </a:p>
          <a:p>
            <a:pPr fontAlgn="t"/>
            <a:r>
              <a:rPr lang="en-US" sz="3200" b="1" dirty="0"/>
              <a:t>Herbivore</a:t>
            </a:r>
            <a:r>
              <a:rPr lang="en-US" sz="3200" dirty="0"/>
              <a:t> benefits; the </a:t>
            </a:r>
            <a:r>
              <a:rPr lang="en-US" sz="3200" b="1" dirty="0"/>
              <a:t>plant</a:t>
            </a:r>
            <a:r>
              <a:rPr lang="en-US" sz="3200" dirty="0"/>
              <a:t> is harmed.</a:t>
            </a:r>
          </a:p>
          <a:p>
            <a:pPr fontAlgn="t"/>
            <a:endParaRPr lang="en-US" sz="3200" dirty="0"/>
          </a:p>
          <a:p>
            <a:pPr fontAlgn="t"/>
            <a:r>
              <a:rPr lang="en-US" sz="3200" dirty="0"/>
              <a:t>Example: Cow grazing on grass.</a:t>
            </a:r>
          </a:p>
          <a:p>
            <a:endParaRPr lang="en-US" sz="2000" dirty="0"/>
          </a:p>
        </p:txBody>
      </p:sp>
      <p:pic>
        <p:nvPicPr>
          <p:cNvPr id="4" name="Picture 3" descr="Grass Fed Cow Images – Browse 219,200 Stock Photos, Vectors, and Video |  Adobe Stock">
            <a:extLst>
              <a:ext uri="{FF2B5EF4-FFF2-40B4-BE49-F238E27FC236}">
                <a16:creationId xmlns:a16="http://schemas.microsoft.com/office/drawing/2014/main" id="{BB25582C-94D3-F80E-CD73-5CE5646E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79" r="44485" b="-1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912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63335-4F8A-D1E2-720B-436B2A68E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 fontAlgn="t"/>
            <a:r>
              <a:rPr lang="en-US" sz="3700" b="1" dirty="0">
                <a:solidFill>
                  <a:srgbClr val="FFFFFF"/>
                </a:solidFill>
              </a:rPr>
              <a:t>D. Symbiosis</a:t>
            </a:r>
            <a:br>
              <a:rPr lang="en-US" sz="3700" b="1" dirty="0">
                <a:solidFill>
                  <a:srgbClr val="FFFFFF"/>
                </a:solidFill>
              </a:rPr>
            </a:br>
            <a:br>
              <a:rPr lang="en-US" sz="3700" b="1" dirty="0">
                <a:solidFill>
                  <a:srgbClr val="FFFFFF"/>
                </a:solidFill>
              </a:rPr>
            </a:br>
            <a:r>
              <a:rPr lang="en-US" sz="3700" b="1" dirty="0">
                <a:solidFill>
                  <a:srgbClr val="FFFFFF"/>
                </a:solidFill>
              </a:rPr>
              <a:t> </a:t>
            </a:r>
            <a:r>
              <a:rPr lang="en-US" sz="4000" b="1" dirty="0">
                <a:solidFill>
                  <a:schemeClr val="bg1"/>
                </a:solidFill>
              </a:rPr>
              <a:t>Mutualism (+/+)</a:t>
            </a:r>
            <a:endParaRPr lang="en-US" sz="37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6BC6-ABE6-B7A9-B2B0-06EDEF3CB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180870"/>
            <a:ext cx="3470019" cy="6461090"/>
          </a:xfrm>
        </p:spPr>
        <p:txBody>
          <a:bodyPr anchor="ctr">
            <a:normAutofit/>
          </a:bodyPr>
          <a:lstStyle/>
          <a:p>
            <a:pPr marL="0" indent="0" fontAlgn="t">
              <a:buNone/>
            </a:pPr>
            <a:endParaRPr lang="en-US" sz="3200" b="1" dirty="0"/>
          </a:p>
          <a:p>
            <a:pPr marL="0" indent="0" fontAlgn="t">
              <a:buNone/>
            </a:pPr>
            <a:r>
              <a:rPr lang="en-US" sz="3200" b="1" dirty="0"/>
              <a:t>Mutualism (+/+)</a:t>
            </a:r>
          </a:p>
          <a:p>
            <a:pPr fontAlgn="t"/>
            <a:r>
              <a:rPr lang="en-US" sz="3200" b="1" dirty="0"/>
              <a:t>Both</a:t>
            </a:r>
            <a:r>
              <a:rPr lang="en-US" sz="3200" dirty="0"/>
              <a:t> organisms </a:t>
            </a:r>
            <a:r>
              <a:rPr lang="en-US" sz="3200" b="1" dirty="0"/>
              <a:t>benefit.</a:t>
            </a:r>
          </a:p>
          <a:p>
            <a:pPr fontAlgn="t"/>
            <a:endParaRPr lang="en-US" sz="3200" b="1" dirty="0"/>
          </a:p>
          <a:p>
            <a:pPr fontAlgn="t">
              <a:buNone/>
            </a:pPr>
            <a:r>
              <a:rPr lang="en-US" sz="3200" dirty="0"/>
              <a:t>Example: Bees get nectar from flowers while helping pollinate them.</a:t>
            </a:r>
          </a:p>
          <a:p>
            <a:endParaRPr lang="en-US" sz="1600" dirty="0"/>
          </a:p>
        </p:txBody>
      </p:sp>
      <p:pic>
        <p:nvPicPr>
          <p:cNvPr id="5" name="Picture 4" descr="A bee pollinating on a yellow flower">
            <a:extLst>
              <a:ext uri="{FF2B5EF4-FFF2-40B4-BE49-F238E27FC236}">
                <a16:creationId xmlns:a16="http://schemas.microsoft.com/office/drawing/2014/main" id="{12512888-2F6B-B251-FCC9-972C9EB6E9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93" r="8416" b="2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15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8D247-F598-0687-167C-8D274602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D. Symbiosis</a:t>
            </a:r>
            <a:br>
              <a:rPr lang="en-US" sz="4000" b="1" dirty="0">
                <a:solidFill>
                  <a:srgbClr val="FFFFFF"/>
                </a:solidFill>
              </a:rPr>
            </a:br>
            <a:br>
              <a:rPr lang="en-US" sz="4000" b="1" dirty="0">
                <a:solidFill>
                  <a:srgbClr val="FFFFFF"/>
                </a:solidFill>
              </a:rPr>
            </a:br>
            <a:r>
              <a:rPr lang="en-US" sz="3200" b="1" dirty="0">
                <a:solidFill>
                  <a:srgbClr val="FFFFFF"/>
                </a:solidFill>
              </a:rPr>
              <a:t>Commensalism (+/0)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60F53-E78E-2131-A51E-9E865C0B7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 fontAlgn="t">
              <a:buNone/>
            </a:pPr>
            <a:r>
              <a:rPr lang="en-US" b="1" dirty="0"/>
              <a:t>Commensalism</a:t>
            </a:r>
          </a:p>
          <a:p>
            <a:pPr fontAlgn="t"/>
            <a:r>
              <a:rPr lang="en-US" dirty="0"/>
              <a:t>One </a:t>
            </a:r>
            <a:r>
              <a:rPr lang="en-US" b="1" dirty="0"/>
              <a:t>benefits, </a:t>
            </a:r>
            <a:r>
              <a:rPr lang="en-US" dirty="0"/>
              <a:t>the other is </a:t>
            </a:r>
            <a:r>
              <a:rPr lang="en-US" b="1" dirty="0"/>
              <a:t>unaffected </a:t>
            </a:r>
            <a:r>
              <a:rPr lang="en-US" dirty="0"/>
              <a:t>(neither helped nor harmed).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Example:</a:t>
            </a:r>
          </a:p>
          <a:p>
            <a:pPr lvl="1" fontAlgn="t"/>
            <a:r>
              <a:rPr lang="en-US" sz="2800" dirty="0"/>
              <a:t>Birds nesting in trees</a:t>
            </a:r>
          </a:p>
          <a:p>
            <a:endParaRPr lang="en-US" sz="2000" dirty="0"/>
          </a:p>
        </p:txBody>
      </p:sp>
      <p:pic>
        <p:nvPicPr>
          <p:cNvPr id="4" name="Picture 3" descr="75,000+ Birds Nest In Tree Stock Photos, Pictures &amp; Royalty-Free Images -  iStock">
            <a:extLst>
              <a:ext uri="{FF2B5EF4-FFF2-40B4-BE49-F238E27FC236}">
                <a16:creationId xmlns:a16="http://schemas.microsoft.com/office/drawing/2014/main" id="{230F11B5-8099-AC5D-B412-0E58F643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40" r="33124" b="-1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48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0CCF4-FA87-30FE-59B5-98CCABDEB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400" b="1" dirty="0">
                <a:solidFill>
                  <a:srgbClr val="FFFFFF"/>
                </a:solidFill>
              </a:rPr>
              <a:t>D. Symbiosis</a:t>
            </a:r>
            <a:br>
              <a:rPr lang="en-US" sz="3400" b="1" dirty="0">
                <a:solidFill>
                  <a:srgbClr val="FFFFFF"/>
                </a:solidFill>
              </a:rPr>
            </a:br>
            <a:br>
              <a:rPr lang="en-US" sz="3400" b="1" dirty="0">
                <a:solidFill>
                  <a:srgbClr val="FFFFFF"/>
                </a:solidFill>
              </a:rPr>
            </a:br>
            <a:r>
              <a:rPr lang="en-US" sz="3400" b="1" dirty="0">
                <a:solidFill>
                  <a:srgbClr val="FFFFFF"/>
                </a:solidFill>
              </a:rPr>
              <a:t>Parasitism (+/-)</a:t>
            </a: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143BD-C6F8-F1C8-0286-54F15E0E5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 fontAlgn="t">
              <a:buNone/>
            </a:pPr>
            <a:r>
              <a:rPr lang="en-US" b="1" dirty="0"/>
              <a:t>Parasitism</a:t>
            </a:r>
          </a:p>
          <a:p>
            <a:pPr fontAlgn="t"/>
            <a:r>
              <a:rPr lang="en-US" dirty="0"/>
              <a:t>A parasite lives on or in a host and obtains nutrients from it.</a:t>
            </a:r>
          </a:p>
          <a:p>
            <a:pPr fontAlgn="t"/>
            <a:r>
              <a:rPr lang="en-US" b="1" dirty="0"/>
              <a:t>Parasite</a:t>
            </a:r>
            <a:r>
              <a:rPr lang="en-US" dirty="0"/>
              <a:t> benefits; the </a:t>
            </a:r>
            <a:r>
              <a:rPr lang="en-US" b="1" dirty="0"/>
              <a:t>host</a:t>
            </a:r>
            <a:r>
              <a:rPr lang="en-US" dirty="0"/>
              <a:t> is harmed.</a:t>
            </a:r>
          </a:p>
          <a:p>
            <a:pPr fontAlgn="t"/>
            <a:endParaRPr lang="en-US" dirty="0"/>
          </a:p>
          <a:p>
            <a:pPr fontAlgn="t"/>
            <a:r>
              <a:rPr lang="en-US" dirty="0"/>
              <a:t>Example: Ticks on dogs</a:t>
            </a:r>
          </a:p>
          <a:p>
            <a:pPr fontAlgn="t"/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What Do Ticks Look Like on Dogs?">
            <a:extLst>
              <a:ext uri="{FF2B5EF4-FFF2-40B4-BE49-F238E27FC236}">
                <a16:creationId xmlns:a16="http://schemas.microsoft.com/office/drawing/2014/main" id="{BBBD2B35-B79F-DD82-866C-BFE7180DF7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13" r="18757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27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A6465D-4EE7-0E7E-1271-6D254BCE5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385604"/>
              </p:ext>
            </p:extLst>
          </p:nvPr>
        </p:nvGraphicFramePr>
        <p:xfrm>
          <a:off x="838200" y="375156"/>
          <a:ext cx="10515600" cy="617312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330677">
                  <a:extLst>
                    <a:ext uri="{9D8B030D-6E8A-4147-A177-3AD203B41FA5}">
                      <a16:colId xmlns:a16="http://schemas.microsoft.com/office/drawing/2014/main" val="3874921079"/>
                    </a:ext>
                  </a:extLst>
                </a:gridCol>
                <a:gridCol w="1927123">
                  <a:extLst>
                    <a:ext uri="{9D8B030D-6E8A-4147-A177-3AD203B41FA5}">
                      <a16:colId xmlns:a16="http://schemas.microsoft.com/office/drawing/2014/main" val="2028372966"/>
                    </a:ext>
                  </a:extLst>
                </a:gridCol>
                <a:gridCol w="1877961">
                  <a:extLst>
                    <a:ext uri="{9D8B030D-6E8A-4147-A177-3AD203B41FA5}">
                      <a16:colId xmlns:a16="http://schemas.microsoft.com/office/drawing/2014/main" val="74862330"/>
                    </a:ext>
                  </a:extLst>
                </a:gridCol>
                <a:gridCol w="3379839">
                  <a:extLst>
                    <a:ext uri="{9D8B030D-6E8A-4147-A177-3AD203B41FA5}">
                      <a16:colId xmlns:a16="http://schemas.microsoft.com/office/drawing/2014/main" val="3117869895"/>
                    </a:ext>
                  </a:extLst>
                </a:gridCol>
              </a:tblGrid>
              <a:tr h="1450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Effect on Species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effectLst/>
                        </a:rPr>
                        <a:t>Effect on Species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265805"/>
                  </a:ext>
                </a:extLst>
              </a:tr>
              <a:tr h="78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Competition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Lions and hyenas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028696"/>
                  </a:ext>
                </a:extLst>
              </a:tr>
              <a:tr h="78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Predation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Snake and 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634962"/>
                  </a:ext>
                </a:extLst>
              </a:tr>
              <a:tr h="78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Herbivory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effectLst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>
                          <a:effectLst/>
                        </a:rPr>
                        <a:t>Cow and grass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647372"/>
                  </a:ext>
                </a:extLst>
              </a:tr>
              <a:tr h="78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Mutualism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effectLst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Bee and flower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777424"/>
                  </a:ext>
                </a:extLst>
              </a:tr>
              <a:tr h="78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Commensalism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Barnacle and whale</a:t>
                      </a:r>
                      <a:endParaRPr lang="en-US" sz="14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439211"/>
                  </a:ext>
                </a:extLst>
              </a:tr>
              <a:tr h="787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>
                          <a:effectLst/>
                        </a:rPr>
                        <a:t>Parasitism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effectLst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effectLst/>
                        </a:rPr>
                        <a:t>Tick and dog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445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8171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75D4E-B74F-E906-C27B-AF28D1D4F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Energy Flow in the Ecosystem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7D3FA-0EE4-898F-55D1-86B5BB120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164777"/>
            <a:ext cx="6780700" cy="45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56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574BB58-3C63-FB68-DAB5-4FAAC384BA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04397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5317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3CECC-142F-A9BD-7F09-FDC0237F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br>
              <a:rPr lang="en-US" sz="3600" b="1">
                <a:solidFill>
                  <a:schemeClr val="bg1"/>
                </a:solidFill>
              </a:rPr>
            </a:br>
            <a:r>
              <a:rPr lang="en-US" sz="3600" b="1">
                <a:solidFill>
                  <a:schemeClr val="bg1"/>
                </a:solidFill>
              </a:rPr>
              <a:t>Food Chains</a:t>
            </a:r>
            <a:br>
              <a:rPr lang="en-US" sz="3600" b="1">
                <a:solidFill>
                  <a:schemeClr val="bg1"/>
                </a:solidFill>
              </a:rPr>
            </a:b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E173-9052-FB30-160F-0D208DBE4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US" sz="2400" dirty="0"/>
              <a:t>A </a:t>
            </a:r>
            <a:r>
              <a:rPr lang="en-US" sz="2400" b="1" dirty="0"/>
              <a:t>food chain</a:t>
            </a:r>
            <a:r>
              <a:rPr lang="en-US" sz="2400" dirty="0"/>
              <a:t> is a </a:t>
            </a:r>
            <a:r>
              <a:rPr lang="en-US" sz="2400" dirty="0">
                <a:solidFill>
                  <a:srgbClr val="FF0000"/>
                </a:solidFill>
              </a:rPr>
              <a:t>linear sequence </a:t>
            </a:r>
            <a:r>
              <a:rPr lang="en-US" sz="2400" dirty="0"/>
              <a:t>of organisms through which </a:t>
            </a:r>
            <a:r>
              <a:rPr lang="en-US" sz="2400" b="1" dirty="0"/>
              <a:t>nutrients and energy</a:t>
            </a:r>
            <a:r>
              <a:rPr lang="en-US" sz="2400" dirty="0"/>
              <a:t> pass as one organism eats another. </a:t>
            </a:r>
          </a:p>
          <a:p>
            <a:r>
              <a:rPr lang="en-US" sz="2400" dirty="0"/>
              <a:t>There is a </a:t>
            </a:r>
            <a:r>
              <a:rPr lang="en-US" sz="2400" dirty="0">
                <a:solidFill>
                  <a:srgbClr val="FF0000"/>
                </a:solidFill>
              </a:rPr>
              <a:t>single path </a:t>
            </a:r>
            <a:r>
              <a:rPr lang="en-US" sz="2400" dirty="0"/>
              <a:t>through a food chain.</a:t>
            </a:r>
          </a:p>
          <a:p>
            <a:endParaRPr lang="en-US" sz="2400" dirty="0"/>
          </a:p>
        </p:txBody>
      </p:sp>
      <p:pic>
        <p:nvPicPr>
          <p:cNvPr id="5" name="Picture 4" descr="178,200 Food Chain Royalty-Free Images, Stock Photos ...">
            <a:extLst>
              <a:ext uri="{FF2B5EF4-FFF2-40B4-BE49-F238E27FC236}">
                <a16:creationId xmlns:a16="http://schemas.microsoft.com/office/drawing/2014/main" id="{D5DE20AC-DC02-3C9B-6D55-BCCAEAB3E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781"/>
          <a:stretch>
            <a:fillRect/>
          </a:stretch>
        </p:blipFill>
        <p:spPr>
          <a:xfrm>
            <a:off x="4137936" y="3032455"/>
            <a:ext cx="6934200" cy="232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945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F3800-3649-3F75-4945-77185914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Trophic level</a:t>
            </a:r>
            <a:r>
              <a:rPr lang="en-US" sz="4000">
                <a:solidFill>
                  <a:schemeClr val="bg1"/>
                </a:solidFill>
              </a:rPr>
              <a:t> 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29FE0-E60F-0C48-B395-B8589BA5B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4" y="2217343"/>
            <a:ext cx="10854812" cy="4452370"/>
          </a:xfrm>
        </p:spPr>
        <p:txBody>
          <a:bodyPr>
            <a:normAutofit fontScale="85000" lnSpcReduction="10000"/>
          </a:bodyPr>
          <a:lstStyle/>
          <a:p>
            <a:r>
              <a:rPr lang="en-US" sz="2200" dirty="0"/>
              <a:t>Each organism in a food chain occupies a specific </a:t>
            </a:r>
            <a:r>
              <a:rPr lang="en-US" sz="2200" b="1" dirty="0"/>
              <a:t>trophic level</a:t>
            </a:r>
            <a:r>
              <a:rPr lang="en-US" sz="2200" dirty="0"/>
              <a:t> (energy level), </a:t>
            </a:r>
            <a:r>
              <a:rPr lang="en-US" sz="2200" b="1" dirty="0"/>
              <a:t>its position </a:t>
            </a:r>
            <a:r>
              <a:rPr lang="en-US" sz="2200" dirty="0"/>
              <a:t>in the food chain. </a:t>
            </a:r>
          </a:p>
          <a:p>
            <a:pPr fontAlgn="t"/>
            <a:r>
              <a:rPr lang="en-US" sz="1700" b="1" dirty="0"/>
              <a:t>Producers (1st Level)</a:t>
            </a:r>
            <a:endParaRPr lang="en-US" sz="1700" dirty="0"/>
          </a:p>
          <a:p>
            <a:pPr lvl="1" fontAlgn="t"/>
            <a:r>
              <a:rPr lang="en-US" sz="1700" dirty="0"/>
              <a:t>Plants and algae</a:t>
            </a:r>
          </a:p>
          <a:p>
            <a:pPr lvl="1" fontAlgn="t"/>
            <a:r>
              <a:rPr lang="en-US" sz="1700" dirty="0"/>
              <a:t>Make their own food using sunlight (</a:t>
            </a:r>
            <a:r>
              <a:rPr lang="en-US" sz="1700" b="1" dirty="0"/>
              <a:t>photosynthesis</a:t>
            </a:r>
            <a:r>
              <a:rPr lang="en-US" sz="1700" dirty="0"/>
              <a:t>)</a:t>
            </a:r>
          </a:p>
          <a:p>
            <a:pPr fontAlgn="t"/>
            <a:r>
              <a:rPr lang="en-US" sz="1700" b="1" dirty="0"/>
              <a:t>Primary Consumers (2nd Level)</a:t>
            </a:r>
            <a:endParaRPr lang="en-US" sz="1700" dirty="0"/>
          </a:p>
          <a:p>
            <a:pPr lvl="1" fontAlgn="t"/>
            <a:r>
              <a:rPr lang="en-US" sz="1700" dirty="0"/>
              <a:t>Herbivores (eat plants)</a:t>
            </a:r>
          </a:p>
          <a:p>
            <a:pPr lvl="1" fontAlgn="t"/>
            <a:r>
              <a:rPr lang="en-US" sz="1700" dirty="0"/>
              <a:t>Examples: rabbit, deer, grasshopper</a:t>
            </a:r>
          </a:p>
          <a:p>
            <a:pPr fontAlgn="t"/>
            <a:r>
              <a:rPr lang="en-US" sz="1700" b="1" dirty="0"/>
              <a:t>Secondary Consumers (3rd Level)</a:t>
            </a:r>
            <a:endParaRPr lang="en-US" sz="1700" dirty="0"/>
          </a:p>
          <a:p>
            <a:pPr lvl="1" fontAlgn="t"/>
            <a:r>
              <a:rPr lang="en-US" sz="1700" dirty="0"/>
              <a:t>Carnivores that eat herbivores</a:t>
            </a:r>
          </a:p>
          <a:p>
            <a:pPr lvl="1" fontAlgn="t"/>
            <a:r>
              <a:rPr lang="en-US" sz="1700" dirty="0"/>
              <a:t>Examples: snake, fox</a:t>
            </a:r>
          </a:p>
          <a:p>
            <a:pPr fontAlgn="t"/>
            <a:r>
              <a:rPr lang="en-US" sz="1700" b="1" dirty="0"/>
              <a:t>Tertiary Consumers (4th Level)</a:t>
            </a:r>
            <a:endParaRPr lang="en-US" sz="1700" dirty="0"/>
          </a:p>
          <a:p>
            <a:pPr lvl="1" fontAlgn="t"/>
            <a:r>
              <a:rPr lang="en-US" sz="1700" dirty="0"/>
              <a:t>Top predators</a:t>
            </a:r>
          </a:p>
          <a:p>
            <a:pPr lvl="1" fontAlgn="t"/>
            <a:r>
              <a:rPr lang="en-US" sz="1700" dirty="0"/>
              <a:t>Examples: eagle, lion</a:t>
            </a:r>
          </a:p>
          <a:p>
            <a:pPr fontAlgn="t"/>
            <a:r>
              <a:rPr lang="en-US" sz="2200" b="1" dirty="0"/>
              <a:t>Higher Trophic Levels:</a:t>
            </a:r>
            <a:r>
              <a:rPr lang="en-US" sz="2200" dirty="0"/>
              <a:t> Some ecosystems have </a:t>
            </a:r>
            <a:r>
              <a:rPr lang="en-US" sz="2200" b="1" dirty="0"/>
              <a:t>quaternary consumers</a:t>
            </a:r>
            <a:r>
              <a:rPr lang="en-US" sz="2200" dirty="0"/>
              <a:t> and other top predators </a:t>
            </a:r>
          </a:p>
          <a:p>
            <a:r>
              <a:rPr lang="en-US" sz="2200" b="1" dirty="0"/>
              <a:t>Decomposers</a:t>
            </a:r>
            <a:r>
              <a:rPr lang="en-US" sz="2200" dirty="0"/>
              <a:t> break down dead and decaying organisms from any trophic level.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27978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51F6560-D61C-400F-B71A-3FDEBF451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AEA861-DD11-E69E-08ED-3A9E6C97B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 dirty="0"/>
              <a:t>Trophic levels of a food chain</a:t>
            </a:r>
          </a:p>
        </p:txBody>
      </p:sp>
      <p:pic>
        <p:nvPicPr>
          <p:cNvPr id="5" name="Content Placeholder 4" descr="Trophic Level: Food chain, Food web, Pyramid, Examples">
            <a:extLst>
              <a:ext uri="{FF2B5EF4-FFF2-40B4-BE49-F238E27FC236}">
                <a16:creationId xmlns:a16="http://schemas.microsoft.com/office/drawing/2014/main" id="{0B2EABDC-815B-B773-DBCA-FEAC15402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519" y="1514181"/>
            <a:ext cx="7561262" cy="3969662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 descr="This food chain illustrates the trophic levels in Lake Ontario, from producer to tertiary consumer.">
            <a:extLst>
              <a:ext uri="{FF2B5EF4-FFF2-40B4-BE49-F238E27FC236}">
                <a16:creationId xmlns:a16="http://schemas.microsoft.com/office/drawing/2014/main" id="{70E2C202-0D7B-B9E8-E6F2-51DB18ACE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907" y="953742"/>
            <a:ext cx="2878574" cy="564426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7798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1B585-A189-0905-9990-6A595141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 fontScale="90000"/>
          </a:bodyPr>
          <a:lstStyle/>
          <a:p>
            <a:br>
              <a:rPr lang="en-US" sz="19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10% Energy Rule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7F0FF-210E-7BFF-66D5-BF4957C99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 fontScale="70000" lnSpcReduction="20000"/>
          </a:bodyPr>
          <a:lstStyle/>
          <a:p>
            <a:pPr fontAlgn="t"/>
            <a:r>
              <a:rPr lang="en-US" sz="2400" dirty="0"/>
              <a:t>The </a:t>
            </a:r>
            <a:r>
              <a:rPr lang="en-US" sz="2400" b="1" dirty="0"/>
              <a:t>10% energy rule</a:t>
            </a:r>
            <a:r>
              <a:rPr lang="en-US" sz="2400" dirty="0"/>
              <a:t> states that </a:t>
            </a:r>
            <a:r>
              <a:rPr lang="en-US" sz="2400" b="1" dirty="0"/>
              <a:t>only about 10% of the energy at one trophic level is transferred to the next trophic level</a:t>
            </a:r>
            <a:r>
              <a:rPr lang="en-US" sz="2400" dirty="0"/>
              <a:t>. </a:t>
            </a:r>
          </a:p>
          <a:p>
            <a:pPr fontAlgn="t"/>
            <a:r>
              <a:rPr lang="en-US" sz="2400" dirty="0"/>
              <a:t>The remaining </a:t>
            </a:r>
            <a:r>
              <a:rPr lang="en-US" sz="2400" b="1" dirty="0"/>
              <a:t>90% is lost</a:t>
            </a:r>
            <a:r>
              <a:rPr lang="en-US" sz="2400" dirty="0"/>
              <a:t> as heat, movement, growth, and other life processes.</a:t>
            </a:r>
          </a:p>
          <a:p>
            <a:pPr fontAlgn="t">
              <a:buNone/>
            </a:pPr>
            <a:r>
              <a:rPr lang="en-US" sz="2400" b="1" dirty="0"/>
              <a:t>Example</a:t>
            </a:r>
          </a:p>
          <a:p>
            <a:pPr fontAlgn="t"/>
            <a:r>
              <a:rPr lang="en-US" sz="2400" b="1" dirty="0"/>
              <a:t>Producers (Grass)</a:t>
            </a:r>
            <a:r>
              <a:rPr lang="en-US" sz="2400" dirty="0"/>
              <a:t> = 10,000 units of energy</a:t>
            </a:r>
          </a:p>
          <a:p>
            <a:pPr fontAlgn="t"/>
            <a:r>
              <a:rPr lang="en-US" sz="2400" b="1" dirty="0"/>
              <a:t>Primary Consumers (Rabbit)</a:t>
            </a:r>
            <a:r>
              <a:rPr lang="en-US" sz="2400" dirty="0"/>
              <a:t> = 1,000 units</a:t>
            </a:r>
          </a:p>
          <a:p>
            <a:pPr fontAlgn="t"/>
            <a:r>
              <a:rPr lang="en-US" sz="2400" b="1" dirty="0"/>
              <a:t>Secondary Consumers (Snake)</a:t>
            </a:r>
            <a:r>
              <a:rPr lang="en-US" sz="2400" dirty="0"/>
              <a:t> = 100 units</a:t>
            </a:r>
          </a:p>
          <a:p>
            <a:pPr fontAlgn="t"/>
            <a:r>
              <a:rPr lang="en-US" sz="2400" b="1" dirty="0"/>
              <a:t>Tertiary Consumers (Hawk)</a:t>
            </a:r>
            <a:r>
              <a:rPr lang="en-US" sz="2400" dirty="0"/>
              <a:t> = 10 units</a:t>
            </a:r>
          </a:p>
          <a:p>
            <a:pPr fontAlgn="t"/>
            <a:endParaRPr lang="en-US" sz="2400" dirty="0"/>
          </a:p>
          <a:p>
            <a:pPr fontAlgn="t">
              <a:lnSpc>
                <a:spcPts val="1500"/>
              </a:lnSpc>
              <a:buNone/>
            </a:pPr>
            <a:r>
              <a:rPr lang="en-US" b="1" dirty="0"/>
              <a:t>Why is it important?</a:t>
            </a:r>
          </a:p>
          <a:p>
            <a:pPr fontAlgn="t">
              <a:lnSpc>
                <a:spcPts val="1500"/>
              </a:lnSpc>
            </a:pPr>
            <a:r>
              <a:rPr lang="en-US" dirty="0"/>
              <a:t>Explains why food chains are usually short.</a:t>
            </a:r>
          </a:p>
          <a:p>
            <a:pPr fontAlgn="t">
              <a:lnSpc>
                <a:spcPts val="1500"/>
              </a:lnSpc>
            </a:pPr>
            <a:r>
              <a:rPr lang="en-US" dirty="0"/>
              <a:t>Shows why there are fewer top predators than producers.</a:t>
            </a:r>
          </a:p>
          <a:p>
            <a:pPr fontAlgn="t">
              <a:lnSpc>
                <a:spcPts val="1500"/>
              </a:lnSpc>
            </a:pPr>
            <a:r>
              <a:rPr lang="en-US" dirty="0"/>
              <a:t>Demonstrates the flow and loss of energy in ecosystems.</a:t>
            </a:r>
          </a:p>
          <a:p>
            <a:pPr fontAlgn="t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3853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7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Ecology and Biogeography: How Energy Flows Through the Biosphere: – Planet  Earth">
            <a:extLst>
              <a:ext uri="{FF2B5EF4-FFF2-40B4-BE49-F238E27FC236}">
                <a16:creationId xmlns:a16="http://schemas.microsoft.com/office/drawing/2014/main" id="{455BEFE0-D699-6059-9992-A044E8C9D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6" y="643467"/>
            <a:ext cx="1066232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294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6795E-9F13-86BE-E7E0-0D11AE8A6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637762"/>
            <a:ext cx="2865853" cy="5576770"/>
          </a:xfrm>
        </p:spPr>
        <p:txBody>
          <a:bodyPr anchor="t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Biomagnification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A95AD-A7C8-783F-7B33-19E620DF4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US" sz="2400" dirty="0"/>
              <a:t>Certain environmental toxins can become more concentrated as they move up the food chain, with the highest concentrations occurring in the top consumers, a process called </a:t>
            </a:r>
            <a:r>
              <a:rPr lang="en-US" sz="2400" b="1" dirty="0"/>
              <a:t>biomagnification</a:t>
            </a:r>
            <a:r>
              <a:rPr lang="en-US" sz="2400" dirty="0"/>
              <a:t>. </a:t>
            </a:r>
          </a:p>
          <a:p>
            <a:r>
              <a:rPr lang="en-US" sz="2400" dirty="0"/>
              <a:t>Essentially, a top consumer ingests all the toxins that had previously accumulated in the bodies of the organisms at the lower trophic levels. </a:t>
            </a:r>
          </a:p>
          <a:p>
            <a:r>
              <a:rPr lang="en-US" sz="2400" dirty="0"/>
              <a:t>This explains why frequently eating certain fish, like tuna or swordfish, increases mercury exposure, a toxic heavy metal.</a:t>
            </a:r>
          </a:p>
        </p:txBody>
      </p:sp>
    </p:spTree>
    <p:extLst>
      <p:ext uri="{BB962C8B-B14F-4D97-AF65-F5344CB8AC3E}">
        <p14:creationId xmlns:p14="http://schemas.microsoft.com/office/powerpoint/2010/main" val="676751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E4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E3EE6-2F52-DA0E-A0E5-F22C7215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905" y="643467"/>
            <a:ext cx="3714043" cy="55710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Bioaccumulation &amp; Biomagnification: When Bigger Isn't Better. – Shark  Research &amp; Conservation Program (SRC) | University of Miami">
            <a:extLst>
              <a:ext uri="{FF2B5EF4-FFF2-40B4-BE49-F238E27FC236}">
                <a16:creationId xmlns:a16="http://schemas.microsoft.com/office/drawing/2014/main" id="{EBE32AD5-8B2E-CBCC-D26C-B9916F6AF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8" y="643467"/>
            <a:ext cx="4777187" cy="55710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B29091-6A58-E2A8-9ACE-1F5216784BA0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8864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4F56E-9950-586C-1A9C-0E06CD011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Food Web</a:t>
            </a:r>
            <a:br>
              <a:rPr lang="en-US" sz="3600" b="1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4C8AA-6E80-C32C-6B7B-90CA779A9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 lnSpcReduction="10000"/>
          </a:bodyPr>
          <a:lstStyle/>
          <a:p>
            <a:pPr fontAlgn="t">
              <a:buNone/>
            </a:pPr>
            <a:r>
              <a:rPr lang="en-US" sz="1800" b="1" dirty="0"/>
              <a:t>Food webs</a:t>
            </a:r>
            <a:r>
              <a:rPr lang="en-US" sz="1800" dirty="0"/>
              <a:t> are networks of </a:t>
            </a:r>
            <a:r>
              <a:rPr lang="en-US" sz="1800" b="1" dirty="0"/>
              <a:t>interconnected food chains </a:t>
            </a:r>
            <a:r>
              <a:rPr lang="en-US" sz="1800" dirty="0"/>
              <a:t>that show how energy and nutrients move through an ecosystem.</a:t>
            </a:r>
          </a:p>
          <a:p>
            <a:pPr fontAlgn="t">
              <a:buNone/>
            </a:pPr>
            <a:endParaRPr lang="en-US" sz="1800" dirty="0"/>
          </a:p>
          <a:p>
            <a:pPr fontAlgn="t"/>
            <a:r>
              <a:rPr lang="en-US" sz="1800" dirty="0"/>
              <a:t> Consists of </a:t>
            </a:r>
            <a:r>
              <a:rPr lang="en-US" sz="1800" b="1" dirty="0"/>
              <a:t>multiple interconnected food chains</a:t>
            </a:r>
            <a:r>
              <a:rPr lang="en-US" sz="1800" dirty="0"/>
              <a:t>.</a:t>
            </a:r>
          </a:p>
          <a:p>
            <a:pPr fontAlgn="t"/>
            <a:r>
              <a:rPr lang="en-US" sz="1800" dirty="0"/>
              <a:t>Show that organisms often have </a:t>
            </a:r>
            <a:r>
              <a:rPr lang="en-US" sz="1800" b="1" dirty="0"/>
              <a:t>more than one food source</a:t>
            </a:r>
            <a:r>
              <a:rPr lang="en-US" sz="1800" dirty="0"/>
              <a:t>.</a:t>
            </a:r>
          </a:p>
          <a:p>
            <a:pPr fontAlgn="t"/>
            <a:r>
              <a:rPr lang="en-US" sz="1800" dirty="0"/>
              <a:t>Illustrate the </a:t>
            </a:r>
            <a:r>
              <a:rPr lang="en-US" sz="1800" b="1" dirty="0"/>
              <a:t>feeding relationships</a:t>
            </a:r>
            <a:r>
              <a:rPr lang="en-US" sz="1800" dirty="0"/>
              <a:t> among different organisms.</a:t>
            </a:r>
          </a:p>
          <a:p>
            <a:pPr fontAlgn="t"/>
            <a:r>
              <a:rPr lang="en-US" sz="1800" dirty="0"/>
              <a:t>Demonstrate how </a:t>
            </a:r>
            <a:r>
              <a:rPr lang="en-US" sz="1800" b="1" dirty="0"/>
              <a:t>energy flows</a:t>
            </a:r>
            <a:r>
              <a:rPr lang="en-US" sz="1800" dirty="0"/>
              <a:t> through an ecosystem.</a:t>
            </a:r>
          </a:p>
          <a:p>
            <a:pPr fontAlgn="t"/>
            <a:r>
              <a:rPr lang="en-US" sz="1800" dirty="0"/>
              <a:t>Help explain how changes in one species can affect many others.</a:t>
            </a:r>
          </a:p>
          <a:p>
            <a:pPr fontAlgn="t"/>
            <a:endParaRPr lang="en-US" sz="1800" dirty="0"/>
          </a:p>
          <a:p>
            <a:pPr fontAlgn="t">
              <a:buNone/>
            </a:pPr>
            <a:r>
              <a:rPr lang="en-US" sz="1800" b="1" dirty="0"/>
              <a:t>Importance of Food Webs</a:t>
            </a:r>
          </a:p>
          <a:p>
            <a:pPr fontAlgn="t"/>
            <a:r>
              <a:rPr lang="en-US" sz="1800" dirty="0"/>
              <a:t>Show ecosystem complexity.</a:t>
            </a:r>
          </a:p>
          <a:p>
            <a:pPr fontAlgn="t"/>
            <a:r>
              <a:rPr lang="en-US" sz="1800" dirty="0"/>
              <a:t>Help maintain ecosystem stability.</a:t>
            </a:r>
          </a:p>
          <a:p>
            <a:pPr fontAlgn="t"/>
            <a:r>
              <a:rPr lang="en-US" sz="1800" dirty="0"/>
              <a:t>Reveal the impact of losing or adding a species.</a:t>
            </a:r>
          </a:p>
          <a:p>
            <a:pPr fontAlgn="t"/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7232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Food Chains and Food Webs | Examples of Food Chains and Food Webs">
            <a:extLst>
              <a:ext uri="{FF2B5EF4-FFF2-40B4-BE49-F238E27FC236}">
                <a16:creationId xmlns:a16="http://schemas.microsoft.com/office/drawing/2014/main" id="{F7E6B193-53CD-F60B-05C0-D0A68B62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05" y="643466"/>
            <a:ext cx="4926647" cy="55668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56607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B84FC-4637-5C99-B008-B32E1373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 fontAlgn="t"/>
            <a:r>
              <a:rPr lang="en-US" sz="4000">
                <a:solidFill>
                  <a:srgbClr val="FFFFFF"/>
                </a:solidFill>
                <a:latin typeface="Segoe UI" panose="020B0502040204020203" pitchFamily="34" charset="0"/>
              </a:rPr>
              <a:t>Ecosystem Concepts Summary</a:t>
            </a:r>
            <a:br>
              <a:rPr lang="en-US" sz="4000">
                <a:solidFill>
                  <a:srgbClr val="FFFFFF"/>
                </a:solidFill>
                <a:latin typeface="Segoe UI" panose="020B0502040204020203" pitchFamily="34" charset="0"/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01EFF-0A44-3A45-EC89-C552AB813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108156"/>
            <a:ext cx="6555347" cy="6087372"/>
          </a:xfrm>
        </p:spPr>
        <p:txBody>
          <a:bodyPr anchor="ctr">
            <a:normAutofit fontScale="92500" lnSpcReduction="10000"/>
          </a:bodyPr>
          <a:lstStyle/>
          <a:p>
            <a:pPr fontAlgn="t">
              <a:buNone/>
            </a:pPr>
            <a:endParaRPr lang="en-US" sz="1600" b="1" dirty="0"/>
          </a:p>
          <a:p>
            <a:pPr fontAlgn="t">
              <a:buNone/>
            </a:pPr>
            <a:r>
              <a:rPr lang="en-US" sz="1600" b="1" dirty="0"/>
              <a:t>Ecosystem Concepts Summary</a:t>
            </a:r>
          </a:p>
          <a:p>
            <a:pPr fontAlgn="t"/>
            <a:r>
              <a:rPr lang="en-US" sz="1600" b="1" dirty="0"/>
              <a:t>Flow of Energy</a:t>
            </a:r>
            <a:r>
              <a:rPr lang="en-US" sz="1600" dirty="0"/>
              <a:t> – Energy moves in one direction through an ecosystem: </a:t>
            </a:r>
            <a:r>
              <a:rPr lang="en-US" sz="1600" b="1" dirty="0"/>
              <a:t>Sun → Producers → Consumers → Decomposers</a:t>
            </a:r>
            <a:r>
              <a:rPr lang="en-US" sz="1600" dirty="0"/>
              <a:t>.</a:t>
            </a:r>
          </a:p>
          <a:p>
            <a:pPr fontAlgn="t"/>
            <a:r>
              <a:rPr lang="en-US" sz="1600" b="1" dirty="0"/>
              <a:t>Food Chain</a:t>
            </a:r>
            <a:r>
              <a:rPr lang="en-US" sz="1600" dirty="0"/>
              <a:t> – A simple pathway showing how energy and nutrients pass from one organism to another through feeding relationships.</a:t>
            </a:r>
          </a:p>
          <a:p>
            <a:pPr fontAlgn="t"/>
            <a:r>
              <a:rPr lang="en-US" sz="1600" b="1" dirty="0"/>
              <a:t>Trophic Level</a:t>
            </a:r>
            <a:r>
              <a:rPr lang="en-US" sz="1600" dirty="0"/>
              <a:t> – The feeding position an organism occupies in a food chain.</a:t>
            </a:r>
          </a:p>
          <a:p>
            <a:pPr marL="742950" lvl="1" indent="-285750" fontAlgn="t"/>
            <a:r>
              <a:rPr lang="en-US" sz="1600" dirty="0"/>
              <a:t>1st: Producers</a:t>
            </a:r>
          </a:p>
          <a:p>
            <a:pPr marL="742950" lvl="1" indent="-285750" fontAlgn="t"/>
            <a:r>
              <a:rPr lang="en-US" sz="1600" dirty="0"/>
              <a:t>2nd: Primary Consumers</a:t>
            </a:r>
          </a:p>
          <a:p>
            <a:pPr marL="742950" lvl="1" indent="-285750" fontAlgn="t"/>
            <a:r>
              <a:rPr lang="en-US" sz="1600" dirty="0"/>
              <a:t>3rd: Secondary Consumers</a:t>
            </a:r>
          </a:p>
          <a:p>
            <a:pPr marL="742950" lvl="1" indent="-285750" fontAlgn="t"/>
            <a:r>
              <a:rPr lang="en-US" sz="1600" dirty="0"/>
              <a:t>4th: Tertiary Consumers</a:t>
            </a:r>
          </a:p>
          <a:p>
            <a:pPr fontAlgn="t"/>
            <a:r>
              <a:rPr lang="en-US" sz="1600" b="1" dirty="0"/>
              <a:t>10% Energy Rule</a:t>
            </a:r>
            <a:r>
              <a:rPr lang="en-US" sz="1600" dirty="0"/>
              <a:t> – Only about </a:t>
            </a:r>
            <a:r>
              <a:rPr lang="en-US" sz="1600" b="1" dirty="0"/>
              <a:t>10% of the energy</a:t>
            </a:r>
            <a:r>
              <a:rPr lang="en-US" sz="1600" dirty="0"/>
              <a:t> at one trophic level is transferred to the next; about </a:t>
            </a:r>
            <a:r>
              <a:rPr lang="en-US" sz="1600" b="1" dirty="0"/>
              <a:t>90% is lost</a:t>
            </a:r>
            <a:r>
              <a:rPr lang="en-US" sz="1600" dirty="0"/>
              <a:t> as heat and life processes.</a:t>
            </a:r>
          </a:p>
          <a:p>
            <a:pPr fontAlgn="t"/>
            <a:r>
              <a:rPr lang="en-US" sz="1600" b="1" dirty="0"/>
              <a:t>Biomagnification</a:t>
            </a:r>
            <a:r>
              <a:rPr lang="en-US" sz="1600" dirty="0"/>
              <a:t> – The process by which harmful substances (e.g., pesticides, mercury) become </a:t>
            </a:r>
            <a:r>
              <a:rPr lang="en-US" sz="1600" b="1" dirty="0"/>
              <a:t>more concentrated at higher trophic levels</a:t>
            </a:r>
            <a:r>
              <a:rPr lang="en-US" sz="1600" dirty="0"/>
              <a:t> in a food chain.</a:t>
            </a:r>
          </a:p>
          <a:p>
            <a:pPr fontAlgn="t"/>
            <a:r>
              <a:rPr lang="en-US" sz="1600" b="1" dirty="0"/>
              <a:t>Food Web</a:t>
            </a:r>
            <a:r>
              <a:rPr lang="en-US" sz="1600" dirty="0"/>
              <a:t> – A network of interconnected food chains showing multiple feeding relationships within an ecosystem.</a:t>
            </a:r>
          </a:p>
          <a:p>
            <a:pPr fontAlgn="t"/>
            <a:endParaRPr lang="en-US" sz="1600" dirty="0"/>
          </a:p>
          <a:p>
            <a:pPr algn="just" fontAlgn="t">
              <a:lnSpc>
                <a:spcPts val="1500"/>
              </a:lnSpc>
            </a:pPr>
            <a:r>
              <a:rPr lang="en-US" sz="1900" dirty="0"/>
              <a:t>These concepts help us understand </a:t>
            </a:r>
            <a:r>
              <a:rPr lang="en-US" sz="1900" b="1" dirty="0"/>
              <a:t>how energy flows </a:t>
            </a:r>
            <a:r>
              <a:rPr lang="en-US" sz="1900" dirty="0"/>
              <a:t>through ecosystems, </a:t>
            </a:r>
            <a:r>
              <a:rPr lang="en-US" sz="1900" b="1" dirty="0"/>
              <a:t>how organisms depend on one another</a:t>
            </a:r>
            <a:r>
              <a:rPr lang="en-US" sz="1900" dirty="0"/>
              <a:t>, and </a:t>
            </a:r>
            <a:r>
              <a:rPr lang="en-US" sz="1900" b="1" dirty="0"/>
              <a:t>why biodiversity and environmental protection are important</a:t>
            </a:r>
            <a:r>
              <a:rPr lang="en-US" sz="1900" dirty="0"/>
              <a:t> for </a:t>
            </a:r>
            <a:r>
              <a:rPr lang="en-US" sz="1900" b="1" dirty="0"/>
              <a:t>maintaining a balanced and healthy ecosystem</a:t>
            </a:r>
          </a:p>
          <a:p>
            <a:pPr fontAlgn="t"/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1548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97218-8C7C-6D42-EAC1-3675103A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Activity Time!</a:t>
            </a:r>
          </a:p>
        </p:txBody>
      </p:sp>
      <p:pic>
        <p:nvPicPr>
          <p:cNvPr id="4" name="Content Placeholder 3" descr="Think, pair, share poster by ABCs with Mrs Arbaut | TPT">
            <a:extLst>
              <a:ext uri="{FF2B5EF4-FFF2-40B4-BE49-F238E27FC236}">
                <a16:creationId xmlns:a16="http://schemas.microsoft.com/office/drawing/2014/main" id="{2B697312-FB5B-1216-A00F-550657ADA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08790"/>
            <a:ext cx="6780700" cy="52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4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2656</Words>
  <Application>Microsoft Office PowerPoint</Application>
  <PresentationFormat>Widescreen</PresentationFormat>
  <Paragraphs>449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Aptos</vt:lpstr>
      <vt:lpstr>Aptos Display</vt:lpstr>
      <vt:lpstr>Arial</vt:lpstr>
      <vt:lpstr>Cambria Math</vt:lpstr>
      <vt:lpstr>Courier New</vt:lpstr>
      <vt:lpstr>Segoe UI</vt:lpstr>
      <vt:lpstr>Wingdings</vt:lpstr>
      <vt:lpstr>Office Theme</vt:lpstr>
      <vt:lpstr>  Community and Ecosystem Ecology</vt:lpstr>
      <vt:lpstr>  Community and Ecosystem Ecology  </vt:lpstr>
      <vt:lpstr>Learning objectives</vt:lpstr>
      <vt:lpstr>Community Structure</vt:lpstr>
      <vt:lpstr> Species Richness </vt:lpstr>
      <vt:lpstr> Relative Species Abundance </vt:lpstr>
      <vt:lpstr>Example:</vt:lpstr>
      <vt:lpstr> DOMINANT SPECIES </vt:lpstr>
      <vt:lpstr>How Dominant Species Shape Communities</vt:lpstr>
      <vt:lpstr>How Dominant Species Shape Communities</vt:lpstr>
      <vt:lpstr>Examples of Dominant Species </vt:lpstr>
      <vt:lpstr>FOUNDATION SPECIES </vt:lpstr>
      <vt:lpstr>Examples</vt:lpstr>
      <vt:lpstr>Examples</vt:lpstr>
      <vt:lpstr> KEYSTONE SPECIES </vt:lpstr>
      <vt:lpstr> Examples:  </vt:lpstr>
      <vt:lpstr> What happens if a keystone species is removed? </vt:lpstr>
      <vt:lpstr>PowerPoint Presentation</vt:lpstr>
      <vt:lpstr>PowerPoint Presentation</vt:lpstr>
      <vt:lpstr>Summary of Ecological terms</vt:lpstr>
      <vt:lpstr>Community Dynamics </vt:lpstr>
      <vt:lpstr> Ecological Succession </vt:lpstr>
      <vt:lpstr>Ecological Succession</vt:lpstr>
      <vt:lpstr> Types of Ecological Succession </vt:lpstr>
      <vt:lpstr>PowerPoint Presentation</vt:lpstr>
      <vt:lpstr>Types of Ecological Succession</vt:lpstr>
      <vt:lpstr>PowerPoint Presentation</vt:lpstr>
      <vt:lpstr> Primary versus Secondary Succession </vt:lpstr>
      <vt:lpstr>Species Interactions </vt:lpstr>
      <vt:lpstr> Types of Species Interactions </vt:lpstr>
      <vt:lpstr> A. COMPETITION (-/-)   </vt:lpstr>
      <vt:lpstr>Cont.</vt:lpstr>
      <vt:lpstr>PowerPoint Presentation</vt:lpstr>
      <vt:lpstr>B. Predation (+/-) </vt:lpstr>
      <vt:lpstr> Defense Mechanisms Against Predation </vt:lpstr>
      <vt:lpstr> C. Herbivory (+/-) </vt:lpstr>
      <vt:lpstr>D. Symbiosis   Mutualism (+/+)</vt:lpstr>
      <vt:lpstr>D. Symbiosis  Commensalism (+/0)</vt:lpstr>
      <vt:lpstr>D. Symbiosis  Parasitism (+/-)</vt:lpstr>
      <vt:lpstr>PowerPoint Presentation</vt:lpstr>
      <vt:lpstr>Energy Flow in the Ecosystem</vt:lpstr>
      <vt:lpstr>PowerPoint Presentation</vt:lpstr>
      <vt:lpstr> Food Chains </vt:lpstr>
      <vt:lpstr>Trophic level </vt:lpstr>
      <vt:lpstr>Trophic levels of a food chain</vt:lpstr>
      <vt:lpstr> 10% Energy Rule </vt:lpstr>
      <vt:lpstr>PowerPoint Presentation</vt:lpstr>
      <vt:lpstr>Biomagnification</vt:lpstr>
      <vt:lpstr>PowerPoint Presentation</vt:lpstr>
      <vt:lpstr>Food Web </vt:lpstr>
      <vt:lpstr>PowerPoint Presentation</vt:lpstr>
      <vt:lpstr>Ecosystem Concepts Summary </vt:lpstr>
      <vt:lpstr>Activity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Darvin Evidor</dc:creator>
  <cp:lastModifiedBy>Darvin Evidor</cp:lastModifiedBy>
  <cp:revision>44</cp:revision>
  <dcterms:created xsi:type="dcterms:W3CDTF">2026-06-28T05:19:21Z</dcterms:created>
  <dcterms:modified xsi:type="dcterms:W3CDTF">2026-07-27T08:00:48Z</dcterms:modified>
</cp:coreProperties>
</file>