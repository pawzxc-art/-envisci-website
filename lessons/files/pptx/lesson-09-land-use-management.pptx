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57" r:id="rId3"/>
    <p:sldId id="294" r:id="rId4"/>
    <p:sldId id="271" r:id="rId5"/>
    <p:sldId id="273" r:id="rId6"/>
    <p:sldId id="258" r:id="rId7"/>
    <p:sldId id="274" r:id="rId8"/>
    <p:sldId id="276" r:id="rId9"/>
    <p:sldId id="277" r:id="rId10"/>
    <p:sldId id="278" r:id="rId11"/>
    <p:sldId id="279" r:id="rId12"/>
    <p:sldId id="280" r:id="rId13"/>
    <p:sldId id="281" r:id="rId14"/>
    <p:sldId id="260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5" r:id="rId27"/>
    <p:sldId id="29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87810-EA5C-045C-FBAB-479AFED41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F079C-5F14-83E0-893A-766A261AF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31112-43B3-7557-C12C-3E938060E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E69DD-5A21-45C4-8109-9C3370706EE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E1A70-0204-6678-1236-721738EE8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FE438-A1A5-0FF2-5F25-D8CEDDD08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F515-43FE-4CB5-A139-5E1D40826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5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EF77C-F7D8-E920-6CA1-B86A5213C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DEFE4-FF9A-9AD2-9D71-9CCD76D9E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05F6B-585B-CE70-66FF-43B471125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E69DD-5A21-45C4-8109-9C3370706EE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E8335-790C-FFEC-4EAF-5FC7199E0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EF4AE-BF2C-05C4-CC4E-ED7F10BFF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F515-43FE-4CB5-A139-5E1D40826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82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2987F-5F49-B613-21D1-0B86A1EE1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93DB8-5B43-8846-325B-B72728130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C8BE1-DE8E-1785-E56B-1401E75B1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E69DD-5A21-45C4-8109-9C3370706EE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92D9A-7340-DEF2-FBC3-91FFCFCF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CD8BA-64E2-D647-BC83-243CA4482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F515-43FE-4CB5-A139-5E1D40826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41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FFD2-2466-4BFC-3DD4-8744D6E16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626C1-7726-21E4-3899-A83D10D92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177DDF-9FB5-1B82-3191-A2F277FA1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6E704C-4C25-B88E-A823-3D241E824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E69DD-5A21-45C4-8109-9C3370706EE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9CD84-414B-F76A-C6E5-B3658F80F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7B9AC-A30A-EEA5-5492-BCAD29B6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F515-43FE-4CB5-A139-5E1D40826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10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27953-8840-893A-6902-15C6D2C2B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17331-1FD7-4584-94D1-51852E6D2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F9017-1504-84C0-2D91-9030A95BD2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A55DD7-A576-B9DF-28AF-91EB4ED2E6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043C20-2732-785C-EDF4-1C31E1E33E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B77DC9-22B8-50F1-4905-CC0C0C221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E69DD-5A21-45C4-8109-9C3370706EE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10D76E-7A26-D21E-0B0C-6F8F72E6C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14AB67-CC52-6E67-09F6-BC1B75686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F515-43FE-4CB5-A139-5E1D40826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756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979C9-98DD-64AA-1AF1-701BC19E9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E21000-87BF-2C52-E530-B59A6496A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E69DD-5A21-45C4-8109-9C3370706EE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A05943-5500-7DB9-6517-07E76D2E0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964D41-0BE5-B67D-8792-A45B35FB2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F515-43FE-4CB5-A139-5E1D40826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48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4F66BC-293B-8A50-6A18-B92A22D69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E69DD-5A21-45C4-8109-9C3370706EE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3C0245-242C-C141-A535-9E50E2E86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E45E8-3538-0866-07F7-63F718FC6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F515-43FE-4CB5-A139-5E1D40826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42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B2397-2776-240D-ECDE-011236D87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6A694-BF00-BCDE-B97A-2C9325222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D2C21-4719-1DEA-1077-34215615E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0EC62-0DD1-DD43-0690-2B6B8AD2E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E69DD-5A21-45C4-8109-9C3370706EE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7B9C5-A15F-B37B-0115-22E04918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04AA0-2C03-681A-2EAF-D55EDC622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F515-43FE-4CB5-A139-5E1D40826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959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1AE22-DE67-1544-DB4A-C4E192E3D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2EBE93-8806-1CA2-F42E-D079091210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29E16-5EE7-8A5B-1ED3-230957864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47E11-E768-7BFE-001F-BE789BD12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E69DD-5A21-45C4-8109-9C3370706EE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C07AA-0F9E-7399-4C0B-760F74016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79708-C9C4-2E7B-A0A8-37C88E69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F515-43FE-4CB5-A139-5E1D40826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73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950C2-D375-4879-8951-18F95FD7E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361C3-CAE6-A5B9-5070-982B4907A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782F6-E2A8-0BD8-19D8-EB1351FBD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E69DD-5A21-45C4-8109-9C3370706EE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3DB8E-CFDD-E6AA-B92C-F96B82567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1BA72-02A9-6B46-071E-A331859E7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F515-43FE-4CB5-A139-5E1D40826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51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F94B58-8C6A-82E9-0AD0-7583C28DCF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E9D000-8D5B-C587-C02E-A328F597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9245B-A707-ACAF-079F-E8326216F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E69DD-5A21-45C4-8109-9C3370706EE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3F5F7-1324-484D-CFA9-DD10F9704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D56B5-AAC9-8745-B886-7995EB9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F515-43FE-4CB5-A139-5E1D40826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869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019E31-AB94-1BA5-9E41-2AD35B736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8F24A-416C-82B8-C8F2-E562D41EF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1268D-A537-627D-ABC7-04080F4ACF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E69DD-5A21-45C4-8109-9C3370706EE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02187-27C7-8588-7364-6A6CD60DB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64AE3-37EA-0237-E457-BE56482FF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BDF515-43FE-4CB5-A139-5E1D40826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0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2F383F-B981-4BC3-9E2B-7BE938CE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240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AA485AD-076E-4077-A6E6-C3C9F0C39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088DBDF-80D5-4FC0-8A54-9D660B728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58D235B8-3D10-493F-88AC-84BB404C1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2" descr="Overgrazing – Causes, Effects and Solutions">
            <a:extLst>
              <a:ext uri="{FF2B5EF4-FFF2-40B4-BE49-F238E27FC236}">
                <a16:creationId xmlns:a16="http://schemas.microsoft.com/office/drawing/2014/main" id="{8FE678F5-551A-F7EC-6221-BD2E76CB1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8" r="3" b="3"/>
          <a:stretch>
            <a:fillRect/>
          </a:stretch>
        </p:blipFill>
        <p:spPr bwMode="auto">
          <a:xfrm>
            <a:off x="20" y="10"/>
            <a:ext cx="6097022" cy="342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A person spraying a field&#10;&#10;AI-generated content may be incorrect.">
            <a:extLst>
              <a:ext uri="{FF2B5EF4-FFF2-40B4-BE49-F238E27FC236}">
                <a16:creationId xmlns:a16="http://schemas.microsoft.com/office/drawing/2014/main" id="{2A1837D9-9C39-653E-D010-145658545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97"/>
          <a:stretch>
            <a:fillRect/>
          </a:stretch>
        </p:blipFill>
        <p:spPr bwMode="auto">
          <a:xfrm>
            <a:off x="6098422" y="10"/>
            <a:ext cx="6093578" cy="342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oil Erosion – The Causes, Effects &amp; Solutions">
            <a:extLst>
              <a:ext uri="{FF2B5EF4-FFF2-40B4-BE49-F238E27FC236}">
                <a16:creationId xmlns:a16="http://schemas.microsoft.com/office/drawing/2014/main" id="{65AC6B4A-4CB0-6696-FDC2-EDF0F6125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27"/>
          <a:stretch>
            <a:fillRect/>
          </a:stretch>
        </p:blipFill>
        <p:spPr bwMode="auto">
          <a:xfrm>
            <a:off x="7328" y="3429000"/>
            <a:ext cx="6093578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Philippine Land Use Conversion From Agriculture To Real Estate">
            <a:extLst>
              <a:ext uri="{FF2B5EF4-FFF2-40B4-BE49-F238E27FC236}">
                <a16:creationId xmlns:a16="http://schemas.microsoft.com/office/drawing/2014/main" id="{C3A10939-30A8-6BE0-25DC-A2F7D42FF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" r="900" b="2"/>
          <a:stretch>
            <a:fillRect/>
          </a:stretch>
        </p:blipFill>
        <p:spPr bwMode="auto">
          <a:xfrm>
            <a:off x="6101860" y="3429000"/>
            <a:ext cx="6093578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6EA44C-0A49-3DBF-801C-C8A051AFD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5503" y="3512261"/>
            <a:ext cx="9801082" cy="2059637"/>
          </a:xfrm>
        </p:spPr>
        <p:txBody>
          <a:bodyPr anchor="t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Land Use and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836EC-1361-B353-19B8-E220AF8B8D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0842" y="2224377"/>
            <a:ext cx="9801082" cy="1116170"/>
          </a:xfrm>
        </p:spPr>
        <p:txBody>
          <a:bodyPr anchor="b"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Lesson 9</a:t>
            </a:r>
          </a:p>
        </p:txBody>
      </p:sp>
    </p:spTree>
    <p:extLst>
      <p:ext uri="{BB962C8B-B14F-4D97-AF65-F5344CB8AC3E}">
        <p14:creationId xmlns:p14="http://schemas.microsoft.com/office/powerpoint/2010/main" val="1722423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E5CB0A-FF4D-B877-6798-EECE1813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538956"/>
            <a:ext cx="8985250" cy="1118394"/>
          </a:xfrm>
        </p:spPr>
        <p:txBody>
          <a:bodyPr anchor="t">
            <a:normAutofit/>
          </a:bodyPr>
          <a:lstStyle/>
          <a:p>
            <a:r>
              <a:rPr lang="en-US" sz="4000"/>
              <a:t>Objectives</a:t>
            </a:r>
          </a:p>
        </p:txBody>
      </p:sp>
      <p:pic>
        <p:nvPicPr>
          <p:cNvPr id="7" name="Graphic 6" descr="Onboarding">
            <a:extLst>
              <a:ext uri="{FF2B5EF4-FFF2-40B4-BE49-F238E27FC236}">
                <a16:creationId xmlns:a16="http://schemas.microsoft.com/office/drawing/2014/main" id="{E11DEDAD-C27D-7B6D-8182-190386D460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900" y="538956"/>
            <a:ext cx="749300" cy="7493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85695-4131-D0C1-E1A4-1D6E151C0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847849"/>
            <a:ext cx="9994900" cy="425450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Identify and describe the different types of land use.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Explain the importance of land.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Analyze issues in land use and suggest possible solutions.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Discuss sustainable land management practices.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Explain RA 9003 and its role in managing waste and protecting the environment.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36178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69" name="Rectangle 15368">
            <a:extLst>
              <a:ext uri="{FF2B5EF4-FFF2-40B4-BE49-F238E27FC236}">
                <a16:creationId xmlns:a16="http://schemas.microsoft.com/office/drawing/2014/main" id="{6234BCC6-39B9-47D9-8BF8-C665401A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364" name="Picture 4" descr="Modern buildings next to the road | Free Photo">
            <a:extLst>
              <a:ext uri="{FF2B5EF4-FFF2-40B4-BE49-F238E27FC236}">
                <a16:creationId xmlns:a16="http://schemas.microsoft.com/office/drawing/2014/main" id="{EF577884-5E91-759C-7406-60F1D7F3A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99" r="-2" b="14868"/>
          <a:stretch>
            <a:fillRect/>
          </a:stretch>
        </p:blipFill>
        <p:spPr bwMode="auto"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2" name="Picture 2" descr="Visit Guimaras Wonder's Farm, Guimaras Today!">
            <a:extLst>
              <a:ext uri="{FF2B5EF4-FFF2-40B4-BE49-F238E27FC236}">
                <a16:creationId xmlns:a16="http://schemas.microsoft.com/office/drawing/2014/main" id="{C8BF5691-D63E-EF96-F2AE-0D694126B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02" r="15878" b="1"/>
          <a:stretch>
            <a:fillRect/>
          </a:stretch>
        </p:blipFill>
        <p:spPr bwMode="auto"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5371" name="Freeform: Shape 15370">
            <a:extLst>
              <a:ext uri="{FF2B5EF4-FFF2-40B4-BE49-F238E27FC236}">
                <a16:creationId xmlns:a16="http://schemas.microsoft.com/office/drawing/2014/main" id="{72A9CE9D-DAC3-40AF-B504-78A64A909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373" name="Freeform: Shape 15372">
            <a:extLst>
              <a:ext uri="{FF2B5EF4-FFF2-40B4-BE49-F238E27FC236}">
                <a16:creationId xmlns:a16="http://schemas.microsoft.com/office/drawing/2014/main" id="{506D7452-6CDE-4381-86CE-07B245938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8FF38D-109D-ACEA-2E68-8C7D005C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1524659"/>
            <a:ext cx="5019074" cy="27740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Have you ever wondered why some places are filled with farms and trees, while others are full of buildings and roads? </a:t>
            </a:r>
            <a:br>
              <a:rPr lang="en-US" sz="2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375" name="Rectangle 15374">
            <a:extLst>
              <a:ext uri="{FF2B5EF4-FFF2-40B4-BE49-F238E27FC236}">
                <a16:creationId xmlns:a16="http://schemas.microsoft.com/office/drawing/2014/main" id="{762DA937-8B55-4317-BD32-98D7AF30E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15377" name="Rectangle 15376">
            <a:extLst>
              <a:ext uri="{FF2B5EF4-FFF2-40B4-BE49-F238E27FC236}">
                <a16:creationId xmlns:a16="http://schemas.microsoft.com/office/drawing/2014/main" id="{C52EE5A8-045B-4D39-8ED1-51333408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461119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2804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7" name="Rectangle 2066">
            <a:extLst>
              <a:ext uri="{FF2B5EF4-FFF2-40B4-BE49-F238E27FC236}">
                <a16:creationId xmlns:a16="http://schemas.microsoft.com/office/drawing/2014/main" id="{F4F2FC05-7D27-410F-BDA9-ADF483136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69" name="Rectangle 2068">
            <a:extLst>
              <a:ext uri="{FF2B5EF4-FFF2-40B4-BE49-F238E27FC236}">
                <a16:creationId xmlns:a16="http://schemas.microsoft.com/office/drawing/2014/main" id="{9080D120-BD54-46E1-BA37-82F5E808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3" y="633619"/>
            <a:ext cx="5457817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703BC2-54F7-F80D-15DF-EB9B66498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978408"/>
            <a:ext cx="4607052" cy="1106424"/>
          </a:xfrm>
        </p:spPr>
        <p:txBody>
          <a:bodyPr>
            <a:normAutofit/>
          </a:bodyPr>
          <a:lstStyle/>
          <a:p>
            <a:br>
              <a:rPr lang="en-US" sz="2200" b="1"/>
            </a:br>
            <a:r>
              <a:rPr lang="en-US" sz="2200" b="1"/>
              <a:t>The Land</a:t>
            </a:r>
            <a:br>
              <a:rPr lang="en-US" sz="2200" b="1"/>
            </a:br>
            <a:endParaRPr lang="en-US" sz="2200"/>
          </a:p>
        </p:txBody>
      </p:sp>
      <p:sp>
        <p:nvSpPr>
          <p:cNvPr id="2071" name="Rectangle 2070">
            <a:extLst>
              <a:ext uri="{FF2B5EF4-FFF2-40B4-BE49-F238E27FC236}">
                <a16:creationId xmlns:a16="http://schemas.microsoft.com/office/drawing/2014/main" id="{81D83946-74FA-498A-AC80-9926F041B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73" name="Rectangle 2072">
            <a:extLst>
              <a:ext uri="{FF2B5EF4-FFF2-40B4-BE49-F238E27FC236}">
                <a16:creationId xmlns:a16="http://schemas.microsoft.com/office/drawing/2014/main" id="{5060D983-8B52-443A-8183-2A1DE056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6" y="2185416"/>
            <a:ext cx="4446484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78356-07DE-08ED-8A73-D99BC9401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6" y="2368296"/>
            <a:ext cx="4607052" cy="350215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Land is the solid, dry surface of the Earth, making up about 29.2% of the planet's surface. </a:t>
            </a:r>
          </a:p>
          <a:p>
            <a:r>
              <a:rPr lang="en-US" dirty="0"/>
              <a:t>It includes soil, rocks, and minerals, and is where natural resources are found on and beneath the surface. </a:t>
            </a:r>
          </a:p>
        </p:txBody>
      </p:sp>
      <p:pic>
        <p:nvPicPr>
          <p:cNvPr id="2050" name="Picture 2" descr="4,800+ Planet Earth North America Drawing Stock Photos, Pictures &amp;  Royalty-Free Images - iStock">
            <a:extLst>
              <a:ext uri="{FF2B5EF4-FFF2-40B4-BE49-F238E27FC236}">
                <a16:creationId xmlns:a16="http://schemas.microsoft.com/office/drawing/2014/main" id="{4AE0FAC9-CF1B-F5D9-9403-1986838F2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50" r="3" b="22200"/>
          <a:stretch>
            <a:fillRect/>
          </a:stretch>
        </p:blipFill>
        <p:spPr bwMode="auto">
          <a:xfrm>
            <a:off x="6324599" y="10"/>
            <a:ext cx="5457817" cy="3337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utaway Soil Soil Layers Stock Illustrations – 586 Cutaway Soil Soil Layers  Stock Illustrations, Vectors &amp; Clipart - Dreamstime">
            <a:extLst>
              <a:ext uri="{FF2B5EF4-FFF2-40B4-BE49-F238E27FC236}">
                <a16:creationId xmlns:a16="http://schemas.microsoft.com/office/drawing/2014/main" id="{10163458-04B8-847D-40E2-E194DAB2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3" r="7116"/>
          <a:stretch>
            <a:fillRect/>
          </a:stretch>
        </p:blipFill>
        <p:spPr bwMode="auto">
          <a:xfrm>
            <a:off x="6919314" y="3520442"/>
            <a:ext cx="4597622" cy="2811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4745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013D48-0167-2EB9-3428-345E32E55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br>
              <a:rPr lang="en-US" sz="2500" b="1" dirty="0"/>
            </a:br>
            <a:r>
              <a:rPr lang="en-US" sz="2500" b="1" dirty="0"/>
              <a:t>Importance of Land</a:t>
            </a:r>
            <a:br>
              <a:rPr lang="en-US" sz="2500" b="1" dirty="0"/>
            </a:br>
            <a:endParaRPr lang="en-US" sz="25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45998-5B2D-CD50-33BD-E3D353A5A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Habitat</a:t>
            </a:r>
            <a:r>
              <a:rPr lang="en-US" sz="2400" dirty="0"/>
              <a:t> – Provides living space for humans, animals, and plants.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Agriculture</a:t>
            </a:r>
            <a:r>
              <a:rPr lang="en-US" sz="2400" dirty="0"/>
              <a:t> – Supplies the soil and nutrients necessary for growing crops and raising livestock.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Natural Resources</a:t>
            </a:r>
            <a:r>
              <a:rPr lang="en-US" sz="2400" dirty="0"/>
              <a:t> – Contains valuable minerals, fossil fuels, and construction materials.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Infrastructure</a:t>
            </a:r>
            <a:r>
              <a:rPr lang="en-US" sz="2400" dirty="0"/>
              <a:t> – Serves as the foundation for homes, roads, industries, and other human structures.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Ecological Balance</a:t>
            </a:r>
            <a:r>
              <a:rPr lang="en-US" sz="2400" dirty="0"/>
              <a:t> – Supports ecosystems and maintains biodiversity.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43627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A46CD9-288A-8089-CEA6-62C3C67CC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br>
              <a:rPr lang="en-US" sz="3800" b="1" dirty="0"/>
            </a:br>
            <a:r>
              <a:rPr lang="en-US" sz="3800" b="1" dirty="0"/>
              <a:t>Land Use</a:t>
            </a:r>
            <a:br>
              <a:rPr lang="en-US" sz="3800" b="1" dirty="0"/>
            </a:br>
            <a:endParaRPr lang="en-US" sz="3800" dirty="0"/>
          </a:p>
        </p:txBody>
      </p:sp>
      <p:sp>
        <p:nvSpPr>
          <p:cNvPr id="308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39992-6838-8B3A-1D3D-9DDAB0577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b="1" dirty="0"/>
              <a:t>Land Use </a:t>
            </a:r>
            <a:r>
              <a:rPr lang="en-US" dirty="0"/>
              <a:t>describes the </a:t>
            </a:r>
            <a:r>
              <a:rPr lang="en-US" b="1" dirty="0"/>
              <a:t>purpose or activity</a:t>
            </a:r>
            <a:r>
              <a:rPr lang="en-US" dirty="0"/>
              <a:t> for which a piece of land is utilized.</a:t>
            </a:r>
            <a:br>
              <a:rPr lang="en-US" b="1" dirty="0"/>
            </a:br>
            <a:endParaRPr lang="en-US" sz="2400" dirty="0"/>
          </a:p>
        </p:txBody>
      </p:sp>
      <p:pic>
        <p:nvPicPr>
          <p:cNvPr id="3078" name="Picture 6" descr="what do you know about land use planning?">
            <a:extLst>
              <a:ext uri="{FF2B5EF4-FFF2-40B4-BE49-F238E27FC236}">
                <a16:creationId xmlns:a16="http://schemas.microsoft.com/office/drawing/2014/main" id="{FFF02399-4932-5C21-1870-BDCA24FE3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314736"/>
            <a:ext cx="6903720" cy="4228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2" descr="Land use sector - Climate Action - European Commission">
            <a:extLst>
              <a:ext uri="{FF2B5EF4-FFF2-40B4-BE49-F238E27FC236}">
                <a16:creationId xmlns:a16="http://schemas.microsoft.com/office/drawing/2014/main" id="{69161CBC-8E80-F57B-9F12-4241AFBB32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Land-use Challenges | Sustainability Accelerator">
            <a:extLst>
              <a:ext uri="{FF2B5EF4-FFF2-40B4-BE49-F238E27FC236}">
                <a16:creationId xmlns:a16="http://schemas.microsoft.com/office/drawing/2014/main" id="{10F003AF-A220-70A4-2DD8-2B3D0BF6E1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813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9D32E8-0490-2270-7B99-B658D07D4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br>
              <a:rPr lang="en-US" sz="2600" b="1"/>
            </a:br>
            <a:r>
              <a:rPr lang="en-US" sz="2600" b="1"/>
              <a:t>Types of Land Use</a:t>
            </a:r>
            <a:br>
              <a:rPr lang="en-US" sz="2600" b="1"/>
            </a:br>
            <a:endParaRPr lang="en-US" sz="26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B2FCA-A6B3-3C68-0E0B-87699FFB0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Agricultural Land</a:t>
            </a:r>
            <a:r>
              <a:rPr lang="en-US" dirty="0"/>
              <a:t> – Used for farming, livestock, and other food production.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Residential Land</a:t>
            </a:r>
            <a:r>
              <a:rPr lang="en-US" dirty="0"/>
              <a:t> – Areas for housing and communities.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Commercial Land</a:t>
            </a:r>
            <a:r>
              <a:rPr lang="en-US" dirty="0"/>
              <a:t> – Used for businesses, trade, and services.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Industrial Land</a:t>
            </a:r>
            <a:r>
              <a:rPr lang="en-US" dirty="0"/>
              <a:t> – For factories, manufacturing, and processing plants.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Institutional/Public land</a:t>
            </a:r>
            <a:r>
              <a:rPr lang="en-US" dirty="0"/>
              <a:t> - For municipal facilities, hospitals, museums, religious buildings, and schools.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2362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8BFED8-AC78-555B-3428-E2386E763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322B1-B03A-1A47-6C9B-E3B3D1256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br>
              <a:rPr lang="en-US" sz="2600" b="1"/>
            </a:br>
            <a:r>
              <a:rPr lang="en-US" sz="2600"/>
              <a:t>cont.</a:t>
            </a:r>
            <a:br>
              <a:rPr lang="en-US" sz="2600" b="1"/>
            </a:br>
            <a:endParaRPr lang="en-US" sz="26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25C7C-10CB-352B-0A18-94665DA66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6. Recreational Land</a:t>
            </a:r>
            <a:r>
              <a:rPr lang="en-US" dirty="0"/>
              <a:t> – Parks, playgrounds, sports fields, and tourism sites.</a:t>
            </a:r>
          </a:p>
          <a:p>
            <a:pPr marL="0" indent="0">
              <a:buNone/>
            </a:pPr>
            <a:r>
              <a:rPr lang="en-US" b="1" dirty="0"/>
              <a:t>7. Transport Land</a:t>
            </a:r>
            <a:r>
              <a:rPr lang="en-US" dirty="0"/>
              <a:t> – Roads, railways, airports, and seaports.</a:t>
            </a:r>
          </a:p>
          <a:p>
            <a:pPr marL="0" indent="0">
              <a:buNone/>
            </a:pPr>
            <a:r>
              <a:rPr lang="en-US" b="1" dirty="0"/>
              <a:t>8. Forest Land</a:t>
            </a:r>
            <a:r>
              <a:rPr lang="en-US" dirty="0"/>
              <a:t> – Covered with trees and vegetation that support wildlife and prevent erosion.</a:t>
            </a:r>
          </a:p>
          <a:p>
            <a:pPr marL="0" indent="0">
              <a:buNone/>
            </a:pPr>
            <a:r>
              <a:rPr lang="en-US" b="1" dirty="0"/>
              <a:t>9. Protected Areas</a:t>
            </a:r>
            <a:r>
              <a:rPr lang="en-US" dirty="0"/>
              <a:t> – conservation zones for wildlife and natural habitats.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781373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1EC851-7491-0B5D-EA82-E638B2E23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Issues in Land Use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8E23-5AF0-194E-5D8A-35DCF5505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Deforestation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Soil erosion and degradation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Urban sprawl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Land conversion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23988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4D0C7-4C90-9D23-3586-BC48703C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br>
              <a:rPr lang="en-US" sz="3000" b="1" dirty="0"/>
            </a:br>
            <a:r>
              <a:rPr lang="en-US" sz="3000" b="1" dirty="0"/>
              <a:t>Deforestation</a:t>
            </a:r>
            <a:br>
              <a:rPr lang="en-US" sz="3000" b="1" dirty="0"/>
            </a:br>
            <a:endParaRPr lang="en-US" sz="3000" dirty="0"/>
          </a:p>
        </p:txBody>
      </p:sp>
      <p:sp>
        <p:nvSpPr>
          <p:cNvPr id="4105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57599-3C87-FA69-649F-8EC39C1AF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Deforestation is the large-scale removal of trees and forests for human activities such as logging, agriculture, or urban development.</a:t>
            </a:r>
          </a:p>
          <a:p>
            <a:pPr algn="just"/>
            <a:r>
              <a:rPr lang="en-US" b="1" dirty="0"/>
              <a:t>Effects</a:t>
            </a:r>
            <a:endParaRPr lang="en-US" dirty="0"/>
          </a:p>
          <a:p>
            <a:pPr lvl="1" algn="just"/>
            <a:r>
              <a:rPr lang="en-US" sz="2800" dirty="0"/>
              <a:t>Loss of habitat for wildlife.</a:t>
            </a:r>
          </a:p>
          <a:p>
            <a:pPr lvl="1" algn="just"/>
            <a:r>
              <a:rPr lang="en-US" sz="2800" dirty="0"/>
              <a:t>Increased carbon dioxide in the atmosphere (since fewer trees absorb CO₂).</a:t>
            </a:r>
          </a:p>
          <a:p>
            <a:pPr lvl="1" algn="just"/>
            <a:r>
              <a:rPr lang="en-US" sz="2800" dirty="0"/>
              <a:t>Disruption of the water cycle.</a:t>
            </a:r>
          </a:p>
          <a:p>
            <a:pPr lvl="1" algn="just"/>
            <a:r>
              <a:rPr lang="en-US" sz="2800" dirty="0"/>
              <a:t>Contribution to soil erosion and climate change.</a:t>
            </a:r>
          </a:p>
          <a:p>
            <a:endParaRPr lang="en-US" sz="2200" dirty="0"/>
          </a:p>
        </p:txBody>
      </p:sp>
      <p:pic>
        <p:nvPicPr>
          <p:cNvPr id="4098" name="Picture 2" descr="Agriculture Affects Deforestation Much More Than Most People ...">
            <a:extLst>
              <a:ext uri="{FF2B5EF4-FFF2-40B4-BE49-F238E27FC236}">
                <a16:creationId xmlns:a16="http://schemas.microsoft.com/office/drawing/2014/main" id="{B63C10B5-285B-D565-BFEF-EF5497670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58" r="26534" b="-1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1986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104BA8-F495-3A92-FC46-4A20BEF8D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br>
              <a:rPr lang="en-US" sz="3000" b="1"/>
            </a:br>
            <a:r>
              <a:rPr lang="en-US" sz="3000" b="1"/>
              <a:t>Soil Erosion and Degradation</a:t>
            </a:r>
            <a:br>
              <a:rPr lang="en-US" sz="3000" b="1"/>
            </a:br>
            <a:endParaRPr lang="en-US" sz="3000"/>
          </a:p>
        </p:txBody>
      </p:sp>
      <p:sp>
        <p:nvSpPr>
          <p:cNvPr id="512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28D13-D1BA-48AB-E0C6-2068C14CA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Soil erosion is the wearing away of the top layer of soil due </a:t>
            </a:r>
            <a:r>
              <a:rPr lang="en-US" sz="2400" b="1" dirty="0"/>
              <a:t>to wind, water, </a:t>
            </a:r>
            <a:r>
              <a:rPr lang="en-US" sz="2400" dirty="0"/>
              <a:t>or</a:t>
            </a:r>
            <a:r>
              <a:rPr lang="en-US" sz="2400" b="1" dirty="0"/>
              <a:t> human activities </a:t>
            </a:r>
            <a:r>
              <a:rPr lang="en-US" sz="2400" dirty="0"/>
              <a:t>such as </a:t>
            </a:r>
            <a:r>
              <a:rPr lang="en-US" sz="2400" b="1" dirty="0"/>
              <a:t>over-farming</a:t>
            </a:r>
            <a:r>
              <a:rPr lang="en-US" sz="2400" dirty="0"/>
              <a:t> and </a:t>
            </a:r>
            <a:r>
              <a:rPr lang="en-US" sz="2400" b="1" dirty="0"/>
              <a:t>deforestation.</a:t>
            </a:r>
          </a:p>
          <a:p>
            <a:r>
              <a:rPr lang="en-US" sz="2400" b="1" dirty="0"/>
              <a:t>Effects</a:t>
            </a:r>
            <a:endParaRPr lang="en-US" sz="2400" dirty="0"/>
          </a:p>
          <a:p>
            <a:pPr lvl="1"/>
            <a:r>
              <a:rPr lang="en-US" dirty="0"/>
              <a:t>Loss of fertile soil, reducing crop productivity.</a:t>
            </a:r>
          </a:p>
          <a:p>
            <a:pPr lvl="1"/>
            <a:r>
              <a:rPr lang="en-US" dirty="0"/>
              <a:t>Sedimentation in rivers and lakes, leading to flooding.</a:t>
            </a:r>
          </a:p>
          <a:p>
            <a:pPr lvl="1"/>
            <a:r>
              <a:rPr lang="en-US" dirty="0"/>
              <a:t>Difficulty in plant growth due to loss of nutrients.</a:t>
            </a:r>
          </a:p>
          <a:p>
            <a:pPr lvl="1"/>
            <a:r>
              <a:rPr lang="en-US" dirty="0"/>
              <a:t>Desertification in extreme cases.</a:t>
            </a:r>
          </a:p>
          <a:p>
            <a:pPr lvl="1"/>
            <a:endParaRPr lang="en-US" sz="2200" dirty="0"/>
          </a:p>
          <a:p>
            <a:endParaRPr lang="en-US" sz="2200" dirty="0"/>
          </a:p>
        </p:txBody>
      </p:sp>
      <p:pic>
        <p:nvPicPr>
          <p:cNvPr id="5122" name="Picture 2" descr="What Causes Soil Erosion?">
            <a:extLst>
              <a:ext uri="{FF2B5EF4-FFF2-40B4-BE49-F238E27FC236}">
                <a16:creationId xmlns:a16="http://schemas.microsoft.com/office/drawing/2014/main" id="{B1DC1698-8BF1-2C52-DD6F-D80D7CD55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94" r="28591" b="2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9624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88CF92-0439-DDBC-671D-7954B1F0C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br>
              <a:rPr lang="en-US" sz="3000" b="1" dirty="0"/>
            </a:br>
            <a:r>
              <a:rPr lang="en-US" sz="3000" b="1" dirty="0"/>
              <a:t>Urban Sprawl</a:t>
            </a:r>
            <a:br>
              <a:rPr lang="en-US" sz="3000" b="1" dirty="0"/>
            </a:br>
            <a:endParaRPr lang="en-US" sz="3000" dirty="0"/>
          </a:p>
        </p:txBody>
      </p:sp>
      <p:sp>
        <p:nvSpPr>
          <p:cNvPr id="615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5E889-F781-4207-5E21-9CD2E9124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 fontScale="92500"/>
          </a:bodyPr>
          <a:lstStyle/>
          <a:p>
            <a:pPr marL="0" indent="0">
              <a:buNone/>
            </a:pPr>
            <a:r>
              <a:rPr lang="en-US" sz="2400" b="1" dirty="0"/>
              <a:t>Urban sprawl refers to</a:t>
            </a:r>
            <a:r>
              <a:rPr lang="en-US" sz="2400" dirty="0"/>
              <a:t> the </a:t>
            </a:r>
            <a:r>
              <a:rPr lang="en-US" sz="2400" b="1" dirty="0"/>
              <a:t>spread of cities</a:t>
            </a:r>
            <a:r>
              <a:rPr lang="en-US" sz="2400" dirty="0"/>
              <a:t> into the </a:t>
            </a:r>
            <a:r>
              <a:rPr lang="en-US" sz="2400" b="1" dirty="0"/>
              <a:t>countryside or rural areas</a:t>
            </a:r>
            <a:r>
              <a:rPr lang="en-US" sz="2400" dirty="0"/>
              <a:t>.</a:t>
            </a:r>
          </a:p>
          <a:p>
            <a:pPr marL="0" indent="0" algn="just">
              <a:buNone/>
            </a:pPr>
            <a:r>
              <a:rPr lang="en-US" sz="2400" dirty="0"/>
              <a:t>This occurs when more houses, roads, malls, and buildings are constructed outside the city, causing cities to expand and cover a larger area of</a:t>
            </a:r>
            <a:r>
              <a:rPr lang="en-US" sz="2400" b="1" dirty="0"/>
              <a:t> land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200" b="1" dirty="0"/>
              <a:t>Effects</a:t>
            </a:r>
            <a:endParaRPr lang="en-US" sz="2200" dirty="0"/>
          </a:p>
          <a:p>
            <a:pPr lvl="1"/>
            <a:r>
              <a:rPr lang="en-US" sz="2200" dirty="0"/>
              <a:t>Loss of agricultural and forest lands.</a:t>
            </a:r>
          </a:p>
          <a:p>
            <a:pPr lvl="1"/>
            <a:r>
              <a:rPr lang="en-US" sz="2200" dirty="0"/>
              <a:t>Increased traffic and pollution.</a:t>
            </a:r>
          </a:p>
          <a:p>
            <a:pPr lvl="1"/>
            <a:r>
              <a:rPr lang="en-US" sz="2200" dirty="0"/>
              <a:t>Higher demand for water, energy, and other resources.</a:t>
            </a:r>
          </a:p>
          <a:p>
            <a:pPr lvl="1"/>
            <a:r>
              <a:rPr lang="en-US" sz="2200" dirty="0"/>
              <a:t>Demands on infrastructure such as roads, schools, and hospitals.</a:t>
            </a:r>
          </a:p>
          <a:p>
            <a:endParaRPr lang="en-US" sz="2200" dirty="0"/>
          </a:p>
        </p:txBody>
      </p:sp>
      <p:pic>
        <p:nvPicPr>
          <p:cNvPr id="1026" name="Picture 2" descr="Urban sprawl is not the answer to affordable housing">
            <a:extLst>
              <a:ext uri="{FF2B5EF4-FFF2-40B4-BE49-F238E27FC236}">
                <a16:creationId xmlns:a16="http://schemas.microsoft.com/office/drawing/2014/main" id="{4EEF834A-DEAA-DFED-97BD-8924BFB45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194" y="2699877"/>
            <a:ext cx="4437642" cy="2496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6143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575C57-6130-D3F4-9347-D52A75F01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br>
              <a:rPr lang="en-US" sz="2200" b="1"/>
            </a:br>
            <a:r>
              <a:rPr lang="en-US" sz="2200" b="1"/>
              <a:t>Land Conversion </a:t>
            </a:r>
            <a:br>
              <a:rPr lang="en-US" sz="2200" b="1"/>
            </a:br>
            <a:r>
              <a:rPr lang="en-US" sz="2200" b="1"/>
              <a:t>(from Agricultural to Industrial/Residential Use)</a:t>
            </a:r>
            <a:br>
              <a:rPr lang="en-US" sz="2200" b="1"/>
            </a:br>
            <a:endParaRPr lang="en-US" sz="2200"/>
          </a:p>
        </p:txBody>
      </p:sp>
      <p:sp>
        <p:nvSpPr>
          <p:cNvPr id="717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157D4-B41B-A61E-CE6C-30C4448A0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Land conversion happens when farmland is turned into areas for housing, factories, or commercial establishments.</a:t>
            </a:r>
          </a:p>
          <a:p>
            <a:pPr algn="just"/>
            <a:r>
              <a:rPr lang="en-US" b="1" dirty="0"/>
              <a:t>Effects</a:t>
            </a:r>
            <a:endParaRPr lang="en-US" dirty="0"/>
          </a:p>
          <a:p>
            <a:pPr lvl="1" algn="just"/>
            <a:r>
              <a:rPr lang="en-US" sz="2800" dirty="0"/>
              <a:t>Reduction in available land for food production.</a:t>
            </a:r>
          </a:p>
          <a:p>
            <a:pPr lvl="1" algn="just"/>
            <a:r>
              <a:rPr lang="en-US" sz="2800" dirty="0"/>
              <a:t>Increased risk of flooding due to loss of soil and vegetation.</a:t>
            </a:r>
          </a:p>
          <a:p>
            <a:pPr lvl="1" algn="just"/>
            <a:r>
              <a:rPr lang="en-US" sz="2800" dirty="0"/>
              <a:t>Displacement of farming communities.</a:t>
            </a:r>
          </a:p>
          <a:p>
            <a:pPr lvl="1" algn="just"/>
            <a:r>
              <a:rPr lang="en-US" sz="2800" dirty="0"/>
              <a:t>Greater dependency on imported food supplies.</a:t>
            </a:r>
          </a:p>
          <a:p>
            <a:endParaRPr lang="en-US" sz="2200" dirty="0"/>
          </a:p>
        </p:txBody>
      </p:sp>
      <p:pic>
        <p:nvPicPr>
          <p:cNvPr id="7172" name="Picture 4" descr="Philippine Land Use Conversion From Agriculture To Real Estate">
            <a:extLst>
              <a:ext uri="{FF2B5EF4-FFF2-40B4-BE49-F238E27FC236}">
                <a16:creationId xmlns:a16="http://schemas.microsoft.com/office/drawing/2014/main" id="{68C932E4-79B7-5FF4-426A-02D0D1E9C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866" y="2160396"/>
            <a:ext cx="4009428" cy="356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8131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Integral land management model with a focus on Sustainable Rural... |  Download Scientific Diagram">
            <a:extLst>
              <a:ext uri="{FF2B5EF4-FFF2-40B4-BE49-F238E27FC236}">
                <a16:creationId xmlns:a16="http://schemas.microsoft.com/office/drawing/2014/main" id="{E875A212-B92B-4A2A-9EDE-83CCAC3B8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14" r="24939" b="-2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1" name="Rectangle 8200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A1BB7C-0BE0-EEF9-5592-A68EE0EE1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 fontScale="90000"/>
          </a:bodyPr>
          <a:lstStyle/>
          <a:p>
            <a:br>
              <a:rPr lang="en-US" sz="2400" b="1" dirty="0"/>
            </a:br>
            <a:r>
              <a:rPr lang="en-US" sz="3100" b="1" dirty="0"/>
              <a:t>LAND MANAGEMENT</a:t>
            </a:r>
            <a:br>
              <a:rPr lang="en-US" sz="3100" b="1" dirty="0"/>
            </a:br>
            <a:endParaRPr lang="en-US" sz="2400" dirty="0"/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205" name="Rectangle 820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749A5-B4A7-4E1E-F154-1B2D15645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5" y="2718054"/>
            <a:ext cx="3906992" cy="3207258"/>
          </a:xfrm>
        </p:spPr>
        <p:txBody>
          <a:bodyPr anchor="t">
            <a:normAutofit/>
          </a:bodyPr>
          <a:lstStyle/>
          <a:p>
            <a:pPr algn="just"/>
            <a:r>
              <a:rPr lang="en-US" sz="3200" b="1" dirty="0"/>
              <a:t>Land Management</a:t>
            </a:r>
            <a:r>
              <a:rPr lang="en-US" sz="3200" dirty="0"/>
              <a:t> refers to the </a:t>
            </a:r>
            <a:r>
              <a:rPr lang="en-US" sz="3200" b="1" dirty="0"/>
              <a:t>methods, policies, and practices</a:t>
            </a:r>
            <a:r>
              <a:rPr lang="en-US" sz="3200" dirty="0"/>
              <a:t> to use land resources </a:t>
            </a:r>
            <a:r>
              <a:rPr lang="en-US" sz="3200" b="1" dirty="0"/>
              <a:t>wisely and sustainably. </a:t>
            </a:r>
          </a:p>
          <a:p>
            <a:pPr lvl="1"/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483223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E36337-7A29-4C84-916A-8814EBAD0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br>
              <a:rPr lang="en-US" sz="2500" b="1" dirty="0"/>
            </a:br>
            <a:r>
              <a:rPr lang="en-US" sz="2500" b="1" dirty="0"/>
              <a:t>Sustainable Land Management Practices</a:t>
            </a:r>
            <a:br>
              <a:rPr lang="en-US" sz="2500" b="1" dirty="0"/>
            </a:br>
            <a:endParaRPr lang="en-US" sz="25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45320-A871-CD63-C4F4-C35D46918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Reforestation and Afforestation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Contour Plowing and Terracing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Organic and Conservation Farming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Agroforestry (trees + crops)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Land Zoning and Protected Areas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Use of Green Infrastructure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Proper Waste Disposal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76537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6F270-64AE-CB4D-C7B3-BD8A8746C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br>
              <a:rPr lang="en-US" sz="3000" b="1"/>
            </a:br>
            <a:r>
              <a:rPr lang="en-US" sz="3000" b="1"/>
              <a:t>Reforestation and Afforestation</a:t>
            </a:r>
            <a:br>
              <a:rPr lang="en-US" sz="3000" b="1"/>
            </a:br>
            <a:endParaRPr lang="en-US" sz="3000"/>
          </a:p>
        </p:txBody>
      </p:sp>
      <p:sp>
        <p:nvSpPr>
          <p:cNvPr id="9225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45CD2-CC2F-4945-9D4E-E333EE60C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 fontScale="77500" lnSpcReduction="20000"/>
          </a:bodyPr>
          <a:lstStyle/>
          <a:p>
            <a:r>
              <a:rPr lang="en-US" sz="3100" b="1" dirty="0"/>
              <a:t>Reforestation</a:t>
            </a:r>
            <a:r>
              <a:rPr lang="en-US" sz="3100" dirty="0"/>
              <a:t> means </a:t>
            </a:r>
            <a:r>
              <a:rPr lang="en-US" sz="3100" b="1" dirty="0"/>
              <a:t>replanting trees</a:t>
            </a:r>
            <a:r>
              <a:rPr lang="en-US" sz="3100" dirty="0"/>
              <a:t> in areas where forests were cut down or destroyed.</a:t>
            </a:r>
          </a:p>
          <a:p>
            <a:r>
              <a:rPr lang="en-US" sz="3100" b="1" dirty="0"/>
              <a:t>Afforestation</a:t>
            </a:r>
            <a:r>
              <a:rPr lang="en-US" sz="3100" dirty="0"/>
              <a:t> means </a:t>
            </a:r>
            <a:r>
              <a:rPr lang="en-US" sz="3100" b="1" dirty="0"/>
              <a:t>planting trees </a:t>
            </a:r>
            <a:r>
              <a:rPr lang="en-US" sz="3100" dirty="0"/>
              <a:t>in areas that were not previously forested.</a:t>
            </a:r>
          </a:p>
          <a:p>
            <a:endParaRPr lang="en-US" sz="1700" dirty="0"/>
          </a:p>
          <a:p>
            <a:r>
              <a:rPr lang="en-US" sz="3400" b="1" dirty="0"/>
              <a:t>Purpose</a:t>
            </a:r>
          </a:p>
          <a:p>
            <a:pPr lvl="1"/>
            <a:r>
              <a:rPr lang="en-US" sz="3400" dirty="0"/>
              <a:t>Prevents soil erosion</a:t>
            </a:r>
          </a:p>
          <a:p>
            <a:pPr lvl="1"/>
            <a:r>
              <a:rPr lang="en-US" sz="3400" dirty="0"/>
              <a:t>Improves air quality</a:t>
            </a:r>
          </a:p>
          <a:p>
            <a:pPr lvl="1"/>
            <a:r>
              <a:rPr lang="en-US" sz="3400" dirty="0"/>
              <a:t>Restores habitats for wildlife</a:t>
            </a:r>
          </a:p>
          <a:p>
            <a:pPr lvl="1"/>
            <a:r>
              <a:rPr lang="en-US" sz="3400" dirty="0"/>
              <a:t>Helps absorb carbon dioxide and combat climate change</a:t>
            </a:r>
          </a:p>
          <a:p>
            <a:pPr marL="0" indent="0">
              <a:buNone/>
            </a:pPr>
            <a:br>
              <a:rPr lang="en-US" sz="2600" dirty="0"/>
            </a:br>
            <a:endParaRPr lang="en-US" sz="2600" dirty="0"/>
          </a:p>
          <a:p>
            <a:endParaRPr lang="en-US" sz="1700" dirty="0"/>
          </a:p>
        </p:txBody>
      </p:sp>
      <p:pic>
        <p:nvPicPr>
          <p:cNvPr id="9218" name="Picture 2" descr="Can Planting Trees Solve Climate Change? | ClimateScience">
            <a:extLst>
              <a:ext uri="{FF2B5EF4-FFF2-40B4-BE49-F238E27FC236}">
                <a16:creationId xmlns:a16="http://schemas.microsoft.com/office/drawing/2014/main" id="{22CCE2E0-CC96-CC66-4AA3-A2EAAE12A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92" b="-3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571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30BD8C-9337-100E-3B9C-CF311C31A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br>
              <a:rPr lang="en-US" sz="3800" b="1"/>
            </a:br>
            <a:r>
              <a:rPr lang="en-US" sz="3800" b="1"/>
              <a:t>Contour Plowing and Terracing</a:t>
            </a:r>
            <a:br>
              <a:rPr lang="en-US" sz="3800" b="1"/>
            </a:br>
            <a:endParaRPr lang="en-US" sz="38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3253B-A544-5984-C8D6-17145AF94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Contour Plowing:</a:t>
            </a:r>
            <a:r>
              <a:rPr lang="en-US" sz="2400" dirty="0"/>
              <a:t> Plowing along the natural curves or contours of the land to slow down water runoff.</a:t>
            </a:r>
          </a:p>
          <a:p>
            <a:r>
              <a:rPr lang="en-US" sz="2400" b="1" dirty="0"/>
              <a:t>Terracing:</a:t>
            </a:r>
            <a:r>
              <a:rPr lang="en-US" sz="2400" dirty="0"/>
              <a:t> Creating step-like flat areas on slopes to prevent soil erosion and make hilly land suitable for farming.</a:t>
            </a:r>
            <a:br>
              <a:rPr lang="en-US" sz="2400" dirty="0"/>
            </a:br>
            <a:endParaRPr lang="en-US" sz="2400" b="1" dirty="0"/>
          </a:p>
          <a:p>
            <a:pPr marL="0" indent="0">
              <a:buNone/>
            </a:pPr>
            <a:r>
              <a:rPr lang="en-US" sz="2000" b="1" dirty="0"/>
              <a:t>Purpose </a:t>
            </a:r>
          </a:p>
          <a:p>
            <a:pPr lvl="1"/>
            <a:r>
              <a:rPr lang="en-US" sz="2600" dirty="0"/>
              <a:t>Reduces water loss and soil erosion</a:t>
            </a:r>
          </a:p>
          <a:p>
            <a:pPr lvl="1"/>
            <a:r>
              <a:rPr lang="en-US" sz="2600" dirty="0"/>
              <a:t>Improves water absorption by the soil</a:t>
            </a:r>
          </a:p>
          <a:p>
            <a:pPr lvl="1"/>
            <a:r>
              <a:rPr lang="en-US" sz="2600" dirty="0"/>
              <a:t>Increases crop productivity on slopes</a:t>
            </a:r>
          </a:p>
          <a:p>
            <a:endParaRPr lang="en-US" sz="2000" dirty="0"/>
          </a:p>
        </p:txBody>
      </p:sp>
      <p:pic>
        <p:nvPicPr>
          <p:cNvPr id="4" name="Picture 4" descr="Contour Farming: Process &amp; Benefits">
            <a:extLst>
              <a:ext uri="{FF2B5EF4-FFF2-40B4-BE49-F238E27FC236}">
                <a16:creationId xmlns:a16="http://schemas.microsoft.com/office/drawing/2014/main" id="{CA687614-D805-A1A3-9B1D-82B5556F8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34"/>
          <a:stretch>
            <a:fillRect/>
          </a:stretch>
        </p:blipFill>
        <p:spPr bwMode="auto">
          <a:xfrm>
            <a:off x="8200448" y="345002"/>
            <a:ext cx="3587935" cy="3037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What Is Terrace Farming? - Earthpedia - Earth.com">
            <a:extLst>
              <a:ext uri="{FF2B5EF4-FFF2-40B4-BE49-F238E27FC236}">
                <a16:creationId xmlns:a16="http://schemas.microsoft.com/office/drawing/2014/main" id="{8FF01383-FDDF-50A7-17EC-6F98A7F80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7" r="8626"/>
          <a:stretch>
            <a:fillRect/>
          </a:stretch>
        </p:blipFill>
        <p:spPr bwMode="auto">
          <a:xfrm>
            <a:off x="8200448" y="3458369"/>
            <a:ext cx="3587935" cy="3032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3710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09A5B6-CA21-3DA1-EC7F-1F5C21E42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br>
              <a:rPr lang="en-US" sz="3000" b="1"/>
            </a:br>
            <a:r>
              <a:rPr lang="en-US" sz="3000" b="1"/>
              <a:t>Organic and Conservation Farming</a:t>
            </a:r>
            <a:br>
              <a:rPr lang="en-US" sz="3000" b="1"/>
            </a:br>
            <a:endParaRPr lang="en-US" sz="3000"/>
          </a:p>
        </p:txBody>
      </p:sp>
      <p:sp>
        <p:nvSpPr>
          <p:cNvPr id="1024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62996-97FB-605D-0924-0FAE95F39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2200" b="1" dirty="0"/>
              <a:t>Organic Farming:</a:t>
            </a:r>
            <a:r>
              <a:rPr lang="en-US" sz="2200" dirty="0"/>
              <a:t> Avoids synthetic fertilizers and pesticides, instead using compost, </a:t>
            </a:r>
            <a:r>
              <a:rPr lang="en-US" sz="2200" b="1" dirty="0"/>
              <a:t>crop rotation</a:t>
            </a:r>
            <a:r>
              <a:rPr lang="en-US" sz="2200" dirty="0"/>
              <a:t>, and </a:t>
            </a:r>
            <a:r>
              <a:rPr lang="en-US" sz="2200" b="1" dirty="0"/>
              <a:t>natural pest control</a:t>
            </a:r>
            <a:r>
              <a:rPr lang="en-US" sz="2200" dirty="0"/>
              <a:t>.</a:t>
            </a:r>
          </a:p>
          <a:p>
            <a:r>
              <a:rPr lang="en-US" sz="2200" b="1" dirty="0"/>
              <a:t>Conservation Farming:</a:t>
            </a:r>
            <a:r>
              <a:rPr lang="en-US" sz="2200" dirty="0"/>
              <a:t> Minimizes </a:t>
            </a:r>
            <a:r>
              <a:rPr lang="en-US" sz="2200" b="1" dirty="0"/>
              <a:t>soil disturbance</a:t>
            </a:r>
            <a:r>
              <a:rPr lang="en-US" sz="2200" dirty="0"/>
              <a:t>, maintains </a:t>
            </a:r>
            <a:r>
              <a:rPr lang="en-US" sz="2200" b="1" dirty="0"/>
              <a:t>crop cover</a:t>
            </a:r>
            <a:r>
              <a:rPr lang="en-US" sz="2200" dirty="0"/>
              <a:t>, and </a:t>
            </a:r>
            <a:r>
              <a:rPr lang="en-US" sz="2200" b="1" dirty="0"/>
              <a:t>rotates crops </a:t>
            </a:r>
            <a:r>
              <a:rPr lang="en-US" sz="2200" dirty="0"/>
              <a:t>to keep the soil healthy.</a:t>
            </a:r>
            <a:br>
              <a:rPr lang="en-US" sz="2200" dirty="0"/>
            </a:b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Purpose </a:t>
            </a:r>
          </a:p>
          <a:p>
            <a:pPr lvl="1"/>
            <a:r>
              <a:rPr lang="en-US" sz="2200" dirty="0"/>
              <a:t>Maintains soil fertility and biodiversity</a:t>
            </a:r>
          </a:p>
          <a:p>
            <a:pPr lvl="1"/>
            <a:r>
              <a:rPr lang="en-US" sz="2200" dirty="0"/>
              <a:t>Protects groundwater from chemical pollution</a:t>
            </a:r>
          </a:p>
          <a:p>
            <a:pPr lvl="1"/>
            <a:r>
              <a:rPr lang="en-US" sz="2200" dirty="0"/>
              <a:t>Promotes long-term agricultural sustainability</a:t>
            </a:r>
          </a:p>
          <a:p>
            <a:endParaRPr lang="en-US" sz="2200" dirty="0"/>
          </a:p>
        </p:txBody>
      </p:sp>
      <p:pic>
        <p:nvPicPr>
          <p:cNvPr id="10244" name="Picture 4" descr="What are the benefits of Organic Farming?">
            <a:extLst>
              <a:ext uri="{FF2B5EF4-FFF2-40B4-BE49-F238E27FC236}">
                <a16:creationId xmlns:a16="http://schemas.microsoft.com/office/drawing/2014/main" id="{A1149069-2AC8-81C1-5403-3BABFB8BA7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15"/>
          <a:stretch>
            <a:fillRect/>
          </a:stretch>
        </p:blipFill>
        <p:spPr bwMode="auto">
          <a:xfrm>
            <a:off x="7530420" y="1779913"/>
            <a:ext cx="3848345" cy="4839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9628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11703A-316D-92AA-CDA2-E1C8C77C1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br>
              <a:rPr lang="en-US" sz="3000" b="1"/>
            </a:br>
            <a:r>
              <a:rPr lang="en-US" sz="3000" b="1"/>
              <a:t>Agroforestry (Trees + Crops)</a:t>
            </a:r>
            <a:br>
              <a:rPr lang="en-US" sz="3000" b="1"/>
            </a:br>
            <a:endParaRPr lang="en-US" sz="30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5D047-9F81-1345-02CF-35FDDA799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 lnSpcReduction="10000"/>
          </a:bodyPr>
          <a:lstStyle/>
          <a:p>
            <a:r>
              <a:rPr lang="en-US" dirty="0"/>
              <a:t>The practice of </a:t>
            </a:r>
            <a:r>
              <a:rPr lang="en-US" b="1" dirty="0"/>
              <a:t>growing trees and crops together</a:t>
            </a:r>
            <a:r>
              <a:rPr lang="en-US" dirty="0"/>
              <a:t> on the same land.</a:t>
            </a:r>
            <a:br>
              <a:rPr lang="en-US" sz="2200" dirty="0"/>
            </a:br>
            <a:endParaRPr lang="en-US" sz="2200" b="1" dirty="0"/>
          </a:p>
          <a:p>
            <a:r>
              <a:rPr lang="en-US" b="1" dirty="0"/>
              <a:t>Purpose </a:t>
            </a:r>
          </a:p>
          <a:p>
            <a:pPr lvl="1"/>
            <a:r>
              <a:rPr lang="en-US" sz="2800" dirty="0"/>
              <a:t>Prevents erosion and improves soil fertility.</a:t>
            </a:r>
          </a:p>
          <a:p>
            <a:pPr lvl="1"/>
            <a:r>
              <a:rPr lang="en-US" sz="2800" dirty="0"/>
              <a:t>Provides shade, fruits, and additional income.</a:t>
            </a:r>
          </a:p>
          <a:p>
            <a:pPr lvl="1"/>
            <a:r>
              <a:rPr lang="en-US" sz="2800" dirty="0"/>
              <a:t>Enhances biodiversity and reduces the need for chemical inputs.</a:t>
            </a:r>
          </a:p>
          <a:p>
            <a:endParaRPr lang="en-US" sz="2200" dirty="0"/>
          </a:p>
        </p:txBody>
      </p:sp>
      <p:pic>
        <p:nvPicPr>
          <p:cNvPr id="5" name="Picture 2" descr="Adding Trees to Farms Can Mitigate Climate Change and Increase Resilience |  Article | EESI">
            <a:extLst>
              <a:ext uri="{FF2B5EF4-FFF2-40B4-BE49-F238E27FC236}">
                <a16:creationId xmlns:a16="http://schemas.microsoft.com/office/drawing/2014/main" id="{9FD4973A-1D2A-A173-C8BE-7A72BD8CBF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16"/>
          <a:stretch>
            <a:fillRect/>
          </a:stretch>
        </p:blipFill>
        <p:spPr bwMode="auto">
          <a:xfrm>
            <a:off x="7286045" y="2594340"/>
            <a:ext cx="4604557" cy="267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113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1" name="Rectangle 1127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AB6589-84F3-BCC5-D5DF-4ECC2E637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br>
              <a:rPr lang="en-US" sz="3400" b="1"/>
            </a:br>
            <a:r>
              <a:rPr lang="en-US" sz="3400" b="1"/>
              <a:t>Land Zoning and Protected Areas</a:t>
            </a:r>
            <a:br>
              <a:rPr lang="en-US" sz="3400" b="1"/>
            </a:br>
            <a:endParaRPr lang="en-US" sz="3400"/>
          </a:p>
        </p:txBody>
      </p:sp>
      <p:sp>
        <p:nvSpPr>
          <p:cNvPr id="1127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D3683-2C0D-11EE-2B10-A667C39CF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Land Zoning:</a:t>
            </a:r>
            <a:r>
              <a:rPr lang="en-US" sz="2400" dirty="0"/>
              <a:t> Dividing land into zones (residential, agricultural, industrial, etc.) to guide proper land use.</a:t>
            </a:r>
          </a:p>
          <a:p>
            <a:r>
              <a:rPr lang="en-US" sz="2400" b="1" dirty="0"/>
              <a:t>Protected Areas:</a:t>
            </a:r>
            <a:r>
              <a:rPr lang="en-US" sz="2400" dirty="0"/>
              <a:t> Declaring forests, watersheds, and ecosystems as protected zones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Purpose </a:t>
            </a:r>
          </a:p>
          <a:p>
            <a:pPr lvl="1"/>
            <a:r>
              <a:rPr lang="en-US" sz="2000" dirty="0"/>
              <a:t>Prevents land-use conflicts and overdevelopment</a:t>
            </a:r>
          </a:p>
          <a:p>
            <a:pPr lvl="1"/>
            <a:r>
              <a:rPr lang="en-US" sz="2000" dirty="0"/>
              <a:t>Conserves natural habitats and biodiversity</a:t>
            </a:r>
          </a:p>
          <a:p>
            <a:pPr lvl="1"/>
            <a:r>
              <a:rPr lang="en-US" sz="2000" dirty="0"/>
              <a:t>Ensures sustainable land allocation for different needs</a:t>
            </a:r>
          </a:p>
          <a:p>
            <a:endParaRPr lang="en-US" sz="2000" dirty="0"/>
          </a:p>
        </p:txBody>
      </p:sp>
      <p:pic>
        <p:nvPicPr>
          <p:cNvPr id="4" name="Picture 4" descr="Official Zoning Map Analysis and Overview for Planning Purposes - Studocu">
            <a:extLst>
              <a:ext uri="{FF2B5EF4-FFF2-40B4-BE49-F238E27FC236}">
                <a16:creationId xmlns:a16="http://schemas.microsoft.com/office/drawing/2014/main" id="{0A65F4EE-7CA4-F7E9-7DCC-91F29C9A5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3840" y="624139"/>
            <a:ext cx="4014216" cy="2840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Protecting just 1.2% of Earth's land could save most-threatened species,  says study | Conservation | The Guardian">
            <a:extLst>
              <a:ext uri="{FF2B5EF4-FFF2-40B4-BE49-F238E27FC236}">
                <a16:creationId xmlns:a16="http://schemas.microsoft.com/office/drawing/2014/main" id="{83922E88-7134-679F-ACE0-A97D4D55F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48244" y="4079193"/>
            <a:ext cx="3627120" cy="217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223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5" name="Rectangle 1229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2A210-0C83-1E16-3392-DD458EB23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br>
              <a:rPr lang="en-US" sz="3000" b="1"/>
            </a:br>
            <a:r>
              <a:rPr lang="en-US" sz="3000" b="1"/>
              <a:t>Use of Green Infrastructure</a:t>
            </a:r>
            <a:br>
              <a:rPr lang="en-US" sz="3000" b="1"/>
            </a:br>
            <a:endParaRPr lang="en-US" sz="3000"/>
          </a:p>
        </p:txBody>
      </p:sp>
      <p:sp>
        <p:nvSpPr>
          <p:cNvPr id="1229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949B3-7615-3B2E-8617-E94ADF369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401063" cy="4119172"/>
          </a:xfrm>
        </p:spPr>
        <p:txBody>
          <a:bodyPr anchor="t">
            <a:normAutofit fontScale="92500"/>
          </a:bodyPr>
          <a:lstStyle/>
          <a:p>
            <a:r>
              <a:rPr lang="en-US" dirty="0"/>
              <a:t>Designing cities and communities with </a:t>
            </a:r>
            <a:r>
              <a:rPr lang="en-US" b="1" dirty="0"/>
              <a:t>nature-based solutions </a:t>
            </a:r>
            <a:r>
              <a:rPr lang="en-US" dirty="0"/>
              <a:t>like </a:t>
            </a:r>
            <a:r>
              <a:rPr lang="en-US" b="1" dirty="0"/>
              <a:t>parks, green roofs, buffer zones, and rain gardens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Purpose </a:t>
            </a:r>
          </a:p>
          <a:p>
            <a:pPr lvl="1"/>
            <a:r>
              <a:rPr lang="en-US" sz="2800" dirty="0"/>
              <a:t>Reduces flooding and improves air quality</a:t>
            </a:r>
          </a:p>
          <a:p>
            <a:pPr lvl="1"/>
            <a:r>
              <a:rPr lang="en-US" sz="2800" dirty="0"/>
              <a:t>Enhances urban biodiversity</a:t>
            </a:r>
          </a:p>
          <a:p>
            <a:pPr lvl="1"/>
            <a:r>
              <a:rPr lang="en-US" sz="2800" dirty="0"/>
              <a:t>Provides recreation and improves quality of life</a:t>
            </a:r>
          </a:p>
          <a:p>
            <a:endParaRPr lang="en-US" sz="2200" dirty="0"/>
          </a:p>
        </p:txBody>
      </p:sp>
      <p:pic>
        <p:nvPicPr>
          <p:cNvPr id="12292" name="Picture 4" descr="Green Infrastructure | BREC.org">
            <a:extLst>
              <a:ext uri="{FF2B5EF4-FFF2-40B4-BE49-F238E27FC236}">
                <a16:creationId xmlns:a16="http://schemas.microsoft.com/office/drawing/2014/main" id="{F0DC1E77-3DE8-C580-64DE-E54C62F24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736" y="2659862"/>
            <a:ext cx="4384557" cy="292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714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26" name="Rectangle 13325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47229-9B59-AFCF-3EB9-B4A6D53E5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br>
              <a:rPr lang="en-US" sz="3800" b="1" dirty="0"/>
            </a:br>
            <a:r>
              <a:rPr lang="en-US" sz="3800" b="1" dirty="0"/>
              <a:t>Proper Waste Disposal</a:t>
            </a:r>
            <a:br>
              <a:rPr lang="en-US" sz="3800" b="1" dirty="0"/>
            </a:br>
            <a:endParaRPr lang="en-US" sz="3800" dirty="0"/>
          </a:p>
        </p:txBody>
      </p:sp>
      <p:sp>
        <p:nvSpPr>
          <p:cNvPr id="1332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EEEA2-069A-F071-E033-E3FD7E493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 lnSpcReduction="10000"/>
          </a:bodyPr>
          <a:lstStyle/>
          <a:p>
            <a:r>
              <a:rPr lang="en-US" sz="2000" b="1" dirty="0"/>
              <a:t>Proper Waste Disposal </a:t>
            </a:r>
            <a:r>
              <a:rPr lang="en-US" sz="2000" dirty="0"/>
              <a:t>means managing household, agricultural, and industrial waste properly to prevent pollution and land contamination.</a:t>
            </a:r>
            <a:br>
              <a:rPr lang="en-US" sz="2000" dirty="0"/>
            </a:br>
            <a:r>
              <a:rPr lang="en-US" sz="2000" b="1" dirty="0"/>
              <a:t>Practices:</a:t>
            </a:r>
            <a:endParaRPr lang="en-US" sz="2000" dirty="0"/>
          </a:p>
          <a:p>
            <a:pPr lvl="1"/>
            <a:r>
              <a:rPr lang="en-US" sz="2000" dirty="0"/>
              <a:t>Waste segregation and recycling</a:t>
            </a:r>
          </a:p>
          <a:p>
            <a:pPr lvl="1"/>
            <a:r>
              <a:rPr lang="en-US" sz="2000" dirty="0"/>
              <a:t>Composting of biodegradable materials</a:t>
            </a:r>
          </a:p>
          <a:p>
            <a:pPr lvl="1"/>
            <a:r>
              <a:rPr lang="en-US" sz="2000" dirty="0"/>
              <a:t>Safe disposal of hazardous waste</a:t>
            </a:r>
            <a:br>
              <a:rPr lang="en-US" sz="2000" dirty="0"/>
            </a:br>
            <a:endParaRPr lang="en-US" sz="2000" b="1" dirty="0"/>
          </a:p>
          <a:p>
            <a:r>
              <a:rPr lang="en-US" sz="2000" b="1" dirty="0"/>
              <a:t>Purpose </a:t>
            </a:r>
          </a:p>
          <a:p>
            <a:pPr lvl="1"/>
            <a:r>
              <a:rPr lang="en-US" sz="2000" dirty="0"/>
              <a:t>Keeps land and water sources clean</a:t>
            </a:r>
          </a:p>
          <a:p>
            <a:pPr lvl="1"/>
            <a:r>
              <a:rPr lang="en-US" sz="2000" dirty="0"/>
              <a:t>Reduces greenhouse gas emissions from dumpsites</a:t>
            </a:r>
          </a:p>
          <a:p>
            <a:endParaRPr lang="en-US" sz="2000" dirty="0"/>
          </a:p>
        </p:txBody>
      </p:sp>
      <p:pic>
        <p:nvPicPr>
          <p:cNvPr id="13316" name="Picture 4" descr="Week 3: Smart Disposal | Food Too Good to Waste Challenge | Engage Saint  Paul">
            <a:extLst>
              <a:ext uri="{FF2B5EF4-FFF2-40B4-BE49-F238E27FC236}">
                <a16:creationId xmlns:a16="http://schemas.microsoft.com/office/drawing/2014/main" id="{3A900FBF-980F-50A7-B054-881A1EF3C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3840" y="453534"/>
            <a:ext cx="4014216" cy="3181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How to draw a waste segregation poster | waste management">
            <a:extLst>
              <a:ext uri="{FF2B5EF4-FFF2-40B4-BE49-F238E27FC236}">
                <a16:creationId xmlns:a16="http://schemas.microsoft.com/office/drawing/2014/main" id="{416F1CF9-4B8D-8200-C30E-6C0D55962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27340" y="4079193"/>
            <a:ext cx="3868928" cy="2176272"/>
          </a:xfrm>
          <a:prstGeom prst="rect">
            <a:avLst/>
          </a:prstGeom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052640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43" name="Rectangle 1434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9A5BDE-22D7-3748-80C5-9D91A895E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RA 9003</a:t>
            </a:r>
          </a:p>
        </p:txBody>
      </p:sp>
      <p:sp>
        <p:nvSpPr>
          <p:cNvPr id="1434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FD0F1-FD80-1AA7-AC1C-1A428A183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The </a:t>
            </a:r>
            <a:r>
              <a:rPr lang="en-US" sz="2200" b="1" dirty="0"/>
              <a:t>Ecological Solid Waste Management Act of 2000</a:t>
            </a:r>
            <a:r>
              <a:rPr lang="en-US" sz="2200" dirty="0"/>
              <a:t> (Republic Act No. 9003) is a law that </a:t>
            </a:r>
            <a:r>
              <a:rPr lang="en-US" sz="2200" b="1" dirty="0"/>
              <a:t>provides a comprehensive framework for proper solid waste management</a:t>
            </a:r>
            <a:r>
              <a:rPr lang="en-US" sz="2200" dirty="0"/>
              <a:t>. </a:t>
            </a:r>
          </a:p>
          <a:p>
            <a:r>
              <a:rPr lang="en-US" sz="2200" dirty="0"/>
              <a:t>It emphasizes </a:t>
            </a:r>
            <a:r>
              <a:rPr lang="en-US" sz="2200" b="1" dirty="0"/>
              <a:t>reducing, reusing, recycling, and proper disposal of solid waste</a:t>
            </a:r>
            <a:r>
              <a:rPr lang="en-US" sz="2200" dirty="0"/>
              <a:t>.</a:t>
            </a:r>
          </a:p>
          <a:p>
            <a:endParaRPr lang="en-US" sz="2200" dirty="0"/>
          </a:p>
        </p:txBody>
      </p:sp>
      <p:pic>
        <p:nvPicPr>
          <p:cNvPr id="14338" name="Picture 2" descr="Republic Act No. 9003, also known as the Ecological Solid Waste Management  Act of 2000, is a Philippine law that provides a systematic, comprehensive,  and ecological approach to managing solid waste. Its">
            <a:extLst>
              <a:ext uri="{FF2B5EF4-FFF2-40B4-BE49-F238E27FC236}">
                <a16:creationId xmlns:a16="http://schemas.microsoft.com/office/drawing/2014/main" id="{4D0EB431-B096-48F5-6B9D-5C461E5FD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72633" y="640080"/>
            <a:ext cx="3711798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2329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47DDF4-AF02-4D5A-B35A-FFBFD6B1D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br>
              <a:rPr lang="en-US" sz="2600" b="1"/>
            </a:br>
            <a:r>
              <a:rPr lang="en-US" sz="2600" b="1"/>
              <a:t>Key Provisions</a:t>
            </a:r>
            <a:br>
              <a:rPr lang="en-US" sz="2600" b="1"/>
            </a:br>
            <a:endParaRPr lang="en-US" sz="26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CAD70-AD17-1FB2-5120-290313EDC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600" b="1" dirty="0"/>
              <a:t>Waste Segregation</a:t>
            </a:r>
            <a:endParaRPr lang="en-US" sz="2600" dirty="0"/>
          </a:p>
          <a:p>
            <a:pPr lvl="1"/>
            <a:r>
              <a:rPr lang="en-US" sz="2600" dirty="0"/>
              <a:t>Households, commercial establishments, and institutions must </a:t>
            </a:r>
            <a:r>
              <a:rPr lang="en-US" sz="2600" b="1" dirty="0"/>
              <a:t>segregate waste into biodegradable, non-biodegradable, and recyclable materials</a:t>
            </a:r>
            <a:r>
              <a:rPr lang="en-US" sz="26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dirty="0"/>
              <a:t>Collection and Transport</a:t>
            </a:r>
            <a:endParaRPr lang="en-US" sz="2600" dirty="0"/>
          </a:p>
          <a:p>
            <a:pPr lvl="1"/>
            <a:r>
              <a:rPr lang="en-US" sz="2600" dirty="0"/>
              <a:t>Local government units (LGUs) are responsible for </a:t>
            </a:r>
            <a:r>
              <a:rPr lang="en-US" sz="2600" b="1" dirty="0"/>
              <a:t>collecting and transporting waste</a:t>
            </a:r>
            <a:r>
              <a:rPr lang="en-US" sz="2600" dirty="0"/>
              <a:t> efficiently and sustainably.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dirty="0"/>
              <a:t>Recycling and Composting</a:t>
            </a:r>
            <a:endParaRPr lang="en-US" sz="2600" dirty="0"/>
          </a:p>
          <a:p>
            <a:pPr lvl="1"/>
            <a:r>
              <a:rPr lang="en-US" sz="2600" dirty="0"/>
              <a:t>Encourages </a:t>
            </a:r>
            <a:r>
              <a:rPr lang="en-US" sz="2600" b="1" dirty="0"/>
              <a:t>resource recovery facilities</a:t>
            </a:r>
            <a:r>
              <a:rPr lang="en-US" sz="2600" dirty="0"/>
              <a:t> to process recyclables and biodegradable waste.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dirty="0"/>
              <a:t>Establishment of Materials Recovery Facility (MRF)</a:t>
            </a:r>
            <a:endParaRPr lang="en-US" sz="2600" dirty="0"/>
          </a:p>
          <a:p>
            <a:pPr lvl="1"/>
            <a:r>
              <a:rPr lang="en-US" sz="2600" dirty="0"/>
              <a:t>LGUs must establish </a:t>
            </a:r>
            <a:r>
              <a:rPr lang="en-US" sz="2600" b="1" dirty="0"/>
              <a:t>MRF</a:t>
            </a:r>
            <a:r>
              <a:rPr lang="en-US" sz="2600" dirty="0"/>
              <a:t> in every barangay to sort, recycle, and compost waste.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753401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AD98B0-F587-7336-DAA3-5CABA9DCE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CC6208-DDB9-D97C-82AA-C9C2406CB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br>
              <a:rPr lang="en-US" sz="2600" b="1"/>
            </a:br>
            <a:r>
              <a:rPr lang="en-US" sz="2600" b="1"/>
              <a:t>Key Provisions</a:t>
            </a:r>
            <a:br>
              <a:rPr lang="en-US" sz="2600" b="1"/>
            </a:br>
            <a:endParaRPr lang="en-US" sz="26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99C45-1096-314C-D1AB-C5A6E0D39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5. Prohibition of Open Dumping and Burning</a:t>
            </a:r>
            <a:endParaRPr lang="en-US" sz="2400" dirty="0"/>
          </a:p>
          <a:p>
            <a:pPr lvl="1"/>
            <a:r>
              <a:rPr lang="en-US" dirty="0"/>
              <a:t>Open dumping of waste and burning of garbage are </a:t>
            </a:r>
            <a:r>
              <a:rPr lang="en-US" b="1" dirty="0"/>
              <a:t>illegal</a:t>
            </a:r>
            <a:r>
              <a:rPr lang="en-US" dirty="0"/>
              <a:t> to prevent pollution and health hazards.</a:t>
            </a:r>
          </a:p>
          <a:p>
            <a:pPr marL="0" indent="0">
              <a:buNone/>
            </a:pPr>
            <a:r>
              <a:rPr lang="en-US" sz="2400" b="1" dirty="0"/>
              <a:t>6. Solid Waste Management Planning</a:t>
            </a:r>
            <a:endParaRPr lang="en-US" sz="2400" dirty="0"/>
          </a:p>
          <a:p>
            <a:pPr lvl="1"/>
            <a:r>
              <a:rPr lang="en-US" dirty="0"/>
              <a:t>LGUs must prepare and implement a </a:t>
            </a:r>
            <a:r>
              <a:rPr lang="en-US" b="1" dirty="0"/>
              <a:t>10-year solid waste management plan</a:t>
            </a:r>
            <a:r>
              <a:rPr lang="en-US" dirty="0"/>
              <a:t>, reviewed annually.</a:t>
            </a:r>
          </a:p>
          <a:p>
            <a:pPr marL="0" indent="0">
              <a:buNone/>
            </a:pPr>
            <a:r>
              <a:rPr lang="en-US" sz="2400" b="1" dirty="0"/>
              <a:t>7. Public Education and Participation</a:t>
            </a:r>
            <a:endParaRPr lang="en-US" sz="2400" dirty="0"/>
          </a:p>
          <a:p>
            <a:pPr lvl="1"/>
            <a:r>
              <a:rPr lang="en-US" dirty="0"/>
              <a:t>Programs to </a:t>
            </a:r>
            <a:r>
              <a:rPr lang="en-US" b="1" dirty="0"/>
              <a:t>educate citizens</a:t>
            </a:r>
            <a:r>
              <a:rPr lang="en-US" dirty="0"/>
              <a:t> on proper waste handling and encourage active participation.</a:t>
            </a:r>
          </a:p>
          <a:p>
            <a:pPr marL="0" indent="0">
              <a:buNone/>
            </a:pPr>
            <a:r>
              <a:rPr lang="en-US" sz="2400" b="1" dirty="0"/>
              <a:t>8. Funding and Incentives</a:t>
            </a:r>
            <a:endParaRPr lang="en-US" sz="2400" dirty="0"/>
          </a:p>
          <a:p>
            <a:pPr lvl="1"/>
            <a:r>
              <a:rPr lang="en-US" dirty="0"/>
              <a:t>LGUs can receive funds and incentives to support </a:t>
            </a:r>
            <a:r>
              <a:rPr lang="en-US" b="1" dirty="0"/>
              <a:t>sustainable waste management programs</a:t>
            </a:r>
            <a:r>
              <a:rPr lang="en-US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33316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5A3005-E6C4-CD09-4728-6233F647B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3800" b="1"/>
              <a:t>Bioremediation</a:t>
            </a:r>
            <a:endParaRPr lang="en-US" sz="380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D5A8F-F600-086D-1DD6-9571C9134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 b="1" dirty="0"/>
              <a:t>Bioremediation</a:t>
            </a:r>
            <a:r>
              <a:rPr lang="en-US" sz="2200" dirty="0"/>
              <a:t> is the use of living organisms—such as </a:t>
            </a:r>
            <a:r>
              <a:rPr lang="en-US" sz="2200" b="1" dirty="0"/>
              <a:t>bacteria, fungi, or plants </a:t>
            </a:r>
            <a:r>
              <a:rPr lang="en-US" sz="2200" dirty="0"/>
              <a:t>to </a:t>
            </a:r>
            <a:r>
              <a:rPr lang="en-US" sz="2200" b="1" dirty="0"/>
              <a:t>break down, detoxify, or remove pollutants</a:t>
            </a:r>
            <a:r>
              <a:rPr lang="en-US" sz="2200" dirty="0"/>
              <a:t> from contaminated </a:t>
            </a:r>
            <a:r>
              <a:rPr lang="en-US" sz="2200" b="1" dirty="0"/>
              <a:t>soil, water</a:t>
            </a:r>
            <a:r>
              <a:rPr lang="en-US" sz="2200" dirty="0"/>
              <a:t>, or </a:t>
            </a:r>
            <a:r>
              <a:rPr lang="en-US" sz="2200" b="1" dirty="0"/>
              <a:t>air.</a:t>
            </a:r>
          </a:p>
          <a:p>
            <a:pPr marL="0" indent="0">
              <a:buNone/>
            </a:pPr>
            <a:r>
              <a:rPr lang="en-US" sz="2200" b="1" dirty="0"/>
              <a:t>Key Types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b="1" dirty="0"/>
              <a:t>Microbial bioremediation</a:t>
            </a:r>
            <a:r>
              <a:rPr lang="en-US" sz="2200" dirty="0"/>
              <a:t> – </a:t>
            </a:r>
            <a:r>
              <a:rPr lang="en-US" sz="2200" dirty="0">
                <a:solidFill>
                  <a:srgbClr val="FF0000"/>
                </a:solidFill>
              </a:rPr>
              <a:t>bacteria </a:t>
            </a:r>
            <a:r>
              <a:rPr lang="en-US" sz="2200" dirty="0"/>
              <a:t>degrade oil, pesticides, or sewage.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b="1" dirty="0"/>
              <a:t>Phytoremediation</a:t>
            </a:r>
            <a:r>
              <a:rPr lang="en-US" sz="2200" dirty="0"/>
              <a:t> – </a:t>
            </a:r>
            <a:r>
              <a:rPr lang="en-US" sz="2200" dirty="0">
                <a:solidFill>
                  <a:srgbClr val="FF0000"/>
                </a:solidFill>
              </a:rPr>
              <a:t>plants </a:t>
            </a:r>
            <a:r>
              <a:rPr lang="en-US" sz="2200" dirty="0"/>
              <a:t>absorb or stabilize heavy metals and toxins.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b="1" dirty="0" err="1"/>
              <a:t>Mycoremediation</a:t>
            </a:r>
            <a:r>
              <a:rPr lang="en-US" sz="2200" dirty="0"/>
              <a:t> – </a:t>
            </a:r>
            <a:r>
              <a:rPr lang="en-US" sz="2200" dirty="0">
                <a:solidFill>
                  <a:srgbClr val="FF0000"/>
                </a:solidFill>
              </a:rPr>
              <a:t>fungi</a:t>
            </a:r>
            <a:r>
              <a:rPr lang="en-US" sz="2200" dirty="0"/>
              <a:t> decompose complex pollutants like petroleum products.</a:t>
            </a:r>
          </a:p>
          <a:p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4985489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B7E34FA-620E-0267-A9D7-10084A60A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525194"/>
              </p:ext>
            </p:extLst>
          </p:nvPr>
        </p:nvGraphicFramePr>
        <p:xfrm>
          <a:off x="1120477" y="714172"/>
          <a:ext cx="9951043" cy="5279344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848865">
                  <a:extLst>
                    <a:ext uri="{9D8B030D-6E8A-4147-A177-3AD203B41FA5}">
                      <a16:colId xmlns:a16="http://schemas.microsoft.com/office/drawing/2014/main" val="1235390362"/>
                    </a:ext>
                  </a:extLst>
                </a:gridCol>
                <a:gridCol w="1325419">
                  <a:extLst>
                    <a:ext uri="{9D8B030D-6E8A-4147-A177-3AD203B41FA5}">
                      <a16:colId xmlns:a16="http://schemas.microsoft.com/office/drawing/2014/main" val="358410437"/>
                    </a:ext>
                  </a:extLst>
                </a:gridCol>
                <a:gridCol w="2145368">
                  <a:extLst>
                    <a:ext uri="{9D8B030D-6E8A-4147-A177-3AD203B41FA5}">
                      <a16:colId xmlns:a16="http://schemas.microsoft.com/office/drawing/2014/main" val="168201174"/>
                    </a:ext>
                  </a:extLst>
                </a:gridCol>
                <a:gridCol w="2173296">
                  <a:extLst>
                    <a:ext uri="{9D8B030D-6E8A-4147-A177-3AD203B41FA5}">
                      <a16:colId xmlns:a16="http://schemas.microsoft.com/office/drawing/2014/main" val="4273987181"/>
                    </a:ext>
                  </a:extLst>
                </a:gridCol>
                <a:gridCol w="2458095">
                  <a:extLst>
                    <a:ext uri="{9D8B030D-6E8A-4147-A177-3AD203B41FA5}">
                      <a16:colId xmlns:a16="http://schemas.microsoft.com/office/drawing/2014/main" val="4256826797"/>
                    </a:ext>
                  </a:extLst>
                </a:gridCol>
              </a:tblGrid>
              <a:tr h="6776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dirty="0"/>
                        <a:t>Type of Soil Contamination</a:t>
                      </a:r>
                    </a:p>
                  </a:txBody>
                  <a:tcPr marL="5869" marR="5869" marT="10063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dirty="0"/>
                        <a:t>Organism Used</a:t>
                      </a:r>
                    </a:p>
                  </a:txBody>
                  <a:tcPr marL="5869" marR="5869" marT="10063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dirty="0"/>
                        <a:t>Bioremediation Method</a:t>
                      </a:r>
                    </a:p>
                  </a:txBody>
                  <a:tcPr marL="5869" marR="5869" marT="10063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dirty="0"/>
                    </a:p>
                  </a:txBody>
                  <a:tcPr marL="5869" marR="5869" marT="10063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dirty="0"/>
                        <a:t>Example</a:t>
                      </a:r>
                    </a:p>
                  </a:txBody>
                  <a:tcPr marL="5869" marR="5869" marT="100636" marB="0" anchor="ctr"/>
                </a:tc>
                <a:extLst>
                  <a:ext uri="{0D108BD9-81ED-4DB2-BD59-A6C34878D82A}">
                    <a16:rowId xmlns:a16="http://schemas.microsoft.com/office/drawing/2014/main" val="2907062191"/>
                  </a:ext>
                </a:extLst>
              </a:tr>
              <a:tr h="7447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1" dirty="0"/>
                        <a:t>Oil-contaminated soil</a:t>
                      </a:r>
                    </a:p>
                  </a:txBody>
                  <a:tcPr marL="5869" marR="5869" marT="10063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000" b="1" dirty="0"/>
                        <a:t>Bacteria</a:t>
                      </a:r>
                      <a:r>
                        <a:rPr lang="pt-BR" sz="2000" dirty="0"/>
                        <a:t> (e.g., Pseudomonas spp.)</a:t>
                      </a:r>
                    </a:p>
                  </a:txBody>
                  <a:tcPr marL="5869" marR="5869" marT="10063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dirty="0"/>
                        <a:t>Microbial bioremediation</a:t>
                      </a:r>
                    </a:p>
                  </a:txBody>
                  <a:tcPr marL="5869" marR="5869" marT="10063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dirty="0"/>
                        <a:t>Bacteria degrade petroleum hydrocarbons into less harmful substances.</a:t>
                      </a:r>
                    </a:p>
                  </a:txBody>
                  <a:tcPr marL="5869" marR="5869" marT="10063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dirty="0"/>
                        <a:t>Soil cleanup after oil leaks near ports and fuel depots in Manila Bay.</a:t>
                      </a:r>
                    </a:p>
                  </a:txBody>
                  <a:tcPr marL="5869" marR="5869" marT="100636" marB="0" anchor="ctr"/>
                </a:tc>
                <a:extLst>
                  <a:ext uri="{0D108BD9-81ED-4DB2-BD59-A6C34878D82A}">
                    <a16:rowId xmlns:a16="http://schemas.microsoft.com/office/drawing/2014/main" val="4088121584"/>
                  </a:ext>
                </a:extLst>
              </a:tr>
              <a:tr h="7447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1" dirty="0"/>
                        <a:t>Heavy metal–contaminated soil</a:t>
                      </a:r>
                    </a:p>
                  </a:txBody>
                  <a:tcPr marL="5869" marR="5869" marT="10063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1" dirty="0"/>
                        <a:t>Plants</a:t>
                      </a:r>
                      <a:r>
                        <a:rPr lang="en-US" sz="2000" dirty="0"/>
                        <a:t> (sunflower, vetiver grass)</a:t>
                      </a:r>
                    </a:p>
                  </a:txBody>
                  <a:tcPr marL="5869" marR="5869" marT="10063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/>
                        <a:t>Phytoremediation</a:t>
                      </a:r>
                    </a:p>
                  </a:txBody>
                  <a:tcPr marL="5869" marR="5869" marT="10063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dirty="0"/>
                        <a:t>Plants absorb metals like lead and cadmium, which are removed during harvesting.</a:t>
                      </a:r>
                    </a:p>
                  </a:txBody>
                  <a:tcPr marL="5869" marR="5869" marT="10063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dirty="0"/>
                        <a:t>Mine-affected areas in Benguet and Nueva Vizcaya.</a:t>
                      </a:r>
                    </a:p>
                  </a:txBody>
                  <a:tcPr marL="5869" marR="5869" marT="100636" marB="0" anchor="ctr"/>
                </a:tc>
                <a:extLst>
                  <a:ext uri="{0D108BD9-81ED-4DB2-BD59-A6C34878D82A}">
                    <a16:rowId xmlns:a16="http://schemas.microsoft.com/office/drawing/2014/main" val="2846157874"/>
                  </a:ext>
                </a:extLst>
              </a:tr>
              <a:tr h="5434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1" dirty="0"/>
                        <a:t>Pesticide-contaminated soil</a:t>
                      </a:r>
                    </a:p>
                  </a:txBody>
                  <a:tcPr marL="5869" marR="5869" marT="10063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1" dirty="0"/>
                        <a:t>Fungi</a:t>
                      </a:r>
                      <a:r>
                        <a:rPr lang="en-US" sz="2000" dirty="0"/>
                        <a:t> (white-rot fungi)</a:t>
                      </a:r>
                    </a:p>
                  </a:txBody>
                  <a:tcPr marL="5869" marR="5869" marT="10063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/>
                        <a:t>Mycoremediation</a:t>
                      </a:r>
                    </a:p>
                  </a:txBody>
                  <a:tcPr marL="5869" marR="5869" marT="10063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dirty="0"/>
                        <a:t>Fungal enzymes break down persistent pesticide residues.</a:t>
                      </a:r>
                    </a:p>
                  </a:txBody>
                  <a:tcPr marL="5869" marR="5869" marT="10063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dirty="0"/>
                        <a:t>Intensive vegetable farming areas in Benguet </a:t>
                      </a:r>
                      <a:r>
                        <a:rPr lang="en-US" sz="2000"/>
                        <a:t>and Laguna.</a:t>
                      </a:r>
                      <a:endParaRPr lang="en-US" sz="2000" dirty="0"/>
                    </a:p>
                  </a:txBody>
                  <a:tcPr marL="5869" marR="5869" marT="100636" marB="0" anchor="ctr"/>
                </a:tc>
                <a:extLst>
                  <a:ext uri="{0D108BD9-81ED-4DB2-BD59-A6C34878D82A}">
                    <a16:rowId xmlns:a16="http://schemas.microsoft.com/office/drawing/2014/main" val="330488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7569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1484</Words>
  <Application>Microsoft Office PowerPoint</Application>
  <PresentationFormat>Widescreen</PresentationFormat>
  <Paragraphs>172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Avenir Next LT Pro</vt:lpstr>
      <vt:lpstr>Calibri</vt:lpstr>
      <vt:lpstr>Office Theme</vt:lpstr>
      <vt:lpstr>Land Use and Management</vt:lpstr>
      <vt:lpstr>Objectives</vt:lpstr>
      <vt:lpstr>Have you ever wondered why some places are filled with farms and trees, while others are full of buildings and roads?   </vt:lpstr>
      <vt:lpstr> The Land </vt:lpstr>
      <vt:lpstr> Importance of Land </vt:lpstr>
      <vt:lpstr> Land Use </vt:lpstr>
      <vt:lpstr> Types of Land Use </vt:lpstr>
      <vt:lpstr> cont. </vt:lpstr>
      <vt:lpstr>Issues in Land Use</vt:lpstr>
      <vt:lpstr> Deforestation </vt:lpstr>
      <vt:lpstr> Soil Erosion and Degradation </vt:lpstr>
      <vt:lpstr> Urban Sprawl </vt:lpstr>
      <vt:lpstr> Land Conversion  (from Agricultural to Industrial/Residential Use) </vt:lpstr>
      <vt:lpstr> LAND MANAGEMENT </vt:lpstr>
      <vt:lpstr> Sustainable Land Management Practices </vt:lpstr>
      <vt:lpstr> Reforestation and Afforestation </vt:lpstr>
      <vt:lpstr> Contour Plowing and Terracing </vt:lpstr>
      <vt:lpstr> Organic and Conservation Farming </vt:lpstr>
      <vt:lpstr> Agroforestry (Trees + Crops) </vt:lpstr>
      <vt:lpstr> Land Zoning and Protected Areas </vt:lpstr>
      <vt:lpstr> Use of Green Infrastructure </vt:lpstr>
      <vt:lpstr> Proper Waste Disposal </vt:lpstr>
      <vt:lpstr>RA 9003</vt:lpstr>
      <vt:lpstr> Key Provisions </vt:lpstr>
      <vt:lpstr> Key Provisions </vt:lpstr>
      <vt:lpstr>Bioremediation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Office365</dc:creator>
  <cp:lastModifiedBy>Brigida Reyes</cp:lastModifiedBy>
  <cp:revision>27</cp:revision>
  <dcterms:created xsi:type="dcterms:W3CDTF">2025-10-02T08:26:50Z</dcterms:created>
  <dcterms:modified xsi:type="dcterms:W3CDTF">2026-10-03T22:45:42Z</dcterms:modified>
</cp:coreProperties>
</file>